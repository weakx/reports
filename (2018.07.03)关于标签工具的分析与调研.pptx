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317" r:id="rId2"/>
    <p:sldId id="264" r:id="rId3"/>
    <p:sldId id="322" r:id="rId4"/>
    <p:sldId id="293" r:id="rId5"/>
    <p:sldId id="259" r:id="rId6"/>
    <p:sldId id="324" r:id="rId7"/>
    <p:sldId id="321" r:id="rId8"/>
    <p:sldId id="325" r:id="rId9"/>
    <p:sldId id="326" r:id="rId10"/>
    <p:sldId id="327" r:id="rId11"/>
    <p:sldId id="328" r:id="rId12"/>
    <p:sldId id="329" r:id="rId13"/>
    <p:sldId id="330" r:id="rId14"/>
    <p:sldId id="320" r:id="rId15"/>
    <p:sldId id="272" r:id="rId16"/>
    <p:sldId id="319" r:id="rId17"/>
    <p:sldId id="270" r:id="rId18"/>
    <p:sldId id="318" r:id="rId19"/>
  </p:sldIdLst>
  <p:sldSz cx="9144000" cy="5143500" type="screen16x9"/>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ng x" initials="cx" lastIdx="0" clrIdx="0">
    <p:extLst>
      <p:ext uri="{19B8F6BF-5375-455C-9EA6-DF929625EA0E}">
        <p15:presenceInfo xmlns:p15="http://schemas.microsoft.com/office/powerpoint/2012/main" userId="41f651ea6314a8f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7CB"/>
    <a:srgbClr val="005DA2"/>
    <a:srgbClr val="F79600"/>
    <a:srgbClr val="3992DB"/>
    <a:srgbClr val="0F1836"/>
    <a:srgbClr val="FDFDFD"/>
    <a:srgbClr val="D9D9D9"/>
    <a:srgbClr val="DCD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35" autoAdjust="0"/>
    <p:restoredTop sz="94660" autoAdjust="0"/>
  </p:normalViewPr>
  <p:slideViewPr>
    <p:cSldViewPr>
      <p:cViewPr varScale="1">
        <p:scale>
          <a:sx n="101" d="100"/>
          <a:sy n="101" d="100"/>
        </p:scale>
        <p:origin x="312" y="10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86" d="100"/>
        <a:sy n="186" d="100"/>
      </p:scale>
      <p:origin x="0" y="0"/>
    </p:cViewPr>
  </p:sorter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2018/7/2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2213844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2018/7/2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129930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4026197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3724700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2436797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2912260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3138327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extLst>
      <p:ext uri="{BB962C8B-B14F-4D97-AF65-F5344CB8AC3E}">
        <p14:creationId xmlns:p14="http://schemas.microsoft.com/office/powerpoint/2010/main" val="2593171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extLst>
      <p:ext uri="{BB962C8B-B14F-4D97-AF65-F5344CB8AC3E}">
        <p14:creationId xmlns:p14="http://schemas.microsoft.com/office/powerpoint/2010/main" val="1913493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extLst>
      <p:ext uri="{BB962C8B-B14F-4D97-AF65-F5344CB8AC3E}">
        <p14:creationId xmlns:p14="http://schemas.microsoft.com/office/powerpoint/2010/main" val="391494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extLst>
      <p:ext uri="{BB962C8B-B14F-4D97-AF65-F5344CB8AC3E}">
        <p14:creationId xmlns:p14="http://schemas.microsoft.com/office/powerpoint/2010/main" val="3768579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extLst>
      <p:ext uri="{BB962C8B-B14F-4D97-AF65-F5344CB8AC3E}">
        <p14:creationId xmlns:p14="http://schemas.microsoft.com/office/powerpoint/2010/main" val="4041584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extLst>
      <p:ext uri="{BB962C8B-B14F-4D97-AF65-F5344CB8AC3E}">
        <p14:creationId xmlns:p14="http://schemas.microsoft.com/office/powerpoint/2010/main" val="2295969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extLst>
      <p:ext uri="{BB962C8B-B14F-4D97-AF65-F5344CB8AC3E}">
        <p14:creationId xmlns:p14="http://schemas.microsoft.com/office/powerpoint/2010/main" val="2207803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extLst>
      <p:ext uri="{BB962C8B-B14F-4D97-AF65-F5344CB8AC3E}">
        <p14:creationId xmlns:p14="http://schemas.microsoft.com/office/powerpoint/2010/main" val="2834735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extLst>
      <p:ext uri="{BB962C8B-B14F-4D97-AF65-F5344CB8AC3E}">
        <p14:creationId xmlns:p14="http://schemas.microsoft.com/office/powerpoint/2010/main" val="1565493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extLst>
      <p:ext uri="{BB962C8B-B14F-4D97-AF65-F5344CB8AC3E}">
        <p14:creationId xmlns:p14="http://schemas.microsoft.com/office/powerpoint/2010/main" val="2436071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extLst>
      <p:ext uri="{BB962C8B-B14F-4D97-AF65-F5344CB8AC3E}">
        <p14:creationId xmlns:p14="http://schemas.microsoft.com/office/powerpoint/2010/main" val="42495725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extLst>
      <p:ext uri="{BB962C8B-B14F-4D97-AF65-F5344CB8AC3E}">
        <p14:creationId xmlns:p14="http://schemas.microsoft.com/office/powerpoint/2010/main" val="1333984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extLst>
      <p:ext uri="{BB962C8B-B14F-4D97-AF65-F5344CB8AC3E}">
        <p14:creationId xmlns:p14="http://schemas.microsoft.com/office/powerpoint/2010/main" val="3693893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7" name="直接连接符 6"/>
          <p:cNvCxnSpPr/>
          <p:nvPr userDrawn="1"/>
        </p:nvCxnSpPr>
        <p:spPr>
          <a:xfrm>
            <a:off x="755576" y="625398"/>
            <a:ext cx="784887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a:grpSpLocks/>
          </p:cNvGrpSpPr>
          <p:nvPr userDrawn="1"/>
        </p:nvGrpSpPr>
        <p:grpSpPr bwMode="auto">
          <a:xfrm>
            <a:off x="323528" y="292895"/>
            <a:ext cx="390372" cy="205979"/>
            <a:chOff x="0" y="0"/>
            <a:chExt cx="1041399" cy="549275"/>
          </a:xfrm>
        </p:grpSpPr>
        <p:sp>
          <p:nvSpPr>
            <p:cNvPr id="13" name="Freeform 16"/>
            <p:cNvSpPr>
              <a:spLocks/>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p:cNvSpPr>
              <a:spLocks/>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8"/>
            <p:cNvSpPr>
              <a:spLocks/>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8" name="TextBox 15"/>
          <p:cNvSpPr txBox="1"/>
          <p:nvPr userDrawn="1"/>
        </p:nvSpPr>
        <p:spPr>
          <a:xfrm>
            <a:off x="8100392" y="241995"/>
            <a:ext cx="671347" cy="369332"/>
          </a:xfrm>
          <a:prstGeom prst="rect">
            <a:avLst/>
          </a:prstGeom>
          <a:noFill/>
        </p:spPr>
        <p:txBody>
          <a:bodyPr wrap="square" rtlCol="0">
            <a:spAutoFit/>
          </a:bodyPr>
          <a:lstStyle/>
          <a:p>
            <a:pPr algn="ctr"/>
            <a:fld id="{2EEF1883-7A0E-4F66-9932-E581691AD397}" type="slidenum">
              <a:rPr lang="zh-CN" altLang="en-US" sz="18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1800" b="0" dirty="0" smtClean="0">
                <a:solidFill>
                  <a:schemeClr val="accent1"/>
                </a:solidFill>
                <a:latin typeface="微软雅黑 Light" panose="020B0502040204020203" pitchFamily="34" charset="-122"/>
                <a:ea typeface="微软雅黑 Light" panose="020B0502040204020203" pitchFamily="34" charset="-122"/>
              </a:rPr>
              <a:t> </a:t>
            </a:r>
            <a:endParaRPr lang="zh-CN" altLang="en-US" sz="1800" b="0" dirty="0">
              <a:solidFill>
                <a:schemeClr val="accent1"/>
              </a:solidFill>
              <a:latin typeface="微软雅黑 Light" panose="020B0502040204020203" pitchFamily="34" charset="-122"/>
              <a:ea typeface="微软雅黑 Light" panose="020B0502040204020203" pitchFamily="34" charset="-122"/>
            </a:endParaRPr>
          </a:p>
        </p:txBody>
      </p:sp>
    </p:spTree>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114887"/>
      </p:ext>
    </p:extLst>
  </p:cSld>
  <p:clrMapOvr>
    <a:masterClrMapping/>
  </p:clrMapOvr>
  <p:transition spd="slow" advTm="0">
    <p:cove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5121283"/>
      </p:ext>
    </p:extLst>
  </p:cSld>
  <p:clrMapOvr>
    <a:masterClrMapping/>
  </p:clrMapOvr>
  <p:transition spd="slow" advTm="0">
    <p:cove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spd="slow" advTm="0">
    <p:cove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856" y="8174"/>
            <a:ext cx="9144000" cy="3174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Rectangle 3"/>
          <p:cNvSpPr txBox="1">
            <a:spLocks noChangeArrowheads="1"/>
          </p:cNvSpPr>
          <p:nvPr/>
        </p:nvSpPr>
        <p:spPr>
          <a:xfrm>
            <a:off x="1408635" y="1287779"/>
            <a:ext cx="6319018" cy="5024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000" b="1" dirty="0">
                <a:solidFill>
                  <a:schemeClr val="bg1"/>
                </a:solidFill>
                <a:latin typeface="微软雅黑" panose="020B0503020204020204" pitchFamily="34" charset="-122"/>
                <a:ea typeface="微软雅黑" panose="020B0503020204020204" pitchFamily="34" charset="-122"/>
              </a:rPr>
              <a:t>每</a:t>
            </a:r>
            <a:r>
              <a:rPr lang="zh-CN" altLang="en-US" sz="3000" b="1" dirty="0" smtClean="0">
                <a:solidFill>
                  <a:schemeClr val="bg1"/>
                </a:solidFill>
                <a:latin typeface="微软雅黑" panose="020B0503020204020204" pitchFamily="34" charset="-122"/>
                <a:ea typeface="微软雅黑" panose="020B0503020204020204" pitchFamily="34" charset="-122"/>
              </a:rPr>
              <a:t>周汇报</a:t>
            </a:r>
            <a:endParaRPr lang="en-US" altLang="zh-CN" sz="3000" b="1" dirty="0" smtClean="0">
              <a:solidFill>
                <a:schemeClr val="bg1"/>
              </a:solidFill>
              <a:latin typeface="微软雅黑" panose="020B0503020204020204" pitchFamily="34" charset="-122"/>
              <a:ea typeface="微软雅黑" panose="020B0503020204020204" pitchFamily="34" charset="-122"/>
            </a:endParaRPr>
          </a:p>
          <a:p>
            <a:endParaRPr lang="en-US" altLang="zh-CN" sz="3000" b="1" dirty="0">
              <a:solidFill>
                <a:schemeClr val="bg1"/>
              </a:solidFill>
              <a:latin typeface="微软雅黑" panose="020B0503020204020204" pitchFamily="34" charset="-122"/>
              <a:ea typeface="微软雅黑" panose="020B0503020204020204" pitchFamily="34" charset="-122"/>
            </a:endParaRPr>
          </a:p>
          <a:p>
            <a:r>
              <a:rPr lang="zh-CN" altLang="en-US" sz="1800" b="1" dirty="0" smtClean="0">
                <a:solidFill>
                  <a:schemeClr val="bg1"/>
                </a:solidFill>
                <a:latin typeface="微软雅黑" panose="020B0503020204020204" pitchFamily="34" charset="-122"/>
                <a:ea typeface="微软雅黑" panose="020B0503020204020204" pitchFamily="34" charset="-122"/>
              </a:rPr>
              <a:t>关于标签工具的分析调研</a:t>
            </a:r>
            <a:endParaRPr lang="zh-CN" altLang="en-US" sz="1800" b="1" dirty="0">
              <a:solidFill>
                <a:schemeClr val="bg1"/>
              </a:solidFill>
              <a:latin typeface="微软雅黑" panose="020B0503020204020204" pitchFamily="34" charset="-122"/>
              <a:ea typeface="微软雅黑" panose="020B0503020204020204" pitchFamily="34" charset="-122"/>
            </a:endParaRPr>
          </a:p>
        </p:txBody>
      </p:sp>
      <p:cxnSp>
        <p:nvCxnSpPr>
          <p:cNvPr id="46" name="直接连接符 5"/>
          <p:cNvCxnSpPr>
            <a:cxnSpLocks noChangeShapeType="1"/>
          </p:cNvCxnSpPr>
          <p:nvPr/>
        </p:nvCxnSpPr>
        <p:spPr bwMode="auto">
          <a:xfrm flipH="1">
            <a:off x="3923928" y="2486603"/>
            <a:ext cx="4617801" cy="0"/>
          </a:xfrm>
          <a:prstGeom prst="line">
            <a:avLst/>
          </a:prstGeom>
          <a:noFill/>
          <a:ln w="127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文本框 3"/>
          <p:cNvSpPr txBox="1"/>
          <p:nvPr/>
        </p:nvSpPr>
        <p:spPr>
          <a:xfrm>
            <a:off x="6516216" y="4371950"/>
            <a:ext cx="2376264" cy="461665"/>
          </a:xfrm>
          <a:prstGeom prst="rect">
            <a:avLst/>
          </a:prstGeom>
          <a:noFill/>
        </p:spPr>
        <p:txBody>
          <a:bodyPr wrap="square" rtlCol="0">
            <a:spAutoFit/>
          </a:bodyPr>
          <a:lstStyle/>
          <a:p>
            <a:pPr algn="ct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徐聪</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2018.07.02</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3670959"/>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3"/>
                                        </p:tgtEl>
                                        <p:attrNameLst>
                                          <p:attrName>ppt_y</p:attrName>
                                        </p:attrNameLst>
                                      </p:cBhvr>
                                      <p:tavLst>
                                        <p:tav tm="0">
                                          <p:val>
                                            <p:strVal val="#ppt_y"/>
                                          </p:val>
                                        </p:tav>
                                        <p:tav tm="100000">
                                          <p:val>
                                            <p:strVal val="#ppt_y"/>
                                          </p:val>
                                        </p:tav>
                                      </p:tavLst>
                                    </p:anim>
                                    <p:anim calcmode="lin" valueType="num">
                                      <p:cBhvr>
                                        <p:cTn id="9" dur="5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3"/>
                                        </p:tgtEl>
                                      </p:cBhvr>
                                    </p:animEffect>
                                  </p:childTnLst>
                                </p:cTn>
                              </p:par>
                            </p:childTnLst>
                          </p:cTn>
                        </p:par>
                        <p:par>
                          <p:cTn id="12" fill="hold">
                            <p:stCondLst>
                              <p:cond delay="1200"/>
                            </p:stCondLst>
                            <p:childTnLst>
                              <p:par>
                                <p:cTn id="13" presetID="22" presetClass="entr" presetSubtype="2"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right)">
                                      <p:cBhvr>
                                        <p:cTn id="15" dur="1000"/>
                                        <p:tgtEl>
                                          <p:spTgt spid="46"/>
                                        </p:tgtEl>
                                      </p:cBhvr>
                                    </p:animEffect>
                                  </p:childTnLst>
                                </p:cTn>
                              </p:par>
                            </p:childTnLst>
                          </p:cTn>
                        </p:par>
                        <p:par>
                          <p:cTn id="16" fill="hold">
                            <p:stCondLst>
                              <p:cond delay="2200"/>
                            </p:stCondLst>
                            <p:childTnLst>
                              <p:par>
                                <p:cTn id="17" presetID="10"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utoUpdateAnimBg="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a:spLocks/>
          </p:cNvSpPr>
          <p:nvPr/>
        </p:nvSpPr>
        <p:spPr>
          <a:xfrm>
            <a:off x="611560" y="429469"/>
            <a:ext cx="2256285" cy="49678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chemeClr val="accent1"/>
                </a:solidFill>
                <a:latin typeface="微软雅黑" panose="020B0503020204020204" pitchFamily="34" charset="-122"/>
                <a:ea typeface="微软雅黑" panose="020B0503020204020204" pitchFamily="34" charset="-122"/>
              </a:rPr>
              <a:t>目录</a:t>
            </a:r>
            <a:r>
              <a:rPr lang="en-US" altLang="zh-CN" b="1" dirty="0" smtClean="0">
                <a:solidFill>
                  <a:schemeClr val="accent1"/>
                </a:solidFill>
                <a:latin typeface="微软雅黑" panose="020B0503020204020204" pitchFamily="34" charset="-122"/>
                <a:ea typeface="微软雅黑" panose="020B0503020204020204" pitchFamily="34" charset="-122"/>
              </a:rPr>
              <a:t>/</a:t>
            </a:r>
            <a:r>
              <a:rPr lang="en-US" altLang="zh-CN" sz="1800" b="1" dirty="0" smtClean="0">
                <a:solidFill>
                  <a:schemeClr val="accent1"/>
                </a:solidFill>
                <a:latin typeface="微软雅黑" panose="020B0503020204020204" pitchFamily="34" charset="-122"/>
                <a:ea typeface="微软雅黑" panose="020B0503020204020204" pitchFamily="34" charset="-122"/>
              </a:rPr>
              <a:t>Contents</a:t>
            </a:r>
            <a:endParaRPr lang="en-GB" sz="1800" b="1" dirty="0">
              <a:solidFill>
                <a:schemeClr val="accent1"/>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738572" y="1059582"/>
            <a:ext cx="76498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308571" y="1694343"/>
            <a:ext cx="894259" cy="489631"/>
            <a:chOff x="2215144" y="927951"/>
            <a:chExt cx="1244730" cy="897673"/>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47" name="文本框 9"/>
            <p:cNvSpPr txBox="1"/>
            <p:nvPr/>
          </p:nvSpPr>
          <p:spPr>
            <a:xfrm>
              <a:off x="2393075" y="927951"/>
              <a:ext cx="1066799" cy="816504"/>
            </a:xfrm>
            <a:prstGeom prst="rect">
              <a:avLst/>
            </a:prstGeom>
            <a:noFill/>
          </p:spPr>
          <p:txBody>
            <a:bodyPr wrap="square" rtlCol="0">
              <a:spAutoFit/>
            </a:bodyPr>
            <a:lstStyle/>
            <a:p>
              <a:r>
                <a:rPr lang="en-US" altLang="zh-CN" sz="2800" dirty="0" smtClean="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grpSp>
        <p:nvGrpSpPr>
          <p:cNvPr id="48" name="组合 47"/>
          <p:cNvGrpSpPr/>
          <p:nvPr/>
        </p:nvGrpSpPr>
        <p:grpSpPr>
          <a:xfrm>
            <a:off x="2308571" y="2373957"/>
            <a:ext cx="894259" cy="504163"/>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0" name="文本框 10"/>
            <p:cNvSpPr txBox="1"/>
            <p:nvPr/>
          </p:nvSpPr>
          <p:spPr>
            <a:xfrm>
              <a:off x="2393075" y="1952311"/>
              <a:ext cx="1066799" cy="816508"/>
            </a:xfrm>
            <a:prstGeom prst="rect">
              <a:avLst/>
            </a:prstGeom>
            <a:noFill/>
          </p:spPr>
          <p:txBody>
            <a:bodyPr wrap="square" rtlCol="0">
              <a:spAutoFit/>
            </a:bodyPr>
            <a:lstStyle/>
            <a:p>
              <a:r>
                <a:rPr lang="en-US" altLang="zh-CN" sz="2800" dirty="0" smtClean="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grpSp>
        <p:nvGrpSpPr>
          <p:cNvPr id="51" name="组合 50"/>
          <p:cNvGrpSpPr/>
          <p:nvPr/>
        </p:nvGrpSpPr>
        <p:grpSpPr>
          <a:xfrm>
            <a:off x="2308571" y="3075805"/>
            <a:ext cx="894259" cy="496081"/>
            <a:chOff x="2215144" y="3018134"/>
            <a:chExt cx="1244730" cy="909499"/>
          </a:xfrm>
        </p:grpSpPr>
        <p:sp>
          <p:nvSpPr>
            <p:cNvPr id="52" name="平行四边形 51"/>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3" name="文本框 11"/>
            <p:cNvSpPr txBox="1"/>
            <p:nvPr/>
          </p:nvSpPr>
          <p:spPr>
            <a:xfrm>
              <a:off x="2393075" y="3018134"/>
              <a:ext cx="1066799" cy="816505"/>
            </a:xfrm>
            <a:prstGeom prst="rect">
              <a:avLst/>
            </a:prstGeom>
            <a:noFill/>
          </p:spPr>
          <p:txBody>
            <a:bodyPr wrap="square" rtlCol="0">
              <a:spAutoFit/>
            </a:bodyPr>
            <a:lstStyle/>
            <a:p>
              <a:r>
                <a:rPr lang="en-US" altLang="zh-CN" sz="2800" dirty="0" smtClean="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grpSp>
        <p:nvGrpSpPr>
          <p:cNvPr id="54" name="组合 53"/>
          <p:cNvGrpSpPr/>
          <p:nvPr/>
        </p:nvGrpSpPr>
        <p:grpSpPr>
          <a:xfrm>
            <a:off x="2308571" y="3758295"/>
            <a:ext cx="894259" cy="508134"/>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6" name="文本框 12"/>
            <p:cNvSpPr txBox="1"/>
            <p:nvPr/>
          </p:nvSpPr>
          <p:spPr>
            <a:xfrm>
              <a:off x="2393075" y="4047039"/>
              <a:ext cx="1066799" cy="816506"/>
            </a:xfrm>
            <a:prstGeom prst="rect">
              <a:avLst/>
            </a:prstGeom>
            <a:noFill/>
          </p:spPr>
          <p:txBody>
            <a:bodyPr wrap="square" rtlCol="0">
              <a:spAutoFit/>
            </a:bodyPr>
            <a:lstStyle/>
            <a:p>
              <a:r>
                <a:rPr lang="en-US" altLang="zh-CN" sz="2800" dirty="0" smtClean="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grpSp>
        <p:nvGrpSpPr>
          <p:cNvPr id="60" name="组合 59"/>
          <p:cNvGrpSpPr/>
          <p:nvPr/>
        </p:nvGrpSpPr>
        <p:grpSpPr>
          <a:xfrm>
            <a:off x="2987824" y="1707654"/>
            <a:ext cx="3857250" cy="459690"/>
            <a:chOff x="4315150" y="953426"/>
            <a:chExt cx="3857250" cy="540057"/>
          </a:xfrm>
        </p:grpSpPr>
        <p:sp>
          <p:nvSpPr>
            <p:cNvPr id="61" name="矩形 60"/>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项目背景</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3" name="组合 62"/>
          <p:cNvGrpSpPr/>
          <p:nvPr/>
        </p:nvGrpSpPr>
        <p:grpSpPr>
          <a:xfrm>
            <a:off x="2987824" y="2401807"/>
            <a:ext cx="3857250" cy="459690"/>
            <a:chOff x="4315150" y="1647579"/>
            <a:chExt cx="3857250" cy="540057"/>
          </a:xfrm>
        </p:grpSpPr>
        <p:sp>
          <p:nvSpPr>
            <p:cNvPr id="64" name="矩形 63"/>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解决方案</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6" name="组合 65"/>
          <p:cNvGrpSpPr/>
          <p:nvPr/>
        </p:nvGrpSpPr>
        <p:grpSpPr>
          <a:xfrm>
            <a:off x="2987824" y="3095959"/>
            <a:ext cx="3857250" cy="459690"/>
            <a:chOff x="4315150" y="2341731"/>
            <a:chExt cx="3857250" cy="540057"/>
          </a:xfrm>
        </p:grpSpPr>
        <p:sp>
          <p:nvSpPr>
            <p:cNvPr id="67" name="矩形 66"/>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时间安排</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9" name="组合 68"/>
          <p:cNvGrpSpPr/>
          <p:nvPr/>
        </p:nvGrpSpPr>
        <p:grpSpPr>
          <a:xfrm>
            <a:off x="2987824" y="3790112"/>
            <a:ext cx="3857250" cy="459690"/>
            <a:chOff x="4315150" y="3035884"/>
            <a:chExt cx="3857250" cy="540057"/>
          </a:xfrm>
        </p:grpSpPr>
        <p:sp>
          <p:nvSpPr>
            <p:cNvPr id="70" name="矩形 69"/>
            <p:cNvSpPr/>
            <p:nvPr/>
          </p:nvSpPr>
          <p:spPr>
            <a:xfrm>
              <a:off x="4841196" y="3118548"/>
              <a:ext cx="2827147" cy="406783"/>
            </a:xfrm>
            <a:prstGeom prst="rect">
              <a:avLst/>
            </a:prstGeom>
            <a:ln w="15875">
              <a:noFill/>
            </a:ln>
          </p:spPr>
          <p:txBody>
            <a:bodyPr wrap="square" lIns="68580" tIns="34290" rIns="68580" bIns="3429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问题</a:t>
              </a:r>
              <a:r>
                <a:rPr lang="en-US" altLang="zh-CN"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想法</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34" name="组合 33"/>
          <p:cNvGrpSpPr/>
          <p:nvPr/>
        </p:nvGrpSpPr>
        <p:grpSpPr>
          <a:xfrm>
            <a:off x="7956376" y="490833"/>
            <a:ext cx="432048" cy="432834"/>
            <a:chOff x="6084168" y="1274820"/>
            <a:chExt cx="432048" cy="432834"/>
          </a:xfrm>
        </p:grpSpPr>
        <p:sp>
          <p:nvSpPr>
            <p:cNvPr id="35"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6"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7" name="组合 36"/>
          <p:cNvGrpSpPr/>
          <p:nvPr/>
        </p:nvGrpSpPr>
        <p:grpSpPr>
          <a:xfrm>
            <a:off x="6660232" y="491226"/>
            <a:ext cx="432048" cy="432048"/>
            <a:chOff x="4788024" y="1275213"/>
            <a:chExt cx="432048" cy="432048"/>
          </a:xfrm>
        </p:grpSpPr>
        <p:sp>
          <p:nvSpPr>
            <p:cNvPr id="38"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9"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0" name="组合 39"/>
          <p:cNvGrpSpPr/>
          <p:nvPr/>
        </p:nvGrpSpPr>
        <p:grpSpPr>
          <a:xfrm>
            <a:off x="7308304" y="490833"/>
            <a:ext cx="432833" cy="432834"/>
            <a:chOff x="5436096" y="1274820"/>
            <a:chExt cx="432833" cy="432834"/>
          </a:xfrm>
        </p:grpSpPr>
        <p:sp>
          <p:nvSpPr>
            <p:cNvPr id="41"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2"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4" name="组合 43"/>
          <p:cNvGrpSpPr/>
          <p:nvPr/>
        </p:nvGrpSpPr>
        <p:grpSpPr>
          <a:xfrm>
            <a:off x="5364088" y="490833"/>
            <a:ext cx="432833" cy="432834"/>
            <a:chOff x="3491880" y="1274820"/>
            <a:chExt cx="432833" cy="432834"/>
          </a:xfrm>
        </p:grpSpPr>
        <p:sp>
          <p:nvSpPr>
            <p:cNvPr id="75"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76"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77" name="组合 76"/>
          <p:cNvGrpSpPr/>
          <p:nvPr/>
        </p:nvGrpSpPr>
        <p:grpSpPr>
          <a:xfrm>
            <a:off x="6012160" y="490833"/>
            <a:ext cx="432833" cy="432834"/>
            <a:chOff x="4139952" y="1274820"/>
            <a:chExt cx="432833" cy="432834"/>
          </a:xfrm>
        </p:grpSpPr>
        <p:sp>
          <p:nvSpPr>
            <p:cNvPr id="78"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79"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4139336563"/>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dissolve">
                                      <p:cBhvr>
                                        <p:cTn id="7" dur="500"/>
                                        <p:tgtEl>
                                          <p:spTgt spid="1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500"/>
                                        <p:tgtEl>
                                          <p:spTgt spid="43"/>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p:cTn id="15" dur="500" fill="hold"/>
                                        <p:tgtEl>
                                          <p:spTgt spid="44"/>
                                        </p:tgtEl>
                                        <p:attrNameLst>
                                          <p:attrName>ppt_w</p:attrName>
                                        </p:attrNameLst>
                                      </p:cBhvr>
                                      <p:tavLst>
                                        <p:tav tm="0">
                                          <p:val>
                                            <p:fltVal val="0"/>
                                          </p:val>
                                        </p:tav>
                                        <p:tav tm="100000">
                                          <p:val>
                                            <p:strVal val="#ppt_w"/>
                                          </p:val>
                                        </p:tav>
                                      </p:tavLst>
                                    </p:anim>
                                    <p:anim calcmode="lin" valueType="num">
                                      <p:cBhvr>
                                        <p:cTn id="16" dur="500" fill="hold"/>
                                        <p:tgtEl>
                                          <p:spTgt spid="44"/>
                                        </p:tgtEl>
                                        <p:attrNameLst>
                                          <p:attrName>ppt_h</p:attrName>
                                        </p:attrNameLst>
                                      </p:cBhvr>
                                      <p:tavLst>
                                        <p:tav tm="0">
                                          <p:val>
                                            <p:fltVal val="0"/>
                                          </p:val>
                                        </p:tav>
                                        <p:tav tm="100000">
                                          <p:val>
                                            <p:strVal val="#ppt_h"/>
                                          </p:val>
                                        </p:tav>
                                      </p:tavLst>
                                    </p:anim>
                                    <p:animEffect transition="in" filter="fade">
                                      <p:cBhvr>
                                        <p:cTn id="17" dur="500"/>
                                        <p:tgtEl>
                                          <p:spTgt spid="44"/>
                                        </p:tgtEl>
                                      </p:cBhvr>
                                    </p:animEffect>
                                  </p:childTnLst>
                                </p:cTn>
                              </p:par>
                              <p:par>
                                <p:cTn id="18" presetID="53" presetClass="entr" presetSubtype="16" fill="hold" nodeType="withEffect">
                                  <p:stCondLst>
                                    <p:cond delay="200"/>
                                  </p:stCondLst>
                                  <p:childTnLst>
                                    <p:set>
                                      <p:cBhvr>
                                        <p:cTn id="19" dur="1" fill="hold">
                                          <p:stCondLst>
                                            <p:cond delay="0"/>
                                          </p:stCondLst>
                                        </p:cTn>
                                        <p:tgtEl>
                                          <p:spTgt spid="77"/>
                                        </p:tgtEl>
                                        <p:attrNameLst>
                                          <p:attrName>style.visibility</p:attrName>
                                        </p:attrNameLst>
                                      </p:cBhvr>
                                      <p:to>
                                        <p:strVal val="visible"/>
                                      </p:to>
                                    </p:set>
                                    <p:anim calcmode="lin" valueType="num">
                                      <p:cBhvr>
                                        <p:cTn id="20" dur="500" fill="hold"/>
                                        <p:tgtEl>
                                          <p:spTgt spid="77"/>
                                        </p:tgtEl>
                                        <p:attrNameLst>
                                          <p:attrName>ppt_w</p:attrName>
                                        </p:attrNameLst>
                                      </p:cBhvr>
                                      <p:tavLst>
                                        <p:tav tm="0">
                                          <p:val>
                                            <p:fltVal val="0"/>
                                          </p:val>
                                        </p:tav>
                                        <p:tav tm="100000">
                                          <p:val>
                                            <p:strVal val="#ppt_w"/>
                                          </p:val>
                                        </p:tav>
                                      </p:tavLst>
                                    </p:anim>
                                    <p:anim calcmode="lin" valueType="num">
                                      <p:cBhvr>
                                        <p:cTn id="21" dur="500" fill="hold"/>
                                        <p:tgtEl>
                                          <p:spTgt spid="77"/>
                                        </p:tgtEl>
                                        <p:attrNameLst>
                                          <p:attrName>ppt_h</p:attrName>
                                        </p:attrNameLst>
                                      </p:cBhvr>
                                      <p:tavLst>
                                        <p:tav tm="0">
                                          <p:val>
                                            <p:fltVal val="0"/>
                                          </p:val>
                                        </p:tav>
                                        <p:tav tm="100000">
                                          <p:val>
                                            <p:strVal val="#ppt_h"/>
                                          </p:val>
                                        </p:tav>
                                      </p:tavLst>
                                    </p:anim>
                                    <p:animEffect transition="in" filter="fade">
                                      <p:cBhvr>
                                        <p:cTn id="22" dur="500"/>
                                        <p:tgtEl>
                                          <p:spTgt spid="77"/>
                                        </p:tgtEl>
                                      </p:cBhvr>
                                    </p:animEffect>
                                  </p:childTnLst>
                                </p:cTn>
                              </p:par>
                              <p:par>
                                <p:cTn id="23" presetID="53" presetClass="entr" presetSubtype="16" fill="hold" nodeType="withEffect">
                                  <p:stCondLst>
                                    <p:cond delay="400"/>
                                  </p:stCondLst>
                                  <p:childTnLst>
                                    <p:set>
                                      <p:cBhvr>
                                        <p:cTn id="24" dur="1" fill="hold">
                                          <p:stCondLst>
                                            <p:cond delay="0"/>
                                          </p:stCondLst>
                                        </p:cTn>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animEffect transition="in" filter="fade">
                                      <p:cBhvr>
                                        <p:cTn id="27" dur="500"/>
                                        <p:tgtEl>
                                          <p:spTgt spid="37"/>
                                        </p:tgtEl>
                                      </p:cBhvr>
                                    </p:animEffect>
                                  </p:childTnLst>
                                </p:cTn>
                              </p:par>
                              <p:par>
                                <p:cTn id="28" presetID="53" presetClass="entr" presetSubtype="16" fill="hold" nodeType="withEffect">
                                  <p:stCondLst>
                                    <p:cond delay="600"/>
                                  </p:stCondLst>
                                  <p:childTnLst>
                                    <p:set>
                                      <p:cBhvr>
                                        <p:cTn id="29" dur="1" fill="hold">
                                          <p:stCondLst>
                                            <p:cond delay="0"/>
                                          </p:stCondLst>
                                        </p:cTn>
                                        <p:tgtEl>
                                          <p:spTgt spid="40"/>
                                        </p:tgtEl>
                                        <p:attrNameLst>
                                          <p:attrName>style.visibility</p:attrName>
                                        </p:attrNameLst>
                                      </p:cBhvr>
                                      <p:to>
                                        <p:strVal val="visible"/>
                                      </p:to>
                                    </p:set>
                                    <p:anim calcmode="lin" valueType="num">
                                      <p:cBhvr>
                                        <p:cTn id="30" dur="500" fill="hold"/>
                                        <p:tgtEl>
                                          <p:spTgt spid="40"/>
                                        </p:tgtEl>
                                        <p:attrNameLst>
                                          <p:attrName>ppt_w</p:attrName>
                                        </p:attrNameLst>
                                      </p:cBhvr>
                                      <p:tavLst>
                                        <p:tav tm="0">
                                          <p:val>
                                            <p:fltVal val="0"/>
                                          </p:val>
                                        </p:tav>
                                        <p:tav tm="100000">
                                          <p:val>
                                            <p:strVal val="#ppt_w"/>
                                          </p:val>
                                        </p:tav>
                                      </p:tavLst>
                                    </p:anim>
                                    <p:anim calcmode="lin" valueType="num">
                                      <p:cBhvr>
                                        <p:cTn id="31" dur="500" fill="hold"/>
                                        <p:tgtEl>
                                          <p:spTgt spid="40"/>
                                        </p:tgtEl>
                                        <p:attrNameLst>
                                          <p:attrName>ppt_h</p:attrName>
                                        </p:attrNameLst>
                                      </p:cBhvr>
                                      <p:tavLst>
                                        <p:tav tm="0">
                                          <p:val>
                                            <p:fltVal val="0"/>
                                          </p:val>
                                        </p:tav>
                                        <p:tav tm="100000">
                                          <p:val>
                                            <p:strVal val="#ppt_h"/>
                                          </p:val>
                                        </p:tav>
                                      </p:tavLst>
                                    </p:anim>
                                    <p:animEffect transition="in" filter="fade">
                                      <p:cBhvr>
                                        <p:cTn id="32" dur="500"/>
                                        <p:tgtEl>
                                          <p:spTgt spid="40"/>
                                        </p:tgtEl>
                                      </p:cBhvr>
                                    </p:animEffect>
                                  </p:childTnLst>
                                </p:cTn>
                              </p:par>
                              <p:par>
                                <p:cTn id="33" presetID="53" presetClass="entr" presetSubtype="16" fill="hold" nodeType="withEffect">
                                  <p:stCondLst>
                                    <p:cond delay="800"/>
                                  </p:stCondLst>
                                  <p:childTnLst>
                                    <p:set>
                                      <p:cBhvr>
                                        <p:cTn id="34" dur="1" fill="hold">
                                          <p:stCondLst>
                                            <p:cond delay="0"/>
                                          </p:stCondLst>
                                        </p:cTn>
                                        <p:tgtEl>
                                          <p:spTgt spid="34"/>
                                        </p:tgtEl>
                                        <p:attrNameLst>
                                          <p:attrName>style.visibility</p:attrName>
                                        </p:attrNameLst>
                                      </p:cBhvr>
                                      <p:to>
                                        <p:strVal val="visible"/>
                                      </p:to>
                                    </p:set>
                                    <p:anim calcmode="lin" valueType="num">
                                      <p:cBhvr>
                                        <p:cTn id="35" dur="500" fill="hold"/>
                                        <p:tgtEl>
                                          <p:spTgt spid="34"/>
                                        </p:tgtEl>
                                        <p:attrNameLst>
                                          <p:attrName>ppt_w</p:attrName>
                                        </p:attrNameLst>
                                      </p:cBhvr>
                                      <p:tavLst>
                                        <p:tav tm="0">
                                          <p:val>
                                            <p:fltVal val="0"/>
                                          </p:val>
                                        </p:tav>
                                        <p:tav tm="100000">
                                          <p:val>
                                            <p:strVal val="#ppt_w"/>
                                          </p:val>
                                        </p:tav>
                                      </p:tavLst>
                                    </p:anim>
                                    <p:anim calcmode="lin" valueType="num">
                                      <p:cBhvr>
                                        <p:cTn id="36" dur="500" fill="hold"/>
                                        <p:tgtEl>
                                          <p:spTgt spid="34"/>
                                        </p:tgtEl>
                                        <p:attrNameLst>
                                          <p:attrName>ppt_h</p:attrName>
                                        </p:attrNameLst>
                                      </p:cBhvr>
                                      <p:tavLst>
                                        <p:tav tm="0">
                                          <p:val>
                                            <p:fltVal val="0"/>
                                          </p:val>
                                        </p:tav>
                                        <p:tav tm="100000">
                                          <p:val>
                                            <p:strVal val="#ppt_h"/>
                                          </p:val>
                                        </p:tav>
                                      </p:tavLst>
                                    </p:anim>
                                    <p:animEffect transition="in" filter="fade">
                                      <p:cBhvr>
                                        <p:cTn id="37" dur="500"/>
                                        <p:tgtEl>
                                          <p:spTgt spid="34"/>
                                        </p:tgtEl>
                                      </p:cBhvr>
                                    </p:animEffect>
                                  </p:childTnLst>
                                </p:cTn>
                              </p:par>
                            </p:childTnLst>
                          </p:cTn>
                        </p:par>
                        <p:par>
                          <p:cTn id="38" fill="hold">
                            <p:stCondLst>
                              <p:cond delay="2300"/>
                            </p:stCondLst>
                            <p:childTnLst>
                              <p:par>
                                <p:cTn id="39" presetID="2" presetClass="entr" presetSubtype="8" fill="hold" nodeType="after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0-#ppt_w/2"/>
                                          </p:val>
                                        </p:tav>
                                        <p:tav tm="100000">
                                          <p:val>
                                            <p:strVal val="#ppt_x"/>
                                          </p:val>
                                        </p:tav>
                                      </p:tavLst>
                                    </p:anim>
                                    <p:anim calcmode="lin" valueType="num">
                                      <p:cBhvr additive="base">
                                        <p:cTn id="42" dur="500" fill="hold"/>
                                        <p:tgtEl>
                                          <p:spTgt spid="45"/>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500" fill="hold"/>
                                        <p:tgtEl>
                                          <p:spTgt spid="60"/>
                                        </p:tgtEl>
                                        <p:attrNameLst>
                                          <p:attrName>ppt_x</p:attrName>
                                        </p:attrNameLst>
                                      </p:cBhvr>
                                      <p:tavLst>
                                        <p:tav tm="0">
                                          <p:val>
                                            <p:strVal val="1+#ppt_w/2"/>
                                          </p:val>
                                        </p:tav>
                                        <p:tav tm="100000">
                                          <p:val>
                                            <p:strVal val="#ppt_x"/>
                                          </p:val>
                                        </p:tav>
                                      </p:tavLst>
                                    </p:anim>
                                    <p:anim calcmode="lin" valueType="num">
                                      <p:cBhvr additive="base">
                                        <p:cTn id="46" dur="500" fill="hold"/>
                                        <p:tgtEl>
                                          <p:spTgt spid="60"/>
                                        </p:tgtEl>
                                        <p:attrNameLst>
                                          <p:attrName>ppt_y</p:attrName>
                                        </p:attrNameLst>
                                      </p:cBhvr>
                                      <p:tavLst>
                                        <p:tav tm="0">
                                          <p:val>
                                            <p:strVal val="#ppt_y"/>
                                          </p:val>
                                        </p:tav>
                                        <p:tav tm="100000">
                                          <p:val>
                                            <p:strVal val="#ppt_y"/>
                                          </p:val>
                                        </p:tav>
                                      </p:tavLst>
                                    </p:anim>
                                  </p:childTnLst>
                                </p:cTn>
                              </p:par>
                            </p:childTnLst>
                          </p:cTn>
                        </p:par>
                        <p:par>
                          <p:cTn id="47" fill="hold">
                            <p:stCondLst>
                              <p:cond delay="2800"/>
                            </p:stCondLst>
                            <p:childTnLst>
                              <p:par>
                                <p:cTn id="48" presetID="2" presetClass="entr" presetSubtype="8" fill="hold" nodeType="afterEffect">
                                  <p:stCondLst>
                                    <p:cond delay="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500" fill="hold"/>
                                        <p:tgtEl>
                                          <p:spTgt spid="48"/>
                                        </p:tgtEl>
                                        <p:attrNameLst>
                                          <p:attrName>ppt_x</p:attrName>
                                        </p:attrNameLst>
                                      </p:cBhvr>
                                      <p:tavLst>
                                        <p:tav tm="0">
                                          <p:val>
                                            <p:strVal val="0-#ppt_w/2"/>
                                          </p:val>
                                        </p:tav>
                                        <p:tav tm="100000">
                                          <p:val>
                                            <p:strVal val="#ppt_x"/>
                                          </p:val>
                                        </p:tav>
                                      </p:tavLst>
                                    </p:anim>
                                    <p:anim calcmode="lin" valueType="num">
                                      <p:cBhvr additive="base">
                                        <p:cTn id="51" dur="500" fill="hold"/>
                                        <p:tgtEl>
                                          <p:spTgt spid="48"/>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fill="hold"/>
                                        <p:tgtEl>
                                          <p:spTgt spid="63"/>
                                        </p:tgtEl>
                                        <p:attrNameLst>
                                          <p:attrName>ppt_x</p:attrName>
                                        </p:attrNameLst>
                                      </p:cBhvr>
                                      <p:tavLst>
                                        <p:tav tm="0">
                                          <p:val>
                                            <p:strVal val="1+#ppt_w/2"/>
                                          </p:val>
                                        </p:tav>
                                        <p:tav tm="100000">
                                          <p:val>
                                            <p:strVal val="#ppt_x"/>
                                          </p:val>
                                        </p:tav>
                                      </p:tavLst>
                                    </p:anim>
                                    <p:anim calcmode="lin" valueType="num">
                                      <p:cBhvr additive="base">
                                        <p:cTn id="55" dur="500" fill="hold"/>
                                        <p:tgtEl>
                                          <p:spTgt spid="63"/>
                                        </p:tgtEl>
                                        <p:attrNameLst>
                                          <p:attrName>ppt_y</p:attrName>
                                        </p:attrNameLst>
                                      </p:cBhvr>
                                      <p:tavLst>
                                        <p:tav tm="0">
                                          <p:val>
                                            <p:strVal val="#ppt_y"/>
                                          </p:val>
                                        </p:tav>
                                        <p:tav tm="100000">
                                          <p:val>
                                            <p:strVal val="#ppt_y"/>
                                          </p:val>
                                        </p:tav>
                                      </p:tavLst>
                                    </p:anim>
                                  </p:childTnLst>
                                </p:cTn>
                              </p:par>
                            </p:childTnLst>
                          </p:cTn>
                        </p:par>
                        <p:par>
                          <p:cTn id="56" fill="hold">
                            <p:stCondLst>
                              <p:cond delay="3300"/>
                            </p:stCondLst>
                            <p:childTnLst>
                              <p:par>
                                <p:cTn id="57" presetID="2" presetClass="entr" presetSubtype="8" fill="hold" nodeType="afterEffect">
                                  <p:stCondLst>
                                    <p:cond delay="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500" fill="hold"/>
                                        <p:tgtEl>
                                          <p:spTgt spid="51"/>
                                        </p:tgtEl>
                                        <p:attrNameLst>
                                          <p:attrName>ppt_x</p:attrName>
                                        </p:attrNameLst>
                                      </p:cBhvr>
                                      <p:tavLst>
                                        <p:tav tm="0">
                                          <p:val>
                                            <p:strVal val="0-#ppt_w/2"/>
                                          </p:val>
                                        </p:tav>
                                        <p:tav tm="100000">
                                          <p:val>
                                            <p:strVal val="#ppt_x"/>
                                          </p:val>
                                        </p:tav>
                                      </p:tavLst>
                                    </p:anim>
                                    <p:anim calcmode="lin" valueType="num">
                                      <p:cBhvr additive="base">
                                        <p:cTn id="60" dur="500" fill="hold"/>
                                        <p:tgtEl>
                                          <p:spTgt spid="51"/>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66"/>
                                        </p:tgtEl>
                                        <p:attrNameLst>
                                          <p:attrName>style.visibility</p:attrName>
                                        </p:attrNameLst>
                                      </p:cBhvr>
                                      <p:to>
                                        <p:strVal val="visible"/>
                                      </p:to>
                                    </p:set>
                                    <p:anim calcmode="lin" valueType="num">
                                      <p:cBhvr additive="base">
                                        <p:cTn id="63" dur="500" fill="hold"/>
                                        <p:tgtEl>
                                          <p:spTgt spid="66"/>
                                        </p:tgtEl>
                                        <p:attrNameLst>
                                          <p:attrName>ppt_x</p:attrName>
                                        </p:attrNameLst>
                                      </p:cBhvr>
                                      <p:tavLst>
                                        <p:tav tm="0">
                                          <p:val>
                                            <p:strVal val="1+#ppt_w/2"/>
                                          </p:val>
                                        </p:tav>
                                        <p:tav tm="100000">
                                          <p:val>
                                            <p:strVal val="#ppt_x"/>
                                          </p:val>
                                        </p:tav>
                                      </p:tavLst>
                                    </p:anim>
                                    <p:anim calcmode="lin" valueType="num">
                                      <p:cBhvr additive="base">
                                        <p:cTn id="64" dur="500" fill="hold"/>
                                        <p:tgtEl>
                                          <p:spTgt spid="66"/>
                                        </p:tgtEl>
                                        <p:attrNameLst>
                                          <p:attrName>ppt_y</p:attrName>
                                        </p:attrNameLst>
                                      </p:cBhvr>
                                      <p:tavLst>
                                        <p:tav tm="0">
                                          <p:val>
                                            <p:strVal val="#ppt_y"/>
                                          </p:val>
                                        </p:tav>
                                        <p:tav tm="100000">
                                          <p:val>
                                            <p:strVal val="#ppt_y"/>
                                          </p:val>
                                        </p:tav>
                                      </p:tavLst>
                                    </p:anim>
                                  </p:childTnLst>
                                </p:cTn>
                              </p:par>
                            </p:childTnLst>
                          </p:cTn>
                        </p:par>
                        <p:par>
                          <p:cTn id="65" fill="hold">
                            <p:stCondLst>
                              <p:cond delay="3800"/>
                            </p:stCondLst>
                            <p:childTnLst>
                              <p:par>
                                <p:cTn id="66" presetID="2" presetClass="entr" presetSubtype="8" fill="hold" nodeType="afterEffect">
                                  <p:stCondLst>
                                    <p:cond delay="0"/>
                                  </p:stCondLst>
                                  <p:childTnLst>
                                    <p:set>
                                      <p:cBhvr>
                                        <p:cTn id="67" dur="1" fill="hold">
                                          <p:stCondLst>
                                            <p:cond delay="0"/>
                                          </p:stCondLst>
                                        </p:cTn>
                                        <p:tgtEl>
                                          <p:spTgt spid="54"/>
                                        </p:tgtEl>
                                        <p:attrNameLst>
                                          <p:attrName>style.visibility</p:attrName>
                                        </p:attrNameLst>
                                      </p:cBhvr>
                                      <p:to>
                                        <p:strVal val="visible"/>
                                      </p:to>
                                    </p:set>
                                    <p:anim calcmode="lin" valueType="num">
                                      <p:cBhvr additive="base">
                                        <p:cTn id="68" dur="500" fill="hold"/>
                                        <p:tgtEl>
                                          <p:spTgt spid="54"/>
                                        </p:tgtEl>
                                        <p:attrNameLst>
                                          <p:attrName>ppt_x</p:attrName>
                                        </p:attrNameLst>
                                      </p:cBhvr>
                                      <p:tavLst>
                                        <p:tav tm="0">
                                          <p:val>
                                            <p:strVal val="0-#ppt_w/2"/>
                                          </p:val>
                                        </p:tav>
                                        <p:tav tm="100000">
                                          <p:val>
                                            <p:strVal val="#ppt_x"/>
                                          </p:val>
                                        </p:tav>
                                      </p:tavLst>
                                    </p:anim>
                                    <p:anim calcmode="lin" valueType="num">
                                      <p:cBhvr additive="base">
                                        <p:cTn id="69" dur="500" fill="hold"/>
                                        <p:tgtEl>
                                          <p:spTgt spid="54"/>
                                        </p:tgtEl>
                                        <p:attrNameLst>
                                          <p:attrName>ppt_y</p:attrName>
                                        </p:attrNameLst>
                                      </p:cBhvr>
                                      <p:tavLst>
                                        <p:tav tm="0">
                                          <p:val>
                                            <p:strVal val="#ppt_y"/>
                                          </p:val>
                                        </p:tav>
                                        <p:tav tm="100000">
                                          <p:val>
                                            <p:strVal val="#ppt_y"/>
                                          </p:val>
                                        </p:tav>
                                      </p:tavLst>
                                    </p:anim>
                                  </p:childTnLst>
                                </p:cTn>
                              </p:par>
                              <p:par>
                                <p:cTn id="70" presetID="2" presetClass="entr" presetSubtype="2" fill="hold" nodeType="withEffect">
                                  <p:stCondLst>
                                    <p:cond delay="0"/>
                                  </p:stCondLst>
                                  <p:childTnLst>
                                    <p:set>
                                      <p:cBhvr>
                                        <p:cTn id="71" dur="1" fill="hold">
                                          <p:stCondLst>
                                            <p:cond delay="0"/>
                                          </p:stCondLst>
                                        </p:cTn>
                                        <p:tgtEl>
                                          <p:spTgt spid="69"/>
                                        </p:tgtEl>
                                        <p:attrNameLst>
                                          <p:attrName>style.visibility</p:attrName>
                                        </p:attrNameLst>
                                      </p:cBhvr>
                                      <p:to>
                                        <p:strVal val="visible"/>
                                      </p:to>
                                    </p:set>
                                    <p:anim calcmode="lin" valueType="num">
                                      <p:cBhvr additive="base">
                                        <p:cTn id="72" dur="500" fill="hold"/>
                                        <p:tgtEl>
                                          <p:spTgt spid="69"/>
                                        </p:tgtEl>
                                        <p:attrNameLst>
                                          <p:attrName>ppt_x</p:attrName>
                                        </p:attrNameLst>
                                      </p:cBhvr>
                                      <p:tavLst>
                                        <p:tav tm="0">
                                          <p:val>
                                            <p:strVal val="1+#ppt_w/2"/>
                                          </p:val>
                                        </p:tav>
                                        <p:tav tm="100000">
                                          <p:val>
                                            <p:strVal val="#ppt_x"/>
                                          </p:val>
                                        </p:tav>
                                      </p:tavLst>
                                    </p:anim>
                                    <p:anim calcmode="lin" valueType="num">
                                      <p:cBhvr additive="base">
                                        <p:cTn id="73" dur="500" fill="hold"/>
                                        <p:tgtEl>
                                          <p:spTgt spid="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01</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74302" y="2392599"/>
            <a:ext cx="2031325" cy="646331"/>
          </a:xfrm>
          <a:prstGeom prst="rect">
            <a:avLst/>
          </a:prstGeom>
          <a:noFill/>
        </p:spPr>
        <p:txBody>
          <a:bodyPr wrap="none" rtlCol="0">
            <a:spAutoFit/>
          </a:bodyPr>
          <a:lstStyle/>
          <a:p>
            <a:pPr algn="ctr"/>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项目背景</a:t>
            </a: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188728834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p:cNvSpPr txBox="1">
            <a:spLocks/>
          </p:cNvSpPr>
          <p:nvPr/>
        </p:nvSpPr>
        <p:spPr>
          <a:xfrm>
            <a:off x="867224" y="915566"/>
            <a:ext cx="3920800" cy="504056"/>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b="1" dirty="0" smtClean="0">
                <a:solidFill>
                  <a:schemeClr val="accent1"/>
                </a:solidFill>
                <a:latin typeface="微软雅黑" panose="020B0503020204020204" pitchFamily="34" charset="-122"/>
                <a:ea typeface="微软雅黑" panose="020B0503020204020204" pitchFamily="34" charset="-122"/>
              </a:rPr>
              <a:t>项目背景</a:t>
            </a:r>
            <a:r>
              <a:rPr lang="en-US" altLang="zh-CN" b="1" dirty="0" smtClean="0">
                <a:solidFill>
                  <a:schemeClr val="accent1"/>
                </a:solidFill>
                <a:latin typeface="微软雅黑" panose="020B0503020204020204" pitchFamily="34" charset="-122"/>
                <a:ea typeface="微软雅黑" panose="020B0503020204020204" pitchFamily="34" charset="-122"/>
              </a:rPr>
              <a:t>/</a:t>
            </a:r>
            <a:r>
              <a:rPr lang="en-US" altLang="zh-CN" sz="1800" b="1" dirty="0" smtClean="0">
                <a:solidFill>
                  <a:schemeClr val="accent1"/>
                </a:solidFill>
                <a:latin typeface="微软雅黑" panose="020B0503020204020204" pitchFamily="34" charset="-122"/>
                <a:ea typeface="微软雅黑" panose="020B0503020204020204" pitchFamily="34" charset="-122"/>
              </a:rPr>
              <a:t>Background</a:t>
            </a:r>
            <a:endParaRPr lang="en-GB" sz="1800" b="1" dirty="0">
              <a:solidFill>
                <a:schemeClr val="accent1"/>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899592" y="1923678"/>
            <a:ext cx="5832648" cy="1421610"/>
          </a:xfrm>
          <a:prstGeom prst="rect">
            <a:avLst/>
          </a:prstGeom>
          <a:noFill/>
        </p:spPr>
        <p:txBody>
          <a:bodyPr wrap="square" lIns="68584" tIns="34291" rIns="68584" bIns="34291" rtlCol="0">
            <a:spAutoFit/>
          </a:bodyPr>
          <a:lstStyle/>
          <a:p>
            <a:pPr indent="457200" eaLnBrk="0" hangingPunct="0">
              <a:lnSpc>
                <a:spcPct val="150000"/>
              </a:lnSpc>
            </a:pPr>
            <a:r>
              <a:rPr lang="zh-CN" altLang="en-US" sz="1200" dirty="0">
                <a:solidFill>
                  <a:schemeClr val="tx1">
                    <a:lumMod val="85000"/>
                    <a:lumOff val="15000"/>
                  </a:schemeClr>
                </a:solidFill>
                <a:latin typeface="微软雅黑" pitchFamily="34" charset="-122"/>
                <a:ea typeface="微软雅黑" pitchFamily="34" charset="-122"/>
                <a:sym typeface="微软雅黑" pitchFamily="34" charset="-122"/>
              </a:rPr>
              <a:t>伴随</a:t>
            </a:r>
            <a:r>
              <a:rPr lang="en-US" altLang="zh-CN" sz="1200" dirty="0">
                <a:solidFill>
                  <a:schemeClr val="tx1">
                    <a:lumMod val="85000"/>
                    <a:lumOff val="15000"/>
                  </a:schemeClr>
                </a:solidFill>
                <a:latin typeface="微软雅黑" pitchFamily="34" charset="-122"/>
                <a:ea typeface="微软雅黑" pitchFamily="34" charset="-122"/>
                <a:sym typeface="微软雅黑" pitchFamily="34" charset="-122"/>
              </a:rPr>
              <a:t>5G</a:t>
            </a:r>
            <a:r>
              <a:rPr lang="zh-CN" altLang="en-US" sz="1200" dirty="0">
                <a:solidFill>
                  <a:schemeClr val="tx1">
                    <a:lumMod val="85000"/>
                    <a:lumOff val="15000"/>
                  </a:schemeClr>
                </a:solidFill>
                <a:latin typeface="微软雅黑" pitchFamily="34" charset="-122"/>
                <a:ea typeface="微软雅黑" pitchFamily="34" charset="-122"/>
                <a:sym typeface="微软雅黑" pitchFamily="34" charset="-122"/>
              </a:rPr>
              <a:t>时代到来，基站小区数量会呈现爆发式增长，引入人工智能进行无线运维</a:t>
            </a:r>
            <a:r>
              <a:rPr lang="zh-CN" altLang="en-US" sz="1200" dirty="0" smtClean="0">
                <a:solidFill>
                  <a:schemeClr val="tx1">
                    <a:lumMod val="85000"/>
                    <a:lumOff val="15000"/>
                  </a:schemeClr>
                </a:solidFill>
                <a:latin typeface="微软雅黑" pitchFamily="34" charset="-122"/>
                <a:ea typeface="微软雅黑" pitchFamily="34" charset="-122"/>
                <a:sym typeface="微软雅黑" pitchFamily="34" charset="-122"/>
              </a:rPr>
              <a:t>将是必然趋势。</a:t>
            </a:r>
            <a:endParaRPr lang="en-US" altLang="zh-CN" sz="1200" dirty="0" smtClean="0">
              <a:solidFill>
                <a:schemeClr val="tx1">
                  <a:lumMod val="85000"/>
                  <a:lumOff val="15000"/>
                </a:schemeClr>
              </a:solidFill>
              <a:latin typeface="微软雅黑" pitchFamily="34" charset="-122"/>
              <a:ea typeface="微软雅黑" pitchFamily="34" charset="-122"/>
              <a:sym typeface="微软雅黑" pitchFamily="34" charset="-122"/>
            </a:endParaRPr>
          </a:p>
          <a:p>
            <a:pPr indent="457200" eaLnBrk="0" hangingPunct="0">
              <a:lnSpc>
                <a:spcPct val="150000"/>
              </a:lnSpc>
            </a:pPr>
            <a:r>
              <a:rPr lang="zh-CN" altLang="en-US" sz="1200" dirty="0" smtClean="0">
                <a:solidFill>
                  <a:schemeClr val="tx1">
                    <a:lumMod val="85000"/>
                    <a:lumOff val="15000"/>
                  </a:schemeClr>
                </a:solidFill>
                <a:latin typeface="微软雅黑" pitchFamily="34" charset="-122"/>
                <a:ea typeface="微软雅黑" pitchFamily="34" charset="-122"/>
                <a:sym typeface="微软雅黑" pitchFamily="34" charset="-122"/>
              </a:rPr>
              <a:t>监督</a:t>
            </a:r>
            <a:r>
              <a:rPr lang="zh-CN" altLang="en-US" sz="1200" dirty="0">
                <a:solidFill>
                  <a:schemeClr val="tx1">
                    <a:lumMod val="85000"/>
                    <a:lumOff val="15000"/>
                  </a:schemeClr>
                </a:solidFill>
                <a:latin typeface="微软雅黑" pitchFamily="34" charset="-122"/>
                <a:ea typeface="微软雅黑" pitchFamily="34" charset="-122"/>
                <a:sym typeface="微软雅黑" pitchFamily="34" charset="-122"/>
              </a:rPr>
              <a:t>式机器学习需要给定数据样本中的特征值和学习目标。为此需要在包含大量无线指标的数据集中找出某特征组合与特定场景下的映射关系，并将结果打上标签。例如，小区链接数量较低同时小区无流量，则可以判定为休眠小区。</a:t>
            </a:r>
          </a:p>
        </p:txBody>
      </p:sp>
      <p:sp>
        <p:nvSpPr>
          <p:cNvPr id="11" name="Parallelogram 21"/>
          <p:cNvSpPr/>
          <p:nvPr/>
        </p:nvSpPr>
        <p:spPr>
          <a:xfrm>
            <a:off x="7136070" y="-2866"/>
            <a:ext cx="1658880" cy="3606733"/>
          </a:xfrm>
          <a:prstGeom prst="parallelogram">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22"/>
          <p:cNvSpPr/>
          <p:nvPr/>
        </p:nvSpPr>
        <p:spPr>
          <a:xfrm>
            <a:off x="7596336" y="1536767"/>
            <a:ext cx="1658880" cy="3606733"/>
          </a:xfrm>
          <a:prstGeom prst="parallelogram">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直接连接符 12"/>
          <p:cNvCxnSpPr/>
          <p:nvPr/>
        </p:nvCxnSpPr>
        <p:spPr>
          <a:xfrm>
            <a:off x="978872" y="1544039"/>
            <a:ext cx="54726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426411"/>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dissolve">
                                      <p:cBhvr>
                                        <p:cTn id="16" dur="500"/>
                                        <p:tgtEl>
                                          <p:spTgt spid="4">
                                            <p:txEl>
                                              <p:pRg st="0" end="0"/>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par>
                          <p:cTn id="21" fill="hold">
                            <p:stCondLst>
                              <p:cond delay="1500"/>
                            </p:stCondLst>
                            <p:childTnLst>
                              <p:par>
                                <p:cTn id="22" presetID="22" presetClass="entr" presetSubtype="8" fill="hold" grpId="0" nodeType="afterEffect">
                                  <p:stCondLst>
                                    <p:cond delay="0"/>
                                  </p:stCondLst>
                                  <p:iterate type="lt">
                                    <p:tmPct val="30000"/>
                                  </p:iterate>
                                  <p:childTnLst>
                                    <p:set>
                                      <p:cBhvr>
                                        <p:cTn id="23" dur="1" fill="hold">
                                          <p:stCondLst>
                                            <p:cond delay="0"/>
                                          </p:stCondLst>
                                        </p:cTn>
                                        <p:tgtEl>
                                          <p:spTgt spid="5"/>
                                        </p:tgtEl>
                                        <p:attrNameLst>
                                          <p:attrName>style.visibility</p:attrName>
                                        </p:attrNameLst>
                                      </p:cBhvr>
                                      <p:to>
                                        <p:strVal val="visible"/>
                                      </p:to>
                                    </p:set>
                                    <p:animEffect transition="in" filter="wipe(left)">
                                      <p:cBhvr>
                                        <p:cTn id="24" dur="100"/>
                                        <p:tgtEl>
                                          <p:spTgt spid="5"/>
                                        </p:tgtEl>
                                      </p:cBhvr>
                                    </p:animEffect>
                                  </p:childTnLst>
                                </p:cTn>
                              </p:par>
                              <p:par>
                                <p:cTn id="25" presetID="36" presetClass="emph" presetSubtype="0" fill="hold" grpId="1" nodeType="withEffect">
                                  <p:stCondLst>
                                    <p:cond delay="0"/>
                                  </p:stCondLst>
                                  <p:iterate type="lt">
                                    <p:tmPct val="30000"/>
                                  </p:iterate>
                                  <p:childTnLst>
                                    <p:animScale>
                                      <p:cBhvr>
                                        <p:cTn id="26" dur="50" autoRev="1" fill="hold">
                                          <p:stCondLst>
                                            <p:cond delay="0"/>
                                          </p:stCondLst>
                                        </p:cTn>
                                        <p:tgtEl>
                                          <p:spTgt spid="5"/>
                                        </p:tgtEl>
                                      </p:cBhvr>
                                      <p:to x="80000" y="100000"/>
                                    </p:animScale>
                                    <p:anim by="(#ppt_w*0.10)" calcmode="lin" valueType="num">
                                      <p:cBhvr>
                                        <p:cTn id="27" dur="50" autoRev="1" fill="hold">
                                          <p:stCondLst>
                                            <p:cond delay="0"/>
                                          </p:stCondLst>
                                        </p:cTn>
                                        <p:tgtEl>
                                          <p:spTgt spid="5"/>
                                        </p:tgtEl>
                                        <p:attrNameLst>
                                          <p:attrName>ppt_x</p:attrName>
                                        </p:attrNameLst>
                                      </p:cBhvr>
                                    </p:anim>
                                    <p:anim by="(-#ppt_w*0.10)" calcmode="lin" valueType="num">
                                      <p:cBhvr>
                                        <p:cTn id="28" dur="50" autoRev="1" fill="hold">
                                          <p:stCondLst>
                                            <p:cond delay="0"/>
                                          </p:stCondLst>
                                        </p:cTn>
                                        <p:tgtEl>
                                          <p:spTgt spid="5"/>
                                        </p:tgtEl>
                                        <p:attrNameLst>
                                          <p:attrName>ppt_y</p:attrName>
                                        </p:attrNameLst>
                                      </p:cBhvr>
                                    </p:anim>
                                    <p:animRot by="-480000">
                                      <p:cBhvr>
                                        <p:cTn id="29" dur="50" autoRev="1" fill="hold">
                                          <p:stCondLst>
                                            <p:cond delay="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5" grpId="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5343984" y="2417357"/>
            <a:ext cx="2614124" cy="483288"/>
            <a:chOff x="7125311" y="3386950"/>
            <a:chExt cx="3485499" cy="644384"/>
          </a:xfrm>
        </p:grpSpPr>
        <p:sp>
          <p:nvSpPr>
            <p:cNvPr id="7" name="Shape 533"/>
            <p:cNvSpPr/>
            <p:nvPr/>
          </p:nvSpPr>
          <p:spPr>
            <a:xfrm>
              <a:off x="7465374" y="3386950"/>
              <a:ext cx="3145436"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8" name="Shape 534"/>
            <p:cNvSpPr/>
            <p:nvPr/>
          </p:nvSpPr>
          <p:spPr>
            <a:xfrm>
              <a:off x="7125311" y="3386950"/>
              <a:ext cx="345204"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9340"/>
                  </a:lnTo>
                  <a:lnTo>
                    <a:pt x="0" y="13486"/>
                  </a:lnTo>
                  <a:lnTo>
                    <a:pt x="21600" y="21600"/>
                  </a:lnTo>
                  <a:cubicBezTo>
                    <a:pt x="21600" y="2160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9" name="Group 10"/>
          <p:cNvGrpSpPr/>
          <p:nvPr/>
        </p:nvGrpSpPr>
        <p:grpSpPr>
          <a:xfrm>
            <a:off x="1159320" y="2417357"/>
            <a:ext cx="2620452" cy="483288"/>
            <a:chOff x="1545760" y="3386950"/>
            <a:chExt cx="3493936" cy="644384"/>
          </a:xfrm>
        </p:grpSpPr>
        <p:sp>
          <p:nvSpPr>
            <p:cNvPr id="10" name="Shape 536"/>
            <p:cNvSpPr/>
            <p:nvPr/>
          </p:nvSpPr>
          <p:spPr>
            <a:xfrm>
              <a:off x="4694491" y="3386950"/>
              <a:ext cx="345205"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9340"/>
                  </a:lnTo>
                  <a:lnTo>
                    <a:pt x="21600" y="13486"/>
                  </a:lnTo>
                  <a:lnTo>
                    <a:pt x="0" y="21600"/>
                  </a:lnTo>
                  <a:cubicBezTo>
                    <a:pt x="0" y="2160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1" name="Shape 537"/>
            <p:cNvSpPr/>
            <p:nvPr/>
          </p:nvSpPr>
          <p:spPr>
            <a:xfrm>
              <a:off x="1545760" y="3386950"/>
              <a:ext cx="3151081"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2" name="Group 14"/>
          <p:cNvGrpSpPr/>
          <p:nvPr/>
        </p:nvGrpSpPr>
        <p:grpSpPr>
          <a:xfrm>
            <a:off x="5079491" y="1347614"/>
            <a:ext cx="2880085" cy="645054"/>
            <a:chOff x="6772654" y="2152648"/>
            <a:chExt cx="3840113" cy="860072"/>
          </a:xfrm>
        </p:grpSpPr>
        <p:sp>
          <p:nvSpPr>
            <p:cNvPr id="13" name="Shape 539"/>
            <p:cNvSpPr/>
            <p:nvPr/>
          </p:nvSpPr>
          <p:spPr>
            <a:xfrm>
              <a:off x="7289045" y="2152648"/>
              <a:ext cx="3323722" cy="64438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4" name="Shape 540"/>
            <p:cNvSpPr/>
            <p:nvPr/>
          </p:nvSpPr>
          <p:spPr>
            <a:xfrm>
              <a:off x="6772654" y="2152648"/>
              <a:ext cx="516147"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997"/>
                  </a:lnTo>
                  <a:lnTo>
                    <a:pt x="2792" y="21600"/>
                  </a:lnTo>
                  <a:lnTo>
                    <a:pt x="21600" y="16183"/>
                  </a:lnTo>
                  <a:cubicBezTo>
                    <a:pt x="21600" y="16183"/>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5" name="Group 18"/>
          <p:cNvGrpSpPr/>
          <p:nvPr/>
        </p:nvGrpSpPr>
        <p:grpSpPr>
          <a:xfrm>
            <a:off x="1159320" y="1347614"/>
            <a:ext cx="2890361" cy="645054"/>
            <a:chOff x="1545760" y="2152648"/>
            <a:chExt cx="3853814" cy="860072"/>
          </a:xfrm>
        </p:grpSpPr>
        <p:sp>
          <p:nvSpPr>
            <p:cNvPr id="16" name="Shape 542"/>
            <p:cNvSpPr/>
            <p:nvPr/>
          </p:nvSpPr>
          <p:spPr>
            <a:xfrm>
              <a:off x="1545760" y="2152648"/>
              <a:ext cx="3344236" cy="644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7" name="Shape 543"/>
            <p:cNvSpPr/>
            <p:nvPr/>
          </p:nvSpPr>
          <p:spPr>
            <a:xfrm>
              <a:off x="4883415" y="2152648"/>
              <a:ext cx="516159" cy="8600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8" name="Group 21"/>
          <p:cNvGrpSpPr/>
          <p:nvPr/>
        </p:nvGrpSpPr>
        <p:grpSpPr>
          <a:xfrm>
            <a:off x="5070045" y="3367676"/>
            <a:ext cx="2902381" cy="645054"/>
            <a:chOff x="6760059" y="4457519"/>
            <a:chExt cx="3869841" cy="860072"/>
          </a:xfrm>
        </p:grpSpPr>
        <p:sp>
          <p:nvSpPr>
            <p:cNvPr id="19" name="Shape 545"/>
            <p:cNvSpPr/>
            <p:nvPr/>
          </p:nvSpPr>
          <p:spPr>
            <a:xfrm>
              <a:off x="7276450" y="4671632"/>
              <a:ext cx="3353450" cy="64437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0" name="Shape 546"/>
            <p:cNvSpPr/>
            <p:nvPr/>
          </p:nvSpPr>
          <p:spPr>
            <a:xfrm>
              <a:off x="6760059" y="4457519"/>
              <a:ext cx="516158"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21" name="Group 24"/>
          <p:cNvGrpSpPr/>
          <p:nvPr/>
        </p:nvGrpSpPr>
        <p:grpSpPr>
          <a:xfrm>
            <a:off x="1159320" y="3367676"/>
            <a:ext cx="2890356" cy="645054"/>
            <a:chOff x="1545760" y="4457519"/>
            <a:chExt cx="3853808" cy="860072"/>
          </a:xfrm>
        </p:grpSpPr>
        <p:sp>
          <p:nvSpPr>
            <p:cNvPr id="22" name="Shape 548"/>
            <p:cNvSpPr/>
            <p:nvPr/>
          </p:nvSpPr>
          <p:spPr>
            <a:xfrm>
              <a:off x="1545760" y="4671632"/>
              <a:ext cx="3336278" cy="6443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lnTo>
                    <a:pt x="21600" y="21600"/>
                  </a:lnTo>
                  <a:cubicBezTo>
                    <a:pt x="21600" y="21600"/>
                    <a:pt x="0" y="21600"/>
                    <a:pt x="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3" name="Shape 549"/>
            <p:cNvSpPr/>
            <p:nvPr/>
          </p:nvSpPr>
          <p:spPr>
            <a:xfrm>
              <a:off x="4883415" y="4457519"/>
              <a:ext cx="516153" cy="8600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603"/>
                  </a:lnTo>
                  <a:lnTo>
                    <a:pt x="18808" y="0"/>
                  </a:lnTo>
                  <a:lnTo>
                    <a:pt x="0" y="5417"/>
                  </a:lnTo>
                  <a:cubicBezTo>
                    <a:pt x="0" y="5417"/>
                    <a:pt x="0" y="21600"/>
                    <a:pt x="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sp>
        <p:nvSpPr>
          <p:cNvPr id="24" name="Shape 558"/>
          <p:cNvSpPr/>
          <p:nvPr/>
        </p:nvSpPr>
        <p:spPr>
          <a:xfrm>
            <a:off x="1159903" y="1522242"/>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5" name="Shape 562"/>
          <p:cNvSpPr/>
          <p:nvPr/>
        </p:nvSpPr>
        <p:spPr>
          <a:xfrm>
            <a:off x="1159903" y="2593396"/>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6" name="Shape 566"/>
          <p:cNvSpPr/>
          <p:nvPr/>
        </p:nvSpPr>
        <p:spPr>
          <a:xfrm>
            <a:off x="1159903" y="3713745"/>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7" name="Shape 568"/>
          <p:cNvSpPr/>
          <p:nvPr/>
        </p:nvSpPr>
        <p:spPr>
          <a:xfrm>
            <a:off x="7814476" y="1522242"/>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8" name="Shape 572"/>
          <p:cNvSpPr/>
          <p:nvPr/>
        </p:nvSpPr>
        <p:spPr>
          <a:xfrm>
            <a:off x="7814476" y="2593396"/>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9" name="Shape 576"/>
          <p:cNvSpPr/>
          <p:nvPr/>
        </p:nvSpPr>
        <p:spPr>
          <a:xfrm>
            <a:off x="7814476" y="3713745"/>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31"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功能点需求描述</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Text Placeholder 12"/>
          <p:cNvSpPr txBox="1">
            <a:spLocks/>
          </p:cNvSpPr>
          <p:nvPr/>
        </p:nvSpPr>
        <p:spPr>
          <a:xfrm>
            <a:off x="1500188" y="1483769"/>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多</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格式数据读取</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Text Placeholder 12"/>
          <p:cNvSpPr txBox="1">
            <a:spLocks/>
          </p:cNvSpPr>
          <p:nvPr/>
        </p:nvSpPr>
        <p:spPr>
          <a:xfrm>
            <a:off x="1500188" y="2551180"/>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支持简单过滤</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Text Placeholder 12"/>
          <p:cNvSpPr txBox="1">
            <a:spLocks/>
          </p:cNvSpPr>
          <p:nvPr/>
        </p:nvSpPr>
        <p:spPr>
          <a:xfrm>
            <a:off x="1500187" y="3661661"/>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缺失告警</a:t>
            </a:r>
            <a:r>
              <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零值填充</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Text Placeholder 12"/>
          <p:cNvSpPr txBox="1">
            <a:spLocks/>
          </p:cNvSpPr>
          <p:nvPr/>
        </p:nvSpPr>
        <p:spPr>
          <a:xfrm>
            <a:off x="5660202" y="1483769"/>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数据可视化</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Text Placeholder 12"/>
          <p:cNvSpPr txBox="1">
            <a:spLocks/>
          </p:cNvSpPr>
          <p:nvPr/>
        </p:nvSpPr>
        <p:spPr>
          <a:xfrm>
            <a:off x="5660202" y="2551180"/>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友好</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操作界面</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Text Placeholder 12"/>
          <p:cNvSpPr txBox="1">
            <a:spLocks/>
          </p:cNvSpPr>
          <p:nvPr/>
        </p:nvSpPr>
        <p:spPr>
          <a:xfrm>
            <a:off x="5660201" y="3661661"/>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批量操作</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 Placeholder 12"/>
          <p:cNvSpPr txBox="1">
            <a:spLocks/>
          </p:cNvSpPr>
          <p:nvPr/>
        </p:nvSpPr>
        <p:spPr>
          <a:xfrm>
            <a:off x="1500186" y="196567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支持数据库、文本、表格三种数据格式的读取</a:t>
            </a:r>
          </a:p>
        </p:txBody>
      </p:sp>
      <p:sp>
        <p:nvSpPr>
          <p:cNvPr id="40" name="Text Placeholder 12"/>
          <p:cNvSpPr txBox="1">
            <a:spLocks/>
          </p:cNvSpPr>
          <p:nvPr/>
        </p:nvSpPr>
        <p:spPr>
          <a:xfrm>
            <a:off x="1500185" y="303844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对数据集里的指标做一维或多维度聚类，支持过滤和简单数学公式</a:t>
            </a:r>
          </a:p>
        </p:txBody>
      </p:sp>
      <p:sp>
        <p:nvSpPr>
          <p:cNvPr id="41" name="Text Placeholder 12"/>
          <p:cNvSpPr txBox="1">
            <a:spLocks/>
          </p:cNvSpPr>
          <p:nvPr/>
        </p:nvSpPr>
        <p:spPr>
          <a:xfrm>
            <a:off x="1500185" y="4176003"/>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对聚类中的缺失数据做告警提示（报告位置），支持零值填充</a:t>
            </a:r>
          </a:p>
        </p:txBody>
      </p:sp>
      <p:sp>
        <p:nvSpPr>
          <p:cNvPr id="42" name="Text Placeholder 12"/>
          <p:cNvSpPr txBox="1">
            <a:spLocks/>
          </p:cNvSpPr>
          <p:nvPr/>
        </p:nvSpPr>
        <p:spPr>
          <a:xfrm>
            <a:off x="5940153" y="196880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数据的多维度可视化呈现（二维</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三维，饼图</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柱状图</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折线图</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散点图等）</a:t>
            </a:r>
          </a:p>
        </p:txBody>
      </p:sp>
      <p:sp>
        <p:nvSpPr>
          <p:cNvPr id="43" name="Text Placeholder 12"/>
          <p:cNvSpPr txBox="1">
            <a:spLocks/>
          </p:cNvSpPr>
          <p:nvPr/>
        </p:nvSpPr>
        <p:spPr>
          <a:xfrm>
            <a:off x="5940152" y="304157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能</a:t>
            </a:r>
            <a:r>
              <a:rPr lang="zh-CN" altLang="en-US" sz="1000" dirty="0" smtClean="0">
                <a:solidFill>
                  <a:schemeClr val="tx1">
                    <a:lumMod val="75000"/>
                    <a:lumOff val="25000"/>
                  </a:schemeClr>
                </a:solidFill>
                <a:latin typeface="微软雅黑" pitchFamily="34" charset="-122"/>
                <a:ea typeface="微软雅黑" pitchFamily="34" charset="-122"/>
              </a:rPr>
              <a:t>在图形</a:t>
            </a:r>
            <a:r>
              <a:rPr lang="zh-CN" altLang="en-US" sz="1000" dirty="0">
                <a:solidFill>
                  <a:schemeClr val="tx1">
                    <a:lumMod val="75000"/>
                    <a:lumOff val="25000"/>
                  </a:schemeClr>
                </a:solidFill>
                <a:latin typeface="微软雅黑" pitchFamily="34" charset="-122"/>
                <a:ea typeface="微软雅黑" pitchFamily="34" charset="-122"/>
              </a:rPr>
              <a:t>中对数据做划分和标记</a:t>
            </a:r>
          </a:p>
        </p:txBody>
      </p:sp>
      <p:sp>
        <p:nvSpPr>
          <p:cNvPr id="44" name="Text Placeholder 12"/>
          <p:cNvSpPr txBox="1">
            <a:spLocks/>
          </p:cNvSpPr>
          <p:nvPr/>
        </p:nvSpPr>
        <p:spPr>
          <a:xfrm>
            <a:off x="5940152" y="4179133"/>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能对不同类别的数据做批量打标签</a:t>
            </a:r>
          </a:p>
        </p:txBody>
      </p:sp>
      <p:grpSp>
        <p:nvGrpSpPr>
          <p:cNvPr id="52" name="组合 51"/>
          <p:cNvGrpSpPr/>
          <p:nvPr/>
        </p:nvGrpSpPr>
        <p:grpSpPr>
          <a:xfrm>
            <a:off x="3566899" y="1677917"/>
            <a:ext cx="1997947" cy="1997946"/>
            <a:chOff x="3566899" y="1605909"/>
            <a:chExt cx="1997947" cy="1997946"/>
          </a:xfrm>
        </p:grpSpPr>
        <p:sp>
          <p:nvSpPr>
            <p:cNvPr id="30" name="Shape 551"/>
            <p:cNvSpPr/>
            <p:nvPr/>
          </p:nvSpPr>
          <p:spPr>
            <a:xfrm>
              <a:off x="3566899" y="1605909"/>
              <a:ext cx="1997947" cy="19979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38100" tIns="38100" rIns="38100" bIns="38100" anchor="ct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45" name="椭圆 44"/>
            <p:cNvSpPr/>
            <p:nvPr/>
          </p:nvSpPr>
          <p:spPr>
            <a:xfrm>
              <a:off x="3699991" y="1747171"/>
              <a:ext cx="1728790" cy="172879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accent1"/>
                  </a:solidFill>
                  <a:latin typeface="微软雅黑" panose="020B0503020204020204" pitchFamily="34" charset="-122"/>
                  <a:ea typeface="微软雅黑" panose="020B0503020204020204" pitchFamily="34" charset="-122"/>
                </a:rPr>
                <a:t>必选需求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2876526" y="4188707"/>
            <a:ext cx="2419163" cy="752069"/>
            <a:chOff x="2876526" y="4188707"/>
            <a:chExt cx="2419163" cy="752069"/>
          </a:xfrm>
        </p:grpSpPr>
        <p:sp>
          <p:nvSpPr>
            <p:cNvPr id="2" name="矩形标注 1"/>
            <p:cNvSpPr/>
            <p:nvPr/>
          </p:nvSpPr>
          <p:spPr>
            <a:xfrm rot="10800000">
              <a:off x="3566899" y="4188707"/>
              <a:ext cx="1728790" cy="436416"/>
            </a:xfrm>
            <a:prstGeom prst="wedgeRectCallout">
              <a:avLst>
                <a:gd name="adj1" fmla="val -8185"/>
                <a:gd name="adj2" fmla="val 167615"/>
              </a:avLst>
            </a:prstGeom>
            <a:solidFill>
              <a:srgbClr val="C4C7CB"/>
            </a:solidFill>
            <a:ln>
              <a:solidFill>
                <a:srgbClr val="C4C7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Text Placeholder 12"/>
            <p:cNvSpPr txBox="1">
              <a:spLocks/>
            </p:cNvSpPr>
            <p:nvPr/>
          </p:nvSpPr>
          <p:spPr>
            <a:xfrm>
              <a:off x="2876526" y="4233826"/>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数据导出</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9" name="Shape 576"/>
            <p:cNvSpPr/>
            <p:nvPr/>
          </p:nvSpPr>
          <p:spPr>
            <a:xfrm>
              <a:off x="4441835" y="4481706"/>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70" name="Text Placeholder 12"/>
            <p:cNvSpPr txBox="1">
              <a:spLocks/>
            </p:cNvSpPr>
            <p:nvPr/>
          </p:nvSpPr>
          <p:spPr>
            <a:xfrm>
              <a:off x="3581186" y="4819967"/>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支持标签后的数据导出（</a:t>
              </a:r>
              <a:r>
                <a:rPr lang="en-US" altLang="zh-CN" sz="1000" dirty="0">
                  <a:solidFill>
                    <a:schemeClr val="tx1">
                      <a:lumMod val="75000"/>
                      <a:lumOff val="25000"/>
                    </a:schemeClr>
                  </a:solidFill>
                  <a:latin typeface="微软雅黑" pitchFamily="34" charset="-122"/>
                  <a:ea typeface="微软雅黑" pitchFamily="34" charset="-122"/>
                </a:rPr>
                <a:t>CSV</a:t>
              </a:r>
              <a:r>
                <a:rPr lang="zh-CN" altLang="en-US" sz="1000" dirty="0">
                  <a:solidFill>
                    <a:schemeClr val="tx1">
                      <a:lumMod val="75000"/>
                      <a:lumOff val="25000"/>
                    </a:schemeClr>
                  </a:solidFill>
                  <a:latin typeface="微软雅黑" pitchFamily="34" charset="-122"/>
                  <a:ea typeface="微软雅黑" pitchFamily="34" charset="-122"/>
                </a:rPr>
                <a:t>）</a:t>
              </a:r>
            </a:p>
          </p:txBody>
        </p:sp>
      </p:grpSp>
    </p:spTree>
    <p:extLst>
      <p:ext uri="{BB962C8B-B14F-4D97-AF65-F5344CB8AC3E}">
        <p14:creationId xmlns:p14="http://schemas.microsoft.com/office/powerpoint/2010/main" val="344800628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1"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800"/>
                            </p:stCondLst>
                            <p:childTnLst>
                              <p:par>
                                <p:cTn id="13" presetID="53" presetClass="entr" presetSubtype="16"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p:cTn id="15" dur="500" fill="hold"/>
                                        <p:tgtEl>
                                          <p:spTgt spid="52"/>
                                        </p:tgtEl>
                                        <p:attrNameLst>
                                          <p:attrName>ppt_w</p:attrName>
                                        </p:attrNameLst>
                                      </p:cBhvr>
                                      <p:tavLst>
                                        <p:tav tm="0">
                                          <p:val>
                                            <p:fltVal val="0"/>
                                          </p:val>
                                        </p:tav>
                                        <p:tav tm="100000">
                                          <p:val>
                                            <p:strVal val="#ppt_w"/>
                                          </p:val>
                                        </p:tav>
                                      </p:tavLst>
                                    </p:anim>
                                    <p:anim calcmode="lin" valueType="num">
                                      <p:cBhvr>
                                        <p:cTn id="16" dur="500" fill="hold"/>
                                        <p:tgtEl>
                                          <p:spTgt spid="52"/>
                                        </p:tgtEl>
                                        <p:attrNameLst>
                                          <p:attrName>ppt_h</p:attrName>
                                        </p:attrNameLst>
                                      </p:cBhvr>
                                      <p:tavLst>
                                        <p:tav tm="0">
                                          <p:val>
                                            <p:fltVal val="0"/>
                                          </p:val>
                                        </p:tav>
                                        <p:tav tm="100000">
                                          <p:val>
                                            <p:strVal val="#ppt_h"/>
                                          </p:val>
                                        </p:tav>
                                      </p:tavLst>
                                    </p:anim>
                                    <p:animEffect transition="in" filter="fade">
                                      <p:cBhvr>
                                        <p:cTn id="17" dur="500"/>
                                        <p:tgtEl>
                                          <p:spTgt spid="52"/>
                                        </p:tgtEl>
                                      </p:cBhvr>
                                    </p:animEffect>
                                  </p:childTnLst>
                                </p:cTn>
                              </p:par>
                            </p:childTnLst>
                          </p:cTn>
                        </p:par>
                        <p:par>
                          <p:cTn id="18" fill="hold">
                            <p:stCondLst>
                              <p:cond delay="1300"/>
                            </p:stCondLst>
                            <p:childTnLst>
                              <p:par>
                                <p:cTn id="19" presetID="22" presetClass="entr" presetSubtype="2"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32">
                                            <p:txEl>
                                              <p:pRg st="0" end="0"/>
                                            </p:txEl>
                                          </p:spTgt>
                                        </p:tgtEl>
                                        <p:attrNameLst>
                                          <p:attrName>style.visibility</p:attrName>
                                        </p:attrNameLst>
                                      </p:cBhvr>
                                      <p:to>
                                        <p:strVal val="visible"/>
                                      </p:to>
                                    </p:set>
                                    <p:animEffect transition="in" filter="fade">
                                      <p:cBhvr>
                                        <p:cTn id="25" dur="500"/>
                                        <p:tgtEl>
                                          <p:spTgt spid="32">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par>
                          <p:cTn id="29" fill="hold">
                            <p:stCondLst>
                              <p:cond delay="2300"/>
                            </p:stCondLst>
                            <p:childTnLst>
                              <p:par>
                                <p:cTn id="30" presetID="10" presetClass="entr" presetSubtype="0" fill="hold" grpId="0" nodeType="afterEffect">
                                  <p:stCondLst>
                                    <p:cond delay="0"/>
                                  </p:stCondLst>
                                  <p:childTnLst>
                                    <p:set>
                                      <p:cBhvr>
                                        <p:cTn id="31" dur="1" fill="hold">
                                          <p:stCondLst>
                                            <p:cond delay="0"/>
                                          </p:stCondLst>
                                        </p:cTn>
                                        <p:tgtEl>
                                          <p:spTgt spid="39">
                                            <p:txEl>
                                              <p:pRg st="0" end="0"/>
                                            </p:txEl>
                                          </p:spTgt>
                                        </p:tgtEl>
                                        <p:attrNameLst>
                                          <p:attrName>style.visibility</p:attrName>
                                        </p:attrNameLst>
                                      </p:cBhvr>
                                      <p:to>
                                        <p:strVal val="visible"/>
                                      </p:to>
                                    </p:set>
                                    <p:animEffect transition="in" filter="fade">
                                      <p:cBhvr>
                                        <p:cTn id="32" dur="500"/>
                                        <p:tgtEl>
                                          <p:spTgt spid="39">
                                            <p:txEl>
                                              <p:pRg st="0" end="0"/>
                                            </p:txEl>
                                          </p:spTgt>
                                        </p:tgtEl>
                                      </p:cBhvr>
                                    </p:animEffect>
                                  </p:childTnLst>
                                </p:cTn>
                              </p:par>
                            </p:childTnLst>
                          </p:cTn>
                        </p:par>
                        <p:par>
                          <p:cTn id="33" fill="hold">
                            <p:stCondLst>
                              <p:cond delay="2800"/>
                            </p:stCondLst>
                            <p:childTnLst>
                              <p:par>
                                <p:cTn id="34" presetID="22" presetClass="entr" presetSubtype="2"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right)">
                                      <p:cBhvr>
                                        <p:cTn id="36" dur="500"/>
                                        <p:tgtEl>
                                          <p:spTgt spid="9"/>
                                        </p:tgtEl>
                                      </p:cBhvr>
                                    </p:animEffect>
                                  </p:childTnLst>
                                </p:cTn>
                              </p:par>
                            </p:childTnLst>
                          </p:cTn>
                        </p:par>
                        <p:par>
                          <p:cTn id="37" fill="hold">
                            <p:stCondLst>
                              <p:cond delay="3300"/>
                            </p:stCondLst>
                            <p:childTnLst>
                              <p:par>
                                <p:cTn id="38" presetID="10" presetClass="entr" presetSubtype="0" fill="hold" grpId="0" nodeType="afterEffect">
                                  <p:stCondLst>
                                    <p:cond delay="0"/>
                                  </p:stCondLst>
                                  <p:childTnLst>
                                    <p:set>
                                      <p:cBhvr>
                                        <p:cTn id="39" dur="1" fill="hold">
                                          <p:stCondLst>
                                            <p:cond delay="0"/>
                                          </p:stCondLst>
                                        </p:cTn>
                                        <p:tgtEl>
                                          <p:spTgt spid="34">
                                            <p:txEl>
                                              <p:pRg st="0" end="0"/>
                                            </p:txEl>
                                          </p:spTgt>
                                        </p:tgtEl>
                                        <p:attrNameLst>
                                          <p:attrName>style.visibility</p:attrName>
                                        </p:attrNameLst>
                                      </p:cBhvr>
                                      <p:to>
                                        <p:strVal val="visible"/>
                                      </p:to>
                                    </p:set>
                                    <p:animEffect transition="in" filter="fade">
                                      <p:cBhvr>
                                        <p:cTn id="40" dur="500"/>
                                        <p:tgtEl>
                                          <p:spTgt spid="34">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par>
                          <p:cTn id="44" fill="hold">
                            <p:stCondLst>
                              <p:cond delay="3800"/>
                            </p:stCondLst>
                            <p:childTnLst>
                              <p:par>
                                <p:cTn id="45" presetID="10" presetClass="entr" presetSubtype="0" fill="hold" grpId="0" nodeType="afterEffect">
                                  <p:stCondLst>
                                    <p:cond delay="0"/>
                                  </p:stCondLst>
                                  <p:childTnLst>
                                    <p:set>
                                      <p:cBhvr>
                                        <p:cTn id="46" dur="1" fill="hold">
                                          <p:stCondLst>
                                            <p:cond delay="0"/>
                                          </p:stCondLst>
                                        </p:cTn>
                                        <p:tgtEl>
                                          <p:spTgt spid="40">
                                            <p:txEl>
                                              <p:pRg st="0" end="0"/>
                                            </p:txEl>
                                          </p:spTgt>
                                        </p:tgtEl>
                                        <p:attrNameLst>
                                          <p:attrName>style.visibility</p:attrName>
                                        </p:attrNameLst>
                                      </p:cBhvr>
                                      <p:to>
                                        <p:strVal val="visible"/>
                                      </p:to>
                                    </p:set>
                                    <p:animEffect transition="in" filter="fade">
                                      <p:cBhvr>
                                        <p:cTn id="47" dur="500"/>
                                        <p:tgtEl>
                                          <p:spTgt spid="40">
                                            <p:txEl>
                                              <p:pRg st="0" end="0"/>
                                            </p:txEl>
                                          </p:spTgt>
                                        </p:tgtEl>
                                      </p:cBhvr>
                                    </p:animEffect>
                                  </p:childTnLst>
                                </p:cTn>
                              </p:par>
                            </p:childTnLst>
                          </p:cTn>
                        </p:par>
                        <p:par>
                          <p:cTn id="48" fill="hold">
                            <p:stCondLst>
                              <p:cond delay="4300"/>
                            </p:stCondLst>
                            <p:childTnLst>
                              <p:par>
                                <p:cTn id="49" presetID="22" presetClass="entr" presetSubtype="2"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right)">
                                      <p:cBhvr>
                                        <p:cTn id="51" dur="500"/>
                                        <p:tgtEl>
                                          <p:spTgt spid="21"/>
                                        </p:tgtEl>
                                      </p:cBhvr>
                                    </p:animEffect>
                                  </p:childTnLst>
                                </p:cTn>
                              </p:par>
                            </p:childTnLst>
                          </p:cTn>
                        </p:par>
                        <p:par>
                          <p:cTn id="52" fill="hold">
                            <p:stCondLst>
                              <p:cond delay="4800"/>
                            </p:stCondLst>
                            <p:childTnLst>
                              <p:par>
                                <p:cTn id="53" presetID="10" presetClass="entr" presetSubtype="0" fill="hold" grpId="0" nodeType="afterEffect">
                                  <p:stCondLst>
                                    <p:cond delay="0"/>
                                  </p:stCondLst>
                                  <p:childTnLst>
                                    <p:set>
                                      <p:cBhvr>
                                        <p:cTn id="54" dur="1" fill="hold">
                                          <p:stCondLst>
                                            <p:cond delay="0"/>
                                          </p:stCondLst>
                                        </p:cTn>
                                        <p:tgtEl>
                                          <p:spTgt spid="35">
                                            <p:txEl>
                                              <p:pRg st="0" end="0"/>
                                            </p:txEl>
                                          </p:spTgt>
                                        </p:tgtEl>
                                        <p:attrNameLst>
                                          <p:attrName>style.visibility</p:attrName>
                                        </p:attrNameLst>
                                      </p:cBhvr>
                                      <p:to>
                                        <p:strVal val="visible"/>
                                      </p:to>
                                    </p:set>
                                    <p:animEffect transition="in" filter="fade">
                                      <p:cBhvr>
                                        <p:cTn id="55" dur="500"/>
                                        <p:tgtEl>
                                          <p:spTgt spid="35">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par>
                          <p:cTn id="59" fill="hold">
                            <p:stCondLst>
                              <p:cond delay="5300"/>
                            </p:stCondLst>
                            <p:childTnLst>
                              <p:par>
                                <p:cTn id="60" presetID="10" presetClass="entr" presetSubtype="0" fill="hold" grpId="0" nodeType="afterEffect">
                                  <p:stCondLst>
                                    <p:cond delay="0"/>
                                  </p:stCondLst>
                                  <p:childTnLst>
                                    <p:set>
                                      <p:cBhvr>
                                        <p:cTn id="61" dur="1" fill="hold">
                                          <p:stCondLst>
                                            <p:cond delay="0"/>
                                          </p:stCondLst>
                                        </p:cTn>
                                        <p:tgtEl>
                                          <p:spTgt spid="41">
                                            <p:txEl>
                                              <p:pRg st="0" end="0"/>
                                            </p:txEl>
                                          </p:spTgt>
                                        </p:tgtEl>
                                        <p:attrNameLst>
                                          <p:attrName>style.visibility</p:attrName>
                                        </p:attrNameLst>
                                      </p:cBhvr>
                                      <p:to>
                                        <p:strVal val="visible"/>
                                      </p:to>
                                    </p:set>
                                    <p:animEffect transition="in" filter="fade">
                                      <p:cBhvr>
                                        <p:cTn id="62" dur="500"/>
                                        <p:tgtEl>
                                          <p:spTgt spid="41">
                                            <p:txEl>
                                              <p:pRg st="0" end="0"/>
                                            </p:txEl>
                                          </p:spTgt>
                                        </p:tgtEl>
                                      </p:cBhvr>
                                    </p:animEffect>
                                  </p:childTnLst>
                                </p:cTn>
                              </p:par>
                            </p:childTnLst>
                          </p:cTn>
                        </p:par>
                        <p:par>
                          <p:cTn id="63" fill="hold">
                            <p:stCondLst>
                              <p:cond delay="5800"/>
                            </p:stCondLst>
                            <p:childTnLst>
                              <p:par>
                                <p:cTn id="64" presetID="22" presetClass="entr" presetSubtype="8" fill="hold" nodeType="after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par>
                          <p:cTn id="67" fill="hold">
                            <p:stCondLst>
                              <p:cond delay="6300"/>
                            </p:stCondLst>
                            <p:childTnLst>
                              <p:par>
                                <p:cTn id="68" presetID="10" presetClass="entr" presetSubtype="0" fill="hold" grpId="0" nodeType="afterEffect">
                                  <p:stCondLst>
                                    <p:cond delay="0"/>
                                  </p:stCondLst>
                                  <p:childTnLst>
                                    <p:set>
                                      <p:cBhvr>
                                        <p:cTn id="69" dur="1" fill="hold">
                                          <p:stCondLst>
                                            <p:cond delay="0"/>
                                          </p:stCondLst>
                                        </p:cTn>
                                        <p:tgtEl>
                                          <p:spTgt spid="36">
                                            <p:txEl>
                                              <p:pRg st="0" end="0"/>
                                            </p:txEl>
                                          </p:spTgt>
                                        </p:tgtEl>
                                        <p:attrNameLst>
                                          <p:attrName>style.visibility</p:attrName>
                                        </p:attrNameLst>
                                      </p:cBhvr>
                                      <p:to>
                                        <p:strVal val="visible"/>
                                      </p:to>
                                    </p:set>
                                    <p:animEffect transition="in" filter="fade">
                                      <p:cBhvr>
                                        <p:cTn id="70" dur="500"/>
                                        <p:tgtEl>
                                          <p:spTgt spid="36">
                                            <p:txEl>
                                              <p:pRg st="0" end="0"/>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childTnLst>
                          </p:cTn>
                        </p:par>
                        <p:par>
                          <p:cTn id="74" fill="hold">
                            <p:stCondLst>
                              <p:cond delay="6800"/>
                            </p:stCondLst>
                            <p:childTnLst>
                              <p:par>
                                <p:cTn id="75" presetID="10" presetClass="entr" presetSubtype="0" fill="hold" grpId="0" nodeType="afterEffect">
                                  <p:stCondLst>
                                    <p:cond delay="0"/>
                                  </p:stCondLst>
                                  <p:childTnLst>
                                    <p:set>
                                      <p:cBhvr>
                                        <p:cTn id="76" dur="1" fill="hold">
                                          <p:stCondLst>
                                            <p:cond delay="0"/>
                                          </p:stCondLst>
                                        </p:cTn>
                                        <p:tgtEl>
                                          <p:spTgt spid="42">
                                            <p:txEl>
                                              <p:pRg st="0" end="0"/>
                                            </p:txEl>
                                          </p:spTgt>
                                        </p:tgtEl>
                                        <p:attrNameLst>
                                          <p:attrName>style.visibility</p:attrName>
                                        </p:attrNameLst>
                                      </p:cBhvr>
                                      <p:to>
                                        <p:strVal val="visible"/>
                                      </p:to>
                                    </p:set>
                                    <p:animEffect transition="in" filter="fade">
                                      <p:cBhvr>
                                        <p:cTn id="77" dur="500"/>
                                        <p:tgtEl>
                                          <p:spTgt spid="42">
                                            <p:txEl>
                                              <p:pRg st="0" end="0"/>
                                            </p:txEl>
                                          </p:spTgt>
                                        </p:tgtEl>
                                      </p:cBhvr>
                                    </p:animEffect>
                                  </p:childTnLst>
                                </p:cTn>
                              </p:par>
                            </p:childTnLst>
                          </p:cTn>
                        </p:par>
                        <p:par>
                          <p:cTn id="78" fill="hold">
                            <p:stCondLst>
                              <p:cond delay="7300"/>
                            </p:stCondLst>
                            <p:childTnLst>
                              <p:par>
                                <p:cTn id="79" presetID="22" presetClass="entr" presetSubtype="8" fill="hold" nodeType="after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left)">
                                      <p:cBhvr>
                                        <p:cTn id="81" dur="500"/>
                                        <p:tgtEl>
                                          <p:spTgt spid="6"/>
                                        </p:tgtEl>
                                      </p:cBhvr>
                                    </p:animEffect>
                                  </p:childTnLst>
                                </p:cTn>
                              </p:par>
                            </p:childTnLst>
                          </p:cTn>
                        </p:par>
                        <p:par>
                          <p:cTn id="82" fill="hold">
                            <p:stCondLst>
                              <p:cond delay="7800"/>
                            </p:stCondLst>
                            <p:childTnLst>
                              <p:par>
                                <p:cTn id="83" presetID="10" presetClass="entr" presetSubtype="0" fill="hold" grpId="0" nodeType="afterEffect">
                                  <p:stCondLst>
                                    <p:cond delay="0"/>
                                  </p:stCondLst>
                                  <p:childTnLst>
                                    <p:set>
                                      <p:cBhvr>
                                        <p:cTn id="84" dur="1" fill="hold">
                                          <p:stCondLst>
                                            <p:cond delay="0"/>
                                          </p:stCondLst>
                                        </p:cTn>
                                        <p:tgtEl>
                                          <p:spTgt spid="37">
                                            <p:txEl>
                                              <p:pRg st="0" end="0"/>
                                            </p:txEl>
                                          </p:spTgt>
                                        </p:tgtEl>
                                        <p:attrNameLst>
                                          <p:attrName>style.visibility</p:attrName>
                                        </p:attrNameLst>
                                      </p:cBhvr>
                                      <p:to>
                                        <p:strVal val="visible"/>
                                      </p:to>
                                    </p:set>
                                    <p:animEffect transition="in" filter="fade">
                                      <p:cBhvr>
                                        <p:cTn id="85" dur="500"/>
                                        <p:tgtEl>
                                          <p:spTgt spid="37">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childTnLst>
                          </p:cTn>
                        </p:par>
                        <p:par>
                          <p:cTn id="89" fill="hold">
                            <p:stCondLst>
                              <p:cond delay="8300"/>
                            </p:stCondLst>
                            <p:childTnLst>
                              <p:par>
                                <p:cTn id="90" presetID="10" presetClass="entr" presetSubtype="0" fill="hold" grpId="0" nodeType="afterEffect">
                                  <p:stCondLst>
                                    <p:cond delay="0"/>
                                  </p:stCondLst>
                                  <p:childTnLst>
                                    <p:set>
                                      <p:cBhvr>
                                        <p:cTn id="91" dur="1" fill="hold">
                                          <p:stCondLst>
                                            <p:cond delay="0"/>
                                          </p:stCondLst>
                                        </p:cTn>
                                        <p:tgtEl>
                                          <p:spTgt spid="43">
                                            <p:txEl>
                                              <p:pRg st="0" end="0"/>
                                            </p:txEl>
                                          </p:spTgt>
                                        </p:tgtEl>
                                        <p:attrNameLst>
                                          <p:attrName>style.visibility</p:attrName>
                                        </p:attrNameLst>
                                      </p:cBhvr>
                                      <p:to>
                                        <p:strVal val="visible"/>
                                      </p:to>
                                    </p:set>
                                    <p:animEffect transition="in" filter="fade">
                                      <p:cBhvr>
                                        <p:cTn id="92" dur="500"/>
                                        <p:tgtEl>
                                          <p:spTgt spid="43">
                                            <p:txEl>
                                              <p:pRg st="0" end="0"/>
                                            </p:txEl>
                                          </p:spTgt>
                                        </p:tgtEl>
                                      </p:cBhvr>
                                    </p:animEffect>
                                  </p:childTnLst>
                                </p:cTn>
                              </p:par>
                            </p:childTnLst>
                          </p:cTn>
                        </p:par>
                        <p:par>
                          <p:cTn id="93" fill="hold">
                            <p:stCondLst>
                              <p:cond delay="8800"/>
                            </p:stCondLst>
                            <p:childTnLst>
                              <p:par>
                                <p:cTn id="94" presetID="22" presetClass="entr" presetSubtype="8" fill="hold" nodeType="after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left)">
                                      <p:cBhvr>
                                        <p:cTn id="96" dur="500"/>
                                        <p:tgtEl>
                                          <p:spTgt spid="18"/>
                                        </p:tgtEl>
                                      </p:cBhvr>
                                    </p:animEffect>
                                  </p:childTnLst>
                                </p:cTn>
                              </p:par>
                            </p:childTnLst>
                          </p:cTn>
                        </p:par>
                        <p:par>
                          <p:cTn id="97" fill="hold">
                            <p:stCondLst>
                              <p:cond delay="9300"/>
                            </p:stCondLst>
                            <p:childTnLst>
                              <p:par>
                                <p:cTn id="98" presetID="10" presetClass="entr" presetSubtype="0" fill="hold" grpId="0" nodeType="afterEffect">
                                  <p:stCondLst>
                                    <p:cond delay="0"/>
                                  </p:stCondLst>
                                  <p:childTnLst>
                                    <p:set>
                                      <p:cBhvr>
                                        <p:cTn id="99" dur="1" fill="hold">
                                          <p:stCondLst>
                                            <p:cond delay="0"/>
                                          </p:stCondLst>
                                        </p:cTn>
                                        <p:tgtEl>
                                          <p:spTgt spid="38">
                                            <p:txEl>
                                              <p:pRg st="0" end="0"/>
                                            </p:txEl>
                                          </p:spTgt>
                                        </p:tgtEl>
                                        <p:attrNameLst>
                                          <p:attrName>style.visibility</p:attrName>
                                        </p:attrNameLst>
                                      </p:cBhvr>
                                      <p:to>
                                        <p:strVal val="visible"/>
                                      </p:to>
                                    </p:set>
                                    <p:animEffect transition="in" filter="fade">
                                      <p:cBhvr>
                                        <p:cTn id="100" dur="500"/>
                                        <p:tgtEl>
                                          <p:spTgt spid="38">
                                            <p:txEl>
                                              <p:pRg st="0" end="0"/>
                                            </p:txEl>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childTnLst>
                          </p:cTn>
                        </p:par>
                        <p:par>
                          <p:cTn id="104" fill="hold">
                            <p:stCondLst>
                              <p:cond delay="9800"/>
                            </p:stCondLst>
                            <p:childTnLst>
                              <p:par>
                                <p:cTn id="105" presetID="10" presetClass="entr" presetSubtype="0" fill="hold" grpId="0" nodeType="afterEffect">
                                  <p:stCondLst>
                                    <p:cond delay="0"/>
                                  </p:stCondLst>
                                  <p:childTnLst>
                                    <p:set>
                                      <p:cBhvr>
                                        <p:cTn id="106" dur="1" fill="hold">
                                          <p:stCondLst>
                                            <p:cond delay="0"/>
                                          </p:stCondLst>
                                        </p:cTn>
                                        <p:tgtEl>
                                          <p:spTgt spid="44">
                                            <p:txEl>
                                              <p:pRg st="0" end="0"/>
                                            </p:txEl>
                                          </p:spTgt>
                                        </p:tgtEl>
                                        <p:attrNameLst>
                                          <p:attrName>style.visibility</p:attrName>
                                        </p:attrNameLst>
                                      </p:cBhvr>
                                      <p:to>
                                        <p:strVal val="visible"/>
                                      </p:to>
                                    </p:set>
                                    <p:animEffect transition="in" filter="fade">
                                      <p:cBhvr>
                                        <p:cTn id="107" dur="500"/>
                                        <p:tgtEl>
                                          <p:spTgt spid="44">
                                            <p:txEl>
                                              <p:pRg st="0" end="0"/>
                                            </p:txEl>
                                          </p:spTgt>
                                        </p:tgtEl>
                                      </p:cBhvr>
                                    </p:animEffect>
                                  </p:childTnLst>
                                </p:cTn>
                              </p:par>
                            </p:childTnLst>
                          </p:cTn>
                        </p:par>
                        <p:par>
                          <p:cTn id="108" fill="hold">
                            <p:stCondLst>
                              <p:cond delay="10300"/>
                            </p:stCondLst>
                            <p:childTnLst>
                              <p:par>
                                <p:cTn id="109" presetID="22" presetClass="entr" presetSubtype="4" fill="hold" nodeType="afterEffect">
                                  <p:stCondLst>
                                    <p:cond delay="0"/>
                                  </p:stCondLst>
                                  <p:childTnLst>
                                    <p:set>
                                      <p:cBhvr>
                                        <p:cTn id="110" dur="1" fill="hold">
                                          <p:stCondLst>
                                            <p:cond delay="0"/>
                                          </p:stCondLst>
                                        </p:cTn>
                                        <p:tgtEl>
                                          <p:spTgt spid="3"/>
                                        </p:tgtEl>
                                        <p:attrNameLst>
                                          <p:attrName>style.visibility</p:attrName>
                                        </p:attrNameLst>
                                      </p:cBhvr>
                                      <p:to>
                                        <p:strVal val="visible"/>
                                      </p:to>
                                    </p:set>
                                    <p:animEffect transition="in" filter="wipe(down)">
                                      <p:cBhvr>
                                        <p:cTn id="1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1" grpId="1"/>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4" grpId="0" build="p">
        <p:tmplLst>
          <p:tmpl lvl="1">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p:tmplLst>
          <p:tmpl lvl="1">
            <p:tnLst>
              <p:par>
                <p:cTn presetID="10" presetClass="entr" presetSubtype="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10" presetClass="entr" presetSubtype="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p:tmplLst>
          <p:tmpl lvl="1">
            <p:tnLst>
              <p:par>
                <p:cTn presetID="10" presetClass="entr" presetSubtype="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p:tmplLst>
          <p:tmpl lvl="1">
            <p:tnLst>
              <p:par>
                <p:cTn presetID="10" presetClass="entr" presetSubtype="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p:tmplLst>
          <p:tmpl lvl="1">
            <p:tnLst>
              <p:par>
                <p:cTn presetID="10" presetClass="entr" presetSubtype="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p:tmplLst>
          <p:tmpl lvl="1">
            <p:tnLst>
              <p:par>
                <p:cTn presetID="10" presetClass="entr" presetSubtype="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p:tmplLst>
          <p:tmpl lvl="1">
            <p:tnLst>
              <p:par>
                <p:cTn presetID="10" presetClass="entr" presetSubtype="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p:tmplLst>
          <p:tmpl lvl="1">
            <p:tnLst>
              <p:par>
                <p:cTn presetID="10" presetClass="entr" presetSubtype="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10" presetClass="entr" presetSubtype="0"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8"/>
          <p:cNvGrpSpPr/>
          <p:nvPr/>
        </p:nvGrpSpPr>
        <p:grpSpPr>
          <a:xfrm>
            <a:off x="1159320" y="1347614"/>
            <a:ext cx="2890361" cy="645054"/>
            <a:chOff x="1545760" y="2152648"/>
            <a:chExt cx="3853814" cy="860072"/>
          </a:xfrm>
        </p:grpSpPr>
        <p:sp>
          <p:nvSpPr>
            <p:cNvPr id="16" name="Shape 542"/>
            <p:cNvSpPr/>
            <p:nvPr/>
          </p:nvSpPr>
          <p:spPr>
            <a:xfrm>
              <a:off x="1545760" y="2152648"/>
              <a:ext cx="3344236" cy="644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7" name="Shape 543"/>
            <p:cNvSpPr/>
            <p:nvPr/>
          </p:nvSpPr>
          <p:spPr>
            <a:xfrm>
              <a:off x="4883415" y="2152648"/>
              <a:ext cx="516159" cy="8600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8" name="Group 21"/>
          <p:cNvGrpSpPr/>
          <p:nvPr/>
        </p:nvGrpSpPr>
        <p:grpSpPr>
          <a:xfrm>
            <a:off x="5070045" y="3367676"/>
            <a:ext cx="2902381" cy="645054"/>
            <a:chOff x="6760059" y="4457519"/>
            <a:chExt cx="3869841" cy="860072"/>
          </a:xfrm>
        </p:grpSpPr>
        <p:sp>
          <p:nvSpPr>
            <p:cNvPr id="19" name="Shape 545"/>
            <p:cNvSpPr/>
            <p:nvPr/>
          </p:nvSpPr>
          <p:spPr>
            <a:xfrm>
              <a:off x="7276450" y="4671632"/>
              <a:ext cx="3353450" cy="64437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0" name="Shape 546"/>
            <p:cNvSpPr/>
            <p:nvPr/>
          </p:nvSpPr>
          <p:spPr>
            <a:xfrm>
              <a:off x="6760059" y="4457519"/>
              <a:ext cx="516158"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sp>
        <p:nvSpPr>
          <p:cNvPr id="24" name="Shape 558"/>
          <p:cNvSpPr/>
          <p:nvPr/>
        </p:nvSpPr>
        <p:spPr>
          <a:xfrm>
            <a:off x="1159903" y="1522242"/>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9" name="Shape 576"/>
          <p:cNvSpPr/>
          <p:nvPr/>
        </p:nvSpPr>
        <p:spPr>
          <a:xfrm>
            <a:off x="7814476" y="3713745"/>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31"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功能点需求描述</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Text Placeholder 12"/>
          <p:cNvSpPr txBox="1">
            <a:spLocks/>
          </p:cNvSpPr>
          <p:nvPr/>
        </p:nvSpPr>
        <p:spPr>
          <a:xfrm>
            <a:off x="1500188" y="1483769"/>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多样化填充</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Text Placeholder 12"/>
          <p:cNvSpPr txBox="1">
            <a:spLocks/>
          </p:cNvSpPr>
          <p:nvPr/>
        </p:nvSpPr>
        <p:spPr>
          <a:xfrm>
            <a:off x="5660201" y="3661661"/>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多场景支持</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 Placeholder 12"/>
          <p:cNvSpPr txBox="1">
            <a:spLocks/>
          </p:cNvSpPr>
          <p:nvPr/>
        </p:nvSpPr>
        <p:spPr>
          <a:xfrm>
            <a:off x="1500186" y="196567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能够对缺失数据做多样化填充处理</a:t>
            </a:r>
          </a:p>
        </p:txBody>
      </p:sp>
      <p:sp>
        <p:nvSpPr>
          <p:cNvPr id="44" name="Text Placeholder 12"/>
          <p:cNvSpPr txBox="1">
            <a:spLocks/>
          </p:cNvSpPr>
          <p:nvPr/>
        </p:nvSpPr>
        <p:spPr>
          <a:xfrm>
            <a:off x="5940152" y="4179133"/>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支持更多场景下通用数据打标签</a:t>
            </a:r>
          </a:p>
        </p:txBody>
      </p:sp>
      <p:grpSp>
        <p:nvGrpSpPr>
          <p:cNvPr id="52" name="组合 51"/>
          <p:cNvGrpSpPr/>
          <p:nvPr/>
        </p:nvGrpSpPr>
        <p:grpSpPr>
          <a:xfrm>
            <a:off x="3566899" y="1677917"/>
            <a:ext cx="1997947" cy="1997946"/>
            <a:chOff x="3566899" y="1605909"/>
            <a:chExt cx="1997947" cy="1997946"/>
          </a:xfrm>
        </p:grpSpPr>
        <p:sp>
          <p:nvSpPr>
            <p:cNvPr id="30" name="Shape 551"/>
            <p:cNvSpPr/>
            <p:nvPr/>
          </p:nvSpPr>
          <p:spPr>
            <a:xfrm>
              <a:off x="3566899" y="1605909"/>
              <a:ext cx="1997947" cy="19979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38100" tIns="38100" rIns="38100" bIns="38100" anchor="ct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45" name="椭圆 44"/>
            <p:cNvSpPr/>
            <p:nvPr/>
          </p:nvSpPr>
          <p:spPr>
            <a:xfrm>
              <a:off x="3699991" y="1747171"/>
              <a:ext cx="1728790" cy="172879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1"/>
                  </a:solidFill>
                  <a:latin typeface="微软雅黑" panose="020B0503020204020204" pitchFamily="34" charset="-122"/>
                  <a:ea typeface="微软雅黑" panose="020B0503020204020204" pitchFamily="34" charset="-122"/>
                </a:rPr>
                <a:t>可</a:t>
              </a:r>
              <a:r>
                <a:rPr lang="zh-CN" altLang="en-US" sz="2000" b="1" dirty="0" smtClean="0">
                  <a:solidFill>
                    <a:schemeClr val="accent1"/>
                  </a:solidFill>
                  <a:latin typeface="微软雅黑" panose="020B0503020204020204" pitchFamily="34" charset="-122"/>
                  <a:ea typeface="微软雅黑" panose="020B0503020204020204" pitchFamily="34" charset="-122"/>
                </a:rPr>
                <a:t>选需求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728922255"/>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800"/>
                            </p:stCondLst>
                            <p:childTnLst>
                              <p:par>
                                <p:cTn id="13" presetID="53" presetClass="entr" presetSubtype="16"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p:cTn id="15" dur="500" fill="hold"/>
                                        <p:tgtEl>
                                          <p:spTgt spid="52"/>
                                        </p:tgtEl>
                                        <p:attrNameLst>
                                          <p:attrName>ppt_w</p:attrName>
                                        </p:attrNameLst>
                                      </p:cBhvr>
                                      <p:tavLst>
                                        <p:tav tm="0">
                                          <p:val>
                                            <p:fltVal val="0"/>
                                          </p:val>
                                        </p:tav>
                                        <p:tav tm="100000">
                                          <p:val>
                                            <p:strVal val="#ppt_w"/>
                                          </p:val>
                                        </p:tav>
                                      </p:tavLst>
                                    </p:anim>
                                    <p:anim calcmode="lin" valueType="num">
                                      <p:cBhvr>
                                        <p:cTn id="16" dur="500" fill="hold"/>
                                        <p:tgtEl>
                                          <p:spTgt spid="52"/>
                                        </p:tgtEl>
                                        <p:attrNameLst>
                                          <p:attrName>ppt_h</p:attrName>
                                        </p:attrNameLst>
                                      </p:cBhvr>
                                      <p:tavLst>
                                        <p:tav tm="0">
                                          <p:val>
                                            <p:fltVal val="0"/>
                                          </p:val>
                                        </p:tav>
                                        <p:tav tm="100000">
                                          <p:val>
                                            <p:strVal val="#ppt_h"/>
                                          </p:val>
                                        </p:tav>
                                      </p:tavLst>
                                    </p:anim>
                                    <p:animEffect transition="in" filter="fade">
                                      <p:cBhvr>
                                        <p:cTn id="17" dur="500"/>
                                        <p:tgtEl>
                                          <p:spTgt spid="52"/>
                                        </p:tgtEl>
                                      </p:cBhvr>
                                    </p:animEffect>
                                  </p:childTnLst>
                                </p:cTn>
                              </p:par>
                            </p:childTnLst>
                          </p:cTn>
                        </p:par>
                        <p:par>
                          <p:cTn id="18" fill="hold">
                            <p:stCondLst>
                              <p:cond delay="1300"/>
                            </p:stCondLst>
                            <p:childTnLst>
                              <p:par>
                                <p:cTn id="19" presetID="22" presetClass="entr" presetSubtype="2"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32">
                                            <p:txEl>
                                              <p:pRg st="0" end="0"/>
                                            </p:txEl>
                                          </p:spTgt>
                                        </p:tgtEl>
                                        <p:attrNameLst>
                                          <p:attrName>style.visibility</p:attrName>
                                        </p:attrNameLst>
                                      </p:cBhvr>
                                      <p:to>
                                        <p:strVal val="visible"/>
                                      </p:to>
                                    </p:set>
                                    <p:animEffect transition="in" filter="fade">
                                      <p:cBhvr>
                                        <p:cTn id="25" dur="500"/>
                                        <p:tgtEl>
                                          <p:spTgt spid="32">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par>
                          <p:cTn id="29" fill="hold">
                            <p:stCondLst>
                              <p:cond delay="2300"/>
                            </p:stCondLst>
                            <p:childTnLst>
                              <p:par>
                                <p:cTn id="30" presetID="10" presetClass="entr" presetSubtype="0" fill="hold" grpId="0" nodeType="afterEffect">
                                  <p:stCondLst>
                                    <p:cond delay="0"/>
                                  </p:stCondLst>
                                  <p:childTnLst>
                                    <p:set>
                                      <p:cBhvr>
                                        <p:cTn id="31" dur="1" fill="hold">
                                          <p:stCondLst>
                                            <p:cond delay="0"/>
                                          </p:stCondLst>
                                        </p:cTn>
                                        <p:tgtEl>
                                          <p:spTgt spid="39">
                                            <p:txEl>
                                              <p:pRg st="0" end="0"/>
                                            </p:txEl>
                                          </p:spTgt>
                                        </p:tgtEl>
                                        <p:attrNameLst>
                                          <p:attrName>style.visibility</p:attrName>
                                        </p:attrNameLst>
                                      </p:cBhvr>
                                      <p:to>
                                        <p:strVal val="visible"/>
                                      </p:to>
                                    </p:set>
                                    <p:animEffect transition="in" filter="fade">
                                      <p:cBhvr>
                                        <p:cTn id="32" dur="500"/>
                                        <p:tgtEl>
                                          <p:spTgt spid="39">
                                            <p:txEl>
                                              <p:pRg st="0" end="0"/>
                                            </p:txEl>
                                          </p:spTgt>
                                        </p:tgtEl>
                                      </p:cBhvr>
                                    </p:animEffect>
                                  </p:childTnLst>
                                </p:cTn>
                              </p:par>
                            </p:childTnLst>
                          </p:cTn>
                        </p:par>
                        <p:par>
                          <p:cTn id="33" fill="hold">
                            <p:stCondLst>
                              <p:cond delay="2800"/>
                            </p:stCondLst>
                            <p:childTnLst>
                              <p:par>
                                <p:cTn id="34" presetID="22" presetClass="entr" presetSubtype="8" fill="hold"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500"/>
                                        <p:tgtEl>
                                          <p:spTgt spid="18"/>
                                        </p:tgtEl>
                                      </p:cBhvr>
                                    </p:animEffect>
                                  </p:childTnLst>
                                </p:cTn>
                              </p:par>
                            </p:childTnLst>
                          </p:cTn>
                        </p:par>
                        <p:par>
                          <p:cTn id="37" fill="hold">
                            <p:stCondLst>
                              <p:cond delay="3300"/>
                            </p:stCondLst>
                            <p:childTnLst>
                              <p:par>
                                <p:cTn id="38" presetID="10" presetClass="entr" presetSubtype="0" fill="hold" grpId="0" nodeType="afterEffect">
                                  <p:stCondLst>
                                    <p:cond delay="0"/>
                                  </p:stCondLst>
                                  <p:childTnLst>
                                    <p:set>
                                      <p:cBhvr>
                                        <p:cTn id="39" dur="1" fill="hold">
                                          <p:stCondLst>
                                            <p:cond delay="0"/>
                                          </p:stCondLst>
                                        </p:cTn>
                                        <p:tgtEl>
                                          <p:spTgt spid="38">
                                            <p:txEl>
                                              <p:pRg st="0" end="0"/>
                                            </p:txEl>
                                          </p:spTgt>
                                        </p:tgtEl>
                                        <p:attrNameLst>
                                          <p:attrName>style.visibility</p:attrName>
                                        </p:attrNameLst>
                                      </p:cBhvr>
                                      <p:to>
                                        <p:strVal val="visible"/>
                                      </p:to>
                                    </p:set>
                                    <p:animEffect transition="in" filter="fade">
                                      <p:cBhvr>
                                        <p:cTn id="40" dur="500"/>
                                        <p:tgtEl>
                                          <p:spTgt spid="38">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childTnLst>
                          </p:cTn>
                        </p:par>
                        <p:par>
                          <p:cTn id="44" fill="hold">
                            <p:stCondLst>
                              <p:cond delay="3800"/>
                            </p:stCondLst>
                            <p:childTnLst>
                              <p:par>
                                <p:cTn id="45" presetID="10" presetClass="entr" presetSubtype="0" fill="hold" grpId="0" nodeType="afterEffect">
                                  <p:stCondLst>
                                    <p:cond delay="0"/>
                                  </p:stCondLst>
                                  <p:childTnLst>
                                    <p:set>
                                      <p:cBhvr>
                                        <p:cTn id="46" dur="1" fill="hold">
                                          <p:stCondLst>
                                            <p:cond delay="0"/>
                                          </p:stCondLst>
                                        </p:cTn>
                                        <p:tgtEl>
                                          <p:spTgt spid="44">
                                            <p:txEl>
                                              <p:pRg st="0" end="0"/>
                                            </p:txEl>
                                          </p:spTgt>
                                        </p:tgtEl>
                                        <p:attrNameLst>
                                          <p:attrName>style.visibility</p:attrName>
                                        </p:attrNameLst>
                                      </p:cBhvr>
                                      <p:to>
                                        <p:strVal val="visible"/>
                                      </p:to>
                                    </p:set>
                                    <p:animEffect transition="in" filter="fade">
                                      <p:cBhvr>
                                        <p:cTn id="47"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9" grpId="0" animBg="1"/>
      <p:bldP spid="31" grpId="0"/>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8" grpId="0" build="p">
        <p:tmplLst>
          <p:tmpl lvl="1">
            <p:tnLst>
              <p:par>
                <p:cTn presetID="10" presetClass="entr" presetSubtype="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p:tmplLst>
          <p:tmpl lvl="1">
            <p:tnLst>
              <p:par>
                <p:cTn presetID="10" presetClass="entr" presetSubtype="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02</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74302" y="2375704"/>
            <a:ext cx="2031325" cy="646331"/>
          </a:xfrm>
          <a:prstGeom prst="rect">
            <a:avLst/>
          </a:prstGeom>
          <a:noFill/>
        </p:spPr>
        <p:txBody>
          <a:bodyPr wrap="none" rtlCol="0">
            <a:spAutoFit/>
          </a:bodyPr>
          <a:lstStyle/>
          <a:p>
            <a:pPr algn="ctr"/>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解决方案</a:t>
            </a: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3525566178"/>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项目的理解</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331640" y="1131590"/>
            <a:ext cx="6624736" cy="2585323"/>
          </a:xfrm>
          <a:prstGeom prst="rect">
            <a:avLst/>
          </a:prstGeom>
          <a:noFill/>
        </p:spPr>
        <p:txBody>
          <a:bodyPr wrap="square" rtlCol="0">
            <a:spAutoFit/>
          </a:bodyPr>
          <a:lstStyle/>
          <a:p>
            <a:pPr indent="457200">
              <a:lnSpc>
                <a:spcPct val="150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本项目目的为将人工智能技术引入到解决无线网络运维问题中的准备工作提供支持，由于无线数据数据量较为庞大，而采用监督式机器学习的方式需要提供带有标签的训练样本，考虑到数据的复杂度以及数据量的大小，若采用传统的纯手工标注将会耗费大量的时间，不但效率较低，由于人工存在疲劳现象，标注的质量也难以得到保证，因此需要引入方便的标注工具</a:t>
            </a:r>
            <a:r>
              <a:rPr lang="zh-CN" altLang="en-US" sz="1200" dirty="0" smtClean="0">
                <a:solidFill>
                  <a:srgbClr val="FF0000"/>
                </a:solidFill>
                <a:latin typeface="微软雅黑" panose="020B0503020204020204" pitchFamily="34" charset="-122"/>
                <a:ea typeface="微软雅黑" panose="020B0503020204020204" pitchFamily="34" charset="-122"/>
              </a:rPr>
              <a:t>对数据进行预处理，以及提供友好高效的标注界面</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，尽量降低标注的时间成本。</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indent="457200">
              <a:lnSpc>
                <a:spcPct val="150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简单来说，作为一个数据标注工具，标注过程中应当注意以下几点：</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rgbClr val="F79600"/>
                </a:solidFill>
                <a:latin typeface="微软雅黑" panose="020B0503020204020204" pitchFamily="34" charset="-122"/>
                <a:ea typeface="微软雅黑" panose="020B0503020204020204" pitchFamily="34" charset="-122"/>
              </a:rPr>
              <a:t>标注标准的确定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：标注样例、模板的设置</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rgbClr val="F79600"/>
                </a:solidFill>
                <a:latin typeface="微软雅黑" panose="020B0503020204020204" pitchFamily="34" charset="-122"/>
                <a:ea typeface="微软雅黑" panose="020B0503020204020204" pitchFamily="34" charset="-122"/>
              </a:rPr>
              <a:t>标注形式的确定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：一维数据与二维数据标注方式会有所不同、对于难以标注的样本的处理</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rgbClr val="F79600"/>
                </a:solidFill>
                <a:latin typeface="微软雅黑" panose="020B0503020204020204" pitchFamily="34" charset="-122"/>
                <a:ea typeface="微软雅黑" panose="020B0503020204020204" pitchFamily="34" charset="-122"/>
              </a:rPr>
              <a:t>标注质量的检验</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：对于已标注数据的再次检验</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21687701"/>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功能需求理解</a:t>
            </a:r>
            <a:r>
              <a:rPr lang="en-US" altLang="zh-CN" sz="1800"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思路</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2846759" y="1343698"/>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 name="矩形 4"/>
          <p:cNvSpPr/>
          <p:nvPr/>
        </p:nvSpPr>
        <p:spPr>
          <a:xfrm>
            <a:off x="3653255" y="1180546"/>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dirty="0" smtClean="0">
                <a:latin typeface="微软雅黑" pitchFamily="34" charset="-122"/>
                <a:ea typeface="微软雅黑" pitchFamily="34" charset="-122"/>
              </a:rPr>
              <a:t>读取文本数据</a:t>
            </a:r>
            <a:endParaRPr lang="zh-CN" altLang="en-US" sz="1400" dirty="0">
              <a:latin typeface="微软雅黑" pitchFamily="34" charset="-122"/>
              <a:ea typeface="微软雅黑" pitchFamily="34" charset="-122"/>
            </a:endParaRPr>
          </a:p>
        </p:txBody>
      </p:sp>
      <p:sp>
        <p:nvSpPr>
          <p:cNvPr id="6" name="六边形 5"/>
          <p:cNvSpPr/>
          <p:nvPr/>
        </p:nvSpPr>
        <p:spPr>
          <a:xfrm>
            <a:off x="903628" y="2425696"/>
            <a:ext cx="1190447" cy="1026114"/>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b="1" dirty="0" smtClean="0">
                <a:latin typeface="微软雅黑" panose="020B0503020204020204" pitchFamily="34" charset="-122"/>
                <a:ea typeface="微软雅黑" panose="020B0503020204020204" pitchFamily="34" charset="-122"/>
              </a:rPr>
              <a:t>数据导入</a:t>
            </a:r>
            <a:endParaRPr lang="en-US" altLang="zh-CN" b="1" dirty="0" smtClean="0">
              <a:latin typeface="微软雅黑" panose="020B0503020204020204" pitchFamily="34" charset="-122"/>
              <a:ea typeface="微软雅黑" panose="020B0503020204020204" pitchFamily="34" charset="-122"/>
            </a:endParaRPr>
          </a:p>
          <a:p>
            <a:pPr algn="ctr"/>
            <a:r>
              <a:rPr lang="en-US" altLang="zh-CN" b="1" dirty="0" smtClean="0">
                <a:latin typeface="微软雅黑" panose="020B0503020204020204" pitchFamily="34" charset="-122"/>
                <a:ea typeface="微软雅黑" panose="020B0503020204020204" pitchFamily="34" charset="-122"/>
              </a:rPr>
              <a:t>&amp;</a:t>
            </a:r>
            <a:r>
              <a:rPr lang="zh-CN" altLang="en-US" b="1" dirty="0" smtClean="0">
                <a:latin typeface="微软雅黑" panose="020B0503020204020204" pitchFamily="34" charset="-122"/>
                <a:ea typeface="微软雅黑" panose="020B0503020204020204" pitchFamily="34" charset="-122"/>
              </a:rPr>
              <a:t>导出</a:t>
            </a:r>
            <a:endParaRPr lang="zh-CN" altLang="en-US" b="1" dirty="0">
              <a:latin typeface="微软雅黑" panose="020B0503020204020204" pitchFamily="34" charset="-122"/>
              <a:ea typeface="微软雅黑" panose="020B0503020204020204" pitchFamily="34" charset="-122"/>
            </a:endParaRPr>
          </a:p>
        </p:txBody>
      </p:sp>
      <p:cxnSp>
        <p:nvCxnSpPr>
          <p:cNvPr id="7" name="直接箭头连接符 6"/>
          <p:cNvCxnSpPr>
            <a:stCxn id="6" idx="5"/>
            <a:endCxn id="4" idx="1"/>
          </p:cNvCxnSpPr>
          <p:nvPr/>
        </p:nvCxnSpPr>
        <p:spPr>
          <a:xfrm flipV="1">
            <a:off x="1837547" y="1763265"/>
            <a:ext cx="1009212" cy="662431"/>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stCxn id="6" idx="0"/>
            <a:endCxn id="11" idx="1"/>
          </p:cNvCxnSpPr>
          <p:nvPr/>
        </p:nvCxnSpPr>
        <p:spPr>
          <a:xfrm flipV="1">
            <a:off x="2094075" y="2936587"/>
            <a:ext cx="752684" cy="2166"/>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6" idx="1"/>
            <a:endCxn id="14" idx="1"/>
          </p:cNvCxnSpPr>
          <p:nvPr/>
        </p:nvCxnSpPr>
        <p:spPr>
          <a:xfrm>
            <a:off x="1837547" y="3451810"/>
            <a:ext cx="1009212" cy="679039"/>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33"/>
          <p:cNvSpPr txBox="1"/>
          <p:nvPr/>
        </p:nvSpPr>
        <p:spPr>
          <a:xfrm>
            <a:off x="3142299" y="1615449"/>
            <a:ext cx="4537095" cy="469361"/>
          </a:xfrm>
          <a:prstGeom prst="rect">
            <a:avLst/>
          </a:prstGeom>
          <a:noFill/>
        </p:spPr>
        <p:txBody>
          <a:bodyPr wrap="square" lIns="68584" tIns="34291" rIns="68584" bIns="34291" rtlCol="0">
            <a:spAutoFit/>
          </a:bodyPr>
          <a:lstStyle/>
          <a:p>
            <a:pPr>
              <a:lnSpc>
                <a:spcPct val="130000"/>
              </a:lnSpc>
            </a:pPr>
            <a:r>
              <a:rPr lang="zh-CN" altLang="en-US" sz="1000" dirty="0" smtClean="0">
                <a:solidFill>
                  <a:schemeClr val="tx1">
                    <a:lumMod val="75000"/>
                    <a:lumOff val="25000"/>
                  </a:schemeClr>
                </a:solidFill>
                <a:latin typeface="微软雅黑" pitchFamily="34" charset="-122"/>
                <a:ea typeface="微软雅黑" panose="020B0503020204020204" pitchFamily="34" charset="-122"/>
              </a:rPr>
              <a:t>通过</a:t>
            </a:r>
            <a:r>
              <a:rPr lang="en-US" altLang="zh-CN" sz="1000" dirty="0" smtClean="0">
                <a:solidFill>
                  <a:schemeClr val="tx1">
                    <a:lumMod val="75000"/>
                    <a:lumOff val="25000"/>
                  </a:schemeClr>
                </a:solidFill>
                <a:latin typeface="微软雅黑" pitchFamily="34" charset="-122"/>
                <a:ea typeface="微软雅黑" panose="020B0503020204020204" pitchFamily="34" charset="-122"/>
              </a:rPr>
              <a:t>python</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的</a:t>
            </a:r>
            <a:r>
              <a:rPr lang="en-US" altLang="zh-CN" sz="1000" dirty="0" err="1" smtClean="0">
                <a:solidFill>
                  <a:schemeClr val="tx1">
                    <a:lumMod val="75000"/>
                    <a:lumOff val="25000"/>
                  </a:schemeClr>
                </a:solidFill>
                <a:latin typeface="微软雅黑" pitchFamily="34" charset="-122"/>
                <a:ea typeface="微软雅黑" panose="020B0503020204020204" pitchFamily="34" charset="-122"/>
              </a:rPr>
              <a:t>numpy</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库中的</a:t>
            </a:r>
            <a:r>
              <a:rPr lang="en-US" altLang="zh-CN" sz="1000" dirty="0" err="1" smtClean="0">
                <a:solidFill>
                  <a:schemeClr val="tx1">
                    <a:lumMod val="75000"/>
                    <a:lumOff val="25000"/>
                  </a:schemeClr>
                </a:solidFill>
                <a:latin typeface="微软雅黑" pitchFamily="34" charset="-122"/>
                <a:ea typeface="微软雅黑" panose="020B0503020204020204" pitchFamily="34" charset="-122"/>
              </a:rPr>
              <a:t>loadtxt</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函数即可从</a:t>
            </a:r>
            <a:r>
              <a:rPr lang="en-US" altLang="zh-CN" sz="1000" dirty="0" smtClean="0">
                <a:solidFill>
                  <a:schemeClr val="tx1">
                    <a:lumMod val="75000"/>
                    <a:lumOff val="25000"/>
                  </a:schemeClr>
                </a:solidFill>
                <a:latin typeface="微软雅黑" pitchFamily="34" charset="-122"/>
                <a:ea typeface="微软雅黑" panose="020B0503020204020204" pitchFamily="34" charset="-122"/>
              </a:rPr>
              <a:t>txt</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文本格式的文件中读取数据存入到</a:t>
            </a:r>
            <a:r>
              <a:rPr lang="en-US" altLang="zh-CN" sz="1000" dirty="0" err="1" smtClean="0">
                <a:solidFill>
                  <a:schemeClr val="tx1">
                    <a:lumMod val="75000"/>
                    <a:lumOff val="25000"/>
                  </a:schemeClr>
                </a:solidFill>
                <a:latin typeface="微软雅黑" pitchFamily="34" charset="-122"/>
                <a:ea typeface="微软雅黑" panose="020B0503020204020204" pitchFamily="34" charset="-122"/>
              </a:rPr>
              <a:t>numpy</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的数组中</a:t>
            </a:r>
            <a:endParaRPr lang="en-US" altLang="zh-CN" sz="1000" dirty="0">
              <a:solidFill>
                <a:schemeClr val="tx1">
                  <a:lumMod val="75000"/>
                  <a:lumOff val="25000"/>
                </a:schemeClr>
              </a:solidFill>
              <a:latin typeface="微软雅黑" pitchFamily="34" charset="-122"/>
              <a:ea typeface="微软雅黑" panose="020B0503020204020204" pitchFamily="34" charset="-122"/>
            </a:endParaRPr>
          </a:p>
        </p:txBody>
      </p:sp>
      <p:sp>
        <p:nvSpPr>
          <p:cNvPr id="11" name="矩形 10"/>
          <p:cNvSpPr/>
          <p:nvPr/>
        </p:nvSpPr>
        <p:spPr>
          <a:xfrm>
            <a:off x="2846759" y="2517020"/>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矩形 11"/>
          <p:cNvSpPr/>
          <p:nvPr/>
        </p:nvSpPr>
        <p:spPr>
          <a:xfrm>
            <a:off x="3653255" y="2361550"/>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dirty="0" smtClean="0">
                <a:latin typeface="微软雅黑" panose="020B0503020204020204" pitchFamily="34" charset="-122"/>
                <a:ea typeface="微软雅黑" panose="020B0503020204020204" pitchFamily="34" charset="-122"/>
              </a:rPr>
              <a:t>读取表格数据</a:t>
            </a:r>
            <a:endParaRPr lang="zh-CN" altLang="en-US" sz="1400" dirty="0">
              <a:latin typeface="微软雅黑" pitchFamily="34" charset="-122"/>
              <a:ea typeface="微软雅黑" pitchFamily="34" charset="-122"/>
            </a:endParaRPr>
          </a:p>
        </p:txBody>
      </p:sp>
      <p:sp>
        <p:nvSpPr>
          <p:cNvPr id="13" name="TextBox 36"/>
          <p:cNvSpPr txBox="1"/>
          <p:nvPr/>
        </p:nvSpPr>
        <p:spPr>
          <a:xfrm>
            <a:off x="3142299" y="2806771"/>
            <a:ext cx="4537095" cy="469361"/>
          </a:xfrm>
          <a:prstGeom prst="rect">
            <a:avLst/>
          </a:prstGeom>
          <a:noFill/>
        </p:spPr>
        <p:txBody>
          <a:bodyPr wrap="square" lIns="68584" tIns="34291" rIns="68584" bIns="34291" rtlCol="0">
            <a:spAutoFit/>
          </a:bodyPr>
          <a:lstStyle/>
          <a:p>
            <a:pPr>
              <a:lnSpc>
                <a:spcPct val="130000"/>
              </a:lnSpc>
            </a:pPr>
            <a:r>
              <a:rPr lang="zh-CN" altLang="en-US" sz="1000" dirty="0" smtClean="0">
                <a:solidFill>
                  <a:schemeClr val="tx1">
                    <a:lumMod val="75000"/>
                    <a:lumOff val="25000"/>
                  </a:schemeClr>
                </a:solidFill>
                <a:latin typeface="微软雅黑" pitchFamily="34" charset="-122"/>
                <a:ea typeface="微软雅黑" panose="020B0503020204020204" pitchFamily="34" charset="-122"/>
              </a:rPr>
              <a:t>通过</a:t>
            </a:r>
            <a:r>
              <a:rPr lang="en-US" altLang="zh-CN" sz="1000" dirty="0" err="1" smtClean="0">
                <a:solidFill>
                  <a:schemeClr val="tx1">
                    <a:lumMod val="75000"/>
                    <a:lumOff val="25000"/>
                  </a:schemeClr>
                </a:solidFill>
                <a:latin typeface="微软雅黑" pitchFamily="34" charset="-122"/>
                <a:ea typeface="微软雅黑" panose="020B0503020204020204" pitchFamily="34" charset="-122"/>
              </a:rPr>
              <a:t>xlrd</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工具包可以完成打开</a:t>
            </a:r>
            <a:r>
              <a:rPr lang="en-US" altLang="zh-CN" sz="1000" dirty="0" smtClean="0">
                <a:solidFill>
                  <a:schemeClr val="tx1">
                    <a:lumMod val="75000"/>
                    <a:lumOff val="25000"/>
                  </a:schemeClr>
                </a:solidFill>
                <a:latin typeface="微软雅黑" pitchFamily="34" charset="-122"/>
                <a:ea typeface="微软雅黑" panose="020B0503020204020204" pitchFamily="34" charset="-122"/>
              </a:rPr>
              <a:t>csv</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a:t>
            </a:r>
            <a:r>
              <a:rPr lang="en-US" altLang="zh-CN" sz="1000" dirty="0" smtClean="0">
                <a:solidFill>
                  <a:schemeClr val="tx1">
                    <a:lumMod val="75000"/>
                    <a:lumOff val="25000"/>
                  </a:schemeClr>
                </a:solidFill>
                <a:latin typeface="微软雅黑" pitchFamily="34" charset="-122"/>
                <a:ea typeface="微软雅黑" panose="020B0503020204020204" pitchFamily="34" charset="-122"/>
              </a:rPr>
              <a:t>excel</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等表格数据，获取数据。</a:t>
            </a:r>
            <a:endParaRPr lang="en-US" altLang="zh-CN" sz="1000" dirty="0" smtClean="0">
              <a:solidFill>
                <a:schemeClr val="tx1">
                  <a:lumMod val="75000"/>
                  <a:lumOff val="25000"/>
                </a:schemeClr>
              </a:solidFill>
              <a:latin typeface="微软雅黑" pitchFamily="34" charset="-122"/>
              <a:ea typeface="微软雅黑" panose="020B0503020204020204" pitchFamily="34" charset="-122"/>
            </a:endParaRPr>
          </a:p>
          <a:p>
            <a:pPr>
              <a:lnSpc>
                <a:spcPct val="130000"/>
              </a:lnSpc>
            </a:pPr>
            <a:r>
              <a:rPr lang="zh-CN" altLang="en-US" sz="1000" dirty="0" smtClean="0">
                <a:solidFill>
                  <a:schemeClr val="tx1">
                    <a:lumMod val="75000"/>
                    <a:lumOff val="25000"/>
                  </a:schemeClr>
                </a:solidFill>
                <a:latin typeface="微软雅黑" pitchFamily="34" charset="-122"/>
                <a:ea typeface="微软雅黑" panose="020B0503020204020204" pitchFamily="34" charset="-122"/>
              </a:rPr>
              <a:t>同样对于已标注完的数据通过该工具包也可完成将数据导出写入</a:t>
            </a:r>
            <a:r>
              <a:rPr lang="en-US" altLang="zh-CN" sz="1000" dirty="0" smtClean="0">
                <a:solidFill>
                  <a:schemeClr val="tx1">
                    <a:lumMod val="75000"/>
                    <a:lumOff val="25000"/>
                  </a:schemeClr>
                </a:solidFill>
                <a:latin typeface="微软雅黑" pitchFamily="34" charset="-122"/>
                <a:ea typeface="微软雅黑" panose="020B0503020204020204" pitchFamily="34" charset="-122"/>
              </a:rPr>
              <a:t>CSV</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文件。</a:t>
            </a:r>
            <a:endParaRPr lang="en-US" altLang="zh-CN" sz="1000" dirty="0">
              <a:solidFill>
                <a:schemeClr val="tx1">
                  <a:lumMod val="75000"/>
                  <a:lumOff val="25000"/>
                </a:schemeClr>
              </a:solidFill>
              <a:latin typeface="微软雅黑" pitchFamily="34" charset="-122"/>
              <a:ea typeface="微软雅黑" panose="020B0503020204020204" pitchFamily="34" charset="-122"/>
            </a:endParaRPr>
          </a:p>
        </p:txBody>
      </p:sp>
      <p:sp>
        <p:nvSpPr>
          <p:cNvPr id="14" name="矩形 13"/>
          <p:cNvSpPr/>
          <p:nvPr/>
        </p:nvSpPr>
        <p:spPr>
          <a:xfrm>
            <a:off x="2846759" y="3711282"/>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矩形 14"/>
          <p:cNvSpPr/>
          <p:nvPr/>
        </p:nvSpPr>
        <p:spPr>
          <a:xfrm>
            <a:off x="3653255" y="3555813"/>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dirty="0" smtClean="0">
                <a:latin typeface="微软雅黑" panose="020B0503020204020204" pitchFamily="34" charset="-122"/>
                <a:ea typeface="微软雅黑" panose="020B0503020204020204" pitchFamily="34" charset="-122"/>
              </a:rPr>
              <a:t>读取数据库数据</a:t>
            </a:r>
            <a:endParaRPr lang="zh-CN" altLang="en-US" sz="1400" dirty="0">
              <a:latin typeface="微软雅黑" pitchFamily="34" charset="-122"/>
              <a:ea typeface="微软雅黑" pitchFamily="34" charset="-122"/>
            </a:endParaRPr>
          </a:p>
        </p:txBody>
      </p:sp>
      <p:sp>
        <p:nvSpPr>
          <p:cNvPr id="16" name="TextBox 39"/>
          <p:cNvSpPr txBox="1"/>
          <p:nvPr/>
        </p:nvSpPr>
        <p:spPr>
          <a:xfrm>
            <a:off x="3142299" y="3903699"/>
            <a:ext cx="4537095" cy="669416"/>
          </a:xfrm>
          <a:prstGeom prst="rect">
            <a:avLst/>
          </a:prstGeom>
          <a:noFill/>
        </p:spPr>
        <p:txBody>
          <a:bodyPr wrap="square" lIns="68584" tIns="34291" rIns="68584" bIns="34291" rtlCol="0">
            <a:spAutoFit/>
          </a:bodyPr>
          <a:lstStyle/>
          <a:p>
            <a:pPr>
              <a:lnSpc>
                <a:spcPct val="130000"/>
              </a:lnSpc>
            </a:pPr>
            <a:r>
              <a:rPr lang="zh-CN" altLang="en-US" sz="1000" dirty="0" smtClean="0">
                <a:solidFill>
                  <a:schemeClr val="tx1">
                    <a:lumMod val="75000"/>
                    <a:lumOff val="25000"/>
                  </a:schemeClr>
                </a:solidFill>
                <a:latin typeface="微软雅黑" pitchFamily="34" charset="-122"/>
                <a:ea typeface="微软雅黑" panose="020B0503020204020204" pitchFamily="34" charset="-122"/>
              </a:rPr>
              <a:t>通过</a:t>
            </a:r>
            <a:r>
              <a:rPr lang="en-US" altLang="zh-CN" sz="1000" dirty="0" err="1" smtClean="0">
                <a:solidFill>
                  <a:schemeClr val="tx1">
                    <a:lumMod val="75000"/>
                    <a:lumOff val="25000"/>
                  </a:schemeClr>
                </a:solidFill>
                <a:latin typeface="微软雅黑" pitchFamily="34" charset="-122"/>
                <a:ea typeface="微软雅黑" panose="020B0503020204020204" pitchFamily="34" charset="-122"/>
              </a:rPr>
              <a:t>SQLAlchemy</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工具包完成对于</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数据库的</a:t>
            </a:r>
            <a:r>
              <a:rPr lang="en-US" altLang="zh-CN" sz="1000" dirty="0" smtClean="0">
                <a:solidFill>
                  <a:schemeClr val="tx1">
                    <a:lumMod val="75000"/>
                    <a:lumOff val="25000"/>
                  </a:schemeClr>
                </a:solidFill>
                <a:latin typeface="微软雅黑" pitchFamily="34" charset="-122"/>
                <a:ea typeface="微软雅黑" panose="020B0503020204020204" pitchFamily="34" charset="-122"/>
              </a:rPr>
              <a:t>ORM</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操作，有效避免了诸如注入风险、</a:t>
            </a:r>
            <a:r>
              <a:rPr lang="en-US" altLang="zh-CN" sz="1000" dirty="0" smtClean="0">
                <a:solidFill>
                  <a:schemeClr val="tx1">
                    <a:lumMod val="75000"/>
                    <a:lumOff val="25000"/>
                  </a:schemeClr>
                </a:solidFill>
                <a:latin typeface="微软雅黑" pitchFamily="34" charset="-122"/>
                <a:ea typeface="微软雅黑" panose="020B0503020204020204" pitchFamily="34" charset="-122"/>
              </a:rPr>
              <a:t>SQL</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语句不规范等问题，同时相比于直接操作数据库，</a:t>
            </a:r>
            <a:r>
              <a:rPr lang="en-US" altLang="zh-CN" sz="1000" dirty="0" smtClean="0">
                <a:solidFill>
                  <a:schemeClr val="tx1">
                    <a:lumMod val="75000"/>
                    <a:lumOff val="25000"/>
                  </a:schemeClr>
                </a:solidFill>
                <a:latin typeface="微软雅黑" pitchFamily="34" charset="-122"/>
                <a:ea typeface="微软雅黑" panose="020B0503020204020204" pitchFamily="34" charset="-122"/>
              </a:rPr>
              <a:t>ORM</a:t>
            </a:r>
            <a:r>
              <a:rPr lang="zh-CN" altLang="en-US" sz="1000" dirty="0" smtClean="0">
                <a:solidFill>
                  <a:schemeClr val="tx1">
                    <a:lumMod val="75000"/>
                    <a:lumOff val="25000"/>
                  </a:schemeClr>
                </a:solidFill>
                <a:latin typeface="微软雅黑" pitchFamily="34" charset="-122"/>
                <a:ea typeface="微软雅黑" panose="020B0503020204020204" pitchFamily="34" charset="-122"/>
              </a:rPr>
              <a:t>的方式学习与开发成本均较低。</a:t>
            </a:r>
            <a:endParaRPr lang="en-US" altLang="zh-CN" sz="1000" dirty="0">
              <a:solidFill>
                <a:schemeClr val="tx1">
                  <a:lumMod val="75000"/>
                  <a:lumOff val="25000"/>
                </a:schemeClr>
              </a:solidFill>
              <a:latin typeface="微软雅黑" pitchFamily="34" charset="-122"/>
              <a:ea typeface="微软雅黑" panose="020B0503020204020204" pitchFamily="34" charset="-122"/>
            </a:endParaRPr>
          </a:p>
        </p:txBody>
      </p:sp>
      <p:sp>
        <p:nvSpPr>
          <p:cNvPr id="3" name="文本框 2"/>
          <p:cNvSpPr txBox="1"/>
          <p:nvPr/>
        </p:nvSpPr>
        <p:spPr>
          <a:xfrm>
            <a:off x="7539745" y="769459"/>
            <a:ext cx="1410507"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主要工具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r>
              <a:rPr lang="en-US" altLang="zh-CN" sz="1200" dirty="0" err="1" smtClean="0">
                <a:solidFill>
                  <a:srgbClr val="FF0000"/>
                </a:solidFill>
                <a:latin typeface="微软雅黑" panose="020B0503020204020204" pitchFamily="34" charset="-122"/>
                <a:ea typeface="微软雅黑" panose="020B0503020204020204" pitchFamily="34" charset="-122"/>
              </a:rPr>
              <a:t>Xlrd</a:t>
            </a:r>
            <a:r>
              <a:rPr lang="zh-CN" altLang="en-US" sz="1200" dirty="0" smtClean="0">
                <a:solidFill>
                  <a:srgbClr val="FF0000"/>
                </a:solidFill>
                <a:latin typeface="微软雅黑" panose="020B0503020204020204" pitchFamily="34" charset="-122"/>
                <a:ea typeface="微软雅黑" panose="020B0503020204020204" pitchFamily="34" charset="-122"/>
              </a:rPr>
              <a:t>；</a:t>
            </a:r>
            <a:endParaRPr lang="en-US" altLang="zh-CN" sz="1200" dirty="0" smtClean="0">
              <a:solidFill>
                <a:srgbClr val="FF0000"/>
              </a:solidFill>
              <a:latin typeface="微软雅黑" panose="020B0503020204020204" pitchFamily="34" charset="-122"/>
              <a:ea typeface="微软雅黑" panose="020B0503020204020204" pitchFamily="34" charset="-122"/>
            </a:endParaRPr>
          </a:p>
          <a:p>
            <a:r>
              <a:rPr lang="en-US" altLang="zh-CN" sz="1200" dirty="0" err="1" smtClean="0">
                <a:solidFill>
                  <a:srgbClr val="FF0000"/>
                </a:solidFill>
                <a:latin typeface="微软雅黑" panose="020B0503020204020204" pitchFamily="34" charset="-122"/>
                <a:ea typeface="微软雅黑" panose="020B0503020204020204" pitchFamily="34" charset="-122"/>
              </a:rPr>
              <a:t>SQLAlchemy</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
        <p:nvSpPr>
          <p:cNvPr id="17" name="矩形标注 16"/>
          <p:cNvSpPr/>
          <p:nvPr/>
        </p:nvSpPr>
        <p:spPr>
          <a:xfrm>
            <a:off x="7596927" y="3374799"/>
            <a:ext cx="1296144" cy="627567"/>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 dirty="0"/>
              <a:t>ORM </a:t>
            </a:r>
            <a:r>
              <a:rPr lang="zh-CN" altLang="en-US" sz="600" dirty="0"/>
              <a:t>将数据库中的表与面向对象语言中的类建立了一种对应关系。这样，我们要操作数据库，数据库中的表或者表中的一条记录就可以直接通过操作类或者类实例来完成。</a:t>
            </a:r>
            <a:endParaRPr lang="zh-CN" altLang="en-US" sz="600" dirty="0"/>
          </a:p>
        </p:txBody>
      </p:sp>
      <p:sp>
        <p:nvSpPr>
          <p:cNvPr id="19" name="文本框 18"/>
          <p:cNvSpPr txBox="1"/>
          <p:nvPr/>
        </p:nvSpPr>
        <p:spPr>
          <a:xfrm>
            <a:off x="683568" y="915566"/>
            <a:ext cx="1410507" cy="276999"/>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数据导入</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导出</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2724967"/>
      </p:ext>
    </p:extLst>
  </p:cSld>
  <p:clrMapOvr>
    <a:masterClrMapping/>
  </p:clrMapOvr>
  <p:transition spd="slow" advTm="0">
    <p:cover/>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900"/>
                                </p:stCondLst>
                                <p:childTnLst>
                                  <p:par>
                                    <p:cTn id="13" presetID="14" presetClass="entr" presetSubtype="1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par>
                              <p:cTn id="16" fill="hold">
                                <p:stCondLst>
                                  <p:cond delay="14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arn(outVertical)">
                                          <p:cBhvr>
                                            <p:cTn id="30" dur="500"/>
                                            <p:tgtEl>
                                              <p:spTgt spid="5"/>
                                            </p:tgtEl>
                                          </p:cBhvr>
                                        </p:animEffect>
                                      </p:childTnLst>
                                    </p:cTn>
                                  </p:par>
                                </p:childTnLst>
                              </p:cTn>
                            </p:par>
                            <p:par>
                              <p:cTn id="31" fill="hold">
                                <p:stCondLst>
                                  <p:cond delay="500"/>
                                </p:stCondLst>
                                <p:childTnLst>
                                  <p:par>
                                    <p:cTn id="32" presetID="2" presetClass="entr" presetSubtype="1" fill="hold" grpId="0" nodeType="afterEffect" p14:presetBounceEnd="50000">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14:bounceEnd="50000">
                                          <p:cBhvr additive="base">
                                            <p:cTn id="34" dur="500" fill="hold"/>
                                            <p:tgtEl>
                                              <p:spTgt spid="4"/>
                                            </p:tgtEl>
                                            <p:attrNameLst>
                                              <p:attrName>ppt_x</p:attrName>
                                            </p:attrNameLst>
                                          </p:cBhvr>
                                          <p:tavLst>
                                            <p:tav tm="0">
                                              <p:val>
                                                <p:strVal val="#ppt_x"/>
                                              </p:val>
                                            </p:tav>
                                            <p:tav tm="100000">
                                              <p:val>
                                                <p:strVal val="#ppt_x"/>
                                              </p:val>
                                            </p:tav>
                                          </p:tavLst>
                                        </p:anim>
                                        <p:anim calcmode="lin" valueType="num" p14:bounceEnd="50000">
                                          <p:cBhvr additive="base">
                                            <p:cTn id="35" dur="500" fill="hold"/>
                                            <p:tgtEl>
                                              <p:spTgt spid="4"/>
                                            </p:tgtEl>
                                            <p:attrNameLst>
                                              <p:attrName>ppt_y</p:attrName>
                                            </p:attrNameLst>
                                          </p:cBhvr>
                                          <p:tavLst>
                                            <p:tav tm="0">
                                              <p:val>
                                                <p:strVal val="0-#ppt_h/2"/>
                                              </p:val>
                                            </p:tav>
                                            <p:tav tm="100000">
                                              <p:val>
                                                <p:strVal val="#ppt_y"/>
                                              </p:val>
                                            </p:tav>
                                          </p:tavLst>
                                        </p:anim>
                                      </p:childTnLst>
                                    </p:cTn>
                                  </p:par>
                                </p:childTnLst>
                              </p:cTn>
                            </p:par>
                            <p:par>
                              <p:cTn id="36" fill="hold">
                                <p:stCondLst>
                                  <p:cond delay="1000"/>
                                </p:stCondLst>
                                <p:childTnLst>
                                  <p:par>
                                    <p:cTn id="37" presetID="22" presetClass="entr" presetSubtype="8" fill="hold" grpId="0" nodeType="afterEffect">
                                      <p:stCondLst>
                                        <p:cond delay="0"/>
                                      </p:stCondLst>
                                      <p:iterate type="lt">
                                        <p:tmPct val="30000"/>
                                      </p:iterate>
                                      <p:childTnLst>
                                        <p:set>
                                          <p:cBhvr>
                                            <p:cTn id="38" dur="1" fill="hold">
                                              <p:stCondLst>
                                                <p:cond delay="0"/>
                                              </p:stCondLst>
                                            </p:cTn>
                                            <p:tgtEl>
                                              <p:spTgt spid="10"/>
                                            </p:tgtEl>
                                            <p:attrNameLst>
                                              <p:attrName>style.visibility</p:attrName>
                                            </p:attrNameLst>
                                          </p:cBhvr>
                                          <p:to>
                                            <p:strVal val="visible"/>
                                          </p:to>
                                        </p:set>
                                        <p:animEffect transition="in" filter="wipe(left)">
                                          <p:cBhvr>
                                            <p:cTn id="39" dur="100"/>
                                            <p:tgtEl>
                                              <p:spTgt spid="10"/>
                                            </p:tgtEl>
                                          </p:cBhvr>
                                        </p:animEffect>
                                      </p:childTnLst>
                                    </p:cTn>
                                  </p:par>
                                  <p:par>
                                    <p:cTn id="40" presetID="36" presetClass="emph" presetSubtype="0" fill="hold" grpId="1" nodeType="withEffect">
                                      <p:stCondLst>
                                        <p:cond delay="0"/>
                                      </p:stCondLst>
                                      <p:iterate type="lt">
                                        <p:tmPct val="30000"/>
                                      </p:iterate>
                                      <p:childTnLst>
                                        <p:animScale>
                                          <p:cBhvr>
                                            <p:cTn id="41" dur="50" autoRev="1" fill="hold">
                                              <p:stCondLst>
                                                <p:cond delay="0"/>
                                              </p:stCondLst>
                                            </p:cTn>
                                            <p:tgtEl>
                                              <p:spTgt spid="10"/>
                                            </p:tgtEl>
                                          </p:cBhvr>
                                          <p:to x="80000" y="100000"/>
                                        </p:animScale>
                                        <p:anim by="(#ppt_w*0.10)" calcmode="lin" valueType="num">
                                          <p:cBhvr>
                                            <p:cTn id="42" dur="50" autoRev="1" fill="hold">
                                              <p:stCondLst>
                                                <p:cond delay="0"/>
                                              </p:stCondLst>
                                            </p:cTn>
                                            <p:tgtEl>
                                              <p:spTgt spid="10"/>
                                            </p:tgtEl>
                                            <p:attrNameLst>
                                              <p:attrName>ppt_x</p:attrName>
                                            </p:attrNameLst>
                                          </p:cBhvr>
                                        </p:anim>
                                        <p:anim by="(-#ppt_w*0.10)" calcmode="lin" valueType="num">
                                          <p:cBhvr>
                                            <p:cTn id="43" dur="50" autoRev="1" fill="hold">
                                              <p:stCondLst>
                                                <p:cond delay="0"/>
                                              </p:stCondLst>
                                            </p:cTn>
                                            <p:tgtEl>
                                              <p:spTgt spid="10"/>
                                            </p:tgtEl>
                                            <p:attrNameLst>
                                              <p:attrName>ppt_y</p:attrName>
                                            </p:attrNameLst>
                                          </p:cBhvr>
                                        </p:anim>
                                        <p:animRot by="-480000">
                                          <p:cBhvr>
                                            <p:cTn id="44" dur="50" autoRev="1" fill="hold">
                                              <p:stCondLst>
                                                <p:cond delay="0"/>
                                              </p:stCondLst>
                                            </p:cTn>
                                            <p:tgtEl>
                                              <p:spTgt spid="10"/>
                                            </p:tgtEl>
                                            <p:attrNameLst>
                                              <p:attrName>r</p:attrName>
                                            </p:attrNameLst>
                                          </p:cBhvr>
                                        </p:animRot>
                                      </p:child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barn(outVertical)">
                                          <p:cBhvr>
                                            <p:cTn id="49" dur="500"/>
                                            <p:tgtEl>
                                              <p:spTgt spid="12"/>
                                            </p:tgtEl>
                                          </p:cBhvr>
                                        </p:animEffect>
                                      </p:childTnLst>
                                    </p:cTn>
                                  </p:par>
                                </p:childTnLst>
                              </p:cTn>
                            </p:par>
                            <p:par>
                              <p:cTn id="50" fill="hold">
                                <p:stCondLst>
                                  <p:cond delay="500"/>
                                </p:stCondLst>
                                <p:childTnLst>
                                  <p:par>
                                    <p:cTn id="51" presetID="2" presetClass="entr" presetSubtype="1" fill="hold" grpId="0" nodeType="afterEffect" p14:presetBounceEnd="50000">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14:bounceEnd="50000">
                                          <p:cBhvr additive="base">
                                            <p:cTn id="53" dur="500" fill="hold"/>
                                            <p:tgtEl>
                                              <p:spTgt spid="11"/>
                                            </p:tgtEl>
                                            <p:attrNameLst>
                                              <p:attrName>ppt_x</p:attrName>
                                            </p:attrNameLst>
                                          </p:cBhvr>
                                          <p:tavLst>
                                            <p:tav tm="0">
                                              <p:val>
                                                <p:strVal val="#ppt_x"/>
                                              </p:val>
                                            </p:tav>
                                            <p:tav tm="100000">
                                              <p:val>
                                                <p:strVal val="#ppt_x"/>
                                              </p:val>
                                            </p:tav>
                                          </p:tavLst>
                                        </p:anim>
                                        <p:anim calcmode="lin" valueType="num" p14:bounceEnd="50000">
                                          <p:cBhvr additive="base">
                                            <p:cTn id="54" dur="500" fill="hold"/>
                                            <p:tgtEl>
                                              <p:spTgt spid="11"/>
                                            </p:tgtEl>
                                            <p:attrNameLst>
                                              <p:attrName>ppt_y</p:attrName>
                                            </p:attrNameLst>
                                          </p:cBhvr>
                                          <p:tavLst>
                                            <p:tav tm="0">
                                              <p:val>
                                                <p:strVal val="0-#ppt_h/2"/>
                                              </p:val>
                                            </p:tav>
                                            <p:tav tm="100000">
                                              <p:val>
                                                <p:strVal val="#ppt_y"/>
                                              </p:val>
                                            </p:tav>
                                          </p:tavLst>
                                        </p:anim>
                                      </p:childTnLst>
                                    </p:cTn>
                                  </p:par>
                                </p:childTnLst>
                              </p:cTn>
                            </p:par>
                            <p:par>
                              <p:cTn id="55" fill="hold">
                                <p:stCondLst>
                                  <p:cond delay="1000"/>
                                </p:stCondLst>
                                <p:childTnLst>
                                  <p:par>
                                    <p:cTn id="56" presetID="22" presetClass="entr" presetSubtype="8" fill="hold" grpId="0" nodeType="afterEffect">
                                      <p:stCondLst>
                                        <p:cond delay="0"/>
                                      </p:stCondLst>
                                      <p:iterate type="lt">
                                        <p:tmPct val="30000"/>
                                      </p:iterate>
                                      <p:childTnLst>
                                        <p:set>
                                          <p:cBhvr>
                                            <p:cTn id="57" dur="1" fill="hold">
                                              <p:stCondLst>
                                                <p:cond delay="0"/>
                                              </p:stCondLst>
                                            </p:cTn>
                                            <p:tgtEl>
                                              <p:spTgt spid="13"/>
                                            </p:tgtEl>
                                            <p:attrNameLst>
                                              <p:attrName>style.visibility</p:attrName>
                                            </p:attrNameLst>
                                          </p:cBhvr>
                                          <p:to>
                                            <p:strVal val="visible"/>
                                          </p:to>
                                        </p:set>
                                        <p:animEffect transition="in" filter="wipe(left)">
                                          <p:cBhvr>
                                            <p:cTn id="58" dur="100"/>
                                            <p:tgtEl>
                                              <p:spTgt spid="13"/>
                                            </p:tgtEl>
                                          </p:cBhvr>
                                        </p:animEffect>
                                      </p:childTnLst>
                                    </p:cTn>
                                  </p:par>
                                  <p:par>
                                    <p:cTn id="59" presetID="36" presetClass="emph" presetSubtype="0" fill="hold" grpId="1" nodeType="withEffect">
                                      <p:stCondLst>
                                        <p:cond delay="0"/>
                                      </p:stCondLst>
                                      <p:iterate type="lt">
                                        <p:tmPct val="30000"/>
                                      </p:iterate>
                                      <p:childTnLst>
                                        <p:animScale>
                                          <p:cBhvr>
                                            <p:cTn id="60" dur="50" autoRev="1" fill="hold">
                                              <p:stCondLst>
                                                <p:cond delay="0"/>
                                              </p:stCondLst>
                                            </p:cTn>
                                            <p:tgtEl>
                                              <p:spTgt spid="13"/>
                                            </p:tgtEl>
                                          </p:cBhvr>
                                          <p:to x="80000" y="100000"/>
                                        </p:animScale>
                                        <p:anim by="(#ppt_w*0.10)" calcmode="lin" valueType="num">
                                          <p:cBhvr>
                                            <p:cTn id="61" dur="50" autoRev="1" fill="hold">
                                              <p:stCondLst>
                                                <p:cond delay="0"/>
                                              </p:stCondLst>
                                            </p:cTn>
                                            <p:tgtEl>
                                              <p:spTgt spid="13"/>
                                            </p:tgtEl>
                                            <p:attrNameLst>
                                              <p:attrName>ppt_x</p:attrName>
                                            </p:attrNameLst>
                                          </p:cBhvr>
                                        </p:anim>
                                        <p:anim by="(-#ppt_w*0.10)" calcmode="lin" valueType="num">
                                          <p:cBhvr>
                                            <p:cTn id="62" dur="50" autoRev="1" fill="hold">
                                              <p:stCondLst>
                                                <p:cond delay="0"/>
                                              </p:stCondLst>
                                            </p:cTn>
                                            <p:tgtEl>
                                              <p:spTgt spid="13"/>
                                            </p:tgtEl>
                                            <p:attrNameLst>
                                              <p:attrName>ppt_y</p:attrName>
                                            </p:attrNameLst>
                                          </p:cBhvr>
                                        </p:anim>
                                        <p:animRot by="-480000">
                                          <p:cBhvr>
                                            <p:cTn id="63" dur="50" autoRev="1" fill="hold">
                                              <p:stCondLst>
                                                <p:cond delay="0"/>
                                              </p:stCondLst>
                                            </p:cTn>
                                            <p:tgtEl>
                                              <p:spTgt spid="13"/>
                                            </p:tgtEl>
                                            <p:attrNameLst>
                                              <p:attrName>r</p:attrName>
                                            </p:attrNameLst>
                                          </p:cBhvr>
                                        </p:animRot>
                                      </p:childTnLst>
                                    </p:cTn>
                                  </p:par>
                                </p:childTnLst>
                              </p:cTn>
                            </p:par>
                          </p:childTnLst>
                        </p:cTn>
                      </p:par>
                      <p:par>
                        <p:cTn id="64" fill="hold">
                          <p:stCondLst>
                            <p:cond delay="indefinite"/>
                          </p:stCondLst>
                          <p:childTnLst>
                            <p:par>
                              <p:cTn id="65" fill="hold">
                                <p:stCondLst>
                                  <p:cond delay="0"/>
                                </p:stCondLst>
                                <p:childTnLst>
                                  <p:par>
                                    <p:cTn id="66" presetID="16" presetClass="entr" presetSubtype="37"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barn(outVertical)">
                                          <p:cBhvr>
                                            <p:cTn id="68" dur="500"/>
                                            <p:tgtEl>
                                              <p:spTgt spid="15"/>
                                            </p:tgtEl>
                                          </p:cBhvr>
                                        </p:animEffect>
                                      </p:childTnLst>
                                    </p:cTn>
                                  </p:par>
                                </p:childTnLst>
                              </p:cTn>
                            </p:par>
                            <p:par>
                              <p:cTn id="69" fill="hold">
                                <p:stCondLst>
                                  <p:cond delay="500"/>
                                </p:stCondLst>
                                <p:childTnLst>
                                  <p:par>
                                    <p:cTn id="70" presetID="2" presetClass="entr" presetSubtype="1" fill="hold" grpId="0" nodeType="afterEffect" p14:presetBounceEnd="50000">
                                      <p:stCondLst>
                                        <p:cond delay="0"/>
                                      </p:stCondLst>
                                      <p:childTnLst>
                                        <p:set>
                                          <p:cBhvr>
                                            <p:cTn id="71" dur="1" fill="hold">
                                              <p:stCondLst>
                                                <p:cond delay="0"/>
                                              </p:stCondLst>
                                            </p:cTn>
                                            <p:tgtEl>
                                              <p:spTgt spid="14"/>
                                            </p:tgtEl>
                                            <p:attrNameLst>
                                              <p:attrName>style.visibility</p:attrName>
                                            </p:attrNameLst>
                                          </p:cBhvr>
                                          <p:to>
                                            <p:strVal val="visible"/>
                                          </p:to>
                                        </p:set>
                                        <p:anim calcmode="lin" valueType="num" p14:bounceEnd="50000">
                                          <p:cBhvr additive="base">
                                            <p:cTn id="72" dur="500" fill="hold"/>
                                            <p:tgtEl>
                                              <p:spTgt spid="14"/>
                                            </p:tgtEl>
                                            <p:attrNameLst>
                                              <p:attrName>ppt_x</p:attrName>
                                            </p:attrNameLst>
                                          </p:cBhvr>
                                          <p:tavLst>
                                            <p:tav tm="0">
                                              <p:val>
                                                <p:strVal val="#ppt_x"/>
                                              </p:val>
                                            </p:tav>
                                            <p:tav tm="100000">
                                              <p:val>
                                                <p:strVal val="#ppt_x"/>
                                              </p:val>
                                            </p:tav>
                                          </p:tavLst>
                                        </p:anim>
                                        <p:anim calcmode="lin" valueType="num" p14:bounceEnd="50000">
                                          <p:cBhvr additive="base">
                                            <p:cTn id="73" dur="500" fill="hold"/>
                                            <p:tgtEl>
                                              <p:spTgt spid="14"/>
                                            </p:tgtEl>
                                            <p:attrNameLst>
                                              <p:attrName>ppt_y</p:attrName>
                                            </p:attrNameLst>
                                          </p:cBhvr>
                                          <p:tavLst>
                                            <p:tav tm="0">
                                              <p:val>
                                                <p:strVal val="0-#ppt_h/2"/>
                                              </p:val>
                                            </p:tav>
                                            <p:tav tm="100000">
                                              <p:val>
                                                <p:strVal val="#ppt_y"/>
                                              </p:val>
                                            </p:tav>
                                          </p:tavLst>
                                        </p:anim>
                                      </p:childTnLst>
                                    </p:cTn>
                                  </p:par>
                                </p:childTnLst>
                              </p:cTn>
                            </p:par>
                            <p:par>
                              <p:cTn id="74" fill="hold">
                                <p:stCondLst>
                                  <p:cond delay="1000"/>
                                </p:stCondLst>
                                <p:childTnLst>
                                  <p:par>
                                    <p:cTn id="75" presetID="22" presetClass="entr" presetSubtype="8" fill="hold" grpId="0" nodeType="afterEffect">
                                      <p:stCondLst>
                                        <p:cond delay="0"/>
                                      </p:stCondLst>
                                      <p:iterate type="lt">
                                        <p:tmPct val="30000"/>
                                      </p:iterate>
                                      <p:childTnLst>
                                        <p:set>
                                          <p:cBhvr>
                                            <p:cTn id="76" dur="1" fill="hold">
                                              <p:stCondLst>
                                                <p:cond delay="0"/>
                                              </p:stCondLst>
                                            </p:cTn>
                                            <p:tgtEl>
                                              <p:spTgt spid="16"/>
                                            </p:tgtEl>
                                            <p:attrNameLst>
                                              <p:attrName>style.visibility</p:attrName>
                                            </p:attrNameLst>
                                          </p:cBhvr>
                                          <p:to>
                                            <p:strVal val="visible"/>
                                          </p:to>
                                        </p:set>
                                        <p:animEffect transition="in" filter="wipe(left)">
                                          <p:cBhvr>
                                            <p:cTn id="77" dur="100"/>
                                            <p:tgtEl>
                                              <p:spTgt spid="16"/>
                                            </p:tgtEl>
                                          </p:cBhvr>
                                        </p:animEffect>
                                      </p:childTnLst>
                                    </p:cTn>
                                  </p:par>
                                  <p:par>
                                    <p:cTn id="78" presetID="36" presetClass="emph" presetSubtype="0" fill="hold" grpId="1" nodeType="withEffect">
                                      <p:stCondLst>
                                        <p:cond delay="0"/>
                                      </p:stCondLst>
                                      <p:iterate type="lt">
                                        <p:tmPct val="30000"/>
                                      </p:iterate>
                                      <p:childTnLst>
                                        <p:animScale>
                                          <p:cBhvr>
                                            <p:cTn id="79" dur="50" autoRev="1" fill="hold">
                                              <p:stCondLst>
                                                <p:cond delay="0"/>
                                              </p:stCondLst>
                                            </p:cTn>
                                            <p:tgtEl>
                                              <p:spTgt spid="16"/>
                                            </p:tgtEl>
                                          </p:cBhvr>
                                          <p:to x="80000" y="100000"/>
                                        </p:animScale>
                                        <p:anim by="(#ppt_w*0.10)" calcmode="lin" valueType="num">
                                          <p:cBhvr>
                                            <p:cTn id="80" dur="50" autoRev="1" fill="hold">
                                              <p:stCondLst>
                                                <p:cond delay="0"/>
                                              </p:stCondLst>
                                            </p:cTn>
                                            <p:tgtEl>
                                              <p:spTgt spid="16"/>
                                            </p:tgtEl>
                                            <p:attrNameLst>
                                              <p:attrName>ppt_x</p:attrName>
                                            </p:attrNameLst>
                                          </p:cBhvr>
                                        </p:anim>
                                        <p:anim by="(-#ppt_w*0.10)" calcmode="lin" valueType="num">
                                          <p:cBhvr>
                                            <p:cTn id="81" dur="50" autoRev="1" fill="hold">
                                              <p:stCondLst>
                                                <p:cond delay="0"/>
                                              </p:stCondLst>
                                            </p:cTn>
                                            <p:tgtEl>
                                              <p:spTgt spid="16"/>
                                            </p:tgtEl>
                                            <p:attrNameLst>
                                              <p:attrName>ppt_y</p:attrName>
                                            </p:attrNameLst>
                                          </p:cBhvr>
                                        </p:anim>
                                        <p:animRot by="-480000">
                                          <p:cBhvr>
                                            <p:cTn id="82" dur="50" autoRev="1" fill="hold">
                                              <p:stCondLst>
                                                <p:cond delay="0"/>
                                              </p:stCondLst>
                                            </p:cTn>
                                            <p:tgtEl>
                                              <p:spTgt spid="16"/>
                                            </p:tgtEl>
                                            <p:attrNameLst>
                                              <p:attrName>r</p:attrName>
                                            </p:attrNameLst>
                                          </p:cBhvr>
                                        </p:animRo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500"/>
                                            <p:tgtEl>
                                              <p:spTgt spid="1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wipe(down)">
                                          <p:cBhvr>
                                            <p:cTn id="92" dur="500"/>
                                            <p:tgtEl>
                                              <p:spTgt spid="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wipe(down)">
                                          <p:cBhvr>
                                            <p:cTn id="9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 grpId="0" animBg="1"/>
          <p:bldP spid="5" grpId="0" animBg="1"/>
          <p:bldP spid="6" grpId="0" animBg="1"/>
          <p:bldP spid="10" grpId="0"/>
          <p:bldP spid="10" grpId="1"/>
          <p:bldP spid="11" grpId="0" animBg="1"/>
          <p:bldP spid="12" grpId="0" animBg="1"/>
          <p:bldP spid="13" grpId="0"/>
          <p:bldP spid="13" grpId="1"/>
          <p:bldP spid="14" grpId="0" animBg="1"/>
          <p:bldP spid="15" grpId="0" animBg="1"/>
          <p:bldP spid="16" grpId="0"/>
          <p:bldP spid="16" grpId="1"/>
          <p:bldP spid="3" grpId="0" animBg="1"/>
          <p:bldP spid="17" grpId="0" animBg="1"/>
          <p:bldP spid="1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900"/>
                                </p:stCondLst>
                                <p:childTnLst>
                                  <p:par>
                                    <p:cTn id="13" presetID="14" presetClass="entr" presetSubtype="1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par>
                              <p:cTn id="16" fill="hold">
                                <p:stCondLst>
                                  <p:cond delay="14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arn(outVertical)">
                                          <p:cBhvr>
                                            <p:cTn id="30" dur="500"/>
                                            <p:tgtEl>
                                              <p:spTgt spid="5"/>
                                            </p:tgtEl>
                                          </p:cBhvr>
                                        </p:animEffect>
                                      </p:childTnLst>
                                    </p:cTn>
                                  </p:par>
                                </p:childTnLst>
                              </p:cTn>
                            </p:par>
                            <p:par>
                              <p:cTn id="31" fill="hold">
                                <p:stCondLst>
                                  <p:cond delay="500"/>
                                </p:stCondLst>
                                <p:childTnLst>
                                  <p:par>
                                    <p:cTn id="32" presetID="2" presetClass="entr" presetSubtype="1"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0-#ppt_h/2"/>
                                              </p:val>
                                            </p:tav>
                                            <p:tav tm="100000">
                                              <p:val>
                                                <p:strVal val="#ppt_y"/>
                                              </p:val>
                                            </p:tav>
                                          </p:tavLst>
                                        </p:anim>
                                      </p:childTnLst>
                                    </p:cTn>
                                  </p:par>
                                </p:childTnLst>
                              </p:cTn>
                            </p:par>
                            <p:par>
                              <p:cTn id="36" fill="hold">
                                <p:stCondLst>
                                  <p:cond delay="1000"/>
                                </p:stCondLst>
                                <p:childTnLst>
                                  <p:par>
                                    <p:cTn id="37" presetID="22" presetClass="entr" presetSubtype="8" fill="hold" grpId="0" nodeType="afterEffect">
                                      <p:stCondLst>
                                        <p:cond delay="0"/>
                                      </p:stCondLst>
                                      <p:iterate type="lt">
                                        <p:tmPct val="30000"/>
                                      </p:iterate>
                                      <p:childTnLst>
                                        <p:set>
                                          <p:cBhvr>
                                            <p:cTn id="38" dur="1" fill="hold">
                                              <p:stCondLst>
                                                <p:cond delay="0"/>
                                              </p:stCondLst>
                                            </p:cTn>
                                            <p:tgtEl>
                                              <p:spTgt spid="10"/>
                                            </p:tgtEl>
                                            <p:attrNameLst>
                                              <p:attrName>style.visibility</p:attrName>
                                            </p:attrNameLst>
                                          </p:cBhvr>
                                          <p:to>
                                            <p:strVal val="visible"/>
                                          </p:to>
                                        </p:set>
                                        <p:animEffect transition="in" filter="wipe(left)">
                                          <p:cBhvr>
                                            <p:cTn id="39" dur="100"/>
                                            <p:tgtEl>
                                              <p:spTgt spid="10"/>
                                            </p:tgtEl>
                                          </p:cBhvr>
                                        </p:animEffect>
                                      </p:childTnLst>
                                    </p:cTn>
                                  </p:par>
                                  <p:par>
                                    <p:cTn id="40" presetID="36" presetClass="emph" presetSubtype="0" fill="hold" grpId="1" nodeType="withEffect">
                                      <p:stCondLst>
                                        <p:cond delay="0"/>
                                      </p:stCondLst>
                                      <p:iterate type="lt">
                                        <p:tmPct val="30000"/>
                                      </p:iterate>
                                      <p:childTnLst>
                                        <p:animScale>
                                          <p:cBhvr>
                                            <p:cTn id="41" dur="50" autoRev="1" fill="hold">
                                              <p:stCondLst>
                                                <p:cond delay="0"/>
                                              </p:stCondLst>
                                            </p:cTn>
                                            <p:tgtEl>
                                              <p:spTgt spid="10"/>
                                            </p:tgtEl>
                                          </p:cBhvr>
                                          <p:to x="80000" y="100000"/>
                                        </p:animScale>
                                        <p:anim by="(#ppt_w*0.10)" calcmode="lin" valueType="num">
                                          <p:cBhvr>
                                            <p:cTn id="42" dur="50" autoRev="1" fill="hold">
                                              <p:stCondLst>
                                                <p:cond delay="0"/>
                                              </p:stCondLst>
                                            </p:cTn>
                                            <p:tgtEl>
                                              <p:spTgt spid="10"/>
                                            </p:tgtEl>
                                            <p:attrNameLst>
                                              <p:attrName>ppt_x</p:attrName>
                                            </p:attrNameLst>
                                          </p:cBhvr>
                                        </p:anim>
                                        <p:anim by="(-#ppt_w*0.10)" calcmode="lin" valueType="num">
                                          <p:cBhvr>
                                            <p:cTn id="43" dur="50" autoRev="1" fill="hold">
                                              <p:stCondLst>
                                                <p:cond delay="0"/>
                                              </p:stCondLst>
                                            </p:cTn>
                                            <p:tgtEl>
                                              <p:spTgt spid="10"/>
                                            </p:tgtEl>
                                            <p:attrNameLst>
                                              <p:attrName>ppt_y</p:attrName>
                                            </p:attrNameLst>
                                          </p:cBhvr>
                                        </p:anim>
                                        <p:animRot by="-480000">
                                          <p:cBhvr>
                                            <p:cTn id="44" dur="50" autoRev="1" fill="hold">
                                              <p:stCondLst>
                                                <p:cond delay="0"/>
                                              </p:stCondLst>
                                            </p:cTn>
                                            <p:tgtEl>
                                              <p:spTgt spid="10"/>
                                            </p:tgtEl>
                                            <p:attrNameLst>
                                              <p:attrName>r</p:attrName>
                                            </p:attrNameLst>
                                          </p:cBhvr>
                                        </p:animRot>
                                      </p:child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barn(outVertical)">
                                          <p:cBhvr>
                                            <p:cTn id="49" dur="500"/>
                                            <p:tgtEl>
                                              <p:spTgt spid="12"/>
                                            </p:tgtEl>
                                          </p:cBhvr>
                                        </p:animEffect>
                                      </p:childTnLst>
                                    </p:cTn>
                                  </p:par>
                                </p:childTnLst>
                              </p:cTn>
                            </p:par>
                            <p:par>
                              <p:cTn id="50" fill="hold">
                                <p:stCondLst>
                                  <p:cond delay="500"/>
                                </p:stCondLst>
                                <p:childTnLst>
                                  <p:par>
                                    <p:cTn id="51" presetID="2" presetClass="entr" presetSubtype="1"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ppt_x"/>
                                              </p:val>
                                            </p:tav>
                                            <p:tav tm="100000">
                                              <p:val>
                                                <p:strVal val="#ppt_x"/>
                                              </p:val>
                                            </p:tav>
                                          </p:tavLst>
                                        </p:anim>
                                        <p:anim calcmode="lin" valueType="num">
                                          <p:cBhvr additive="base">
                                            <p:cTn id="54" dur="500" fill="hold"/>
                                            <p:tgtEl>
                                              <p:spTgt spid="11"/>
                                            </p:tgtEl>
                                            <p:attrNameLst>
                                              <p:attrName>ppt_y</p:attrName>
                                            </p:attrNameLst>
                                          </p:cBhvr>
                                          <p:tavLst>
                                            <p:tav tm="0">
                                              <p:val>
                                                <p:strVal val="0-#ppt_h/2"/>
                                              </p:val>
                                            </p:tav>
                                            <p:tav tm="100000">
                                              <p:val>
                                                <p:strVal val="#ppt_y"/>
                                              </p:val>
                                            </p:tav>
                                          </p:tavLst>
                                        </p:anim>
                                      </p:childTnLst>
                                    </p:cTn>
                                  </p:par>
                                </p:childTnLst>
                              </p:cTn>
                            </p:par>
                            <p:par>
                              <p:cTn id="55" fill="hold">
                                <p:stCondLst>
                                  <p:cond delay="1000"/>
                                </p:stCondLst>
                                <p:childTnLst>
                                  <p:par>
                                    <p:cTn id="56" presetID="22" presetClass="entr" presetSubtype="8" fill="hold" grpId="0" nodeType="afterEffect">
                                      <p:stCondLst>
                                        <p:cond delay="0"/>
                                      </p:stCondLst>
                                      <p:iterate type="lt">
                                        <p:tmPct val="30000"/>
                                      </p:iterate>
                                      <p:childTnLst>
                                        <p:set>
                                          <p:cBhvr>
                                            <p:cTn id="57" dur="1" fill="hold">
                                              <p:stCondLst>
                                                <p:cond delay="0"/>
                                              </p:stCondLst>
                                            </p:cTn>
                                            <p:tgtEl>
                                              <p:spTgt spid="13"/>
                                            </p:tgtEl>
                                            <p:attrNameLst>
                                              <p:attrName>style.visibility</p:attrName>
                                            </p:attrNameLst>
                                          </p:cBhvr>
                                          <p:to>
                                            <p:strVal val="visible"/>
                                          </p:to>
                                        </p:set>
                                        <p:animEffect transition="in" filter="wipe(left)">
                                          <p:cBhvr>
                                            <p:cTn id="58" dur="100"/>
                                            <p:tgtEl>
                                              <p:spTgt spid="13"/>
                                            </p:tgtEl>
                                          </p:cBhvr>
                                        </p:animEffect>
                                      </p:childTnLst>
                                    </p:cTn>
                                  </p:par>
                                  <p:par>
                                    <p:cTn id="59" presetID="36" presetClass="emph" presetSubtype="0" fill="hold" grpId="1" nodeType="withEffect">
                                      <p:stCondLst>
                                        <p:cond delay="0"/>
                                      </p:stCondLst>
                                      <p:iterate type="lt">
                                        <p:tmPct val="30000"/>
                                      </p:iterate>
                                      <p:childTnLst>
                                        <p:animScale>
                                          <p:cBhvr>
                                            <p:cTn id="60" dur="50" autoRev="1" fill="hold">
                                              <p:stCondLst>
                                                <p:cond delay="0"/>
                                              </p:stCondLst>
                                            </p:cTn>
                                            <p:tgtEl>
                                              <p:spTgt spid="13"/>
                                            </p:tgtEl>
                                          </p:cBhvr>
                                          <p:to x="80000" y="100000"/>
                                        </p:animScale>
                                        <p:anim by="(#ppt_w*0.10)" calcmode="lin" valueType="num">
                                          <p:cBhvr>
                                            <p:cTn id="61" dur="50" autoRev="1" fill="hold">
                                              <p:stCondLst>
                                                <p:cond delay="0"/>
                                              </p:stCondLst>
                                            </p:cTn>
                                            <p:tgtEl>
                                              <p:spTgt spid="13"/>
                                            </p:tgtEl>
                                            <p:attrNameLst>
                                              <p:attrName>ppt_x</p:attrName>
                                            </p:attrNameLst>
                                          </p:cBhvr>
                                        </p:anim>
                                        <p:anim by="(-#ppt_w*0.10)" calcmode="lin" valueType="num">
                                          <p:cBhvr>
                                            <p:cTn id="62" dur="50" autoRev="1" fill="hold">
                                              <p:stCondLst>
                                                <p:cond delay="0"/>
                                              </p:stCondLst>
                                            </p:cTn>
                                            <p:tgtEl>
                                              <p:spTgt spid="13"/>
                                            </p:tgtEl>
                                            <p:attrNameLst>
                                              <p:attrName>ppt_y</p:attrName>
                                            </p:attrNameLst>
                                          </p:cBhvr>
                                        </p:anim>
                                        <p:animRot by="-480000">
                                          <p:cBhvr>
                                            <p:cTn id="63" dur="50" autoRev="1" fill="hold">
                                              <p:stCondLst>
                                                <p:cond delay="0"/>
                                              </p:stCondLst>
                                            </p:cTn>
                                            <p:tgtEl>
                                              <p:spTgt spid="13"/>
                                            </p:tgtEl>
                                            <p:attrNameLst>
                                              <p:attrName>r</p:attrName>
                                            </p:attrNameLst>
                                          </p:cBhvr>
                                        </p:animRot>
                                      </p:childTnLst>
                                    </p:cTn>
                                  </p:par>
                                </p:childTnLst>
                              </p:cTn>
                            </p:par>
                          </p:childTnLst>
                        </p:cTn>
                      </p:par>
                      <p:par>
                        <p:cTn id="64" fill="hold">
                          <p:stCondLst>
                            <p:cond delay="indefinite"/>
                          </p:stCondLst>
                          <p:childTnLst>
                            <p:par>
                              <p:cTn id="65" fill="hold">
                                <p:stCondLst>
                                  <p:cond delay="0"/>
                                </p:stCondLst>
                                <p:childTnLst>
                                  <p:par>
                                    <p:cTn id="66" presetID="16" presetClass="entr" presetSubtype="37"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barn(outVertical)">
                                          <p:cBhvr>
                                            <p:cTn id="68" dur="500"/>
                                            <p:tgtEl>
                                              <p:spTgt spid="15"/>
                                            </p:tgtEl>
                                          </p:cBhvr>
                                        </p:animEffect>
                                      </p:childTnLst>
                                    </p:cTn>
                                  </p:par>
                                </p:childTnLst>
                              </p:cTn>
                            </p:par>
                            <p:par>
                              <p:cTn id="69" fill="hold">
                                <p:stCondLst>
                                  <p:cond delay="500"/>
                                </p:stCondLst>
                                <p:childTnLst>
                                  <p:par>
                                    <p:cTn id="70" presetID="2" presetClass="entr" presetSubtype="1"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 calcmode="lin" valueType="num">
                                          <p:cBhvr additive="base">
                                            <p:cTn id="72" dur="500" fill="hold"/>
                                            <p:tgtEl>
                                              <p:spTgt spid="14"/>
                                            </p:tgtEl>
                                            <p:attrNameLst>
                                              <p:attrName>ppt_x</p:attrName>
                                            </p:attrNameLst>
                                          </p:cBhvr>
                                          <p:tavLst>
                                            <p:tav tm="0">
                                              <p:val>
                                                <p:strVal val="#ppt_x"/>
                                              </p:val>
                                            </p:tav>
                                            <p:tav tm="100000">
                                              <p:val>
                                                <p:strVal val="#ppt_x"/>
                                              </p:val>
                                            </p:tav>
                                          </p:tavLst>
                                        </p:anim>
                                        <p:anim calcmode="lin" valueType="num">
                                          <p:cBhvr additive="base">
                                            <p:cTn id="73" dur="500" fill="hold"/>
                                            <p:tgtEl>
                                              <p:spTgt spid="14"/>
                                            </p:tgtEl>
                                            <p:attrNameLst>
                                              <p:attrName>ppt_y</p:attrName>
                                            </p:attrNameLst>
                                          </p:cBhvr>
                                          <p:tavLst>
                                            <p:tav tm="0">
                                              <p:val>
                                                <p:strVal val="0-#ppt_h/2"/>
                                              </p:val>
                                            </p:tav>
                                            <p:tav tm="100000">
                                              <p:val>
                                                <p:strVal val="#ppt_y"/>
                                              </p:val>
                                            </p:tav>
                                          </p:tavLst>
                                        </p:anim>
                                      </p:childTnLst>
                                    </p:cTn>
                                  </p:par>
                                </p:childTnLst>
                              </p:cTn>
                            </p:par>
                            <p:par>
                              <p:cTn id="74" fill="hold">
                                <p:stCondLst>
                                  <p:cond delay="1000"/>
                                </p:stCondLst>
                                <p:childTnLst>
                                  <p:par>
                                    <p:cTn id="75" presetID="22" presetClass="entr" presetSubtype="8" fill="hold" grpId="0" nodeType="afterEffect">
                                      <p:stCondLst>
                                        <p:cond delay="0"/>
                                      </p:stCondLst>
                                      <p:iterate type="lt">
                                        <p:tmPct val="30000"/>
                                      </p:iterate>
                                      <p:childTnLst>
                                        <p:set>
                                          <p:cBhvr>
                                            <p:cTn id="76" dur="1" fill="hold">
                                              <p:stCondLst>
                                                <p:cond delay="0"/>
                                              </p:stCondLst>
                                            </p:cTn>
                                            <p:tgtEl>
                                              <p:spTgt spid="16"/>
                                            </p:tgtEl>
                                            <p:attrNameLst>
                                              <p:attrName>style.visibility</p:attrName>
                                            </p:attrNameLst>
                                          </p:cBhvr>
                                          <p:to>
                                            <p:strVal val="visible"/>
                                          </p:to>
                                        </p:set>
                                        <p:animEffect transition="in" filter="wipe(left)">
                                          <p:cBhvr>
                                            <p:cTn id="77" dur="100"/>
                                            <p:tgtEl>
                                              <p:spTgt spid="16"/>
                                            </p:tgtEl>
                                          </p:cBhvr>
                                        </p:animEffect>
                                      </p:childTnLst>
                                    </p:cTn>
                                  </p:par>
                                  <p:par>
                                    <p:cTn id="78" presetID="36" presetClass="emph" presetSubtype="0" fill="hold" grpId="1" nodeType="withEffect">
                                      <p:stCondLst>
                                        <p:cond delay="0"/>
                                      </p:stCondLst>
                                      <p:iterate type="lt">
                                        <p:tmPct val="30000"/>
                                      </p:iterate>
                                      <p:childTnLst>
                                        <p:animScale>
                                          <p:cBhvr>
                                            <p:cTn id="79" dur="50" autoRev="1" fill="hold">
                                              <p:stCondLst>
                                                <p:cond delay="0"/>
                                              </p:stCondLst>
                                            </p:cTn>
                                            <p:tgtEl>
                                              <p:spTgt spid="16"/>
                                            </p:tgtEl>
                                          </p:cBhvr>
                                          <p:to x="80000" y="100000"/>
                                        </p:animScale>
                                        <p:anim by="(#ppt_w*0.10)" calcmode="lin" valueType="num">
                                          <p:cBhvr>
                                            <p:cTn id="80" dur="50" autoRev="1" fill="hold">
                                              <p:stCondLst>
                                                <p:cond delay="0"/>
                                              </p:stCondLst>
                                            </p:cTn>
                                            <p:tgtEl>
                                              <p:spTgt spid="16"/>
                                            </p:tgtEl>
                                            <p:attrNameLst>
                                              <p:attrName>ppt_x</p:attrName>
                                            </p:attrNameLst>
                                          </p:cBhvr>
                                        </p:anim>
                                        <p:anim by="(-#ppt_w*0.10)" calcmode="lin" valueType="num">
                                          <p:cBhvr>
                                            <p:cTn id="81" dur="50" autoRev="1" fill="hold">
                                              <p:stCondLst>
                                                <p:cond delay="0"/>
                                              </p:stCondLst>
                                            </p:cTn>
                                            <p:tgtEl>
                                              <p:spTgt spid="16"/>
                                            </p:tgtEl>
                                            <p:attrNameLst>
                                              <p:attrName>ppt_y</p:attrName>
                                            </p:attrNameLst>
                                          </p:cBhvr>
                                        </p:anim>
                                        <p:animRot by="-480000">
                                          <p:cBhvr>
                                            <p:cTn id="82" dur="50" autoRev="1" fill="hold">
                                              <p:stCondLst>
                                                <p:cond delay="0"/>
                                              </p:stCondLst>
                                            </p:cTn>
                                            <p:tgtEl>
                                              <p:spTgt spid="16"/>
                                            </p:tgtEl>
                                            <p:attrNameLst>
                                              <p:attrName>r</p:attrName>
                                            </p:attrNameLst>
                                          </p:cBhvr>
                                        </p:animRo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500"/>
                                            <p:tgtEl>
                                              <p:spTgt spid="1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wipe(down)">
                                          <p:cBhvr>
                                            <p:cTn id="92" dur="500"/>
                                            <p:tgtEl>
                                              <p:spTgt spid="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wipe(down)">
                                          <p:cBhvr>
                                            <p:cTn id="9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 grpId="0" animBg="1"/>
          <p:bldP spid="5" grpId="0" animBg="1"/>
          <p:bldP spid="6" grpId="0" animBg="1"/>
          <p:bldP spid="10" grpId="0"/>
          <p:bldP spid="10" grpId="1"/>
          <p:bldP spid="11" grpId="0" animBg="1"/>
          <p:bldP spid="12" grpId="0" animBg="1"/>
          <p:bldP spid="13" grpId="0"/>
          <p:bldP spid="13" grpId="1"/>
          <p:bldP spid="14" grpId="0" animBg="1"/>
          <p:bldP spid="15" grpId="0" animBg="1"/>
          <p:bldP spid="16" grpId="0"/>
          <p:bldP spid="16" grpId="1"/>
          <p:bldP spid="3" grpId="0" animBg="1"/>
          <p:bldP spid="17" grpId="0" animBg="1"/>
          <p:bldP spid="19"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功能需求理解</a:t>
            </a:r>
            <a:r>
              <a:rPr lang="en-US" altLang="zh-CN" sz="1800"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思路</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3568" y="915566"/>
            <a:ext cx="1410507" cy="276999"/>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数据预处理</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06255" y="1396338"/>
            <a:ext cx="7056784" cy="646331"/>
          </a:xfrm>
          <a:prstGeom prst="rect">
            <a:avLst/>
          </a:prstGeom>
          <a:noFill/>
        </p:spPr>
        <p:txBody>
          <a:bodyPr wrap="square" rtlCol="0">
            <a:spAutoFit/>
          </a:bodyPr>
          <a:lstStyle/>
          <a:p>
            <a:pPr indent="457200">
              <a:lnSpc>
                <a:spcPct val="150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数据预处理部分需要关注的点主要为缺失值的处理，对于缺失值的处理，对于缺失数据量的大小大致分为以下两种解决方式。</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Freeform 5"/>
          <p:cNvSpPr>
            <a:spLocks/>
          </p:cNvSpPr>
          <p:nvPr/>
        </p:nvSpPr>
        <p:spPr bwMode="auto">
          <a:xfrm>
            <a:off x="971600" y="2730080"/>
            <a:ext cx="1479797" cy="133420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20" name="TextBox 2"/>
          <p:cNvSpPr txBox="1"/>
          <p:nvPr/>
        </p:nvSpPr>
        <p:spPr>
          <a:xfrm>
            <a:off x="1257155" y="3150958"/>
            <a:ext cx="908686" cy="492443"/>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1600" b="1" dirty="0" smtClean="0"/>
              <a:t>数据缺失解决方式</a:t>
            </a:r>
            <a:endParaRPr lang="zh-CN" altLang="en-US" sz="1600" b="1" dirty="0"/>
          </a:p>
        </p:txBody>
      </p:sp>
      <p:sp>
        <p:nvSpPr>
          <p:cNvPr id="21" name="圆角矩形 20"/>
          <p:cNvSpPr/>
          <p:nvPr/>
        </p:nvSpPr>
        <p:spPr>
          <a:xfrm>
            <a:off x="3314730" y="2730080"/>
            <a:ext cx="4479052" cy="451685"/>
          </a:xfrm>
          <a:prstGeom prst="roundRect">
            <a:avLst>
              <a:gd name="adj" fmla="val 2063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22" name="Freeform 5"/>
          <p:cNvSpPr>
            <a:spLocks/>
          </p:cNvSpPr>
          <p:nvPr/>
        </p:nvSpPr>
        <p:spPr bwMode="auto">
          <a:xfrm>
            <a:off x="2650968" y="2447923"/>
            <a:ext cx="547516" cy="1996034"/>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圆角矩形 30"/>
          <p:cNvSpPr/>
          <p:nvPr/>
        </p:nvSpPr>
        <p:spPr>
          <a:xfrm>
            <a:off x="3326219" y="3992272"/>
            <a:ext cx="4479052" cy="451685"/>
          </a:xfrm>
          <a:prstGeom prst="roundRect">
            <a:avLst>
              <a:gd name="adj" fmla="val 268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32" name="TextBox 13"/>
          <p:cNvSpPr txBox="1"/>
          <p:nvPr/>
        </p:nvSpPr>
        <p:spPr>
          <a:xfrm>
            <a:off x="3508623" y="4023287"/>
            <a:ext cx="3758504" cy="443198"/>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smtClean="0">
                <a:solidFill>
                  <a:schemeClr val="tx1">
                    <a:lumMod val="75000"/>
                    <a:lumOff val="25000"/>
                  </a:schemeClr>
                </a:solidFill>
              </a:rPr>
              <a:t>对于缺失值在</a:t>
            </a:r>
            <a:r>
              <a:rPr lang="en-US" altLang="zh-CN" sz="1200" dirty="0" smtClean="0">
                <a:solidFill>
                  <a:schemeClr val="tx1">
                    <a:lumMod val="75000"/>
                    <a:lumOff val="25000"/>
                  </a:schemeClr>
                </a:solidFill>
              </a:rPr>
              <a:t>10%</a:t>
            </a:r>
            <a:r>
              <a:rPr lang="zh-CN" altLang="en-US" sz="1200" dirty="0" smtClean="0">
                <a:solidFill>
                  <a:schemeClr val="tx1">
                    <a:lumMod val="75000"/>
                    <a:lumOff val="25000"/>
                  </a:schemeClr>
                </a:solidFill>
              </a:rPr>
              <a:t>以内的特征，通过零值填充、均值填充、上下数据填充、插值填充等方法进行数据补全。</a:t>
            </a:r>
            <a:endParaRPr lang="en-US" altLang="zh-CN" sz="1200" dirty="0">
              <a:solidFill>
                <a:schemeClr val="tx1">
                  <a:lumMod val="75000"/>
                  <a:lumOff val="25000"/>
                </a:schemeClr>
              </a:solidFill>
            </a:endParaRPr>
          </a:p>
        </p:txBody>
      </p:sp>
      <p:sp>
        <p:nvSpPr>
          <p:cNvPr id="18" name="文本框 17"/>
          <p:cNvSpPr txBox="1"/>
          <p:nvPr/>
        </p:nvSpPr>
        <p:spPr>
          <a:xfrm>
            <a:off x="3398055" y="2437026"/>
            <a:ext cx="1894025" cy="276999"/>
          </a:xfrm>
          <a:prstGeom prst="rect">
            <a:avLst/>
          </a:prstGeom>
          <a:noFill/>
        </p:spPr>
        <p:txBody>
          <a:bodyPr wrap="square" rtlCol="0">
            <a:spAutoFit/>
          </a:bodyPr>
          <a:lstStyle/>
          <a:p>
            <a:r>
              <a:rPr lang="zh-CN" altLang="en-US" sz="1200" dirty="0">
                <a:solidFill>
                  <a:srgbClr val="005DA2"/>
                </a:solidFill>
                <a:latin typeface="微软雅黑" panose="020B0503020204020204" pitchFamily="34" charset="-122"/>
                <a:ea typeface="微软雅黑" panose="020B0503020204020204" pitchFamily="34" charset="-122"/>
              </a:rPr>
              <a:t>缺失值较多的特征处理</a:t>
            </a:r>
            <a:endParaRPr lang="zh-CN" altLang="en-US" sz="1200" dirty="0" smtClean="0">
              <a:solidFill>
                <a:srgbClr val="005DA2"/>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3398054" y="3591500"/>
            <a:ext cx="1894025" cy="276999"/>
          </a:xfrm>
          <a:prstGeom prst="rect">
            <a:avLst/>
          </a:prstGeom>
          <a:noFill/>
        </p:spPr>
        <p:txBody>
          <a:bodyPr wrap="square" rtlCol="0">
            <a:spAutoFit/>
          </a:bodyPr>
          <a:lstStyle/>
          <a:p>
            <a:r>
              <a:rPr lang="zh-CN" altLang="en-US" sz="1200" dirty="0">
                <a:solidFill>
                  <a:srgbClr val="005DA2"/>
                </a:solidFill>
                <a:latin typeface="微软雅黑" panose="020B0503020204020204" pitchFamily="34" charset="-122"/>
                <a:ea typeface="微软雅黑" panose="020B0503020204020204" pitchFamily="34" charset="-122"/>
              </a:rPr>
              <a:t>缺失值</a:t>
            </a:r>
            <a:r>
              <a:rPr lang="zh-CN" altLang="en-US" sz="1200" dirty="0" smtClean="0">
                <a:solidFill>
                  <a:srgbClr val="005DA2"/>
                </a:solidFill>
                <a:latin typeface="微软雅黑" panose="020B0503020204020204" pitchFamily="34" charset="-122"/>
                <a:ea typeface="微软雅黑" panose="020B0503020204020204" pitchFamily="34" charset="-122"/>
              </a:rPr>
              <a:t>较少的</a:t>
            </a:r>
            <a:r>
              <a:rPr lang="zh-CN" altLang="en-US" sz="1200" dirty="0">
                <a:solidFill>
                  <a:srgbClr val="005DA2"/>
                </a:solidFill>
                <a:latin typeface="微软雅黑" panose="020B0503020204020204" pitchFamily="34" charset="-122"/>
                <a:ea typeface="微软雅黑" panose="020B0503020204020204" pitchFamily="34" charset="-122"/>
              </a:rPr>
              <a:t>特征处理</a:t>
            </a:r>
            <a:endParaRPr lang="zh-CN" altLang="en-US" sz="1200" dirty="0" smtClean="0">
              <a:solidFill>
                <a:srgbClr val="005DA2"/>
              </a:solidFill>
              <a:latin typeface="微软雅黑" panose="020B0503020204020204" pitchFamily="34" charset="-122"/>
              <a:ea typeface="微软雅黑" panose="020B0503020204020204" pitchFamily="34" charset="-122"/>
            </a:endParaRPr>
          </a:p>
        </p:txBody>
      </p:sp>
      <p:sp>
        <p:nvSpPr>
          <p:cNvPr id="34" name="TextBox 13"/>
          <p:cNvSpPr txBox="1"/>
          <p:nvPr/>
        </p:nvSpPr>
        <p:spPr>
          <a:xfrm>
            <a:off x="3491880" y="2828601"/>
            <a:ext cx="3758504" cy="22159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smtClean="0">
                <a:solidFill>
                  <a:schemeClr val="tx1">
                    <a:lumMod val="75000"/>
                    <a:lumOff val="25000"/>
                  </a:schemeClr>
                </a:solidFill>
              </a:rPr>
              <a:t>直接将该特征进行舍弃，否则将会引入较大的</a:t>
            </a:r>
            <a:r>
              <a:rPr lang="zh-CN" altLang="en-US" sz="1200" dirty="0" smtClean="0">
                <a:solidFill>
                  <a:schemeClr val="tx1">
                    <a:lumMod val="75000"/>
                    <a:lumOff val="25000"/>
                  </a:schemeClr>
                </a:solidFill>
              </a:rPr>
              <a:t>噪声。</a:t>
            </a:r>
            <a:endParaRPr lang="en-US" altLang="zh-CN" sz="1200" dirty="0">
              <a:solidFill>
                <a:schemeClr val="tx1">
                  <a:lumMod val="75000"/>
                  <a:lumOff val="25000"/>
                </a:schemeClr>
              </a:solidFill>
            </a:endParaRPr>
          </a:p>
        </p:txBody>
      </p:sp>
      <p:sp>
        <p:nvSpPr>
          <p:cNvPr id="35" name="文本框 34"/>
          <p:cNvSpPr txBox="1"/>
          <p:nvPr/>
        </p:nvSpPr>
        <p:spPr>
          <a:xfrm>
            <a:off x="6948264" y="700746"/>
            <a:ext cx="1410507"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主要工具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r>
              <a:rPr lang="en-US" altLang="zh-CN" sz="1200" dirty="0" smtClean="0">
                <a:solidFill>
                  <a:srgbClr val="FF0000"/>
                </a:solidFill>
                <a:latin typeface="微软雅黑" panose="020B0503020204020204" pitchFamily="34" charset="-122"/>
                <a:ea typeface="微软雅黑" panose="020B0503020204020204" pitchFamily="34" charset="-122"/>
              </a:rPr>
              <a:t>Pandas</a:t>
            </a:r>
            <a:r>
              <a:rPr lang="zh-CN" altLang="en-US" sz="1200" dirty="0" smtClean="0">
                <a:solidFill>
                  <a:srgbClr val="FF0000"/>
                </a:solidFill>
                <a:latin typeface="微软雅黑" panose="020B0503020204020204" pitchFamily="34" charset="-122"/>
                <a:ea typeface="微软雅黑" panose="020B0503020204020204" pitchFamily="34" charset="-122"/>
              </a:rPr>
              <a:t>；</a:t>
            </a:r>
            <a:endParaRPr lang="en-US" altLang="zh-CN" sz="1200" dirty="0" smtClean="0">
              <a:solidFill>
                <a:srgbClr val="FF0000"/>
              </a:solidFill>
              <a:latin typeface="微软雅黑" panose="020B0503020204020204" pitchFamily="34" charset="-122"/>
              <a:ea typeface="微软雅黑" panose="020B0503020204020204" pitchFamily="34" charset="-122"/>
            </a:endParaRPr>
          </a:p>
          <a:p>
            <a:r>
              <a:rPr lang="en-US" altLang="zh-CN" sz="1200" dirty="0" err="1" smtClean="0">
                <a:solidFill>
                  <a:srgbClr val="FF0000"/>
                </a:solidFill>
                <a:latin typeface="微软雅黑" panose="020B0503020204020204" pitchFamily="34" charset="-122"/>
                <a:ea typeface="微软雅黑" panose="020B0503020204020204" pitchFamily="34" charset="-122"/>
              </a:rPr>
              <a:t>Numpy</a:t>
            </a:r>
            <a:r>
              <a:rPr lang="zh-CN" altLang="en-US" sz="1200" dirty="0" smtClean="0">
                <a:solidFill>
                  <a:srgbClr val="FF0000"/>
                </a:solidFill>
                <a:latin typeface="微软雅黑" panose="020B0503020204020204" pitchFamily="34" charset="-122"/>
                <a:ea typeface="微软雅黑" panose="020B0503020204020204" pitchFamily="34" charset="-122"/>
              </a:rPr>
              <a:t>；</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58402966"/>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1000"/>
                            </p:stCondLst>
                            <p:childTnLst>
                              <p:par>
                                <p:cTn id="22" presetID="45" presetClass="entr" presetSubtype="0"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2000"/>
                                        <p:tgtEl>
                                          <p:spTgt spid="20"/>
                                        </p:tgtEl>
                                      </p:cBhvr>
                                    </p:animEffect>
                                    <p:anim calcmode="lin" valueType="num">
                                      <p:cBhvr>
                                        <p:cTn id="25" dur="2000" fill="hold"/>
                                        <p:tgtEl>
                                          <p:spTgt spid="20"/>
                                        </p:tgtEl>
                                        <p:attrNameLst>
                                          <p:attrName>ppt_w</p:attrName>
                                        </p:attrNameLst>
                                      </p:cBhvr>
                                      <p:tavLst>
                                        <p:tav tm="0" fmla="#ppt_w*sin(2.5*pi*$)">
                                          <p:val>
                                            <p:fltVal val="0"/>
                                          </p:val>
                                        </p:tav>
                                        <p:tav tm="100000">
                                          <p:val>
                                            <p:fltVal val="1"/>
                                          </p:val>
                                        </p:tav>
                                      </p:tavLst>
                                    </p:anim>
                                    <p:anim calcmode="lin" valueType="num">
                                      <p:cBhvr>
                                        <p:cTn id="26" dur="20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500" fill="hold"/>
                                        <p:tgtEl>
                                          <p:spTgt spid="19"/>
                                        </p:tgtEl>
                                        <p:attrNameLst>
                                          <p:attrName>ppt_w</p:attrName>
                                        </p:attrNameLst>
                                      </p:cBhvr>
                                      <p:tavLst>
                                        <p:tav tm="0">
                                          <p:val>
                                            <p:fltVal val="0"/>
                                          </p:val>
                                        </p:tav>
                                        <p:tav tm="100000">
                                          <p:val>
                                            <p:strVal val="#ppt_w"/>
                                          </p:val>
                                        </p:tav>
                                      </p:tavLst>
                                    </p:anim>
                                    <p:anim calcmode="lin" valueType="num">
                                      <p:cBhvr>
                                        <p:cTn id="32" dur="500" fill="hold"/>
                                        <p:tgtEl>
                                          <p:spTgt spid="19"/>
                                        </p:tgtEl>
                                        <p:attrNameLst>
                                          <p:attrName>ppt_h</p:attrName>
                                        </p:attrNameLst>
                                      </p:cBhvr>
                                      <p:tavLst>
                                        <p:tav tm="0">
                                          <p:val>
                                            <p:fltVal val="0"/>
                                          </p:val>
                                        </p:tav>
                                        <p:tav tm="100000">
                                          <p:val>
                                            <p:strVal val="#ppt_h"/>
                                          </p:val>
                                        </p:tav>
                                      </p:tavLst>
                                    </p:anim>
                                    <p:animEffect transition="in" filter="fade">
                                      <p:cBhvr>
                                        <p:cTn id="33" dur="500"/>
                                        <p:tgtEl>
                                          <p:spTgt spid="19"/>
                                        </p:tgtEl>
                                      </p:cBhvr>
                                    </p:animEffect>
                                  </p:childTnLst>
                                </p:cTn>
                              </p:par>
                            </p:childTnLst>
                          </p:cTn>
                        </p:par>
                        <p:par>
                          <p:cTn id="34" fill="hold">
                            <p:stCondLst>
                              <p:cond delay="500"/>
                            </p:stCondLst>
                            <p:childTnLst>
                              <p:par>
                                <p:cTn id="35" presetID="16" presetClass="entr" presetSubtype="42"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arn(outHorizontal)">
                                      <p:cBhvr>
                                        <p:cTn id="37" dur="500"/>
                                        <p:tgtEl>
                                          <p:spTgt spid="22"/>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500"/>
                                        <p:tgtEl>
                                          <p:spTgt spid="21"/>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wipe(left)">
                                      <p:cBhvr>
                                        <p:cTn id="44" dur="500"/>
                                        <p:tgtEl>
                                          <p:spTgt spid="31"/>
                                        </p:tgtEl>
                                      </p:cBhvr>
                                    </p:animEffect>
                                  </p:childTnLst>
                                </p:cTn>
                              </p:par>
                            </p:childTnLst>
                          </p:cTn>
                        </p:par>
                        <p:par>
                          <p:cTn id="45" fill="hold">
                            <p:stCondLst>
                              <p:cond delay="1500"/>
                            </p:stCondLst>
                            <p:childTnLst>
                              <p:par>
                                <p:cTn id="46" presetID="22" presetClass="entr" presetSubtype="4"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down)">
                                      <p:cBhvr>
                                        <p:cTn id="48" dur="500"/>
                                        <p:tgtEl>
                                          <p:spTgt spid="18"/>
                                        </p:tgtEl>
                                      </p:cBhvr>
                                    </p:animEffect>
                                  </p:childTnLst>
                                </p:cTn>
                              </p:par>
                            </p:childTnLst>
                          </p:cTn>
                        </p:par>
                        <p:par>
                          <p:cTn id="49" fill="hold">
                            <p:stCondLst>
                              <p:cond delay="2000"/>
                            </p:stCondLst>
                            <p:childTnLst>
                              <p:par>
                                <p:cTn id="50" presetID="22" presetClass="entr" presetSubtype="4" fill="hold" grpId="0" nodeType="after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down)">
                                      <p:cBhvr>
                                        <p:cTn id="52" dur="500"/>
                                        <p:tgtEl>
                                          <p:spTgt spid="33"/>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wipe(left)">
                                      <p:cBhvr>
                                        <p:cTn id="55" dur="500"/>
                                        <p:tgtEl>
                                          <p:spTgt spid="32"/>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wipe(left)">
                                      <p:cBhvr>
                                        <p:cTn id="58" dur="500"/>
                                        <p:tgtEl>
                                          <p:spTgt spid="3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wipe(down)">
                                      <p:cBhvr>
                                        <p:cTn id="6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2" grpId="0"/>
      <p:bldP spid="19" grpId="0" animBg="1"/>
      <p:bldP spid="20" grpId="0"/>
      <p:bldP spid="21" grpId="0" animBg="1"/>
      <p:bldP spid="22" grpId="0" animBg="1"/>
      <p:bldP spid="31" grpId="0" animBg="1"/>
      <p:bldP spid="32" grpId="0"/>
      <p:bldP spid="18" grpId="0"/>
      <p:bldP spid="33" grpId="0"/>
      <p:bldP spid="34" grpId="0"/>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功能需求理解</a:t>
            </a:r>
            <a:r>
              <a:rPr lang="en-US" altLang="zh-CN" sz="1800"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思路</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3568" y="915566"/>
            <a:ext cx="1410507" cy="276999"/>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数据可视化呈现</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891391" y="1867633"/>
            <a:ext cx="7056784" cy="646331"/>
          </a:xfrm>
          <a:prstGeom prst="rect">
            <a:avLst/>
          </a:prstGeom>
          <a:noFill/>
        </p:spPr>
        <p:txBody>
          <a:bodyPr wrap="square" rtlCol="0">
            <a:spAutoFit/>
          </a:bodyPr>
          <a:lstStyle/>
          <a:p>
            <a:pPr indent="457200">
              <a:lnSpc>
                <a:spcPct val="150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通过</a:t>
            </a:r>
            <a:r>
              <a:rPr lang="en-US" altLang="zh-CN" sz="1200" dirty="0" err="1" smtClean="0">
                <a:solidFill>
                  <a:schemeClr val="tx1">
                    <a:lumMod val="75000"/>
                    <a:lumOff val="25000"/>
                  </a:schemeClr>
                </a:solidFill>
                <a:latin typeface="微软雅黑" panose="020B0503020204020204" pitchFamily="34" charset="-122"/>
                <a:ea typeface="微软雅黑" panose="020B0503020204020204" pitchFamily="34" charset="-122"/>
              </a:rPr>
              <a:t>numpy</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数据包自带函数，对数据进行简单数学公式支持，通过</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pandas</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包对数据完成过滤各种过滤操作，采用</a:t>
            </a:r>
            <a:r>
              <a:rPr lang="en-US" altLang="zh-CN" sz="1200" dirty="0" err="1" smtClean="0">
                <a:solidFill>
                  <a:schemeClr val="tx1">
                    <a:lumMod val="75000"/>
                    <a:lumOff val="25000"/>
                  </a:schemeClr>
                </a:solidFill>
                <a:latin typeface="微软雅黑" panose="020B0503020204020204" pitchFamily="34" charset="-122"/>
                <a:ea typeface="微软雅黑" panose="020B0503020204020204" pitchFamily="34" charset="-122"/>
              </a:rPr>
              <a:t>matplotlib</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完成数据可视化呈现。</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6948264" y="700746"/>
            <a:ext cx="1410507" cy="83099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主要工具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r>
              <a:rPr lang="en-US" altLang="zh-CN" sz="1200" dirty="0" smtClean="0">
                <a:solidFill>
                  <a:srgbClr val="FF0000"/>
                </a:solidFill>
                <a:latin typeface="微软雅黑" panose="020B0503020204020204" pitchFamily="34" charset="-122"/>
                <a:ea typeface="微软雅黑" panose="020B0503020204020204" pitchFamily="34" charset="-122"/>
              </a:rPr>
              <a:t>Pandas</a:t>
            </a:r>
            <a:r>
              <a:rPr lang="zh-CN" altLang="en-US" sz="1200" dirty="0" smtClean="0">
                <a:solidFill>
                  <a:srgbClr val="FF0000"/>
                </a:solidFill>
                <a:latin typeface="微软雅黑" panose="020B0503020204020204" pitchFamily="34" charset="-122"/>
                <a:ea typeface="微软雅黑" panose="020B0503020204020204" pitchFamily="34" charset="-122"/>
              </a:rPr>
              <a:t>；</a:t>
            </a:r>
            <a:endParaRPr lang="en-US" altLang="zh-CN" sz="1200" dirty="0" smtClean="0">
              <a:solidFill>
                <a:srgbClr val="FF0000"/>
              </a:solidFill>
              <a:latin typeface="微软雅黑" panose="020B0503020204020204" pitchFamily="34" charset="-122"/>
              <a:ea typeface="微软雅黑" panose="020B0503020204020204" pitchFamily="34" charset="-122"/>
            </a:endParaRPr>
          </a:p>
          <a:p>
            <a:r>
              <a:rPr lang="en-US" altLang="zh-CN" sz="1200" dirty="0" err="1" smtClean="0">
                <a:solidFill>
                  <a:srgbClr val="FF0000"/>
                </a:solidFill>
                <a:latin typeface="微软雅黑" panose="020B0503020204020204" pitchFamily="34" charset="-122"/>
                <a:ea typeface="微软雅黑" panose="020B0503020204020204" pitchFamily="34" charset="-122"/>
              </a:rPr>
              <a:t>Numpy</a:t>
            </a:r>
            <a:r>
              <a:rPr lang="zh-CN" altLang="en-US" sz="1200" dirty="0" smtClean="0">
                <a:solidFill>
                  <a:srgbClr val="FF0000"/>
                </a:solidFill>
                <a:latin typeface="微软雅黑" panose="020B0503020204020204" pitchFamily="34" charset="-122"/>
                <a:ea typeface="微软雅黑" panose="020B0503020204020204" pitchFamily="34" charset="-122"/>
              </a:rPr>
              <a:t>；</a:t>
            </a:r>
            <a:endParaRPr lang="en-US" altLang="zh-CN" sz="1200" dirty="0" smtClean="0">
              <a:solidFill>
                <a:srgbClr val="FF0000"/>
              </a:solidFill>
              <a:latin typeface="微软雅黑" panose="020B0503020204020204" pitchFamily="34" charset="-122"/>
              <a:ea typeface="微软雅黑" panose="020B0503020204020204" pitchFamily="34" charset="-122"/>
            </a:endParaRPr>
          </a:p>
          <a:p>
            <a:r>
              <a:rPr lang="en-US" altLang="zh-CN" sz="1200" dirty="0" err="1" smtClean="0">
                <a:solidFill>
                  <a:srgbClr val="FF0000"/>
                </a:solidFill>
                <a:latin typeface="微软雅黑" panose="020B0503020204020204" pitchFamily="34" charset="-122"/>
                <a:ea typeface="微软雅黑" panose="020B0503020204020204" pitchFamily="34" charset="-122"/>
              </a:rPr>
              <a:t>Matplotlib</a:t>
            </a:r>
            <a:r>
              <a:rPr lang="en-US" altLang="zh-CN" sz="1200" dirty="0" smtClean="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1310095" y="3152378"/>
            <a:ext cx="6523809" cy="1276190"/>
          </a:xfrm>
          <a:prstGeom prst="rect">
            <a:avLst/>
          </a:prstGeom>
        </p:spPr>
      </p:pic>
    </p:spTree>
    <p:extLst>
      <p:ext uri="{BB962C8B-B14F-4D97-AF65-F5344CB8AC3E}">
        <p14:creationId xmlns:p14="http://schemas.microsoft.com/office/powerpoint/2010/main" val="3240913325"/>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1000"/>
                            </p:stCondLst>
                            <p:childTnLst>
                              <p:par>
                                <p:cTn id="22" presetID="16" presetClass="entr" presetSubtype="21"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wipe(down)">
                                      <p:cBhvr>
                                        <p:cTn id="2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2" grpId="0"/>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功能需求理解</a:t>
            </a:r>
            <a:r>
              <a:rPr lang="en-US" altLang="zh-CN" sz="1800"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思路</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3568" y="915566"/>
            <a:ext cx="1410507" cy="276999"/>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数据标注</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922852" y="1971585"/>
            <a:ext cx="7056784" cy="1200329"/>
          </a:xfrm>
          <a:prstGeom prst="rect">
            <a:avLst/>
          </a:prstGeom>
          <a:noFill/>
        </p:spPr>
        <p:txBody>
          <a:bodyPr wrap="square" rtlCol="0">
            <a:spAutoFit/>
          </a:bodyPr>
          <a:lstStyle/>
          <a:p>
            <a:pPr indent="457200">
              <a:lnSpc>
                <a:spcPct val="150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数据标注需要包含以下几个功能点：</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标注对象确认：如对目标数据集需要标注哪几个标签；</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标注方式确认：如连续标注或离散标注或多边形包含标注；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标注进度提示：对于工作进度的提示；</a:t>
            </a:r>
          </a:p>
        </p:txBody>
      </p:sp>
      <p:sp>
        <p:nvSpPr>
          <p:cNvPr id="35" name="文本框 34"/>
          <p:cNvSpPr txBox="1"/>
          <p:nvPr/>
        </p:nvSpPr>
        <p:spPr>
          <a:xfrm>
            <a:off x="6948264" y="700746"/>
            <a:ext cx="1410507"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主要工具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1200" dirty="0" smtClean="0">
                <a:solidFill>
                  <a:srgbClr val="FF0000"/>
                </a:solidFill>
                <a:latin typeface="微软雅黑" panose="020B0503020204020204" pitchFamily="34" charset="-122"/>
                <a:ea typeface="微软雅黑" panose="020B0503020204020204" pitchFamily="34" charset="-122"/>
              </a:rPr>
              <a:t>待定</a:t>
            </a:r>
            <a:r>
              <a:rPr lang="zh-CN" altLang="en-US" sz="1200" dirty="0" smtClean="0">
                <a:solidFill>
                  <a:srgbClr val="FF0000"/>
                </a:solidFill>
                <a:latin typeface="微软雅黑" panose="020B0503020204020204" pitchFamily="34" charset="-122"/>
                <a:ea typeface="微软雅黑" panose="020B0503020204020204" pitchFamily="34" charset="-122"/>
              </a:rPr>
              <a:t>；</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051489"/>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down)">
                                      <p:cBhvr>
                                        <p:cTn id="2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2" grpId="0"/>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功能需求理解</a:t>
            </a:r>
            <a:r>
              <a:rPr lang="en-US" altLang="zh-CN" sz="1800"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思路</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3568" y="915566"/>
            <a:ext cx="1410507" cy="276999"/>
          </a:xfrm>
          <a:prstGeom prst="rect">
            <a:avLst/>
          </a:prstGeom>
          <a:noFill/>
        </p:spPr>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图形界面</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301987" y="2211710"/>
            <a:ext cx="7056784" cy="923330"/>
          </a:xfrm>
          <a:prstGeom prst="rect">
            <a:avLst/>
          </a:prstGeom>
          <a:noFill/>
        </p:spPr>
        <p:txBody>
          <a:bodyPr wrap="square" rtlCol="0">
            <a:spAutoFit/>
          </a:bodyPr>
          <a:lstStyle/>
          <a:p>
            <a:pPr indent="457200">
              <a:lnSpc>
                <a:spcPct val="150000"/>
              </a:lnSpc>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出于界面美观以及数据库需求，选用</a:t>
            </a:r>
            <a:r>
              <a:rPr lang="en-US" altLang="zh-CN" sz="1200" dirty="0" err="1" smtClean="0">
                <a:solidFill>
                  <a:schemeClr val="tx1">
                    <a:lumMod val="75000"/>
                    <a:lumOff val="25000"/>
                  </a:schemeClr>
                </a:solidFill>
                <a:latin typeface="微软雅黑" panose="020B0503020204020204" pitchFamily="34" charset="-122"/>
                <a:ea typeface="微软雅黑" panose="020B0503020204020204" pitchFamily="34" charset="-122"/>
              </a:rPr>
              <a:t>PyQT</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作为编写</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GUI</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的工具。</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1200" dirty="0" err="1" smtClean="0">
                <a:solidFill>
                  <a:schemeClr val="tx1">
                    <a:lumMod val="75000"/>
                    <a:lumOff val="25000"/>
                  </a:schemeClr>
                </a:solidFill>
                <a:latin typeface="微软雅黑" panose="020B0503020204020204" pitchFamily="34" charset="-122"/>
                <a:ea typeface="微软雅黑" panose="020B0503020204020204" pitchFamily="34" charset="-122"/>
              </a:rPr>
              <a:t>PyQt</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是 </a:t>
            </a: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rPr>
              <a:t>Qt</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的 </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Python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版本，</a:t>
            </a: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rPr>
              <a:t>Qt</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库是最强大的 </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GUI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库之一，</a:t>
            </a: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rPr>
              <a:t>PyQt</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有超过</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620</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个类以及</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6000</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种函数</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。该</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库适用于 </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Python2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和 </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Python3</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，能在所有桌面平台运行。</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6948264" y="700746"/>
            <a:ext cx="1410507"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主要工具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r>
              <a:rPr lang="en-US" altLang="zh-CN" sz="1200" dirty="0" err="1" smtClean="0">
                <a:solidFill>
                  <a:srgbClr val="FF0000"/>
                </a:solidFill>
                <a:latin typeface="微软雅黑" panose="020B0503020204020204" pitchFamily="34" charset="-122"/>
                <a:ea typeface="微软雅黑" panose="020B0503020204020204" pitchFamily="34" charset="-122"/>
              </a:rPr>
              <a:t>PyQt</a:t>
            </a:r>
            <a:endParaRPr lang="en-US" altLang="zh-CN" sz="1200" dirty="0" smtClean="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21024572"/>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down)">
                                      <p:cBhvr>
                                        <p:cTn id="2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2" grpId="0"/>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03</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450804" y="2574801"/>
            <a:ext cx="2031325" cy="646331"/>
          </a:xfrm>
          <a:prstGeom prst="rect">
            <a:avLst/>
          </a:prstGeom>
          <a:noFill/>
        </p:spPr>
        <p:txBody>
          <a:bodyPr wrap="none" rtlCol="0">
            <a:spAutoFit/>
          </a:bodyPr>
          <a:lstStyle/>
          <a:p>
            <a:pPr algn="ctr"/>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时间安排</a:t>
            </a:r>
            <a:endPar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
        <p:nvSpPr>
          <p:cNvPr id="22" name="矩形 21"/>
          <p:cNvSpPr/>
          <p:nvPr/>
        </p:nvSpPr>
        <p:spPr>
          <a:xfrm>
            <a:off x="179512" y="1203598"/>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模板下载：</a:t>
            </a:r>
            <a:r>
              <a:rPr kumimoji="0" lang="en-US" altLang="zh-CN" sz="100" b="0" i="0" u="none" strike="noStrike" kern="0" cap="none" spc="0" normalizeH="0" baseline="0" noProof="0" dirty="0" smtClean="0">
                <a:ln>
                  <a:noFill/>
                </a:ln>
                <a:solidFill>
                  <a:prstClr val="white"/>
                </a:solidFill>
                <a:effectLst/>
                <a:uLnTx/>
                <a:uFillTx/>
              </a:rPr>
              <a:t>www.1ppt.com/moban/     </a:t>
            </a:r>
            <a:r>
              <a:rPr kumimoji="0" lang="zh-CN" altLang="en-US" sz="100" b="0" i="0" u="none" strike="noStrike" kern="0" cap="none" spc="0" normalizeH="0" baseline="0" noProof="0" dirty="0" smtClean="0">
                <a:ln>
                  <a:noFill/>
                </a:ln>
                <a:solidFill>
                  <a:prstClr val="white"/>
                </a:solidFill>
                <a:effectLst/>
                <a:uLnTx/>
                <a:uFillTx/>
              </a:rPr>
              <a:t>行业</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节日</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www.1ppt.com/jieri/           PPT</a:t>
            </a:r>
            <a:r>
              <a:rPr kumimoji="0" lang="zh-CN" altLang="en-US" sz="100" b="0" i="0" u="none" strike="noStrike" kern="0" cap="none" spc="0" normalizeH="0" baseline="0" noProof="0" dirty="0" smtClean="0">
                <a:ln>
                  <a:noFill/>
                </a:ln>
                <a:solidFill>
                  <a:prstClr val="white"/>
                </a:solidFill>
                <a:effectLst/>
                <a:uLnTx/>
                <a:uFillTx/>
              </a:rPr>
              <a:t>素材下载：</a:t>
            </a:r>
            <a:r>
              <a:rPr kumimoji="0" lang="en-US" altLang="zh-CN" sz="100" b="0" i="0" u="none" strike="noStrike" kern="0" cap="none" spc="0" normalizeH="0" baseline="0" noProof="0" dirty="0" smtClean="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背景图片：</a:t>
            </a:r>
            <a:r>
              <a:rPr kumimoji="0" lang="en-US" altLang="zh-CN" sz="100" b="0" i="0" u="none" strike="noStrike" kern="0" cap="none" spc="0" normalizeH="0" baseline="0" noProof="0" dirty="0" smtClean="0">
                <a:ln>
                  <a:noFill/>
                </a:ln>
                <a:solidFill>
                  <a:prstClr val="white"/>
                </a:solidFill>
                <a:effectLst/>
                <a:uLnTx/>
                <a:uFillTx/>
              </a:rPr>
              <a:t>www.1ppt.com/beijing/      PPT</a:t>
            </a:r>
            <a:r>
              <a:rPr kumimoji="0" lang="zh-CN" altLang="en-US" sz="100" b="0" i="0" u="none" strike="noStrike" kern="0" cap="none" spc="0" normalizeH="0" baseline="0" noProof="0" dirty="0" smtClean="0">
                <a:ln>
                  <a:noFill/>
                </a:ln>
                <a:solidFill>
                  <a:prstClr val="white"/>
                </a:solidFill>
                <a:effectLst/>
                <a:uLnTx/>
                <a:uFillTx/>
              </a:rPr>
              <a:t>图表下载：</a:t>
            </a:r>
            <a:r>
              <a:rPr kumimoji="0" lang="en-US" altLang="zh-CN" sz="100" b="0" i="0" u="none" strike="noStrike" kern="0" cap="none" spc="0" normalizeH="0" baseline="0" noProof="0" dirty="0" smtClean="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优秀</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下载：</a:t>
            </a:r>
            <a:r>
              <a:rPr kumimoji="0" lang="en-US" altLang="zh-CN" sz="100" b="0" i="0" u="none" strike="noStrike" kern="0" cap="none" spc="0" normalizeH="0" baseline="0" noProof="0" dirty="0" smtClean="0">
                <a:ln>
                  <a:noFill/>
                </a:ln>
                <a:solidFill>
                  <a:prstClr val="white"/>
                </a:solidFill>
                <a:effectLst/>
                <a:uLnTx/>
                <a:uFillTx/>
              </a:rPr>
              <a:t>www.1ppt.com/xiazai/        PPT</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white"/>
                </a:solidFill>
                <a:effectLst/>
                <a:uLnTx/>
                <a:uFillTx/>
              </a:rPr>
              <a:t>Word</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www.1ppt.com/word/              Excel</a:t>
            </a:r>
            <a:r>
              <a:rPr kumimoji="0" lang="zh-CN" altLang="en-US" sz="100" b="0" i="0" u="none" strike="noStrike" kern="0" cap="none" spc="0" normalizeH="0" baseline="0" noProof="0" dirty="0" smtClean="0">
                <a:ln>
                  <a:noFill/>
                </a:ln>
                <a:solidFill>
                  <a:prstClr val="white"/>
                </a:solidFill>
                <a:effectLst/>
                <a:uLnTx/>
                <a:uFillTx/>
              </a:rPr>
              <a:t>教程：</a:t>
            </a:r>
            <a:r>
              <a:rPr kumimoji="0" lang="en-US" altLang="zh-CN" sz="100" b="0" i="0" u="none" strike="noStrike" kern="0" cap="none" spc="0" normalizeH="0" baseline="0" noProof="0" dirty="0" smtClean="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资料下载：</a:t>
            </a:r>
            <a:r>
              <a:rPr kumimoji="0" lang="en-US" altLang="zh-CN" sz="100" b="0" i="0" u="none" strike="noStrike" kern="0" cap="none" spc="0" normalizeH="0" baseline="0" noProof="0" dirty="0" smtClean="0">
                <a:ln>
                  <a:noFill/>
                </a:ln>
                <a:solidFill>
                  <a:prstClr val="white"/>
                </a:solidFill>
                <a:effectLst/>
                <a:uLnTx/>
                <a:uFillTx/>
              </a:rPr>
              <a:t>www.1ppt.com/ziliao/                PPT</a:t>
            </a:r>
            <a:r>
              <a:rPr kumimoji="0" lang="zh-CN" altLang="en-US" sz="100" b="0" i="0" u="none" strike="noStrike" kern="0" cap="none" spc="0" normalizeH="0" baseline="0" noProof="0" dirty="0" smtClean="0">
                <a:ln>
                  <a:noFill/>
                </a:ln>
                <a:solidFill>
                  <a:prstClr val="white"/>
                </a:solidFill>
                <a:effectLst/>
                <a:uLnTx/>
                <a:uFillTx/>
              </a:rPr>
              <a:t>课件下载：</a:t>
            </a:r>
            <a:r>
              <a:rPr kumimoji="0" lang="en-US" altLang="zh-CN" sz="100" b="0" i="0" u="none" strike="noStrike" kern="0" cap="none" spc="0" normalizeH="0" baseline="0" noProof="0" dirty="0" smtClean="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范文下载：</a:t>
            </a:r>
            <a:r>
              <a:rPr kumimoji="0" lang="en-US" altLang="zh-CN" sz="100" b="0" i="0" u="none" strike="noStrike" kern="0" cap="none" spc="0" normalizeH="0" baseline="0" noProof="0" dirty="0" smtClean="0">
                <a:ln>
                  <a:noFill/>
                </a:ln>
                <a:solidFill>
                  <a:prstClr val="white"/>
                </a:solidFill>
                <a:effectLst/>
                <a:uLnTx/>
                <a:uFillTx/>
              </a:rPr>
              <a:t>www.1ppt.com/fanwen/             </a:t>
            </a:r>
            <a:r>
              <a:rPr kumimoji="0" lang="zh-CN" altLang="en-US" sz="100" b="0" i="0" u="none" strike="noStrike" kern="0" cap="none" spc="0" normalizeH="0" baseline="0" noProof="0" dirty="0" smtClean="0">
                <a:ln>
                  <a:noFill/>
                </a:ln>
                <a:solidFill>
                  <a:prstClr val="white"/>
                </a:solidFill>
                <a:effectLst/>
                <a:uLnTx/>
                <a:uFillTx/>
              </a:rPr>
              <a:t>试卷下载：</a:t>
            </a:r>
            <a:r>
              <a:rPr kumimoji="0" lang="en-US" altLang="zh-CN" sz="100" b="0" i="0" u="none" strike="noStrike" kern="0" cap="none" spc="0" normalizeH="0" baseline="0" noProof="0" dirty="0" smtClean="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教案下载：</a:t>
            </a:r>
            <a:r>
              <a:rPr kumimoji="0" lang="en-US" altLang="zh-CN" sz="100" b="0" i="0" u="none" strike="noStrike" kern="0" cap="none" spc="0" normalizeH="0" baseline="0" noProof="0" dirty="0" smtClean="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字体下载：</a:t>
            </a:r>
            <a:r>
              <a:rPr kumimoji="0" lang="en-US" altLang="zh-CN" sz="100" b="0" i="0" u="none" strike="noStrike" kern="0" cap="none" spc="0" normalizeH="0" baseline="0" noProof="0" dirty="0" smtClean="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white"/>
                </a:solidFill>
                <a:effectLst/>
                <a:uLnTx/>
                <a:uFillTx/>
              </a:rPr>
              <a:t> </a:t>
            </a:r>
            <a:endParaRPr kumimoji="0" lang="zh-CN" altLang="en-US" sz="100" b="0" i="0" u="none" strike="noStrike" kern="0" cap="none" spc="0" normalizeH="0" baseline="0" noProof="0" dirty="0" smtClean="0">
              <a:ln>
                <a:noFill/>
              </a:ln>
              <a:solidFill>
                <a:prstClr val="white"/>
              </a:solidFill>
              <a:effectLst/>
              <a:uLnTx/>
              <a:uFillTx/>
            </a:endParaRPr>
          </a:p>
        </p:txBody>
      </p:sp>
    </p:spTree>
    <p:extLst>
      <p:ext uri="{BB962C8B-B14F-4D97-AF65-F5344CB8AC3E}">
        <p14:creationId xmlns:p14="http://schemas.microsoft.com/office/powerpoint/2010/main" val="539095478"/>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7"/>
          <p:cNvGrpSpPr/>
          <p:nvPr/>
        </p:nvGrpSpPr>
        <p:grpSpPr>
          <a:xfrm>
            <a:off x="1667085" y="1494657"/>
            <a:ext cx="1647323" cy="1077093"/>
            <a:chOff x="1" y="0"/>
            <a:chExt cx="4392858" cy="2872248"/>
          </a:xfrm>
        </p:grpSpPr>
        <p:sp>
          <p:nvSpPr>
            <p:cNvPr id="3" name="Shape 333"/>
            <p:cNvSpPr/>
            <p:nvPr/>
          </p:nvSpPr>
          <p:spPr>
            <a:xfrm>
              <a:off x="1" y="0"/>
              <a:ext cx="4392858"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a:solidFill>
                  <a:schemeClr val="bg1"/>
                </a:solidFill>
                <a:latin typeface="Arial" panose="020B0604020202020204" pitchFamily="34" charset="0"/>
                <a:cs typeface="Arial" panose="020B0604020202020204" pitchFamily="34" charset="0"/>
              </a:endParaRPr>
            </a:p>
          </p:txBody>
        </p:sp>
        <p:sp>
          <p:nvSpPr>
            <p:cNvPr id="6" name="Shape 335"/>
            <p:cNvSpPr/>
            <p:nvPr/>
          </p:nvSpPr>
          <p:spPr>
            <a:xfrm>
              <a:off x="1810432" y="961421"/>
              <a:ext cx="1419191" cy="9848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cs typeface="Lato Regular"/>
                </a:rPr>
                <a:t>第一周</a:t>
              </a:r>
              <a:endParaRPr lang="en-US" altLang="zh-CN" sz="1200" b="1" dirty="0" smtClean="0">
                <a:solidFill>
                  <a:schemeClr val="bg1"/>
                </a:solidFill>
                <a:latin typeface="微软雅黑" panose="020B0503020204020204" pitchFamily="34" charset="-122"/>
                <a:ea typeface="微软雅黑" panose="020B0503020204020204" pitchFamily="34" charset="-122"/>
                <a:cs typeface="Lato Regular"/>
              </a:endParaRPr>
            </a:p>
            <a:p>
              <a:pPr algn="ctr"/>
              <a:r>
                <a:rPr lang="en-US" altLang="zh-CN" sz="1200" b="1" dirty="0" smtClean="0">
                  <a:solidFill>
                    <a:schemeClr val="bg1"/>
                  </a:solidFill>
                  <a:latin typeface="微软雅黑" panose="020B0503020204020204" pitchFamily="34" charset="-122"/>
                  <a:ea typeface="微软雅黑" panose="020B0503020204020204" pitchFamily="34" charset="-122"/>
                  <a:cs typeface="Lato Regular"/>
                </a:rPr>
                <a:t>7.2-7.8</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7" name="Group 342"/>
          <p:cNvGrpSpPr/>
          <p:nvPr/>
        </p:nvGrpSpPr>
        <p:grpSpPr>
          <a:xfrm>
            <a:off x="3101819" y="1494657"/>
            <a:ext cx="1647323" cy="1077093"/>
            <a:chOff x="0" y="0"/>
            <a:chExt cx="4392859" cy="2872248"/>
          </a:xfrm>
        </p:grpSpPr>
        <p:sp>
          <p:nvSpPr>
            <p:cNvPr id="8" name="Shape 33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2"/>
            </a:solidFill>
            <a:ln w="12700" cap="flat">
              <a:noFill/>
              <a:miter lim="400000"/>
            </a:ln>
            <a:effectLst/>
          </p:spPr>
          <p:txBody>
            <a:bodyPr wrap="square" lIns="0" tIns="0" rIns="0" bIns="0" numCol="1" anchor="ctr">
              <a:noAutofit/>
            </a:bodyPr>
            <a:lstStyle/>
            <a:p>
              <a:pPr lvl="0">
                <a:defRPr sz="11200"/>
              </a:pPr>
              <a:endParaRPr sz="1200">
                <a:latin typeface="Arial" panose="020B0604020202020204" pitchFamily="34" charset="0"/>
                <a:cs typeface="Arial" panose="020B0604020202020204" pitchFamily="34" charset="0"/>
              </a:endParaRPr>
            </a:p>
          </p:txBody>
        </p:sp>
        <p:sp>
          <p:nvSpPr>
            <p:cNvPr id="11" name="Shape 340"/>
            <p:cNvSpPr/>
            <p:nvPr/>
          </p:nvSpPr>
          <p:spPr>
            <a:xfrm>
              <a:off x="1194479" y="1289712"/>
              <a:ext cx="2852436"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Lato Regular"/>
                </a:rPr>
                <a:t>第二周</a:t>
              </a:r>
              <a:endPar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a:p>
              <a:pPr algn="ctr"/>
              <a:r>
                <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Lato Regular"/>
                </a:rPr>
                <a:t>7.9-7.15</a:t>
              </a:r>
              <a:endParaRPr lang="id-ID"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grpSp>
      <p:grpSp>
        <p:nvGrpSpPr>
          <p:cNvPr id="12" name="Group 347"/>
          <p:cNvGrpSpPr/>
          <p:nvPr/>
        </p:nvGrpSpPr>
        <p:grpSpPr>
          <a:xfrm>
            <a:off x="4572000" y="1494657"/>
            <a:ext cx="1647323" cy="1077093"/>
            <a:chOff x="0" y="0"/>
            <a:chExt cx="4392859" cy="2872248"/>
          </a:xfrm>
        </p:grpSpPr>
        <p:sp>
          <p:nvSpPr>
            <p:cNvPr id="13" name="Shape 34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a:solidFill>
                  <a:schemeClr val="bg1"/>
                </a:solidFill>
                <a:latin typeface="Arial" panose="020B0604020202020204" pitchFamily="34" charset="0"/>
                <a:cs typeface="Arial" panose="020B0604020202020204" pitchFamily="34" charset="0"/>
              </a:endParaRPr>
            </a:p>
          </p:txBody>
        </p:sp>
        <p:sp>
          <p:nvSpPr>
            <p:cNvPr id="16" name="Shape 345"/>
            <p:cNvSpPr/>
            <p:nvPr/>
          </p:nvSpPr>
          <p:spPr>
            <a:xfrm>
              <a:off x="1086541" y="1289712"/>
              <a:ext cx="2972476"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cs typeface="Lato Regular"/>
                </a:rPr>
                <a:t>第三周</a:t>
              </a:r>
              <a:endParaRPr lang="en-US" altLang="zh-CN" sz="1200" b="1" dirty="0" smtClean="0">
                <a:solidFill>
                  <a:schemeClr val="bg1"/>
                </a:solidFill>
                <a:latin typeface="微软雅黑" panose="020B0503020204020204" pitchFamily="34" charset="-122"/>
                <a:ea typeface="微软雅黑" panose="020B0503020204020204" pitchFamily="34" charset="-122"/>
                <a:cs typeface="Lato Regular"/>
              </a:endParaRPr>
            </a:p>
            <a:p>
              <a:pPr algn="ctr"/>
              <a:r>
                <a:rPr lang="en-US" altLang="zh-CN" sz="1200" b="1" dirty="0" smtClean="0">
                  <a:solidFill>
                    <a:schemeClr val="bg1"/>
                  </a:solidFill>
                  <a:latin typeface="微软雅黑" panose="020B0503020204020204" pitchFamily="34" charset="-122"/>
                  <a:ea typeface="微软雅黑" panose="020B0503020204020204" pitchFamily="34" charset="-122"/>
                  <a:cs typeface="Lato Regular"/>
                </a:rPr>
                <a:t>7.16-7.22</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17" name="Group 352"/>
          <p:cNvGrpSpPr/>
          <p:nvPr/>
        </p:nvGrpSpPr>
        <p:grpSpPr>
          <a:xfrm>
            <a:off x="6030070" y="1494657"/>
            <a:ext cx="1647322" cy="1077093"/>
            <a:chOff x="0" y="0"/>
            <a:chExt cx="4392859" cy="2872248"/>
          </a:xfrm>
        </p:grpSpPr>
        <p:sp>
          <p:nvSpPr>
            <p:cNvPr id="18" name="Shape 34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2"/>
            </a:solidFill>
            <a:ln w="12700" cap="flat">
              <a:noFill/>
              <a:miter lim="400000"/>
            </a:ln>
            <a:effectLst/>
          </p:spPr>
          <p:txBody>
            <a:bodyPr wrap="square" lIns="0" tIns="0" rIns="0" bIns="0" numCol="1" anchor="ctr">
              <a:noAutofit/>
            </a:bodyPr>
            <a:lstStyle/>
            <a:p>
              <a:pPr lvl="0">
                <a:defRPr sz="11200"/>
              </a:pPr>
              <a:endParaRPr sz="1200">
                <a:latin typeface="Arial" panose="020B0604020202020204" pitchFamily="34" charset="0"/>
                <a:cs typeface="Arial" panose="020B0604020202020204" pitchFamily="34" charset="0"/>
              </a:endParaRPr>
            </a:p>
          </p:txBody>
        </p:sp>
        <p:sp>
          <p:nvSpPr>
            <p:cNvPr id="21" name="Shape 350"/>
            <p:cNvSpPr/>
            <p:nvPr/>
          </p:nvSpPr>
          <p:spPr>
            <a:xfrm>
              <a:off x="1186403" y="1289712"/>
              <a:ext cx="2924718"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Lato Regular"/>
                </a:rPr>
                <a:t>第四周</a:t>
              </a:r>
              <a:endPar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a:p>
              <a:pPr algn="ctr"/>
              <a:r>
                <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Lato Regular"/>
                </a:rPr>
                <a:t>7.23-7.29</a:t>
              </a:r>
              <a:endParaRPr lang="id-ID"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grpSp>
      <p:grpSp>
        <p:nvGrpSpPr>
          <p:cNvPr id="27" name="Group 360"/>
          <p:cNvGrpSpPr/>
          <p:nvPr/>
        </p:nvGrpSpPr>
        <p:grpSpPr>
          <a:xfrm>
            <a:off x="2331260" y="2417813"/>
            <a:ext cx="318973" cy="318973"/>
            <a:chOff x="0" y="0"/>
            <a:chExt cx="850594" cy="850594"/>
          </a:xfrm>
        </p:grpSpPr>
        <p:sp>
          <p:nvSpPr>
            <p:cNvPr id="28" name="Shape 358"/>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a:solidFill>
                  <a:schemeClr val="bg1"/>
                </a:solidFill>
                <a:latin typeface="Arial" panose="020B0604020202020204" pitchFamily="34" charset="0"/>
                <a:cs typeface="Arial" panose="020B0604020202020204" pitchFamily="34" charset="0"/>
              </a:endParaRPr>
            </a:p>
          </p:txBody>
        </p:sp>
        <p:sp>
          <p:nvSpPr>
            <p:cNvPr id="29" name="Shape 359"/>
            <p:cNvSpPr/>
            <p:nvPr/>
          </p:nvSpPr>
          <p:spPr>
            <a:xfrm>
              <a:off x="300082" y="114147"/>
              <a:ext cx="250430" cy="6223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solidFill>
                    <a:schemeClr val="bg1"/>
                  </a:solidFill>
                  <a:latin typeface="Arial" panose="020B0604020202020204" pitchFamily="34" charset="0"/>
                  <a:cs typeface="Arial" panose="020B0604020202020204" pitchFamily="34" charset="0"/>
                </a:rPr>
                <a:t>1</a:t>
              </a:r>
            </a:p>
          </p:txBody>
        </p:sp>
      </p:grpSp>
      <p:grpSp>
        <p:nvGrpSpPr>
          <p:cNvPr id="30" name="Group 363"/>
          <p:cNvGrpSpPr/>
          <p:nvPr/>
        </p:nvGrpSpPr>
        <p:grpSpPr>
          <a:xfrm>
            <a:off x="3769022" y="2417813"/>
            <a:ext cx="318973" cy="318973"/>
            <a:chOff x="0" y="0"/>
            <a:chExt cx="850594" cy="850594"/>
          </a:xfrm>
        </p:grpSpPr>
        <p:sp>
          <p:nvSpPr>
            <p:cNvPr id="31" name="Shape 361"/>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50800" cap="flat">
              <a:solidFill>
                <a:srgbClr val="FBF9FC"/>
              </a:solidFill>
              <a:prstDash val="solid"/>
              <a:miter lim="400000"/>
            </a:ln>
            <a:effectLst/>
          </p:spPr>
          <p:txBody>
            <a:bodyPr wrap="square" lIns="0" tIns="0" rIns="0" bIns="0" numCol="1" anchor="ctr">
              <a:noAutofit/>
            </a:bodyPr>
            <a:lstStyle/>
            <a:p>
              <a:pPr lvl="0">
                <a:defRPr sz="11200"/>
              </a:pPr>
              <a:endParaRPr>
                <a:latin typeface="Arial" panose="020B0604020202020204" pitchFamily="34" charset="0"/>
                <a:cs typeface="Arial" panose="020B0604020202020204" pitchFamily="34" charset="0"/>
              </a:endParaRPr>
            </a:p>
          </p:txBody>
        </p:sp>
        <p:sp>
          <p:nvSpPr>
            <p:cNvPr id="32" name="Shape 362"/>
            <p:cNvSpPr/>
            <p:nvPr/>
          </p:nvSpPr>
          <p:spPr>
            <a:xfrm>
              <a:off x="311484" y="179076"/>
              <a:ext cx="227626" cy="49244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latin typeface="Arial" panose="020B0604020202020204" pitchFamily="34" charset="0"/>
                  <a:cs typeface="Arial" panose="020B0604020202020204" pitchFamily="34" charset="0"/>
                </a:rPr>
                <a:t>2</a:t>
              </a:r>
            </a:p>
          </p:txBody>
        </p:sp>
      </p:grpSp>
      <p:grpSp>
        <p:nvGrpSpPr>
          <p:cNvPr id="33" name="Group 366"/>
          <p:cNvGrpSpPr/>
          <p:nvPr/>
        </p:nvGrpSpPr>
        <p:grpSpPr>
          <a:xfrm>
            <a:off x="5236175" y="2417813"/>
            <a:ext cx="318973" cy="318973"/>
            <a:chOff x="0" y="0"/>
            <a:chExt cx="850594" cy="850594"/>
          </a:xfrm>
        </p:grpSpPr>
        <p:sp>
          <p:nvSpPr>
            <p:cNvPr id="34" name="Shape 364"/>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a:solidFill>
                  <a:schemeClr val="bg1"/>
                </a:solidFill>
                <a:latin typeface="Arial" panose="020B0604020202020204" pitchFamily="34" charset="0"/>
                <a:cs typeface="Arial" panose="020B0604020202020204" pitchFamily="34" charset="0"/>
              </a:endParaRPr>
            </a:p>
          </p:txBody>
        </p:sp>
        <p:sp>
          <p:nvSpPr>
            <p:cNvPr id="35" name="Shape 365"/>
            <p:cNvSpPr/>
            <p:nvPr/>
          </p:nvSpPr>
          <p:spPr>
            <a:xfrm>
              <a:off x="311484" y="179076"/>
              <a:ext cx="227626" cy="49244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solidFill>
                    <a:schemeClr val="bg1"/>
                  </a:solidFill>
                  <a:latin typeface="Arial" panose="020B0604020202020204" pitchFamily="34" charset="0"/>
                  <a:cs typeface="Arial" panose="020B0604020202020204" pitchFamily="34" charset="0"/>
                </a:rPr>
                <a:t>3</a:t>
              </a:r>
            </a:p>
          </p:txBody>
        </p:sp>
      </p:grpSp>
      <p:grpSp>
        <p:nvGrpSpPr>
          <p:cNvPr id="36" name="Group 369"/>
          <p:cNvGrpSpPr/>
          <p:nvPr/>
        </p:nvGrpSpPr>
        <p:grpSpPr>
          <a:xfrm>
            <a:off x="6694244" y="2417813"/>
            <a:ext cx="318973" cy="318973"/>
            <a:chOff x="0" y="0"/>
            <a:chExt cx="850594" cy="850594"/>
          </a:xfrm>
        </p:grpSpPr>
        <p:sp>
          <p:nvSpPr>
            <p:cNvPr id="37" name="Shape 367"/>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50800" cap="flat">
              <a:solidFill>
                <a:srgbClr val="FBF9FC"/>
              </a:solidFill>
              <a:prstDash val="solid"/>
              <a:miter lim="400000"/>
            </a:ln>
            <a:effectLst/>
          </p:spPr>
          <p:txBody>
            <a:bodyPr wrap="square" lIns="0" tIns="0" rIns="0" bIns="0" numCol="1" anchor="ctr">
              <a:noAutofit/>
            </a:bodyPr>
            <a:lstStyle/>
            <a:p>
              <a:pPr lvl="0">
                <a:defRPr sz="11200"/>
              </a:pPr>
              <a:endParaRPr>
                <a:latin typeface="Arial" panose="020B0604020202020204" pitchFamily="34" charset="0"/>
                <a:cs typeface="Arial" panose="020B0604020202020204" pitchFamily="34" charset="0"/>
              </a:endParaRPr>
            </a:p>
          </p:txBody>
        </p:sp>
        <p:sp>
          <p:nvSpPr>
            <p:cNvPr id="38" name="Shape 368"/>
            <p:cNvSpPr/>
            <p:nvPr/>
          </p:nvSpPr>
          <p:spPr>
            <a:xfrm>
              <a:off x="243825" y="114147"/>
              <a:ext cx="362944" cy="6223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latin typeface="Arial" panose="020B0604020202020204" pitchFamily="34" charset="0"/>
                  <a:cs typeface="Arial" panose="020B0604020202020204" pitchFamily="34" charset="0"/>
                </a:rPr>
                <a:t>4</a:t>
              </a:r>
            </a:p>
          </p:txBody>
        </p:sp>
      </p:grpSp>
      <p:sp>
        <p:nvSpPr>
          <p:cNvPr id="43" name="Shape 373"/>
          <p:cNvSpPr/>
          <p:nvPr/>
        </p:nvSpPr>
        <p:spPr>
          <a:xfrm>
            <a:off x="1883109" y="2997954"/>
            <a:ext cx="1177714" cy="55399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完成数据的导入及导出、数据预处理及具体</a:t>
            </a:r>
            <a:r>
              <a:rPr lang="en-US" altLang="zh-CN" sz="1000" dirty="0" smtClean="0">
                <a:solidFill>
                  <a:schemeClr val="tx1">
                    <a:lumMod val="75000"/>
                    <a:lumOff val="25000"/>
                  </a:schemeClr>
                </a:solidFill>
                <a:latin typeface="微软雅黑" pitchFamily="34" charset="-122"/>
                <a:ea typeface="微软雅黑" pitchFamily="34" charset="-122"/>
              </a:rPr>
              <a:t>GUI</a:t>
            </a:r>
            <a:r>
              <a:rPr lang="zh-CN" altLang="en-US" sz="1000" dirty="0" smtClean="0">
                <a:solidFill>
                  <a:schemeClr val="tx1">
                    <a:lumMod val="75000"/>
                    <a:lumOff val="25000"/>
                  </a:schemeClr>
                </a:solidFill>
                <a:latin typeface="微软雅黑" pitchFamily="34" charset="-122"/>
                <a:ea typeface="微软雅黑" pitchFamily="34" charset="-122"/>
              </a:rPr>
              <a:t>方案</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46" name="Shape 376"/>
          <p:cNvSpPr/>
          <p:nvPr/>
        </p:nvSpPr>
        <p:spPr>
          <a:xfrm>
            <a:off x="3349911" y="3002717"/>
            <a:ext cx="1151137" cy="36933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完成数据过滤及数学公式支持操作</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2" name="Shape 382"/>
          <p:cNvSpPr/>
          <p:nvPr/>
        </p:nvSpPr>
        <p:spPr>
          <a:xfrm>
            <a:off x="6394026" y="2997954"/>
            <a:ext cx="1177714" cy="1690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调试完善</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8"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时间安排</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Shape 376"/>
          <p:cNvSpPr/>
          <p:nvPr/>
        </p:nvSpPr>
        <p:spPr>
          <a:xfrm>
            <a:off x="4820092" y="3002717"/>
            <a:ext cx="1151137" cy="36933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完成数据标注逻辑及代码实现</a:t>
            </a:r>
            <a:endParaRPr lang="en-US" altLang="zh-CN" sz="1000"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55515027"/>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8"/>
                                        </p:tgtEl>
                                        <p:attrNameLst>
                                          <p:attrName>ppt_y</p:attrName>
                                        </p:attrNameLst>
                                      </p:cBhvr>
                                      <p:tavLst>
                                        <p:tav tm="0">
                                          <p:val>
                                            <p:strVal val="#ppt_y"/>
                                          </p:val>
                                        </p:tav>
                                        <p:tav tm="100000">
                                          <p:val>
                                            <p:strVal val="#ppt_y"/>
                                          </p:val>
                                        </p:tav>
                                      </p:tavLst>
                                    </p:anim>
                                    <p:anim calcmode="lin" valueType="num">
                                      <p:cBhvr>
                                        <p:cTn id="9" dur="500" fill="hold"/>
                                        <p:tgtEl>
                                          <p:spTgt spid="5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8"/>
                                        </p:tgtEl>
                                      </p:cBhvr>
                                    </p:animEffect>
                                  </p:childTnLst>
                                </p:cTn>
                              </p:par>
                              <p:par>
                                <p:cTn id="12" presetID="2" presetClass="entr" presetSubtype="8" fill="hold" grpId="0" nodeType="withEffect">
                                  <p:stCondLst>
                                    <p:cond delay="400"/>
                                  </p:stCondLst>
                                  <p:iterate>
                                    <p:tmAbs val="0"/>
                                  </p:iterate>
                                  <p:childTnLst>
                                    <p:set>
                                      <p:cBhvr>
                                        <p:cTn id="13" fill="hold"/>
                                        <p:tgtEl>
                                          <p:spTgt spid="17"/>
                                        </p:tgtEl>
                                        <p:attrNameLst>
                                          <p:attrName>style.visibility</p:attrName>
                                        </p:attrNameLst>
                                      </p:cBhvr>
                                      <p:to>
                                        <p:strVal val="visible"/>
                                      </p:to>
                                    </p:set>
                                    <p:anim calcmode="lin" valueType="num">
                                      <p:cBhvr>
                                        <p:cTn id="14" dur="800" fill="hold"/>
                                        <p:tgtEl>
                                          <p:spTgt spid="17"/>
                                        </p:tgtEl>
                                        <p:attrNameLst>
                                          <p:attrName>ppt_x</p:attrName>
                                        </p:attrNameLst>
                                      </p:cBhvr>
                                      <p:tavLst>
                                        <p:tav tm="0">
                                          <p:val>
                                            <p:strVal val="0-#ppt_w/2"/>
                                          </p:val>
                                        </p:tav>
                                        <p:tav tm="100000">
                                          <p:val>
                                            <p:strVal val="#ppt_x"/>
                                          </p:val>
                                        </p:tav>
                                      </p:tavLst>
                                    </p:anim>
                                    <p:anim calcmode="lin" valueType="num">
                                      <p:cBhvr>
                                        <p:cTn id="15" dur="800" fill="hold"/>
                                        <p:tgtEl>
                                          <p:spTgt spid="17"/>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800"/>
                                  </p:stCondLst>
                                  <p:iterate>
                                    <p:tmAbs val="0"/>
                                  </p:iterate>
                                  <p:childTnLst>
                                    <p:set>
                                      <p:cBhvr>
                                        <p:cTn id="17" fill="hold"/>
                                        <p:tgtEl>
                                          <p:spTgt spid="12"/>
                                        </p:tgtEl>
                                        <p:attrNameLst>
                                          <p:attrName>style.visibility</p:attrName>
                                        </p:attrNameLst>
                                      </p:cBhvr>
                                      <p:to>
                                        <p:strVal val="visible"/>
                                      </p:to>
                                    </p:set>
                                    <p:anim calcmode="lin" valueType="num">
                                      <p:cBhvr>
                                        <p:cTn id="18" dur="800" fill="hold"/>
                                        <p:tgtEl>
                                          <p:spTgt spid="12"/>
                                        </p:tgtEl>
                                        <p:attrNameLst>
                                          <p:attrName>ppt_x</p:attrName>
                                        </p:attrNameLst>
                                      </p:cBhvr>
                                      <p:tavLst>
                                        <p:tav tm="0">
                                          <p:val>
                                            <p:strVal val="0-#ppt_w/2"/>
                                          </p:val>
                                        </p:tav>
                                        <p:tav tm="100000">
                                          <p:val>
                                            <p:strVal val="#ppt_x"/>
                                          </p:val>
                                        </p:tav>
                                      </p:tavLst>
                                    </p:anim>
                                    <p:anim calcmode="lin" valueType="num">
                                      <p:cBhvr>
                                        <p:cTn id="19" dur="800" fill="hold"/>
                                        <p:tgtEl>
                                          <p:spTgt spid="12"/>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1200"/>
                                  </p:stCondLst>
                                  <p:iterate>
                                    <p:tmAbs val="0"/>
                                  </p:iterate>
                                  <p:childTnLst>
                                    <p:set>
                                      <p:cBhvr>
                                        <p:cTn id="21" fill="hold"/>
                                        <p:tgtEl>
                                          <p:spTgt spid="7"/>
                                        </p:tgtEl>
                                        <p:attrNameLst>
                                          <p:attrName>style.visibility</p:attrName>
                                        </p:attrNameLst>
                                      </p:cBhvr>
                                      <p:to>
                                        <p:strVal val="visible"/>
                                      </p:to>
                                    </p:set>
                                    <p:anim calcmode="lin" valueType="num">
                                      <p:cBhvr>
                                        <p:cTn id="22" dur="800" fill="hold"/>
                                        <p:tgtEl>
                                          <p:spTgt spid="7"/>
                                        </p:tgtEl>
                                        <p:attrNameLst>
                                          <p:attrName>ppt_x</p:attrName>
                                        </p:attrNameLst>
                                      </p:cBhvr>
                                      <p:tavLst>
                                        <p:tav tm="0">
                                          <p:val>
                                            <p:strVal val="0-#ppt_w/2"/>
                                          </p:val>
                                        </p:tav>
                                        <p:tav tm="100000">
                                          <p:val>
                                            <p:strVal val="#ppt_x"/>
                                          </p:val>
                                        </p:tav>
                                      </p:tavLst>
                                    </p:anim>
                                    <p:anim calcmode="lin" valueType="num">
                                      <p:cBhvr>
                                        <p:cTn id="23" dur="8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1600"/>
                                  </p:stCondLst>
                                  <p:iterate>
                                    <p:tmAbs val="0"/>
                                  </p:iterate>
                                  <p:childTnLst>
                                    <p:set>
                                      <p:cBhvr>
                                        <p:cTn id="25" fill="hold"/>
                                        <p:tgtEl>
                                          <p:spTgt spid="2"/>
                                        </p:tgtEl>
                                        <p:attrNameLst>
                                          <p:attrName>style.visibility</p:attrName>
                                        </p:attrNameLst>
                                      </p:cBhvr>
                                      <p:to>
                                        <p:strVal val="visible"/>
                                      </p:to>
                                    </p:set>
                                    <p:anim calcmode="lin" valueType="num">
                                      <p:cBhvr>
                                        <p:cTn id="26" dur="800" fill="hold"/>
                                        <p:tgtEl>
                                          <p:spTgt spid="2"/>
                                        </p:tgtEl>
                                        <p:attrNameLst>
                                          <p:attrName>ppt_x</p:attrName>
                                        </p:attrNameLst>
                                      </p:cBhvr>
                                      <p:tavLst>
                                        <p:tav tm="0">
                                          <p:val>
                                            <p:strVal val="0-#ppt_w/2"/>
                                          </p:val>
                                        </p:tav>
                                        <p:tav tm="100000">
                                          <p:val>
                                            <p:strVal val="#ppt_x"/>
                                          </p:val>
                                        </p:tav>
                                      </p:tavLst>
                                    </p:anim>
                                    <p:anim calcmode="lin" valueType="num">
                                      <p:cBhvr>
                                        <p:cTn id="27" dur="800" fill="hold"/>
                                        <p:tgtEl>
                                          <p:spTgt spid="2"/>
                                        </p:tgtEl>
                                        <p:attrNameLst>
                                          <p:attrName>ppt_y</p:attrName>
                                        </p:attrNameLst>
                                      </p:cBhvr>
                                      <p:tavLst>
                                        <p:tav tm="0">
                                          <p:val>
                                            <p:strVal val="#ppt_y"/>
                                          </p:val>
                                        </p:tav>
                                        <p:tav tm="100000">
                                          <p:val>
                                            <p:strVal val="#ppt_y"/>
                                          </p:val>
                                        </p:tav>
                                      </p:tavLst>
                                    </p:anim>
                                  </p:childTnLst>
                                </p:cTn>
                              </p:par>
                            </p:childTnLst>
                          </p:cTn>
                        </p:par>
                        <p:par>
                          <p:cTn id="28" fill="hold">
                            <p:stCondLst>
                              <p:cond delay="2400"/>
                            </p:stCondLst>
                            <p:childTnLst>
                              <p:par>
                                <p:cTn id="29" presetID="2" presetClass="entr" presetSubtype="4" fill="hold" grpId="0" nodeType="afterEffect">
                                  <p:stCondLst>
                                    <p:cond delay="0"/>
                                  </p:stCondLst>
                                  <p:iterate>
                                    <p:tmAbs val="0"/>
                                  </p:iterate>
                                  <p:childTnLst>
                                    <p:set>
                                      <p:cBhvr>
                                        <p:cTn id="30" fill="hold"/>
                                        <p:tgtEl>
                                          <p:spTgt spid="27"/>
                                        </p:tgtEl>
                                        <p:attrNameLst>
                                          <p:attrName>style.visibility</p:attrName>
                                        </p:attrNameLst>
                                      </p:cBhvr>
                                      <p:to>
                                        <p:strVal val="visible"/>
                                      </p:to>
                                    </p:set>
                                    <p:anim calcmode="lin" valueType="num">
                                      <p:cBhvr>
                                        <p:cTn id="31" dur="600" fill="hold"/>
                                        <p:tgtEl>
                                          <p:spTgt spid="27"/>
                                        </p:tgtEl>
                                        <p:attrNameLst>
                                          <p:attrName>ppt_x</p:attrName>
                                        </p:attrNameLst>
                                      </p:cBhvr>
                                      <p:tavLst>
                                        <p:tav tm="0">
                                          <p:val>
                                            <p:strVal val="#ppt_x"/>
                                          </p:val>
                                        </p:tav>
                                        <p:tav tm="100000">
                                          <p:val>
                                            <p:strVal val="#ppt_x"/>
                                          </p:val>
                                        </p:tav>
                                      </p:tavLst>
                                    </p:anim>
                                    <p:anim calcmode="lin" valueType="num">
                                      <p:cBhvr>
                                        <p:cTn id="32" dur="600" fill="hold"/>
                                        <p:tgtEl>
                                          <p:spTgt spid="2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200"/>
                                  </p:stCondLst>
                                  <p:iterate>
                                    <p:tmAbs val="0"/>
                                  </p:iterate>
                                  <p:childTnLst>
                                    <p:set>
                                      <p:cBhvr>
                                        <p:cTn id="34" fill="hold"/>
                                        <p:tgtEl>
                                          <p:spTgt spid="30"/>
                                        </p:tgtEl>
                                        <p:attrNameLst>
                                          <p:attrName>style.visibility</p:attrName>
                                        </p:attrNameLst>
                                      </p:cBhvr>
                                      <p:to>
                                        <p:strVal val="visible"/>
                                      </p:to>
                                    </p:set>
                                    <p:anim calcmode="lin" valueType="num">
                                      <p:cBhvr>
                                        <p:cTn id="35" dur="600" fill="hold"/>
                                        <p:tgtEl>
                                          <p:spTgt spid="30"/>
                                        </p:tgtEl>
                                        <p:attrNameLst>
                                          <p:attrName>ppt_x</p:attrName>
                                        </p:attrNameLst>
                                      </p:cBhvr>
                                      <p:tavLst>
                                        <p:tav tm="0">
                                          <p:val>
                                            <p:strVal val="#ppt_x"/>
                                          </p:val>
                                        </p:tav>
                                        <p:tav tm="100000">
                                          <p:val>
                                            <p:strVal val="#ppt_x"/>
                                          </p:val>
                                        </p:tav>
                                      </p:tavLst>
                                    </p:anim>
                                    <p:anim calcmode="lin" valueType="num">
                                      <p:cBhvr>
                                        <p:cTn id="36" dur="6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400"/>
                                  </p:stCondLst>
                                  <p:iterate>
                                    <p:tmAbs val="0"/>
                                  </p:iterate>
                                  <p:childTnLst>
                                    <p:set>
                                      <p:cBhvr>
                                        <p:cTn id="38" fill="hold"/>
                                        <p:tgtEl>
                                          <p:spTgt spid="33"/>
                                        </p:tgtEl>
                                        <p:attrNameLst>
                                          <p:attrName>style.visibility</p:attrName>
                                        </p:attrNameLst>
                                      </p:cBhvr>
                                      <p:to>
                                        <p:strVal val="visible"/>
                                      </p:to>
                                    </p:set>
                                    <p:anim calcmode="lin" valueType="num">
                                      <p:cBhvr>
                                        <p:cTn id="39" dur="600" fill="hold"/>
                                        <p:tgtEl>
                                          <p:spTgt spid="33"/>
                                        </p:tgtEl>
                                        <p:attrNameLst>
                                          <p:attrName>ppt_x</p:attrName>
                                        </p:attrNameLst>
                                      </p:cBhvr>
                                      <p:tavLst>
                                        <p:tav tm="0">
                                          <p:val>
                                            <p:strVal val="#ppt_x"/>
                                          </p:val>
                                        </p:tav>
                                        <p:tav tm="100000">
                                          <p:val>
                                            <p:strVal val="#ppt_x"/>
                                          </p:val>
                                        </p:tav>
                                      </p:tavLst>
                                    </p:anim>
                                    <p:anim calcmode="lin" valueType="num">
                                      <p:cBhvr>
                                        <p:cTn id="40" dur="600" fill="hold"/>
                                        <p:tgtEl>
                                          <p:spTgt spid="3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600"/>
                                  </p:stCondLst>
                                  <p:iterate>
                                    <p:tmAbs val="0"/>
                                  </p:iterate>
                                  <p:childTnLst>
                                    <p:set>
                                      <p:cBhvr>
                                        <p:cTn id="42" fill="hold"/>
                                        <p:tgtEl>
                                          <p:spTgt spid="36"/>
                                        </p:tgtEl>
                                        <p:attrNameLst>
                                          <p:attrName>style.visibility</p:attrName>
                                        </p:attrNameLst>
                                      </p:cBhvr>
                                      <p:to>
                                        <p:strVal val="visible"/>
                                      </p:to>
                                    </p:set>
                                    <p:anim calcmode="lin" valueType="num">
                                      <p:cBhvr>
                                        <p:cTn id="43" dur="600" fill="hold"/>
                                        <p:tgtEl>
                                          <p:spTgt spid="36"/>
                                        </p:tgtEl>
                                        <p:attrNameLst>
                                          <p:attrName>ppt_x</p:attrName>
                                        </p:attrNameLst>
                                      </p:cBhvr>
                                      <p:tavLst>
                                        <p:tav tm="0">
                                          <p:val>
                                            <p:strVal val="#ppt_x"/>
                                          </p:val>
                                        </p:tav>
                                        <p:tav tm="100000">
                                          <p:val>
                                            <p:strVal val="#ppt_x"/>
                                          </p:val>
                                        </p:tav>
                                      </p:tavLst>
                                    </p:anim>
                                    <p:anim calcmode="lin" valueType="num">
                                      <p:cBhvr>
                                        <p:cTn id="44" dur="600" fill="hold"/>
                                        <p:tgtEl>
                                          <p:spTgt spid="36"/>
                                        </p:tgtEl>
                                        <p:attrNameLst>
                                          <p:attrName>ppt_y</p:attrName>
                                        </p:attrNameLst>
                                      </p:cBhvr>
                                      <p:tavLst>
                                        <p:tav tm="0">
                                          <p:val>
                                            <p:strVal val="1+#ppt_h/2"/>
                                          </p:val>
                                        </p:tav>
                                        <p:tav tm="100000">
                                          <p:val>
                                            <p:strVal val="#ppt_y"/>
                                          </p:val>
                                        </p:tav>
                                      </p:tavLst>
                                    </p:anim>
                                  </p:childTnLst>
                                </p:cTn>
                              </p:par>
                            </p:childTnLst>
                          </p:cTn>
                        </p:par>
                        <p:par>
                          <p:cTn id="45" fill="hold">
                            <p:stCondLst>
                              <p:cond delay="3600"/>
                            </p:stCondLst>
                            <p:childTnLst>
                              <p:par>
                                <p:cTn id="46" presetID="10" presetClass="entr" presetSubtype="0" fill="hold" grpId="0" nodeType="after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childTnLst>
                                </p:cTn>
                              </p:par>
                            </p:childTnLst>
                          </p:cTn>
                        </p:par>
                        <p:par>
                          <p:cTn id="49" fill="hold">
                            <p:stCondLst>
                              <p:cond delay="4100"/>
                            </p:stCondLst>
                            <p:childTnLst>
                              <p:par>
                                <p:cTn id="50" presetID="10" presetClass="entr" presetSubtype="0" fill="hold" grpId="0" nodeType="after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500"/>
                                        <p:tgtEl>
                                          <p:spTgt spid="46"/>
                                        </p:tgtEl>
                                      </p:cBhvr>
                                    </p:animEffect>
                                  </p:childTnLst>
                                </p:cTn>
                              </p:par>
                            </p:childTnLst>
                          </p:cTn>
                        </p:par>
                        <p:par>
                          <p:cTn id="53" fill="hold">
                            <p:stCondLst>
                              <p:cond delay="4600"/>
                            </p:stCondLst>
                            <p:childTnLst>
                              <p:par>
                                <p:cTn id="54" presetID="10" presetClass="entr" presetSubtype="0" fill="hold" grpId="0" nodeType="after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childTnLst>
                          </p:cTn>
                        </p:par>
                        <p:par>
                          <p:cTn id="57" fill="hold">
                            <p:stCondLst>
                              <p:cond delay="5100"/>
                            </p:stCondLst>
                            <p:childTnLst>
                              <p:par>
                                <p:cTn id="58" presetID="10" presetClass="entr" presetSubtype="0" fill="hold" grpId="0" nodeType="after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fade">
                                      <p:cBhvr>
                                        <p:cTn id="6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dvAuto="0"/>
      <p:bldP spid="7" grpId="0" animBg="1" advAuto="0"/>
      <p:bldP spid="12" grpId="0" advAuto="0"/>
      <p:bldP spid="17" grpId="0" animBg="1" advAuto="0"/>
      <p:bldP spid="27" grpId="0" advAuto="0"/>
      <p:bldP spid="30" grpId="0" animBg="1" advAuto="0"/>
      <p:bldP spid="33" grpId="0" advAuto="0"/>
      <p:bldP spid="36" grpId="0" animBg="1" advAuto="0"/>
      <p:bldP spid="43" grpId="0"/>
      <p:bldP spid="46" grpId="0"/>
      <p:bldP spid="52" grpId="0"/>
      <p:bldP spid="58" grpId="0"/>
      <p:bldP spid="4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04</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373124" y="2375189"/>
            <a:ext cx="2433680" cy="646331"/>
          </a:xfrm>
          <a:prstGeom prst="rect">
            <a:avLst/>
          </a:prstGeom>
          <a:noFill/>
        </p:spPr>
        <p:txBody>
          <a:bodyPr wrap="none" rtlCol="0">
            <a:spAutoFit/>
          </a:bodyPr>
          <a:lstStyle/>
          <a:p>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问题</a:t>
            </a:r>
            <a:r>
              <a:rPr lang="en-US" altLang="zh-CN" sz="3600"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想法</a:t>
            </a:r>
            <a:endPar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1320120568"/>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问题</a:t>
            </a:r>
            <a:r>
              <a:rPr lang="en-US" altLang="zh-CN" sz="1800"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想法</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547664" y="1923678"/>
            <a:ext cx="6408712" cy="175432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本</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项目是基于无线网络运维问题出发，但实际设计过程中并未充分考虑实际无线网络数据的特点进行相应设计；</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在数据标注操作过程中能否加入快捷键操作；</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smtClean="0">
                <a:solidFill>
                  <a:schemeClr val="tx1">
                    <a:lumMod val="75000"/>
                    <a:lumOff val="25000"/>
                  </a:schemeClr>
                </a:solidFill>
                <a:latin typeface="微软雅黑" panose="020B0503020204020204" pitchFamily="34" charset="-122"/>
                <a:ea typeface="微软雅黑" panose="020B0503020204020204" pitchFamily="34" charset="-122"/>
              </a:rPr>
              <a:t>数据标注部分的功能及实现逻辑；</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对于功能点需求中关于数据聚类的理解？</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对于在多维（大于二维）图像中进行划分与操作的实现方案？</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69367976"/>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339" y="8174"/>
            <a:ext cx="9144000" cy="3174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Rectangle 3"/>
          <p:cNvSpPr txBox="1">
            <a:spLocks noChangeArrowheads="1"/>
          </p:cNvSpPr>
          <p:nvPr/>
        </p:nvSpPr>
        <p:spPr>
          <a:xfrm>
            <a:off x="1255568" y="1955815"/>
            <a:ext cx="5141491" cy="5024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zh-CN" altLang="en-US" sz="3000" b="1" dirty="0" smtClean="0">
                <a:solidFill>
                  <a:schemeClr val="bg1"/>
                </a:solidFill>
                <a:latin typeface="微软雅黑" panose="020B0503020204020204" pitchFamily="34" charset="-122"/>
                <a:ea typeface="微软雅黑" panose="020B0503020204020204" pitchFamily="34" charset="-122"/>
              </a:rPr>
              <a:t>汇报完毕  感谢观看</a:t>
            </a:r>
            <a:endParaRPr lang="zh-CN" altLang="en-US" sz="3000" b="1" dirty="0">
              <a:solidFill>
                <a:schemeClr val="bg1"/>
              </a:solidFill>
              <a:latin typeface="微软雅黑" panose="020B0503020204020204" pitchFamily="34" charset="-122"/>
              <a:ea typeface="微软雅黑" panose="020B0503020204020204" pitchFamily="34" charset="-122"/>
            </a:endParaRPr>
          </a:p>
        </p:txBody>
      </p:sp>
      <p:cxnSp>
        <p:nvCxnSpPr>
          <p:cNvPr id="46" name="直接连接符 5"/>
          <p:cNvCxnSpPr>
            <a:cxnSpLocks noChangeShapeType="1"/>
          </p:cNvCxnSpPr>
          <p:nvPr/>
        </p:nvCxnSpPr>
        <p:spPr bwMode="auto">
          <a:xfrm flipH="1">
            <a:off x="3923928" y="2486603"/>
            <a:ext cx="4617801" cy="0"/>
          </a:xfrm>
          <a:prstGeom prst="line">
            <a:avLst/>
          </a:prstGeom>
          <a:noFill/>
          <a:ln w="127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8496325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3"/>
                                        </p:tgtEl>
                                        <p:attrNameLst>
                                          <p:attrName>ppt_y</p:attrName>
                                        </p:attrNameLst>
                                      </p:cBhvr>
                                      <p:tavLst>
                                        <p:tav tm="0">
                                          <p:val>
                                            <p:strVal val="#ppt_y"/>
                                          </p:val>
                                        </p:tav>
                                        <p:tav tm="100000">
                                          <p:val>
                                            <p:strVal val="#ppt_y"/>
                                          </p:val>
                                        </p:tav>
                                      </p:tavLst>
                                    </p:anim>
                                    <p:anim calcmode="lin" valueType="num">
                                      <p:cBhvr>
                                        <p:cTn id="9" dur="5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3"/>
                                        </p:tgtEl>
                                      </p:cBhvr>
                                    </p:animEffect>
                                  </p:childTnLst>
                                </p:cTn>
                              </p:par>
                            </p:childTnLst>
                          </p:cTn>
                        </p:par>
                        <p:par>
                          <p:cTn id="12" fill="hold">
                            <p:stCondLst>
                              <p:cond delay="850"/>
                            </p:stCondLst>
                            <p:childTnLst>
                              <p:par>
                                <p:cTn id="13" presetID="22" presetClass="entr" presetSubtype="2"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right)">
                                      <p:cBhvr>
                                        <p:cTn id="15"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Write Your Title Here"/>
</p:tagLst>
</file>

<file path=ppt/theme/theme1.xml><?xml version="1.0" encoding="utf-8"?>
<a:theme xmlns:a="http://schemas.openxmlformats.org/drawingml/2006/main" name="第一PPT，www.1ppt.com">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2042</TotalTime>
  <Words>1175</Words>
  <Application>Microsoft Office PowerPoint</Application>
  <PresentationFormat>全屏显示(16:9)</PresentationFormat>
  <Paragraphs>152</Paragraphs>
  <Slides>18</Slides>
  <Notes>18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Aller Light</vt:lpstr>
      <vt:lpstr>Lato Regular</vt:lpstr>
      <vt:lpstr>Open Sans Light</vt:lpstr>
      <vt:lpstr>Oxygen</vt:lpstr>
      <vt:lpstr>Roboto Light</vt:lpstr>
      <vt:lpstr>STIXGeneral-Bold</vt:lpstr>
      <vt:lpstr>宋体</vt:lpstr>
      <vt:lpstr>微软雅黑</vt:lpstr>
      <vt:lpstr>微软雅黑 Light</vt:lpstr>
      <vt:lpstr>Arial</vt:lpstr>
      <vt:lpstr>Calibri</vt:lpstr>
      <vt:lpstr>Impact</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述职报告</dc:title>
  <dc:creator>第一PPT</dc:creator>
  <cp:keywords>www.1ppt.com</cp:keywords>
  <cp:lastModifiedBy>cong x</cp:lastModifiedBy>
  <cp:revision>128</cp:revision>
  <dcterms:created xsi:type="dcterms:W3CDTF">2015-12-11T17:46:17Z</dcterms:created>
  <dcterms:modified xsi:type="dcterms:W3CDTF">2018-07-02T18:05:52Z</dcterms:modified>
</cp:coreProperties>
</file>