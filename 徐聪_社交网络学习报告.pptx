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6" r:id="rId1"/>
    <p:sldMasterId id="2147483679" r:id="rId2"/>
  </p:sldMasterIdLst>
  <p:notesMasterIdLst>
    <p:notesMasterId r:id="rId42"/>
  </p:notesMasterIdLst>
  <p:sldIdLst>
    <p:sldId id="256" r:id="rId3"/>
    <p:sldId id="257" r:id="rId4"/>
    <p:sldId id="258" r:id="rId5"/>
    <p:sldId id="283" r:id="rId6"/>
    <p:sldId id="266" r:id="rId7"/>
    <p:sldId id="301" r:id="rId8"/>
    <p:sldId id="259" r:id="rId9"/>
    <p:sldId id="284" r:id="rId10"/>
    <p:sldId id="294" r:id="rId11"/>
    <p:sldId id="300" r:id="rId12"/>
    <p:sldId id="296" r:id="rId13"/>
    <p:sldId id="297" r:id="rId14"/>
    <p:sldId id="298" r:id="rId15"/>
    <p:sldId id="299" r:id="rId16"/>
    <p:sldId id="302" r:id="rId17"/>
    <p:sldId id="260" r:id="rId18"/>
    <p:sldId id="287" r:id="rId19"/>
    <p:sldId id="303" r:id="rId20"/>
    <p:sldId id="304" r:id="rId21"/>
    <p:sldId id="305" r:id="rId22"/>
    <p:sldId id="306" r:id="rId23"/>
    <p:sldId id="307" r:id="rId24"/>
    <p:sldId id="308" r:id="rId25"/>
    <p:sldId id="310" r:id="rId26"/>
    <p:sldId id="309" r:id="rId27"/>
    <p:sldId id="311" r:id="rId28"/>
    <p:sldId id="312" r:id="rId29"/>
    <p:sldId id="313" r:id="rId30"/>
    <p:sldId id="314" r:id="rId31"/>
    <p:sldId id="315" r:id="rId32"/>
    <p:sldId id="316" r:id="rId33"/>
    <p:sldId id="317" r:id="rId34"/>
    <p:sldId id="318" r:id="rId35"/>
    <p:sldId id="319" r:id="rId36"/>
    <p:sldId id="320" r:id="rId37"/>
    <p:sldId id="323" r:id="rId38"/>
    <p:sldId id="321" r:id="rId39"/>
    <p:sldId id="322" r:id="rId40"/>
    <p:sldId id="264" r:id="rId41"/>
  </p:sldIdLst>
  <p:sldSz cx="12192000" cy="6858000"/>
  <p:notesSz cx="6858000" cy="9144000"/>
  <p:defaultTextStyle>
    <a:defPPr>
      <a:defRPr lang="zh-CN"/>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3A1C"/>
    <a:srgbClr val="F23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00" autoAdjust="0"/>
    <p:restoredTop sz="93295" autoAdjust="0"/>
  </p:normalViewPr>
  <p:slideViewPr>
    <p:cSldViewPr snapToGrid="0" snapToObjects="1">
      <p:cViewPr varScale="1">
        <p:scale>
          <a:sx n="72" d="100"/>
          <a:sy n="72" d="100"/>
        </p:scale>
        <p:origin x="912" y="5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___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___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___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___6.xlsx"/><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filled"/>
        <c:varyColors val="0"/>
        <c:ser>
          <c:idx val="0"/>
          <c:order val="0"/>
          <c:tx>
            <c:strRef>
              <c:f>Sheet1!$B$1</c:f>
              <c:strCache>
                <c:ptCount val="1"/>
                <c:pt idx="0">
                  <c:v>深红</c:v>
                </c:pt>
              </c:strCache>
            </c:strRef>
          </c:tx>
          <c:spPr>
            <a:solidFill>
              <a:schemeClr val="accent1">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5</c:v>
                </c:pt>
                <c:pt idx="1">
                  <c:v>5</c:v>
                </c:pt>
                <c:pt idx="2">
                  <c:v>5</c:v>
                </c:pt>
                <c:pt idx="3">
                  <c:v>5</c:v>
                </c:pt>
                <c:pt idx="4">
                  <c:v>5</c:v>
                </c:pt>
                <c:pt idx="5">
                  <c:v>8</c:v>
                </c:pt>
                <c:pt idx="6">
                  <c:v>9</c:v>
                </c:pt>
                <c:pt idx="7">
                  <c:v>10</c:v>
                </c:pt>
                <c:pt idx="8">
                  <c:v>12</c:v>
                </c:pt>
                <c:pt idx="9">
                  <c:v>13</c:v>
                </c:pt>
              </c:numCache>
            </c:numRef>
          </c:val>
          <c:extLst>
            <c:ext xmlns:c16="http://schemas.microsoft.com/office/drawing/2014/chart" uri="{C3380CC4-5D6E-409C-BE32-E72D297353CC}">
              <c16:uniqueId val="{00000000-6EC1-45C5-9BA3-E8E646B2375F}"/>
            </c:ext>
          </c:extLst>
        </c:ser>
        <c:ser>
          <c:idx val="1"/>
          <c:order val="1"/>
          <c:tx>
            <c:strRef>
              <c:f>Sheet1!$C$1</c:f>
              <c:strCache>
                <c:ptCount val="1"/>
                <c:pt idx="0">
                  <c:v>紫色</c:v>
                </c:pt>
              </c:strCache>
            </c:strRef>
          </c:tx>
          <c:spPr>
            <a:solidFill>
              <a:schemeClr val="accent2">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Sheet1!$C$2:$C$11</c:f>
              <c:numCache>
                <c:formatCode>General</c:formatCode>
                <c:ptCount val="10"/>
                <c:pt idx="0">
                  <c:v>5</c:v>
                </c:pt>
                <c:pt idx="1">
                  <c:v>5</c:v>
                </c:pt>
                <c:pt idx="2">
                  <c:v>5</c:v>
                </c:pt>
                <c:pt idx="3">
                  <c:v>5</c:v>
                </c:pt>
                <c:pt idx="4">
                  <c:v>5</c:v>
                </c:pt>
                <c:pt idx="5">
                  <c:v>5</c:v>
                </c:pt>
                <c:pt idx="6">
                  <c:v>10</c:v>
                </c:pt>
                <c:pt idx="7">
                  <c:v>10</c:v>
                </c:pt>
                <c:pt idx="8">
                  <c:v>10</c:v>
                </c:pt>
                <c:pt idx="9">
                  <c:v>9</c:v>
                </c:pt>
              </c:numCache>
            </c:numRef>
          </c:val>
          <c:extLst>
            <c:ext xmlns:c16="http://schemas.microsoft.com/office/drawing/2014/chart" uri="{C3380CC4-5D6E-409C-BE32-E72D297353CC}">
              <c16:uniqueId val="{00000001-6EC1-45C5-9BA3-E8E646B2375F}"/>
            </c:ext>
          </c:extLst>
        </c:ser>
        <c:ser>
          <c:idx val="2"/>
          <c:order val="2"/>
          <c:tx>
            <c:strRef>
              <c:f>Sheet1!$D$1</c:f>
              <c:strCache>
                <c:ptCount val="1"/>
                <c:pt idx="0">
                  <c:v>深绿</c:v>
                </c:pt>
              </c:strCache>
            </c:strRef>
          </c:tx>
          <c:spPr>
            <a:solidFill>
              <a:schemeClr val="accent3">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Sheet1!$D$2:$D$11</c:f>
              <c:numCache>
                <c:formatCode>General</c:formatCode>
                <c:ptCount val="10"/>
                <c:pt idx="0">
                  <c:v>5</c:v>
                </c:pt>
                <c:pt idx="1">
                  <c:v>5</c:v>
                </c:pt>
                <c:pt idx="2">
                  <c:v>5</c:v>
                </c:pt>
                <c:pt idx="3">
                  <c:v>5</c:v>
                </c:pt>
                <c:pt idx="4">
                  <c:v>5</c:v>
                </c:pt>
                <c:pt idx="5">
                  <c:v>5</c:v>
                </c:pt>
                <c:pt idx="6">
                  <c:v>9</c:v>
                </c:pt>
                <c:pt idx="7">
                  <c:v>11</c:v>
                </c:pt>
                <c:pt idx="8">
                  <c:v>10</c:v>
                </c:pt>
                <c:pt idx="9">
                  <c:v>8</c:v>
                </c:pt>
              </c:numCache>
            </c:numRef>
          </c:val>
          <c:extLst>
            <c:ext xmlns:c16="http://schemas.microsoft.com/office/drawing/2014/chart" uri="{C3380CC4-5D6E-409C-BE32-E72D297353CC}">
              <c16:uniqueId val="{00000002-6EC1-45C5-9BA3-E8E646B2375F}"/>
            </c:ext>
          </c:extLst>
        </c:ser>
        <c:ser>
          <c:idx val="3"/>
          <c:order val="3"/>
          <c:tx>
            <c:strRef>
              <c:f>Sheet1!$E$1</c:f>
              <c:strCache>
                <c:ptCount val="1"/>
                <c:pt idx="0">
                  <c:v>浅绿</c:v>
                </c:pt>
              </c:strCache>
            </c:strRef>
          </c:tx>
          <c:spPr>
            <a:solidFill>
              <a:schemeClr val="accent4">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Sheet1!$E$2:$E$11</c:f>
              <c:numCache>
                <c:formatCode>General</c:formatCode>
                <c:ptCount val="10"/>
                <c:pt idx="0">
                  <c:v>5</c:v>
                </c:pt>
                <c:pt idx="1">
                  <c:v>5</c:v>
                </c:pt>
                <c:pt idx="2">
                  <c:v>8</c:v>
                </c:pt>
                <c:pt idx="3">
                  <c:v>10</c:v>
                </c:pt>
                <c:pt idx="4">
                  <c:v>10</c:v>
                </c:pt>
                <c:pt idx="5">
                  <c:v>10</c:v>
                </c:pt>
                <c:pt idx="6">
                  <c:v>10</c:v>
                </c:pt>
                <c:pt idx="7">
                  <c:v>10</c:v>
                </c:pt>
                <c:pt idx="8">
                  <c:v>9</c:v>
                </c:pt>
                <c:pt idx="9">
                  <c:v>5</c:v>
                </c:pt>
              </c:numCache>
            </c:numRef>
          </c:val>
          <c:extLst>
            <c:ext xmlns:c16="http://schemas.microsoft.com/office/drawing/2014/chart" uri="{C3380CC4-5D6E-409C-BE32-E72D297353CC}">
              <c16:uniqueId val="{00000003-6EC1-45C5-9BA3-E8E646B2375F}"/>
            </c:ext>
          </c:extLst>
        </c:ser>
        <c:ser>
          <c:idx val="4"/>
          <c:order val="4"/>
          <c:tx>
            <c:strRef>
              <c:f>Sheet1!$F$1</c:f>
              <c:strCache>
                <c:ptCount val="1"/>
                <c:pt idx="0">
                  <c:v>浅绿</c:v>
                </c:pt>
              </c:strCache>
            </c:strRef>
          </c:tx>
          <c:spPr>
            <a:solidFill>
              <a:schemeClr val="accent5">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Sheet1!$F$2:$F$11</c:f>
              <c:numCache>
                <c:formatCode>General</c:formatCode>
                <c:ptCount val="10"/>
                <c:pt idx="0">
                  <c:v>5</c:v>
                </c:pt>
                <c:pt idx="1">
                  <c:v>5</c:v>
                </c:pt>
                <c:pt idx="2">
                  <c:v>9</c:v>
                </c:pt>
                <c:pt idx="3">
                  <c:v>10</c:v>
                </c:pt>
                <c:pt idx="4">
                  <c:v>12</c:v>
                </c:pt>
                <c:pt idx="5">
                  <c:v>9</c:v>
                </c:pt>
                <c:pt idx="6">
                  <c:v>10</c:v>
                </c:pt>
                <c:pt idx="7">
                  <c:v>8</c:v>
                </c:pt>
                <c:pt idx="8">
                  <c:v>5</c:v>
                </c:pt>
                <c:pt idx="9">
                  <c:v>5</c:v>
                </c:pt>
              </c:numCache>
            </c:numRef>
          </c:val>
          <c:extLst>
            <c:ext xmlns:c16="http://schemas.microsoft.com/office/drawing/2014/chart" uri="{C3380CC4-5D6E-409C-BE32-E72D297353CC}">
              <c16:uniqueId val="{00000004-6EC1-45C5-9BA3-E8E646B2375F}"/>
            </c:ext>
          </c:extLst>
        </c:ser>
        <c:ser>
          <c:idx val="5"/>
          <c:order val="5"/>
          <c:tx>
            <c:strRef>
              <c:f>Sheet1!$G$1</c:f>
              <c:strCache>
                <c:ptCount val="1"/>
                <c:pt idx="0">
                  <c:v>浅绿</c:v>
                </c:pt>
              </c:strCache>
            </c:strRef>
          </c:tx>
          <c:spPr>
            <a:solidFill>
              <a:schemeClr val="accent6">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Sheet1!$G$2:$G$11</c:f>
              <c:numCache>
                <c:formatCode>General</c:formatCode>
                <c:ptCount val="10"/>
                <c:pt idx="0">
                  <c:v>5</c:v>
                </c:pt>
                <c:pt idx="1">
                  <c:v>10</c:v>
                </c:pt>
                <c:pt idx="2">
                  <c:v>10</c:v>
                </c:pt>
                <c:pt idx="3">
                  <c:v>10</c:v>
                </c:pt>
                <c:pt idx="4">
                  <c:v>10</c:v>
                </c:pt>
                <c:pt idx="5">
                  <c:v>11</c:v>
                </c:pt>
                <c:pt idx="6">
                  <c:v>13</c:v>
                </c:pt>
                <c:pt idx="7">
                  <c:v>8</c:v>
                </c:pt>
                <c:pt idx="8">
                  <c:v>10</c:v>
                </c:pt>
                <c:pt idx="9">
                  <c:v>5</c:v>
                </c:pt>
              </c:numCache>
            </c:numRef>
          </c:val>
          <c:extLst>
            <c:ext xmlns:c16="http://schemas.microsoft.com/office/drawing/2014/chart" uri="{C3380CC4-5D6E-409C-BE32-E72D297353CC}">
              <c16:uniqueId val="{00000005-6EC1-45C5-9BA3-E8E646B2375F}"/>
            </c:ext>
          </c:extLst>
        </c:ser>
        <c:dLbls>
          <c:showLegendKey val="0"/>
          <c:showVal val="0"/>
          <c:showCatName val="0"/>
          <c:showSerName val="0"/>
          <c:showPercent val="0"/>
          <c:showBubbleSize val="0"/>
        </c:dLbls>
        <c:axId val="704627680"/>
        <c:axId val="704632256"/>
      </c:radarChart>
      <c:catAx>
        <c:axId val="704627680"/>
        <c:scaling>
          <c:orientation val="minMax"/>
        </c:scaling>
        <c:delete val="1"/>
        <c:axPos val="b"/>
        <c:numFmt formatCode="General" sourceLinked="1"/>
        <c:majorTickMark val="none"/>
        <c:minorTickMark val="none"/>
        <c:tickLblPos val="nextTo"/>
        <c:crossAx val="704632256"/>
        <c:crosses val="autoZero"/>
        <c:auto val="1"/>
        <c:lblAlgn val="ctr"/>
        <c:lblOffset val="100"/>
        <c:noMultiLvlLbl val="0"/>
      </c:catAx>
      <c:valAx>
        <c:axId val="704632256"/>
        <c:scaling>
          <c:orientation val="minMax"/>
        </c:scaling>
        <c:delete val="1"/>
        <c:axPos val="l"/>
        <c:majorGridlines>
          <c:spPr>
            <a:ln w="9525" cap="flat" cmpd="sng" algn="ctr">
              <a:solidFill>
                <a:schemeClr val="tx1">
                  <a:lumMod val="75000"/>
                  <a:lumOff val="25000"/>
                </a:schemeClr>
              </a:solidFill>
              <a:round/>
            </a:ln>
            <a:effectLst/>
          </c:spPr>
        </c:majorGridlines>
        <c:numFmt formatCode="General" sourceLinked="1"/>
        <c:majorTickMark val="out"/>
        <c:minorTickMark val="none"/>
        <c:tickLblPos val="nextTo"/>
        <c:crossAx val="704627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filled"/>
        <c:varyColors val="0"/>
        <c:ser>
          <c:idx val="0"/>
          <c:order val="0"/>
          <c:tx>
            <c:strRef>
              <c:f>Sheet1!$B$1</c:f>
              <c:strCache>
                <c:ptCount val="1"/>
                <c:pt idx="0">
                  <c:v>深红</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5</c:v>
                </c:pt>
                <c:pt idx="1">
                  <c:v>5</c:v>
                </c:pt>
                <c:pt idx="2">
                  <c:v>5</c:v>
                </c:pt>
                <c:pt idx="3">
                  <c:v>5</c:v>
                </c:pt>
                <c:pt idx="4">
                  <c:v>5</c:v>
                </c:pt>
                <c:pt idx="5">
                  <c:v>8</c:v>
                </c:pt>
                <c:pt idx="6">
                  <c:v>9</c:v>
                </c:pt>
                <c:pt idx="7">
                  <c:v>10</c:v>
                </c:pt>
                <c:pt idx="8">
                  <c:v>12</c:v>
                </c:pt>
                <c:pt idx="9">
                  <c:v>13</c:v>
                </c:pt>
              </c:numCache>
            </c:numRef>
          </c:val>
          <c:extLst>
            <c:ext xmlns:c16="http://schemas.microsoft.com/office/drawing/2014/chart" uri="{C3380CC4-5D6E-409C-BE32-E72D297353CC}">
              <c16:uniqueId val="{00000000-DEF3-4A2E-ADB4-17BCB17A6019}"/>
            </c:ext>
          </c:extLst>
        </c:ser>
        <c:ser>
          <c:idx val="1"/>
          <c:order val="1"/>
          <c:tx>
            <c:strRef>
              <c:f>Sheet1!$C$1</c:f>
              <c:strCache>
                <c:ptCount val="1"/>
                <c:pt idx="0">
                  <c:v>紫色</c:v>
                </c:pt>
              </c:strCache>
            </c:strRef>
          </c:tx>
          <c:spPr>
            <a:solidFill>
              <a:schemeClr val="accent2">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Sheet1!$C$2:$C$11</c:f>
              <c:numCache>
                <c:formatCode>General</c:formatCode>
                <c:ptCount val="10"/>
                <c:pt idx="0">
                  <c:v>5</c:v>
                </c:pt>
                <c:pt idx="1">
                  <c:v>5</c:v>
                </c:pt>
                <c:pt idx="2">
                  <c:v>5</c:v>
                </c:pt>
                <c:pt idx="3">
                  <c:v>5</c:v>
                </c:pt>
                <c:pt idx="4">
                  <c:v>5</c:v>
                </c:pt>
                <c:pt idx="5">
                  <c:v>5</c:v>
                </c:pt>
                <c:pt idx="6">
                  <c:v>10</c:v>
                </c:pt>
                <c:pt idx="7">
                  <c:v>10</c:v>
                </c:pt>
                <c:pt idx="8">
                  <c:v>10</c:v>
                </c:pt>
                <c:pt idx="9">
                  <c:v>9</c:v>
                </c:pt>
              </c:numCache>
            </c:numRef>
          </c:val>
          <c:extLst>
            <c:ext xmlns:c16="http://schemas.microsoft.com/office/drawing/2014/chart" uri="{C3380CC4-5D6E-409C-BE32-E72D297353CC}">
              <c16:uniqueId val="{00000001-DEF3-4A2E-ADB4-17BCB17A6019}"/>
            </c:ext>
          </c:extLst>
        </c:ser>
        <c:ser>
          <c:idx val="2"/>
          <c:order val="2"/>
          <c:tx>
            <c:strRef>
              <c:f>Sheet1!$D$1</c:f>
              <c:strCache>
                <c:ptCount val="1"/>
                <c:pt idx="0">
                  <c:v>深绿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Sheet1!$D$2:$D$11</c:f>
              <c:numCache>
                <c:formatCode>General</c:formatCode>
                <c:ptCount val="10"/>
                <c:pt idx="0">
                  <c:v>5</c:v>
                </c:pt>
                <c:pt idx="1">
                  <c:v>5</c:v>
                </c:pt>
                <c:pt idx="2">
                  <c:v>5</c:v>
                </c:pt>
                <c:pt idx="3">
                  <c:v>5</c:v>
                </c:pt>
                <c:pt idx="4">
                  <c:v>5</c:v>
                </c:pt>
                <c:pt idx="5">
                  <c:v>5</c:v>
                </c:pt>
                <c:pt idx="6">
                  <c:v>9</c:v>
                </c:pt>
                <c:pt idx="7">
                  <c:v>11</c:v>
                </c:pt>
                <c:pt idx="8">
                  <c:v>10</c:v>
                </c:pt>
                <c:pt idx="9">
                  <c:v>8</c:v>
                </c:pt>
              </c:numCache>
            </c:numRef>
          </c:val>
          <c:extLst>
            <c:ext xmlns:c16="http://schemas.microsoft.com/office/drawing/2014/chart" uri="{C3380CC4-5D6E-409C-BE32-E72D297353CC}">
              <c16:uniqueId val="{00000002-DEF3-4A2E-ADB4-17BCB17A6019}"/>
            </c:ext>
          </c:extLst>
        </c:ser>
        <c:ser>
          <c:idx val="3"/>
          <c:order val="3"/>
          <c:tx>
            <c:strRef>
              <c:f>Sheet1!$E$1</c:f>
              <c:strCache>
                <c:ptCount val="1"/>
                <c:pt idx="0">
                  <c:v>浅绿</c:v>
                </c:pt>
              </c:strCache>
            </c:strRef>
          </c:tx>
          <c:spPr>
            <a:solidFill>
              <a:schemeClr val="accent4">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Sheet1!$E$2:$E$11</c:f>
              <c:numCache>
                <c:formatCode>General</c:formatCode>
                <c:ptCount val="10"/>
                <c:pt idx="0">
                  <c:v>5</c:v>
                </c:pt>
                <c:pt idx="1">
                  <c:v>5</c:v>
                </c:pt>
                <c:pt idx="2">
                  <c:v>8</c:v>
                </c:pt>
                <c:pt idx="3">
                  <c:v>10</c:v>
                </c:pt>
                <c:pt idx="4">
                  <c:v>10</c:v>
                </c:pt>
                <c:pt idx="5">
                  <c:v>10</c:v>
                </c:pt>
                <c:pt idx="6">
                  <c:v>10</c:v>
                </c:pt>
                <c:pt idx="7">
                  <c:v>10</c:v>
                </c:pt>
                <c:pt idx="8">
                  <c:v>9</c:v>
                </c:pt>
                <c:pt idx="9">
                  <c:v>5</c:v>
                </c:pt>
              </c:numCache>
            </c:numRef>
          </c:val>
          <c:extLst>
            <c:ext xmlns:c16="http://schemas.microsoft.com/office/drawing/2014/chart" uri="{C3380CC4-5D6E-409C-BE32-E72D297353CC}">
              <c16:uniqueId val="{00000003-DEF3-4A2E-ADB4-17BCB17A6019}"/>
            </c:ext>
          </c:extLst>
        </c:ser>
        <c:ser>
          <c:idx val="4"/>
          <c:order val="4"/>
          <c:tx>
            <c:strRef>
              <c:f>Sheet1!$F$1</c:f>
              <c:strCache>
                <c:ptCount val="1"/>
                <c:pt idx="0">
                  <c:v>浅绿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Sheet1!$F$2:$F$11</c:f>
              <c:numCache>
                <c:formatCode>General</c:formatCode>
                <c:ptCount val="10"/>
                <c:pt idx="0">
                  <c:v>5</c:v>
                </c:pt>
                <c:pt idx="1">
                  <c:v>5</c:v>
                </c:pt>
                <c:pt idx="2">
                  <c:v>9</c:v>
                </c:pt>
                <c:pt idx="3">
                  <c:v>10</c:v>
                </c:pt>
                <c:pt idx="4">
                  <c:v>12</c:v>
                </c:pt>
                <c:pt idx="5">
                  <c:v>9</c:v>
                </c:pt>
                <c:pt idx="6">
                  <c:v>10</c:v>
                </c:pt>
                <c:pt idx="7">
                  <c:v>8</c:v>
                </c:pt>
                <c:pt idx="8">
                  <c:v>5</c:v>
                </c:pt>
                <c:pt idx="9">
                  <c:v>5</c:v>
                </c:pt>
              </c:numCache>
            </c:numRef>
          </c:val>
          <c:extLst>
            <c:ext xmlns:c16="http://schemas.microsoft.com/office/drawing/2014/chart" uri="{C3380CC4-5D6E-409C-BE32-E72D297353CC}">
              <c16:uniqueId val="{00000004-DEF3-4A2E-ADB4-17BCB17A6019}"/>
            </c:ext>
          </c:extLst>
        </c:ser>
        <c:ser>
          <c:idx val="5"/>
          <c:order val="5"/>
          <c:tx>
            <c:strRef>
              <c:f>Sheet1!$G$1</c:f>
              <c:strCache>
                <c:ptCount val="1"/>
                <c:pt idx="0">
                  <c:v>浅绿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Sheet1!$G$2:$G$11</c:f>
              <c:numCache>
                <c:formatCode>General</c:formatCode>
                <c:ptCount val="10"/>
                <c:pt idx="0">
                  <c:v>5</c:v>
                </c:pt>
                <c:pt idx="1">
                  <c:v>10</c:v>
                </c:pt>
                <c:pt idx="2">
                  <c:v>10</c:v>
                </c:pt>
                <c:pt idx="3">
                  <c:v>10</c:v>
                </c:pt>
                <c:pt idx="4">
                  <c:v>10</c:v>
                </c:pt>
                <c:pt idx="5">
                  <c:v>11</c:v>
                </c:pt>
                <c:pt idx="6">
                  <c:v>13</c:v>
                </c:pt>
                <c:pt idx="7">
                  <c:v>8</c:v>
                </c:pt>
                <c:pt idx="8">
                  <c:v>10</c:v>
                </c:pt>
                <c:pt idx="9">
                  <c:v>5</c:v>
                </c:pt>
              </c:numCache>
            </c:numRef>
          </c:val>
          <c:extLst>
            <c:ext xmlns:c16="http://schemas.microsoft.com/office/drawing/2014/chart" uri="{C3380CC4-5D6E-409C-BE32-E72D297353CC}">
              <c16:uniqueId val="{00000005-DEF3-4A2E-ADB4-17BCB17A6019}"/>
            </c:ext>
          </c:extLst>
        </c:ser>
        <c:dLbls>
          <c:showLegendKey val="0"/>
          <c:showVal val="0"/>
          <c:showCatName val="0"/>
          <c:showSerName val="0"/>
          <c:showPercent val="0"/>
          <c:showBubbleSize val="0"/>
        </c:dLbls>
        <c:axId val="704627680"/>
        <c:axId val="704632256"/>
      </c:radarChart>
      <c:catAx>
        <c:axId val="704627680"/>
        <c:scaling>
          <c:orientation val="minMax"/>
        </c:scaling>
        <c:delete val="1"/>
        <c:axPos val="b"/>
        <c:numFmt formatCode="General" sourceLinked="1"/>
        <c:majorTickMark val="none"/>
        <c:minorTickMark val="none"/>
        <c:tickLblPos val="nextTo"/>
        <c:crossAx val="704632256"/>
        <c:crosses val="autoZero"/>
        <c:auto val="1"/>
        <c:lblAlgn val="ctr"/>
        <c:lblOffset val="100"/>
        <c:noMultiLvlLbl val="0"/>
      </c:catAx>
      <c:valAx>
        <c:axId val="704632256"/>
        <c:scaling>
          <c:orientation val="minMax"/>
        </c:scaling>
        <c:delete val="1"/>
        <c:axPos val="l"/>
        <c:majorGridlines>
          <c:spPr>
            <a:ln w="9525" cap="flat" cmpd="sng" algn="ctr">
              <a:solidFill>
                <a:schemeClr val="tx1">
                  <a:lumMod val="75000"/>
                  <a:lumOff val="25000"/>
                </a:schemeClr>
              </a:solidFill>
              <a:round/>
            </a:ln>
            <a:effectLst/>
          </c:spPr>
        </c:majorGridlines>
        <c:numFmt formatCode="General" sourceLinked="1"/>
        <c:majorTickMark val="out"/>
        <c:minorTickMark val="none"/>
        <c:tickLblPos val="nextTo"/>
        <c:crossAx val="704627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filled"/>
        <c:varyColors val="0"/>
        <c:ser>
          <c:idx val="0"/>
          <c:order val="0"/>
          <c:tx>
            <c:strRef>
              <c:f>Sheet1!$B$1</c:f>
              <c:strCache>
                <c:ptCount val="1"/>
                <c:pt idx="0">
                  <c:v>深红</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5</c:v>
                </c:pt>
                <c:pt idx="1">
                  <c:v>5</c:v>
                </c:pt>
                <c:pt idx="2">
                  <c:v>5</c:v>
                </c:pt>
                <c:pt idx="3">
                  <c:v>5</c:v>
                </c:pt>
                <c:pt idx="4">
                  <c:v>5</c:v>
                </c:pt>
                <c:pt idx="5">
                  <c:v>8</c:v>
                </c:pt>
                <c:pt idx="6">
                  <c:v>9</c:v>
                </c:pt>
                <c:pt idx="7">
                  <c:v>10</c:v>
                </c:pt>
                <c:pt idx="8">
                  <c:v>12</c:v>
                </c:pt>
                <c:pt idx="9">
                  <c:v>13</c:v>
                </c:pt>
              </c:numCache>
            </c:numRef>
          </c:val>
          <c:extLst>
            <c:ext xmlns:c16="http://schemas.microsoft.com/office/drawing/2014/chart" uri="{C3380CC4-5D6E-409C-BE32-E72D297353CC}">
              <c16:uniqueId val="{00000000-4184-4AB6-97A4-C722C8B2C0E3}"/>
            </c:ext>
          </c:extLst>
        </c:ser>
        <c:ser>
          <c:idx val="1"/>
          <c:order val="1"/>
          <c:tx>
            <c:strRef>
              <c:f>Sheet1!$C$1</c:f>
              <c:strCache>
                <c:ptCount val="1"/>
                <c:pt idx="0">
                  <c:v>紫色</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Sheet1!$C$2:$C$11</c:f>
              <c:numCache>
                <c:formatCode>General</c:formatCode>
                <c:ptCount val="10"/>
                <c:pt idx="0">
                  <c:v>5</c:v>
                </c:pt>
                <c:pt idx="1">
                  <c:v>5</c:v>
                </c:pt>
                <c:pt idx="2">
                  <c:v>5</c:v>
                </c:pt>
                <c:pt idx="3">
                  <c:v>5</c:v>
                </c:pt>
                <c:pt idx="4">
                  <c:v>5</c:v>
                </c:pt>
                <c:pt idx="5">
                  <c:v>5</c:v>
                </c:pt>
                <c:pt idx="6">
                  <c:v>10</c:v>
                </c:pt>
                <c:pt idx="7">
                  <c:v>10</c:v>
                </c:pt>
                <c:pt idx="8">
                  <c:v>10</c:v>
                </c:pt>
                <c:pt idx="9">
                  <c:v>9</c:v>
                </c:pt>
              </c:numCache>
            </c:numRef>
          </c:val>
          <c:extLst>
            <c:ext xmlns:c16="http://schemas.microsoft.com/office/drawing/2014/chart" uri="{C3380CC4-5D6E-409C-BE32-E72D297353CC}">
              <c16:uniqueId val="{00000001-4184-4AB6-97A4-C722C8B2C0E3}"/>
            </c:ext>
          </c:extLst>
        </c:ser>
        <c:ser>
          <c:idx val="2"/>
          <c:order val="2"/>
          <c:tx>
            <c:strRef>
              <c:f>Sheet1!$D$1</c:f>
              <c:strCache>
                <c:ptCount val="1"/>
                <c:pt idx="0">
                  <c:v>深绿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Sheet1!$D$2:$D$11</c:f>
              <c:numCache>
                <c:formatCode>General</c:formatCode>
                <c:ptCount val="10"/>
                <c:pt idx="0">
                  <c:v>5</c:v>
                </c:pt>
                <c:pt idx="1">
                  <c:v>5</c:v>
                </c:pt>
                <c:pt idx="2">
                  <c:v>5</c:v>
                </c:pt>
                <c:pt idx="3">
                  <c:v>5</c:v>
                </c:pt>
                <c:pt idx="4">
                  <c:v>5</c:v>
                </c:pt>
                <c:pt idx="5">
                  <c:v>5</c:v>
                </c:pt>
                <c:pt idx="6">
                  <c:v>9</c:v>
                </c:pt>
                <c:pt idx="7">
                  <c:v>11</c:v>
                </c:pt>
                <c:pt idx="8">
                  <c:v>10</c:v>
                </c:pt>
                <c:pt idx="9">
                  <c:v>8</c:v>
                </c:pt>
              </c:numCache>
            </c:numRef>
          </c:val>
          <c:extLst>
            <c:ext xmlns:c16="http://schemas.microsoft.com/office/drawing/2014/chart" uri="{C3380CC4-5D6E-409C-BE32-E72D297353CC}">
              <c16:uniqueId val="{00000002-4184-4AB6-97A4-C722C8B2C0E3}"/>
            </c:ext>
          </c:extLst>
        </c:ser>
        <c:ser>
          <c:idx val="3"/>
          <c:order val="3"/>
          <c:tx>
            <c:strRef>
              <c:f>Sheet1!$E$1</c:f>
              <c:strCache>
                <c:ptCount val="1"/>
                <c:pt idx="0">
                  <c:v>浅绿</c:v>
                </c:pt>
              </c:strCache>
            </c:strRef>
          </c:tx>
          <c:spPr>
            <a:solidFill>
              <a:schemeClr val="accent4">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Sheet1!$E$2:$E$11</c:f>
              <c:numCache>
                <c:formatCode>General</c:formatCode>
                <c:ptCount val="10"/>
                <c:pt idx="0">
                  <c:v>5</c:v>
                </c:pt>
                <c:pt idx="1">
                  <c:v>5</c:v>
                </c:pt>
                <c:pt idx="2">
                  <c:v>8</c:v>
                </c:pt>
                <c:pt idx="3">
                  <c:v>10</c:v>
                </c:pt>
                <c:pt idx="4">
                  <c:v>10</c:v>
                </c:pt>
                <c:pt idx="5">
                  <c:v>10</c:v>
                </c:pt>
                <c:pt idx="6">
                  <c:v>10</c:v>
                </c:pt>
                <c:pt idx="7">
                  <c:v>10</c:v>
                </c:pt>
                <c:pt idx="8">
                  <c:v>9</c:v>
                </c:pt>
                <c:pt idx="9">
                  <c:v>5</c:v>
                </c:pt>
              </c:numCache>
            </c:numRef>
          </c:val>
          <c:extLst>
            <c:ext xmlns:c16="http://schemas.microsoft.com/office/drawing/2014/chart" uri="{C3380CC4-5D6E-409C-BE32-E72D297353CC}">
              <c16:uniqueId val="{00000003-4184-4AB6-97A4-C722C8B2C0E3}"/>
            </c:ext>
          </c:extLst>
        </c:ser>
        <c:ser>
          <c:idx val="4"/>
          <c:order val="4"/>
          <c:tx>
            <c:strRef>
              <c:f>Sheet1!$F$1</c:f>
              <c:strCache>
                <c:ptCount val="1"/>
                <c:pt idx="0">
                  <c:v>浅绿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Sheet1!$F$2:$F$11</c:f>
              <c:numCache>
                <c:formatCode>General</c:formatCode>
                <c:ptCount val="10"/>
                <c:pt idx="0">
                  <c:v>5</c:v>
                </c:pt>
                <c:pt idx="1">
                  <c:v>5</c:v>
                </c:pt>
                <c:pt idx="2">
                  <c:v>9</c:v>
                </c:pt>
                <c:pt idx="3">
                  <c:v>10</c:v>
                </c:pt>
                <c:pt idx="4">
                  <c:v>12</c:v>
                </c:pt>
                <c:pt idx="5">
                  <c:v>9</c:v>
                </c:pt>
                <c:pt idx="6">
                  <c:v>10</c:v>
                </c:pt>
                <c:pt idx="7">
                  <c:v>8</c:v>
                </c:pt>
                <c:pt idx="8">
                  <c:v>5</c:v>
                </c:pt>
                <c:pt idx="9">
                  <c:v>5</c:v>
                </c:pt>
              </c:numCache>
            </c:numRef>
          </c:val>
          <c:extLst>
            <c:ext xmlns:c16="http://schemas.microsoft.com/office/drawing/2014/chart" uri="{C3380CC4-5D6E-409C-BE32-E72D297353CC}">
              <c16:uniqueId val="{00000004-4184-4AB6-97A4-C722C8B2C0E3}"/>
            </c:ext>
          </c:extLst>
        </c:ser>
        <c:ser>
          <c:idx val="5"/>
          <c:order val="5"/>
          <c:tx>
            <c:strRef>
              <c:f>Sheet1!$G$1</c:f>
              <c:strCache>
                <c:ptCount val="1"/>
                <c:pt idx="0">
                  <c:v>浅绿</c:v>
                </c:pt>
              </c:strCache>
            </c:strRef>
          </c:tx>
          <c:spPr>
            <a:solidFill>
              <a:schemeClr val="accent6">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Sheet1!$G$2:$G$11</c:f>
              <c:numCache>
                <c:formatCode>General</c:formatCode>
                <c:ptCount val="10"/>
                <c:pt idx="0">
                  <c:v>5</c:v>
                </c:pt>
                <c:pt idx="1">
                  <c:v>10</c:v>
                </c:pt>
                <c:pt idx="2">
                  <c:v>10</c:v>
                </c:pt>
                <c:pt idx="3">
                  <c:v>10</c:v>
                </c:pt>
                <c:pt idx="4">
                  <c:v>10</c:v>
                </c:pt>
                <c:pt idx="5">
                  <c:v>11</c:v>
                </c:pt>
                <c:pt idx="6">
                  <c:v>13</c:v>
                </c:pt>
                <c:pt idx="7">
                  <c:v>8</c:v>
                </c:pt>
                <c:pt idx="8">
                  <c:v>10</c:v>
                </c:pt>
                <c:pt idx="9">
                  <c:v>5</c:v>
                </c:pt>
              </c:numCache>
            </c:numRef>
          </c:val>
          <c:extLst>
            <c:ext xmlns:c16="http://schemas.microsoft.com/office/drawing/2014/chart" uri="{C3380CC4-5D6E-409C-BE32-E72D297353CC}">
              <c16:uniqueId val="{00000005-4184-4AB6-97A4-C722C8B2C0E3}"/>
            </c:ext>
          </c:extLst>
        </c:ser>
        <c:dLbls>
          <c:showLegendKey val="0"/>
          <c:showVal val="0"/>
          <c:showCatName val="0"/>
          <c:showSerName val="0"/>
          <c:showPercent val="0"/>
          <c:showBubbleSize val="0"/>
        </c:dLbls>
        <c:axId val="704627680"/>
        <c:axId val="704632256"/>
      </c:radarChart>
      <c:catAx>
        <c:axId val="704627680"/>
        <c:scaling>
          <c:orientation val="minMax"/>
        </c:scaling>
        <c:delete val="1"/>
        <c:axPos val="b"/>
        <c:numFmt formatCode="General" sourceLinked="1"/>
        <c:majorTickMark val="none"/>
        <c:minorTickMark val="none"/>
        <c:tickLblPos val="nextTo"/>
        <c:crossAx val="704632256"/>
        <c:crosses val="autoZero"/>
        <c:auto val="1"/>
        <c:lblAlgn val="ctr"/>
        <c:lblOffset val="100"/>
        <c:noMultiLvlLbl val="0"/>
      </c:catAx>
      <c:valAx>
        <c:axId val="704632256"/>
        <c:scaling>
          <c:orientation val="minMax"/>
        </c:scaling>
        <c:delete val="1"/>
        <c:axPos val="l"/>
        <c:majorGridlines>
          <c:spPr>
            <a:ln w="9525" cap="flat" cmpd="sng" algn="ctr">
              <a:solidFill>
                <a:schemeClr val="tx1">
                  <a:lumMod val="75000"/>
                  <a:lumOff val="25000"/>
                </a:schemeClr>
              </a:solidFill>
              <a:round/>
            </a:ln>
            <a:effectLst/>
          </c:spPr>
        </c:majorGridlines>
        <c:numFmt formatCode="General" sourceLinked="1"/>
        <c:majorTickMark val="out"/>
        <c:minorTickMark val="none"/>
        <c:tickLblPos val="nextTo"/>
        <c:crossAx val="704627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filled"/>
        <c:varyColors val="0"/>
        <c:ser>
          <c:idx val="0"/>
          <c:order val="0"/>
          <c:tx>
            <c:strRef>
              <c:f>Sheet1!$B$1</c:f>
              <c:strCache>
                <c:ptCount val="1"/>
                <c:pt idx="0">
                  <c:v>深红</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5</c:v>
                </c:pt>
                <c:pt idx="1">
                  <c:v>5</c:v>
                </c:pt>
                <c:pt idx="2">
                  <c:v>5</c:v>
                </c:pt>
                <c:pt idx="3">
                  <c:v>5</c:v>
                </c:pt>
                <c:pt idx="4">
                  <c:v>5</c:v>
                </c:pt>
                <c:pt idx="5">
                  <c:v>8</c:v>
                </c:pt>
                <c:pt idx="6">
                  <c:v>9</c:v>
                </c:pt>
                <c:pt idx="7">
                  <c:v>10</c:v>
                </c:pt>
                <c:pt idx="8">
                  <c:v>12</c:v>
                </c:pt>
                <c:pt idx="9">
                  <c:v>13</c:v>
                </c:pt>
              </c:numCache>
            </c:numRef>
          </c:val>
          <c:extLst>
            <c:ext xmlns:c16="http://schemas.microsoft.com/office/drawing/2014/chart" uri="{C3380CC4-5D6E-409C-BE32-E72D297353CC}">
              <c16:uniqueId val="{00000000-DEF3-4A2E-ADB4-17BCB17A6019}"/>
            </c:ext>
          </c:extLst>
        </c:ser>
        <c:ser>
          <c:idx val="1"/>
          <c:order val="1"/>
          <c:tx>
            <c:strRef>
              <c:f>Sheet1!$C$1</c:f>
              <c:strCache>
                <c:ptCount val="1"/>
                <c:pt idx="0">
                  <c:v>紫色</c:v>
                </c:pt>
              </c:strCache>
            </c:strRef>
          </c:tx>
          <c:spPr>
            <a:solidFill>
              <a:schemeClr val="accent2">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Sheet1!$C$2:$C$11</c:f>
              <c:numCache>
                <c:formatCode>General</c:formatCode>
                <c:ptCount val="10"/>
                <c:pt idx="0">
                  <c:v>5</c:v>
                </c:pt>
                <c:pt idx="1">
                  <c:v>5</c:v>
                </c:pt>
                <c:pt idx="2">
                  <c:v>5</c:v>
                </c:pt>
                <c:pt idx="3">
                  <c:v>5</c:v>
                </c:pt>
                <c:pt idx="4">
                  <c:v>5</c:v>
                </c:pt>
                <c:pt idx="5">
                  <c:v>5</c:v>
                </c:pt>
                <c:pt idx="6">
                  <c:v>10</c:v>
                </c:pt>
                <c:pt idx="7">
                  <c:v>10</c:v>
                </c:pt>
                <c:pt idx="8">
                  <c:v>10</c:v>
                </c:pt>
                <c:pt idx="9">
                  <c:v>9</c:v>
                </c:pt>
              </c:numCache>
            </c:numRef>
          </c:val>
          <c:extLst>
            <c:ext xmlns:c16="http://schemas.microsoft.com/office/drawing/2014/chart" uri="{C3380CC4-5D6E-409C-BE32-E72D297353CC}">
              <c16:uniqueId val="{00000001-DEF3-4A2E-ADB4-17BCB17A6019}"/>
            </c:ext>
          </c:extLst>
        </c:ser>
        <c:ser>
          <c:idx val="2"/>
          <c:order val="2"/>
          <c:tx>
            <c:strRef>
              <c:f>Sheet1!$D$1</c:f>
              <c:strCache>
                <c:ptCount val="1"/>
                <c:pt idx="0">
                  <c:v>深绿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Sheet1!$D$2:$D$11</c:f>
              <c:numCache>
                <c:formatCode>General</c:formatCode>
                <c:ptCount val="10"/>
                <c:pt idx="0">
                  <c:v>5</c:v>
                </c:pt>
                <c:pt idx="1">
                  <c:v>5</c:v>
                </c:pt>
                <c:pt idx="2">
                  <c:v>5</c:v>
                </c:pt>
                <c:pt idx="3">
                  <c:v>5</c:v>
                </c:pt>
                <c:pt idx="4">
                  <c:v>5</c:v>
                </c:pt>
                <c:pt idx="5">
                  <c:v>5</c:v>
                </c:pt>
                <c:pt idx="6">
                  <c:v>9</c:v>
                </c:pt>
                <c:pt idx="7">
                  <c:v>11</c:v>
                </c:pt>
                <c:pt idx="8">
                  <c:v>10</c:v>
                </c:pt>
                <c:pt idx="9">
                  <c:v>8</c:v>
                </c:pt>
              </c:numCache>
            </c:numRef>
          </c:val>
          <c:extLst>
            <c:ext xmlns:c16="http://schemas.microsoft.com/office/drawing/2014/chart" uri="{C3380CC4-5D6E-409C-BE32-E72D297353CC}">
              <c16:uniqueId val="{00000002-DEF3-4A2E-ADB4-17BCB17A6019}"/>
            </c:ext>
          </c:extLst>
        </c:ser>
        <c:ser>
          <c:idx val="3"/>
          <c:order val="3"/>
          <c:tx>
            <c:strRef>
              <c:f>Sheet1!$E$1</c:f>
              <c:strCache>
                <c:ptCount val="1"/>
                <c:pt idx="0">
                  <c:v>浅绿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Sheet1!$E$2:$E$11</c:f>
              <c:numCache>
                <c:formatCode>General</c:formatCode>
                <c:ptCount val="10"/>
                <c:pt idx="0">
                  <c:v>5</c:v>
                </c:pt>
                <c:pt idx="1">
                  <c:v>5</c:v>
                </c:pt>
                <c:pt idx="2">
                  <c:v>8</c:v>
                </c:pt>
                <c:pt idx="3">
                  <c:v>10</c:v>
                </c:pt>
                <c:pt idx="4">
                  <c:v>10</c:v>
                </c:pt>
                <c:pt idx="5">
                  <c:v>10</c:v>
                </c:pt>
                <c:pt idx="6">
                  <c:v>10</c:v>
                </c:pt>
                <c:pt idx="7">
                  <c:v>10</c:v>
                </c:pt>
                <c:pt idx="8">
                  <c:v>9</c:v>
                </c:pt>
                <c:pt idx="9">
                  <c:v>5</c:v>
                </c:pt>
              </c:numCache>
            </c:numRef>
          </c:val>
          <c:extLst>
            <c:ext xmlns:c16="http://schemas.microsoft.com/office/drawing/2014/chart" uri="{C3380CC4-5D6E-409C-BE32-E72D297353CC}">
              <c16:uniqueId val="{00000003-DEF3-4A2E-ADB4-17BCB17A6019}"/>
            </c:ext>
          </c:extLst>
        </c:ser>
        <c:ser>
          <c:idx val="4"/>
          <c:order val="4"/>
          <c:tx>
            <c:strRef>
              <c:f>Sheet1!$F$1</c:f>
              <c:strCache>
                <c:ptCount val="1"/>
                <c:pt idx="0">
                  <c:v>浅绿</c:v>
                </c:pt>
              </c:strCache>
            </c:strRef>
          </c:tx>
          <c:spPr>
            <a:solidFill>
              <a:schemeClr val="accent5">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Sheet1!$F$2:$F$11</c:f>
              <c:numCache>
                <c:formatCode>General</c:formatCode>
                <c:ptCount val="10"/>
                <c:pt idx="0">
                  <c:v>5</c:v>
                </c:pt>
                <c:pt idx="1">
                  <c:v>5</c:v>
                </c:pt>
                <c:pt idx="2">
                  <c:v>9</c:v>
                </c:pt>
                <c:pt idx="3">
                  <c:v>10</c:v>
                </c:pt>
                <c:pt idx="4">
                  <c:v>12</c:v>
                </c:pt>
                <c:pt idx="5">
                  <c:v>9</c:v>
                </c:pt>
                <c:pt idx="6">
                  <c:v>10</c:v>
                </c:pt>
                <c:pt idx="7">
                  <c:v>8</c:v>
                </c:pt>
                <c:pt idx="8">
                  <c:v>5</c:v>
                </c:pt>
                <c:pt idx="9">
                  <c:v>5</c:v>
                </c:pt>
              </c:numCache>
            </c:numRef>
          </c:val>
          <c:extLst>
            <c:ext xmlns:c16="http://schemas.microsoft.com/office/drawing/2014/chart" uri="{C3380CC4-5D6E-409C-BE32-E72D297353CC}">
              <c16:uniqueId val="{00000004-DEF3-4A2E-ADB4-17BCB17A6019}"/>
            </c:ext>
          </c:extLst>
        </c:ser>
        <c:ser>
          <c:idx val="5"/>
          <c:order val="5"/>
          <c:tx>
            <c:strRef>
              <c:f>Sheet1!$G$1</c:f>
              <c:strCache>
                <c:ptCount val="1"/>
                <c:pt idx="0">
                  <c:v>浅绿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Sheet1!$G$2:$G$11</c:f>
              <c:numCache>
                <c:formatCode>General</c:formatCode>
                <c:ptCount val="10"/>
                <c:pt idx="0">
                  <c:v>5</c:v>
                </c:pt>
                <c:pt idx="1">
                  <c:v>10</c:v>
                </c:pt>
                <c:pt idx="2">
                  <c:v>10</c:v>
                </c:pt>
                <c:pt idx="3">
                  <c:v>10</c:v>
                </c:pt>
                <c:pt idx="4">
                  <c:v>10</c:v>
                </c:pt>
                <c:pt idx="5">
                  <c:v>11</c:v>
                </c:pt>
                <c:pt idx="6">
                  <c:v>13</c:v>
                </c:pt>
                <c:pt idx="7">
                  <c:v>8</c:v>
                </c:pt>
                <c:pt idx="8">
                  <c:v>10</c:v>
                </c:pt>
                <c:pt idx="9">
                  <c:v>5</c:v>
                </c:pt>
              </c:numCache>
            </c:numRef>
          </c:val>
          <c:extLst>
            <c:ext xmlns:c16="http://schemas.microsoft.com/office/drawing/2014/chart" uri="{C3380CC4-5D6E-409C-BE32-E72D297353CC}">
              <c16:uniqueId val="{00000005-DEF3-4A2E-ADB4-17BCB17A6019}"/>
            </c:ext>
          </c:extLst>
        </c:ser>
        <c:dLbls>
          <c:showLegendKey val="0"/>
          <c:showVal val="0"/>
          <c:showCatName val="0"/>
          <c:showSerName val="0"/>
          <c:showPercent val="0"/>
          <c:showBubbleSize val="0"/>
        </c:dLbls>
        <c:axId val="704627680"/>
        <c:axId val="704632256"/>
      </c:radarChart>
      <c:catAx>
        <c:axId val="704627680"/>
        <c:scaling>
          <c:orientation val="minMax"/>
        </c:scaling>
        <c:delete val="1"/>
        <c:axPos val="b"/>
        <c:numFmt formatCode="General" sourceLinked="1"/>
        <c:majorTickMark val="none"/>
        <c:minorTickMark val="none"/>
        <c:tickLblPos val="nextTo"/>
        <c:crossAx val="704632256"/>
        <c:crosses val="autoZero"/>
        <c:auto val="1"/>
        <c:lblAlgn val="ctr"/>
        <c:lblOffset val="100"/>
        <c:noMultiLvlLbl val="0"/>
      </c:catAx>
      <c:valAx>
        <c:axId val="704632256"/>
        <c:scaling>
          <c:orientation val="minMax"/>
        </c:scaling>
        <c:delete val="1"/>
        <c:axPos val="l"/>
        <c:majorGridlines>
          <c:spPr>
            <a:ln w="9525" cap="flat" cmpd="sng" algn="ctr">
              <a:solidFill>
                <a:schemeClr val="tx1">
                  <a:lumMod val="75000"/>
                  <a:lumOff val="25000"/>
                </a:schemeClr>
              </a:solidFill>
              <a:round/>
            </a:ln>
            <a:effectLst/>
          </c:spPr>
        </c:majorGridlines>
        <c:numFmt formatCode="General" sourceLinked="1"/>
        <c:majorTickMark val="out"/>
        <c:minorTickMark val="none"/>
        <c:tickLblPos val="nextTo"/>
        <c:crossAx val="704627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filled"/>
        <c:varyColors val="0"/>
        <c:ser>
          <c:idx val="0"/>
          <c:order val="0"/>
          <c:tx>
            <c:strRef>
              <c:f>Sheet1!$B$1</c:f>
              <c:strCache>
                <c:ptCount val="1"/>
                <c:pt idx="0">
                  <c:v>深红</c:v>
                </c:pt>
              </c:strCache>
            </c:strRef>
          </c:tx>
          <c:spPr>
            <a:solidFill>
              <a:schemeClr val="accent1">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5</c:v>
                </c:pt>
                <c:pt idx="1">
                  <c:v>5</c:v>
                </c:pt>
                <c:pt idx="2">
                  <c:v>5</c:v>
                </c:pt>
                <c:pt idx="3">
                  <c:v>5</c:v>
                </c:pt>
                <c:pt idx="4">
                  <c:v>5</c:v>
                </c:pt>
                <c:pt idx="5">
                  <c:v>8</c:v>
                </c:pt>
                <c:pt idx="6">
                  <c:v>9</c:v>
                </c:pt>
                <c:pt idx="7">
                  <c:v>10</c:v>
                </c:pt>
                <c:pt idx="8">
                  <c:v>12</c:v>
                </c:pt>
                <c:pt idx="9">
                  <c:v>13</c:v>
                </c:pt>
              </c:numCache>
            </c:numRef>
          </c:val>
          <c:extLst>
            <c:ext xmlns:c16="http://schemas.microsoft.com/office/drawing/2014/chart" uri="{C3380CC4-5D6E-409C-BE32-E72D297353CC}">
              <c16:uniqueId val="{00000000-0D0B-4F81-B650-31EE0625295C}"/>
            </c:ext>
          </c:extLst>
        </c:ser>
        <c:ser>
          <c:idx val="1"/>
          <c:order val="1"/>
          <c:tx>
            <c:strRef>
              <c:f>Sheet1!$C$1</c:f>
              <c:strCache>
                <c:ptCount val="1"/>
                <c:pt idx="0">
                  <c:v>紫色</c:v>
                </c:pt>
              </c:strCache>
            </c:strRef>
          </c:tx>
          <c:spPr>
            <a:solidFill>
              <a:schemeClr val="accent2">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Sheet1!$C$2:$C$11</c:f>
              <c:numCache>
                <c:formatCode>General</c:formatCode>
                <c:ptCount val="10"/>
                <c:pt idx="0">
                  <c:v>5</c:v>
                </c:pt>
                <c:pt idx="1">
                  <c:v>5</c:v>
                </c:pt>
                <c:pt idx="2">
                  <c:v>5</c:v>
                </c:pt>
                <c:pt idx="3">
                  <c:v>5</c:v>
                </c:pt>
                <c:pt idx="4">
                  <c:v>5</c:v>
                </c:pt>
                <c:pt idx="5">
                  <c:v>5</c:v>
                </c:pt>
                <c:pt idx="6">
                  <c:v>10</c:v>
                </c:pt>
                <c:pt idx="7">
                  <c:v>10</c:v>
                </c:pt>
                <c:pt idx="8">
                  <c:v>10</c:v>
                </c:pt>
                <c:pt idx="9">
                  <c:v>9</c:v>
                </c:pt>
              </c:numCache>
            </c:numRef>
          </c:val>
          <c:extLst>
            <c:ext xmlns:c16="http://schemas.microsoft.com/office/drawing/2014/chart" uri="{C3380CC4-5D6E-409C-BE32-E72D297353CC}">
              <c16:uniqueId val="{00000001-0D0B-4F81-B650-31EE0625295C}"/>
            </c:ext>
          </c:extLst>
        </c:ser>
        <c:ser>
          <c:idx val="2"/>
          <c:order val="2"/>
          <c:tx>
            <c:strRef>
              <c:f>Sheet1!$D$1</c:f>
              <c:strCache>
                <c:ptCount val="1"/>
                <c:pt idx="0">
                  <c:v>深绿</c:v>
                </c:pt>
              </c:strCache>
            </c:strRef>
          </c:tx>
          <c:spPr>
            <a:solidFill>
              <a:schemeClr val="accent3">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Sheet1!$D$2:$D$11</c:f>
              <c:numCache>
                <c:formatCode>General</c:formatCode>
                <c:ptCount val="10"/>
                <c:pt idx="0">
                  <c:v>5</c:v>
                </c:pt>
                <c:pt idx="1">
                  <c:v>5</c:v>
                </c:pt>
                <c:pt idx="2">
                  <c:v>5</c:v>
                </c:pt>
                <c:pt idx="3">
                  <c:v>5</c:v>
                </c:pt>
                <c:pt idx="4">
                  <c:v>5</c:v>
                </c:pt>
                <c:pt idx="5">
                  <c:v>5</c:v>
                </c:pt>
                <c:pt idx="6">
                  <c:v>9</c:v>
                </c:pt>
                <c:pt idx="7">
                  <c:v>11</c:v>
                </c:pt>
                <c:pt idx="8">
                  <c:v>10</c:v>
                </c:pt>
                <c:pt idx="9">
                  <c:v>8</c:v>
                </c:pt>
              </c:numCache>
            </c:numRef>
          </c:val>
          <c:extLst>
            <c:ext xmlns:c16="http://schemas.microsoft.com/office/drawing/2014/chart" uri="{C3380CC4-5D6E-409C-BE32-E72D297353CC}">
              <c16:uniqueId val="{00000002-0D0B-4F81-B650-31EE0625295C}"/>
            </c:ext>
          </c:extLst>
        </c:ser>
        <c:ser>
          <c:idx val="3"/>
          <c:order val="3"/>
          <c:tx>
            <c:strRef>
              <c:f>Sheet1!$E$1</c:f>
              <c:strCache>
                <c:ptCount val="1"/>
                <c:pt idx="0">
                  <c:v>浅绿</c:v>
                </c:pt>
              </c:strCache>
            </c:strRef>
          </c:tx>
          <c:spPr>
            <a:solidFill>
              <a:schemeClr val="accent4">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Sheet1!$E$2:$E$11</c:f>
              <c:numCache>
                <c:formatCode>General</c:formatCode>
                <c:ptCount val="10"/>
                <c:pt idx="0">
                  <c:v>5</c:v>
                </c:pt>
                <c:pt idx="1">
                  <c:v>5</c:v>
                </c:pt>
                <c:pt idx="2">
                  <c:v>8</c:v>
                </c:pt>
                <c:pt idx="3">
                  <c:v>10</c:v>
                </c:pt>
                <c:pt idx="4">
                  <c:v>10</c:v>
                </c:pt>
                <c:pt idx="5">
                  <c:v>10</c:v>
                </c:pt>
                <c:pt idx="6">
                  <c:v>10</c:v>
                </c:pt>
                <c:pt idx="7">
                  <c:v>10</c:v>
                </c:pt>
                <c:pt idx="8">
                  <c:v>9</c:v>
                </c:pt>
                <c:pt idx="9">
                  <c:v>5</c:v>
                </c:pt>
              </c:numCache>
            </c:numRef>
          </c:val>
          <c:extLst>
            <c:ext xmlns:c16="http://schemas.microsoft.com/office/drawing/2014/chart" uri="{C3380CC4-5D6E-409C-BE32-E72D297353CC}">
              <c16:uniqueId val="{00000003-0D0B-4F81-B650-31EE0625295C}"/>
            </c:ext>
          </c:extLst>
        </c:ser>
        <c:ser>
          <c:idx val="4"/>
          <c:order val="4"/>
          <c:tx>
            <c:strRef>
              <c:f>Sheet1!$F$1</c:f>
              <c:strCache>
                <c:ptCount val="1"/>
                <c:pt idx="0">
                  <c:v>浅绿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Sheet1!$F$2:$F$11</c:f>
              <c:numCache>
                <c:formatCode>General</c:formatCode>
                <c:ptCount val="10"/>
                <c:pt idx="0">
                  <c:v>5</c:v>
                </c:pt>
                <c:pt idx="1">
                  <c:v>5</c:v>
                </c:pt>
                <c:pt idx="2">
                  <c:v>9</c:v>
                </c:pt>
                <c:pt idx="3">
                  <c:v>10</c:v>
                </c:pt>
                <c:pt idx="4">
                  <c:v>12</c:v>
                </c:pt>
                <c:pt idx="5">
                  <c:v>9</c:v>
                </c:pt>
                <c:pt idx="6">
                  <c:v>10</c:v>
                </c:pt>
                <c:pt idx="7">
                  <c:v>8</c:v>
                </c:pt>
                <c:pt idx="8">
                  <c:v>5</c:v>
                </c:pt>
                <c:pt idx="9">
                  <c:v>5</c:v>
                </c:pt>
              </c:numCache>
            </c:numRef>
          </c:val>
          <c:extLst>
            <c:ext xmlns:c16="http://schemas.microsoft.com/office/drawing/2014/chart" uri="{C3380CC4-5D6E-409C-BE32-E72D297353CC}">
              <c16:uniqueId val="{00000004-0D0B-4F81-B650-31EE0625295C}"/>
            </c:ext>
          </c:extLst>
        </c:ser>
        <c:ser>
          <c:idx val="5"/>
          <c:order val="5"/>
          <c:tx>
            <c:strRef>
              <c:f>Sheet1!$G$1</c:f>
              <c:strCache>
                <c:ptCount val="1"/>
                <c:pt idx="0">
                  <c:v>浅绿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Sheet1!$G$2:$G$11</c:f>
              <c:numCache>
                <c:formatCode>General</c:formatCode>
                <c:ptCount val="10"/>
                <c:pt idx="0">
                  <c:v>5</c:v>
                </c:pt>
                <c:pt idx="1">
                  <c:v>10</c:v>
                </c:pt>
                <c:pt idx="2">
                  <c:v>10</c:v>
                </c:pt>
                <c:pt idx="3">
                  <c:v>10</c:v>
                </c:pt>
                <c:pt idx="4">
                  <c:v>10</c:v>
                </c:pt>
                <c:pt idx="5">
                  <c:v>11</c:v>
                </c:pt>
                <c:pt idx="6">
                  <c:v>13</c:v>
                </c:pt>
                <c:pt idx="7">
                  <c:v>8</c:v>
                </c:pt>
                <c:pt idx="8">
                  <c:v>10</c:v>
                </c:pt>
                <c:pt idx="9">
                  <c:v>5</c:v>
                </c:pt>
              </c:numCache>
            </c:numRef>
          </c:val>
          <c:extLst>
            <c:ext xmlns:c16="http://schemas.microsoft.com/office/drawing/2014/chart" uri="{C3380CC4-5D6E-409C-BE32-E72D297353CC}">
              <c16:uniqueId val="{00000005-0D0B-4F81-B650-31EE0625295C}"/>
            </c:ext>
          </c:extLst>
        </c:ser>
        <c:dLbls>
          <c:showLegendKey val="0"/>
          <c:showVal val="0"/>
          <c:showCatName val="0"/>
          <c:showSerName val="0"/>
          <c:showPercent val="0"/>
          <c:showBubbleSize val="0"/>
        </c:dLbls>
        <c:axId val="704627680"/>
        <c:axId val="704632256"/>
      </c:radarChart>
      <c:catAx>
        <c:axId val="704627680"/>
        <c:scaling>
          <c:orientation val="minMax"/>
        </c:scaling>
        <c:delete val="1"/>
        <c:axPos val="b"/>
        <c:numFmt formatCode="General" sourceLinked="1"/>
        <c:majorTickMark val="none"/>
        <c:minorTickMark val="none"/>
        <c:tickLblPos val="nextTo"/>
        <c:crossAx val="704632256"/>
        <c:crosses val="autoZero"/>
        <c:auto val="1"/>
        <c:lblAlgn val="ctr"/>
        <c:lblOffset val="100"/>
        <c:noMultiLvlLbl val="0"/>
      </c:catAx>
      <c:valAx>
        <c:axId val="704632256"/>
        <c:scaling>
          <c:orientation val="minMax"/>
        </c:scaling>
        <c:delete val="1"/>
        <c:axPos val="l"/>
        <c:majorGridlines>
          <c:spPr>
            <a:ln w="9525" cap="flat" cmpd="sng" algn="ctr">
              <a:solidFill>
                <a:schemeClr val="tx1">
                  <a:lumMod val="75000"/>
                  <a:lumOff val="25000"/>
                </a:schemeClr>
              </a:solidFill>
              <a:round/>
            </a:ln>
            <a:effectLst/>
          </c:spPr>
        </c:majorGridlines>
        <c:numFmt formatCode="General" sourceLinked="1"/>
        <c:majorTickMark val="out"/>
        <c:minorTickMark val="none"/>
        <c:tickLblPos val="nextTo"/>
        <c:crossAx val="704627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filled"/>
        <c:varyColors val="0"/>
        <c:ser>
          <c:idx val="0"/>
          <c:order val="0"/>
          <c:tx>
            <c:strRef>
              <c:f>Sheet1!$B$1</c:f>
              <c:strCache>
                <c:ptCount val="1"/>
                <c:pt idx="0">
                  <c:v>深红</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5</c:v>
                </c:pt>
                <c:pt idx="1">
                  <c:v>5</c:v>
                </c:pt>
                <c:pt idx="2">
                  <c:v>5</c:v>
                </c:pt>
                <c:pt idx="3">
                  <c:v>5</c:v>
                </c:pt>
                <c:pt idx="4">
                  <c:v>5</c:v>
                </c:pt>
                <c:pt idx="5">
                  <c:v>8</c:v>
                </c:pt>
                <c:pt idx="6">
                  <c:v>9</c:v>
                </c:pt>
                <c:pt idx="7">
                  <c:v>10</c:v>
                </c:pt>
                <c:pt idx="8">
                  <c:v>12</c:v>
                </c:pt>
                <c:pt idx="9">
                  <c:v>13</c:v>
                </c:pt>
              </c:numCache>
            </c:numRef>
          </c:val>
          <c:extLst>
            <c:ext xmlns:c16="http://schemas.microsoft.com/office/drawing/2014/chart" uri="{C3380CC4-5D6E-409C-BE32-E72D297353CC}">
              <c16:uniqueId val="{00000000-938E-499B-907B-7D94629695E4}"/>
            </c:ext>
          </c:extLst>
        </c:ser>
        <c:ser>
          <c:idx val="1"/>
          <c:order val="1"/>
          <c:tx>
            <c:strRef>
              <c:f>Sheet1!$C$1</c:f>
              <c:strCache>
                <c:ptCount val="1"/>
                <c:pt idx="0">
                  <c:v>紫色</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Sheet1!$C$2:$C$11</c:f>
              <c:numCache>
                <c:formatCode>General</c:formatCode>
                <c:ptCount val="10"/>
                <c:pt idx="0">
                  <c:v>5</c:v>
                </c:pt>
                <c:pt idx="1">
                  <c:v>5</c:v>
                </c:pt>
                <c:pt idx="2">
                  <c:v>5</c:v>
                </c:pt>
                <c:pt idx="3">
                  <c:v>5</c:v>
                </c:pt>
                <c:pt idx="4">
                  <c:v>5</c:v>
                </c:pt>
                <c:pt idx="5">
                  <c:v>5</c:v>
                </c:pt>
                <c:pt idx="6">
                  <c:v>10</c:v>
                </c:pt>
                <c:pt idx="7">
                  <c:v>10</c:v>
                </c:pt>
                <c:pt idx="8">
                  <c:v>10</c:v>
                </c:pt>
                <c:pt idx="9">
                  <c:v>9</c:v>
                </c:pt>
              </c:numCache>
            </c:numRef>
          </c:val>
          <c:extLst>
            <c:ext xmlns:c16="http://schemas.microsoft.com/office/drawing/2014/chart" uri="{C3380CC4-5D6E-409C-BE32-E72D297353CC}">
              <c16:uniqueId val="{00000001-938E-499B-907B-7D94629695E4}"/>
            </c:ext>
          </c:extLst>
        </c:ser>
        <c:ser>
          <c:idx val="2"/>
          <c:order val="2"/>
          <c:tx>
            <c:strRef>
              <c:f>Sheet1!$D$1</c:f>
              <c:strCache>
                <c:ptCount val="1"/>
                <c:pt idx="0">
                  <c:v>深绿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Sheet1!$D$2:$D$11</c:f>
              <c:numCache>
                <c:formatCode>General</c:formatCode>
                <c:ptCount val="10"/>
                <c:pt idx="0">
                  <c:v>5</c:v>
                </c:pt>
                <c:pt idx="1">
                  <c:v>5</c:v>
                </c:pt>
                <c:pt idx="2">
                  <c:v>5</c:v>
                </c:pt>
                <c:pt idx="3">
                  <c:v>5</c:v>
                </c:pt>
                <c:pt idx="4">
                  <c:v>5</c:v>
                </c:pt>
                <c:pt idx="5">
                  <c:v>5</c:v>
                </c:pt>
                <c:pt idx="6">
                  <c:v>9</c:v>
                </c:pt>
                <c:pt idx="7">
                  <c:v>11</c:v>
                </c:pt>
                <c:pt idx="8">
                  <c:v>10</c:v>
                </c:pt>
                <c:pt idx="9">
                  <c:v>8</c:v>
                </c:pt>
              </c:numCache>
            </c:numRef>
          </c:val>
          <c:extLst>
            <c:ext xmlns:c16="http://schemas.microsoft.com/office/drawing/2014/chart" uri="{C3380CC4-5D6E-409C-BE32-E72D297353CC}">
              <c16:uniqueId val="{00000002-938E-499B-907B-7D94629695E4}"/>
            </c:ext>
          </c:extLst>
        </c:ser>
        <c:ser>
          <c:idx val="3"/>
          <c:order val="3"/>
          <c:tx>
            <c:strRef>
              <c:f>Sheet1!$E$1</c:f>
              <c:strCache>
                <c:ptCount val="1"/>
                <c:pt idx="0">
                  <c:v>浅绿</c:v>
                </c:pt>
              </c:strCache>
            </c:strRef>
          </c:tx>
          <c:spPr>
            <a:solidFill>
              <a:schemeClr val="accent4">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Sheet1!$E$2:$E$11</c:f>
              <c:numCache>
                <c:formatCode>General</c:formatCode>
                <c:ptCount val="10"/>
                <c:pt idx="0">
                  <c:v>5</c:v>
                </c:pt>
                <c:pt idx="1">
                  <c:v>5</c:v>
                </c:pt>
                <c:pt idx="2">
                  <c:v>8</c:v>
                </c:pt>
                <c:pt idx="3">
                  <c:v>10</c:v>
                </c:pt>
                <c:pt idx="4">
                  <c:v>10</c:v>
                </c:pt>
                <c:pt idx="5">
                  <c:v>10</c:v>
                </c:pt>
                <c:pt idx="6">
                  <c:v>10</c:v>
                </c:pt>
                <c:pt idx="7">
                  <c:v>10</c:v>
                </c:pt>
                <c:pt idx="8">
                  <c:v>9</c:v>
                </c:pt>
                <c:pt idx="9">
                  <c:v>5</c:v>
                </c:pt>
              </c:numCache>
            </c:numRef>
          </c:val>
          <c:extLst>
            <c:ext xmlns:c16="http://schemas.microsoft.com/office/drawing/2014/chart" uri="{C3380CC4-5D6E-409C-BE32-E72D297353CC}">
              <c16:uniqueId val="{00000003-938E-499B-907B-7D94629695E4}"/>
            </c:ext>
          </c:extLst>
        </c:ser>
        <c:ser>
          <c:idx val="4"/>
          <c:order val="4"/>
          <c:tx>
            <c:strRef>
              <c:f>Sheet1!$F$1</c:f>
              <c:strCache>
                <c:ptCount val="1"/>
                <c:pt idx="0">
                  <c:v>浅绿</c:v>
                </c:pt>
              </c:strCache>
            </c:strRef>
          </c:tx>
          <c:spPr>
            <a:solidFill>
              <a:schemeClr val="accent5">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Sheet1!$F$2:$F$11</c:f>
              <c:numCache>
                <c:formatCode>General</c:formatCode>
                <c:ptCount val="10"/>
                <c:pt idx="0">
                  <c:v>5</c:v>
                </c:pt>
                <c:pt idx="1">
                  <c:v>5</c:v>
                </c:pt>
                <c:pt idx="2">
                  <c:v>9</c:v>
                </c:pt>
                <c:pt idx="3">
                  <c:v>10</c:v>
                </c:pt>
                <c:pt idx="4">
                  <c:v>12</c:v>
                </c:pt>
                <c:pt idx="5">
                  <c:v>9</c:v>
                </c:pt>
                <c:pt idx="6">
                  <c:v>10</c:v>
                </c:pt>
                <c:pt idx="7">
                  <c:v>8</c:v>
                </c:pt>
                <c:pt idx="8">
                  <c:v>5</c:v>
                </c:pt>
                <c:pt idx="9">
                  <c:v>5</c:v>
                </c:pt>
              </c:numCache>
            </c:numRef>
          </c:val>
          <c:extLst>
            <c:ext xmlns:c16="http://schemas.microsoft.com/office/drawing/2014/chart" uri="{C3380CC4-5D6E-409C-BE32-E72D297353CC}">
              <c16:uniqueId val="{00000004-938E-499B-907B-7D94629695E4}"/>
            </c:ext>
          </c:extLst>
        </c:ser>
        <c:ser>
          <c:idx val="5"/>
          <c:order val="5"/>
          <c:tx>
            <c:strRef>
              <c:f>Sheet1!$G$1</c:f>
              <c:strCache>
                <c:ptCount val="1"/>
                <c:pt idx="0">
                  <c:v>浅绿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Sheet1!$G$2:$G$11</c:f>
              <c:numCache>
                <c:formatCode>General</c:formatCode>
                <c:ptCount val="10"/>
                <c:pt idx="0">
                  <c:v>5</c:v>
                </c:pt>
                <c:pt idx="1">
                  <c:v>10</c:v>
                </c:pt>
                <c:pt idx="2">
                  <c:v>10</c:v>
                </c:pt>
                <c:pt idx="3">
                  <c:v>10</c:v>
                </c:pt>
                <c:pt idx="4">
                  <c:v>10</c:v>
                </c:pt>
                <c:pt idx="5">
                  <c:v>11</c:v>
                </c:pt>
                <c:pt idx="6">
                  <c:v>13</c:v>
                </c:pt>
                <c:pt idx="7">
                  <c:v>8</c:v>
                </c:pt>
                <c:pt idx="8">
                  <c:v>10</c:v>
                </c:pt>
                <c:pt idx="9">
                  <c:v>5</c:v>
                </c:pt>
              </c:numCache>
            </c:numRef>
          </c:val>
          <c:extLst>
            <c:ext xmlns:c16="http://schemas.microsoft.com/office/drawing/2014/chart" uri="{C3380CC4-5D6E-409C-BE32-E72D297353CC}">
              <c16:uniqueId val="{00000005-938E-499B-907B-7D94629695E4}"/>
            </c:ext>
          </c:extLst>
        </c:ser>
        <c:dLbls>
          <c:showLegendKey val="0"/>
          <c:showVal val="0"/>
          <c:showCatName val="0"/>
          <c:showSerName val="0"/>
          <c:showPercent val="0"/>
          <c:showBubbleSize val="0"/>
        </c:dLbls>
        <c:axId val="704627680"/>
        <c:axId val="704632256"/>
      </c:radarChart>
      <c:catAx>
        <c:axId val="704627680"/>
        <c:scaling>
          <c:orientation val="minMax"/>
        </c:scaling>
        <c:delete val="1"/>
        <c:axPos val="b"/>
        <c:numFmt formatCode="General" sourceLinked="1"/>
        <c:majorTickMark val="none"/>
        <c:minorTickMark val="none"/>
        <c:tickLblPos val="nextTo"/>
        <c:crossAx val="704632256"/>
        <c:crosses val="autoZero"/>
        <c:auto val="1"/>
        <c:lblAlgn val="ctr"/>
        <c:lblOffset val="100"/>
        <c:noMultiLvlLbl val="0"/>
      </c:catAx>
      <c:valAx>
        <c:axId val="704632256"/>
        <c:scaling>
          <c:orientation val="minMax"/>
        </c:scaling>
        <c:delete val="1"/>
        <c:axPos val="l"/>
        <c:majorGridlines>
          <c:spPr>
            <a:ln w="9525" cap="flat" cmpd="sng" algn="ctr">
              <a:solidFill>
                <a:schemeClr val="tx1">
                  <a:lumMod val="75000"/>
                  <a:lumOff val="25000"/>
                </a:schemeClr>
              </a:solidFill>
              <a:round/>
            </a:ln>
            <a:effectLst/>
          </c:spPr>
        </c:majorGridlines>
        <c:numFmt formatCode="General" sourceLinked="1"/>
        <c:majorTickMark val="out"/>
        <c:minorTickMark val="none"/>
        <c:tickLblPos val="nextTo"/>
        <c:crossAx val="704627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radarChart>
        <c:radarStyle val="filled"/>
        <c:varyColors val="0"/>
        <c:ser>
          <c:idx val="0"/>
          <c:order val="0"/>
          <c:tx>
            <c:strRef>
              <c:f>Sheet1!$B$1</c:f>
              <c:strCache>
                <c:ptCount val="1"/>
                <c:pt idx="0">
                  <c:v>深红</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Sheet1!$B$2:$B$11</c:f>
              <c:numCache>
                <c:formatCode>General</c:formatCode>
                <c:ptCount val="10"/>
                <c:pt idx="0">
                  <c:v>5</c:v>
                </c:pt>
                <c:pt idx="1">
                  <c:v>5</c:v>
                </c:pt>
                <c:pt idx="2">
                  <c:v>5</c:v>
                </c:pt>
                <c:pt idx="3">
                  <c:v>5</c:v>
                </c:pt>
                <c:pt idx="4">
                  <c:v>5</c:v>
                </c:pt>
                <c:pt idx="5">
                  <c:v>8</c:v>
                </c:pt>
                <c:pt idx="6">
                  <c:v>9</c:v>
                </c:pt>
                <c:pt idx="7">
                  <c:v>10</c:v>
                </c:pt>
                <c:pt idx="8">
                  <c:v>12</c:v>
                </c:pt>
                <c:pt idx="9">
                  <c:v>13</c:v>
                </c:pt>
              </c:numCache>
            </c:numRef>
          </c:val>
          <c:extLst>
            <c:ext xmlns:c16="http://schemas.microsoft.com/office/drawing/2014/chart" uri="{C3380CC4-5D6E-409C-BE32-E72D297353CC}">
              <c16:uniqueId val="{00000000-14BE-4F40-88E9-A4806594C79C}"/>
            </c:ext>
          </c:extLst>
        </c:ser>
        <c:ser>
          <c:idx val="1"/>
          <c:order val="1"/>
          <c:tx>
            <c:strRef>
              <c:f>Sheet1!$C$1</c:f>
              <c:strCache>
                <c:ptCount val="1"/>
                <c:pt idx="0">
                  <c:v>紫色</c:v>
                </c:pt>
              </c:strCache>
            </c:strRef>
          </c:tx>
          <c:spPr>
            <a:solidFill>
              <a:schemeClr val="accent2">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Sheet1!$C$2:$C$11</c:f>
              <c:numCache>
                <c:formatCode>General</c:formatCode>
                <c:ptCount val="10"/>
                <c:pt idx="0">
                  <c:v>5</c:v>
                </c:pt>
                <c:pt idx="1">
                  <c:v>5</c:v>
                </c:pt>
                <c:pt idx="2">
                  <c:v>5</c:v>
                </c:pt>
                <c:pt idx="3">
                  <c:v>5</c:v>
                </c:pt>
                <c:pt idx="4">
                  <c:v>5</c:v>
                </c:pt>
                <c:pt idx="5">
                  <c:v>5</c:v>
                </c:pt>
                <c:pt idx="6">
                  <c:v>10</c:v>
                </c:pt>
                <c:pt idx="7">
                  <c:v>10</c:v>
                </c:pt>
                <c:pt idx="8">
                  <c:v>10</c:v>
                </c:pt>
                <c:pt idx="9">
                  <c:v>9</c:v>
                </c:pt>
              </c:numCache>
            </c:numRef>
          </c:val>
          <c:extLst>
            <c:ext xmlns:c16="http://schemas.microsoft.com/office/drawing/2014/chart" uri="{C3380CC4-5D6E-409C-BE32-E72D297353CC}">
              <c16:uniqueId val="{00000001-14BE-4F40-88E9-A4806594C79C}"/>
            </c:ext>
          </c:extLst>
        </c:ser>
        <c:ser>
          <c:idx val="2"/>
          <c:order val="2"/>
          <c:tx>
            <c:strRef>
              <c:f>Sheet1!$D$1</c:f>
              <c:strCache>
                <c:ptCount val="1"/>
                <c:pt idx="0">
                  <c:v>深绿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Sheet1!$D$2:$D$11</c:f>
              <c:numCache>
                <c:formatCode>General</c:formatCode>
                <c:ptCount val="10"/>
                <c:pt idx="0">
                  <c:v>5</c:v>
                </c:pt>
                <c:pt idx="1">
                  <c:v>5</c:v>
                </c:pt>
                <c:pt idx="2">
                  <c:v>5</c:v>
                </c:pt>
                <c:pt idx="3">
                  <c:v>5</c:v>
                </c:pt>
                <c:pt idx="4">
                  <c:v>5</c:v>
                </c:pt>
                <c:pt idx="5">
                  <c:v>5</c:v>
                </c:pt>
                <c:pt idx="6">
                  <c:v>9</c:v>
                </c:pt>
                <c:pt idx="7">
                  <c:v>11</c:v>
                </c:pt>
                <c:pt idx="8">
                  <c:v>10</c:v>
                </c:pt>
                <c:pt idx="9">
                  <c:v>8</c:v>
                </c:pt>
              </c:numCache>
            </c:numRef>
          </c:val>
          <c:extLst>
            <c:ext xmlns:c16="http://schemas.microsoft.com/office/drawing/2014/chart" uri="{C3380CC4-5D6E-409C-BE32-E72D297353CC}">
              <c16:uniqueId val="{00000002-14BE-4F40-88E9-A4806594C79C}"/>
            </c:ext>
          </c:extLst>
        </c:ser>
        <c:ser>
          <c:idx val="3"/>
          <c:order val="3"/>
          <c:tx>
            <c:strRef>
              <c:f>Sheet1!$E$1</c:f>
              <c:strCache>
                <c:ptCount val="1"/>
                <c:pt idx="0">
                  <c:v>浅绿</c:v>
                </c:pt>
              </c:strCache>
            </c:strRef>
          </c:tx>
          <c:spPr>
            <a:solidFill>
              <a:schemeClr val="accent4">
                <a:alpha val="80000"/>
              </a:schemeClr>
            </a:solid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Sheet1!$E$2:$E$11</c:f>
              <c:numCache>
                <c:formatCode>General</c:formatCode>
                <c:ptCount val="10"/>
                <c:pt idx="0">
                  <c:v>5</c:v>
                </c:pt>
                <c:pt idx="1">
                  <c:v>5</c:v>
                </c:pt>
                <c:pt idx="2">
                  <c:v>8</c:v>
                </c:pt>
                <c:pt idx="3">
                  <c:v>10</c:v>
                </c:pt>
                <c:pt idx="4">
                  <c:v>10</c:v>
                </c:pt>
                <c:pt idx="5">
                  <c:v>10</c:v>
                </c:pt>
                <c:pt idx="6">
                  <c:v>10</c:v>
                </c:pt>
                <c:pt idx="7">
                  <c:v>10</c:v>
                </c:pt>
                <c:pt idx="8">
                  <c:v>9</c:v>
                </c:pt>
                <c:pt idx="9">
                  <c:v>5</c:v>
                </c:pt>
              </c:numCache>
            </c:numRef>
          </c:val>
          <c:extLst>
            <c:ext xmlns:c16="http://schemas.microsoft.com/office/drawing/2014/chart" uri="{C3380CC4-5D6E-409C-BE32-E72D297353CC}">
              <c16:uniqueId val="{00000003-14BE-4F40-88E9-A4806594C79C}"/>
            </c:ext>
          </c:extLst>
        </c:ser>
        <c:ser>
          <c:idx val="4"/>
          <c:order val="4"/>
          <c:tx>
            <c:strRef>
              <c:f>Sheet1!$F$1</c:f>
              <c:strCache>
                <c:ptCount val="1"/>
                <c:pt idx="0">
                  <c:v>浅绿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Sheet1!$F$2:$F$11</c:f>
              <c:numCache>
                <c:formatCode>General</c:formatCode>
                <c:ptCount val="10"/>
                <c:pt idx="0">
                  <c:v>5</c:v>
                </c:pt>
                <c:pt idx="1">
                  <c:v>5</c:v>
                </c:pt>
                <c:pt idx="2">
                  <c:v>9</c:v>
                </c:pt>
                <c:pt idx="3">
                  <c:v>10</c:v>
                </c:pt>
                <c:pt idx="4">
                  <c:v>12</c:v>
                </c:pt>
                <c:pt idx="5">
                  <c:v>9</c:v>
                </c:pt>
                <c:pt idx="6">
                  <c:v>10</c:v>
                </c:pt>
                <c:pt idx="7">
                  <c:v>8</c:v>
                </c:pt>
                <c:pt idx="8">
                  <c:v>5</c:v>
                </c:pt>
                <c:pt idx="9">
                  <c:v>5</c:v>
                </c:pt>
              </c:numCache>
            </c:numRef>
          </c:val>
          <c:extLst>
            <c:ext xmlns:c16="http://schemas.microsoft.com/office/drawing/2014/chart" uri="{C3380CC4-5D6E-409C-BE32-E72D297353CC}">
              <c16:uniqueId val="{00000004-14BE-4F40-88E9-A4806594C79C}"/>
            </c:ext>
          </c:extLst>
        </c:ser>
        <c:ser>
          <c:idx val="5"/>
          <c:order val="5"/>
          <c:tx>
            <c:strRef>
              <c:f>Sheet1!$G$1</c:f>
              <c:strCache>
                <c:ptCount val="1"/>
                <c:pt idx="0">
                  <c:v>浅绿</c:v>
                </c:pt>
              </c:strCache>
            </c:strRef>
          </c:tx>
          <c:spPr>
            <a:noFill/>
            <a:ln>
              <a:noFill/>
            </a:ln>
            <a:effectLst/>
          </c:spPr>
          <c:cat>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Sheet1!$G$2:$G$11</c:f>
              <c:numCache>
                <c:formatCode>General</c:formatCode>
                <c:ptCount val="10"/>
                <c:pt idx="0">
                  <c:v>5</c:v>
                </c:pt>
                <c:pt idx="1">
                  <c:v>10</c:v>
                </c:pt>
                <c:pt idx="2">
                  <c:v>10</c:v>
                </c:pt>
                <c:pt idx="3">
                  <c:v>10</c:v>
                </c:pt>
                <c:pt idx="4">
                  <c:v>10</c:v>
                </c:pt>
                <c:pt idx="5">
                  <c:v>11</c:v>
                </c:pt>
                <c:pt idx="6">
                  <c:v>13</c:v>
                </c:pt>
                <c:pt idx="7">
                  <c:v>8</c:v>
                </c:pt>
                <c:pt idx="8">
                  <c:v>10</c:v>
                </c:pt>
                <c:pt idx="9">
                  <c:v>5</c:v>
                </c:pt>
              </c:numCache>
            </c:numRef>
          </c:val>
          <c:extLst>
            <c:ext xmlns:c16="http://schemas.microsoft.com/office/drawing/2014/chart" uri="{C3380CC4-5D6E-409C-BE32-E72D297353CC}">
              <c16:uniqueId val="{00000005-14BE-4F40-88E9-A4806594C79C}"/>
            </c:ext>
          </c:extLst>
        </c:ser>
        <c:dLbls>
          <c:showLegendKey val="0"/>
          <c:showVal val="0"/>
          <c:showCatName val="0"/>
          <c:showSerName val="0"/>
          <c:showPercent val="0"/>
          <c:showBubbleSize val="0"/>
        </c:dLbls>
        <c:axId val="704627680"/>
        <c:axId val="704632256"/>
      </c:radarChart>
      <c:catAx>
        <c:axId val="704627680"/>
        <c:scaling>
          <c:orientation val="minMax"/>
        </c:scaling>
        <c:delete val="1"/>
        <c:axPos val="b"/>
        <c:numFmt formatCode="General" sourceLinked="1"/>
        <c:majorTickMark val="none"/>
        <c:minorTickMark val="none"/>
        <c:tickLblPos val="nextTo"/>
        <c:crossAx val="704632256"/>
        <c:crosses val="autoZero"/>
        <c:auto val="1"/>
        <c:lblAlgn val="ctr"/>
        <c:lblOffset val="100"/>
        <c:noMultiLvlLbl val="0"/>
      </c:catAx>
      <c:valAx>
        <c:axId val="704632256"/>
        <c:scaling>
          <c:orientation val="minMax"/>
        </c:scaling>
        <c:delete val="1"/>
        <c:axPos val="l"/>
        <c:majorGridlines>
          <c:spPr>
            <a:ln w="9525" cap="flat" cmpd="sng" algn="ctr">
              <a:solidFill>
                <a:schemeClr val="tx1">
                  <a:lumMod val="75000"/>
                  <a:lumOff val="25000"/>
                </a:schemeClr>
              </a:solidFill>
              <a:round/>
            </a:ln>
            <a:effectLst/>
          </c:spPr>
        </c:majorGridlines>
        <c:numFmt formatCode="General" sourceLinked="1"/>
        <c:majorTickMark val="out"/>
        <c:minorTickMark val="none"/>
        <c:tickLblPos val="nextTo"/>
        <c:crossAx val="70462768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1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95659B-BEC9-4B07-95B7-6520C12D8A52}" type="datetimeFigureOut">
              <a:rPr lang="zh-CN" altLang="en-US" smtClean="0"/>
              <a:t>2017/9/26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D014A8-39CB-4FCC-AA9C-CD99BC18DA1A}" type="slidenum">
              <a:rPr lang="zh-CN" altLang="en-US" smtClean="0"/>
              <a:t>‹#›</a:t>
            </a:fld>
            <a:endParaRPr lang="zh-CN" altLang="en-US"/>
          </a:p>
        </p:txBody>
      </p:sp>
    </p:spTree>
    <p:extLst>
      <p:ext uri="{BB962C8B-B14F-4D97-AF65-F5344CB8AC3E}">
        <p14:creationId xmlns:p14="http://schemas.microsoft.com/office/powerpoint/2010/main" val="854016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0D014A8-39CB-4FCC-AA9C-CD99BC18DA1A}" type="slidenum">
              <a:rPr lang="zh-CN" altLang="en-US" smtClean="0"/>
              <a:t>5</a:t>
            </a:fld>
            <a:endParaRPr lang="zh-CN" altLang="en-US"/>
          </a:p>
        </p:txBody>
      </p:sp>
    </p:spTree>
    <p:extLst>
      <p:ext uri="{BB962C8B-B14F-4D97-AF65-F5344CB8AC3E}">
        <p14:creationId xmlns:p14="http://schemas.microsoft.com/office/powerpoint/2010/main" val="21456269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office.msn.com.cn/"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页">
    <p:bg>
      <p:bgPr>
        <a:gradFill flip="none" rotWithShape="1">
          <a:gsLst>
            <a:gs pos="0">
              <a:schemeClr val="tx1">
                <a:lumMod val="65000"/>
                <a:lumOff val="35000"/>
              </a:schemeClr>
            </a:gs>
            <a:gs pos="55000">
              <a:schemeClr val="tx1">
                <a:lumMod val="85000"/>
                <a:lumOff val="15000"/>
              </a:schemeClr>
            </a:gs>
            <a:gs pos="97000">
              <a:schemeClr val="tx1">
                <a:lumMod val="95000"/>
                <a:lumOff val="5000"/>
              </a:schemeClr>
            </a:gs>
          </a:gsLst>
          <a:lin ang="5400000" scaled="1"/>
          <a:tileRect/>
        </a:gradFill>
        <a:effectLst/>
      </p:bgPr>
    </p:bg>
    <p:spTree>
      <p:nvGrpSpPr>
        <p:cNvPr id="1" name=""/>
        <p:cNvGrpSpPr/>
        <p:nvPr/>
      </p:nvGrpSpPr>
      <p:grpSpPr>
        <a:xfrm>
          <a:off x="0" y="0"/>
          <a:ext cx="0" cy="0"/>
          <a:chOff x="0" y="0"/>
          <a:chExt cx="0" cy="0"/>
        </a:xfrm>
      </p:grpSpPr>
      <p:graphicFrame>
        <p:nvGraphicFramePr>
          <p:cNvPr id="2" name="图表 1"/>
          <p:cNvGraphicFramePr/>
          <p:nvPr userDrawn="1">
            <p:extLst>
              <p:ext uri="{D42A27DB-BD31-4B8C-83A1-F6EECF244321}">
                <p14:modId xmlns:p14="http://schemas.microsoft.com/office/powerpoint/2010/main" val="1776218586"/>
              </p:ext>
            </p:extLst>
          </p:nvPr>
        </p:nvGraphicFramePr>
        <p:xfrm>
          <a:off x="1118988" y="15852"/>
          <a:ext cx="9954024" cy="6753248"/>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组合 2"/>
          <p:cNvGrpSpPr/>
          <p:nvPr userDrawn="1"/>
        </p:nvGrpSpPr>
        <p:grpSpPr>
          <a:xfrm>
            <a:off x="4079131" y="1412132"/>
            <a:ext cx="4033736" cy="4033736"/>
            <a:chOff x="4216400" y="1549400"/>
            <a:chExt cx="3911600" cy="3911600"/>
          </a:xfrm>
          <a:effectLst>
            <a:outerShdw blurRad="342900" dist="88900" dir="8100000" algn="tr" rotWithShape="0">
              <a:prstClr val="black">
                <a:alpha val="83000"/>
              </a:prstClr>
            </a:outerShdw>
          </a:effectLst>
        </p:grpSpPr>
        <p:sp>
          <p:nvSpPr>
            <p:cNvPr id="4" name="椭圆 3"/>
            <p:cNvSpPr/>
            <p:nvPr/>
          </p:nvSpPr>
          <p:spPr>
            <a:xfrm>
              <a:off x="4216400" y="1549400"/>
              <a:ext cx="3911600" cy="3911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445000" y="1778000"/>
              <a:ext cx="3454400" cy="345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占位符 8"/>
          <p:cNvSpPr>
            <a:spLocks noGrp="1"/>
          </p:cNvSpPr>
          <p:nvPr>
            <p:ph type="body" sz="quarter" idx="10" hasCustomPrompt="1"/>
          </p:nvPr>
        </p:nvSpPr>
        <p:spPr>
          <a:xfrm>
            <a:off x="4809332" y="2351076"/>
            <a:ext cx="2573336" cy="1447800"/>
          </a:xfrm>
          <a:prstGeom prst="rect">
            <a:avLst/>
          </a:prstGeom>
        </p:spPr>
        <p:txBody>
          <a:bodyPr/>
          <a:lstStyle>
            <a:lvl1pPr marL="0" indent="0" algn="ctr">
              <a:buNone/>
              <a:defRPr sz="4000" b="1">
                <a:solidFill>
                  <a:schemeClr val="bg1"/>
                </a:solidFill>
              </a:defRPr>
            </a:lvl1pPr>
          </a:lstStyle>
          <a:p>
            <a:pPr lvl="0"/>
            <a:r>
              <a:rPr lang="zh-CN" altLang="en-US" dirty="0"/>
              <a:t>添加</a:t>
            </a:r>
            <a:endParaRPr lang="en-US" altLang="zh-CN" dirty="0"/>
          </a:p>
          <a:p>
            <a:pPr lvl="0"/>
            <a:r>
              <a:rPr lang="zh-CN" altLang="en-US" dirty="0"/>
              <a:t>论文名称</a:t>
            </a:r>
          </a:p>
        </p:txBody>
      </p:sp>
      <p:cxnSp>
        <p:nvCxnSpPr>
          <p:cNvPr id="7" name="直接连接符 6"/>
          <p:cNvCxnSpPr/>
          <p:nvPr userDrawn="1"/>
        </p:nvCxnSpPr>
        <p:spPr>
          <a:xfrm>
            <a:off x="4483100" y="3670300"/>
            <a:ext cx="32131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8" name="文本占位符 10"/>
          <p:cNvSpPr>
            <a:spLocks noGrp="1"/>
          </p:cNvSpPr>
          <p:nvPr>
            <p:ph type="body" sz="quarter" idx="11"/>
          </p:nvPr>
        </p:nvSpPr>
        <p:spPr>
          <a:xfrm>
            <a:off x="4965634" y="3954465"/>
            <a:ext cx="2260732" cy="305700"/>
          </a:xfrm>
          <a:prstGeom prst="rect">
            <a:avLst/>
          </a:prstGeom>
        </p:spPr>
        <p:txBody>
          <a:bodyPr/>
          <a:lstStyle>
            <a:lvl1pPr marL="0" indent="0" algn="ctr">
              <a:buNone/>
              <a:defRPr sz="1600" baseline="0">
                <a:solidFill>
                  <a:schemeClr val="bg1"/>
                </a:solidFill>
                <a:latin typeface="+mn-ea"/>
                <a:ea typeface="+mn-ea"/>
              </a:defRPr>
            </a:lvl1pPr>
          </a:lstStyle>
          <a:p>
            <a:pPr lvl="0"/>
            <a:endParaRPr lang="en-US" altLang="zh-CN" dirty="0"/>
          </a:p>
        </p:txBody>
      </p:sp>
      <p:sp>
        <p:nvSpPr>
          <p:cNvPr id="9" name="文本占位符 10"/>
          <p:cNvSpPr>
            <a:spLocks noGrp="1"/>
          </p:cNvSpPr>
          <p:nvPr>
            <p:ph type="body" sz="quarter" idx="12"/>
          </p:nvPr>
        </p:nvSpPr>
        <p:spPr>
          <a:xfrm>
            <a:off x="4965634" y="4266016"/>
            <a:ext cx="2260732" cy="305700"/>
          </a:xfrm>
          <a:prstGeom prst="rect">
            <a:avLst/>
          </a:prstGeom>
        </p:spPr>
        <p:txBody>
          <a:bodyPr/>
          <a:lstStyle>
            <a:lvl1pPr marL="0" indent="0" algn="ctr">
              <a:buNone/>
              <a:defRPr sz="1600" baseline="0">
                <a:solidFill>
                  <a:schemeClr val="bg1"/>
                </a:solidFill>
                <a:latin typeface="+mn-ea"/>
                <a:ea typeface="+mn-ea"/>
              </a:defRPr>
            </a:lvl1pPr>
          </a:lstStyle>
          <a:p>
            <a:pPr lvl="0"/>
            <a:endParaRPr lang="en-US" altLang="zh-CN" dirty="0"/>
          </a:p>
        </p:txBody>
      </p:sp>
    </p:spTree>
    <p:extLst>
      <p:ext uri="{BB962C8B-B14F-4D97-AF65-F5344CB8AC3E}">
        <p14:creationId xmlns:p14="http://schemas.microsoft.com/office/powerpoint/2010/main" val="83053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四项目录">
    <p:bg>
      <p:bgPr>
        <a:gradFill flip="none" rotWithShape="1">
          <a:gsLst>
            <a:gs pos="0">
              <a:schemeClr val="bg1">
                <a:tint val="93000"/>
                <a:satMod val="150000"/>
                <a:shade val="98000"/>
                <a:lumMod val="102000"/>
              </a:schemeClr>
            </a:gs>
            <a:gs pos="23000">
              <a:schemeClr val="bg1">
                <a:tint val="98000"/>
                <a:satMod val="130000"/>
                <a:shade val="90000"/>
                <a:lumMod val="103000"/>
              </a:schemeClr>
            </a:gs>
            <a:gs pos="100000">
              <a:schemeClr val="bg1">
                <a:lumMod val="85000"/>
              </a:schemeClr>
            </a:gs>
          </a:gsLst>
          <a:lin ang="5400000" scaled="1"/>
          <a:tileRect/>
        </a:gradFill>
        <a:effectLst/>
      </p:bgPr>
    </p:bg>
    <p:spTree>
      <p:nvGrpSpPr>
        <p:cNvPr id="1" name=""/>
        <p:cNvGrpSpPr/>
        <p:nvPr/>
      </p:nvGrpSpPr>
      <p:grpSpPr>
        <a:xfrm>
          <a:off x="0" y="0"/>
          <a:ext cx="0" cy="0"/>
          <a:chOff x="0" y="0"/>
          <a:chExt cx="0" cy="0"/>
        </a:xfrm>
      </p:grpSpPr>
      <p:cxnSp>
        <p:nvCxnSpPr>
          <p:cNvPr id="4" name="直接连接符 3"/>
          <p:cNvCxnSpPr/>
          <p:nvPr userDrawn="1"/>
        </p:nvCxnSpPr>
        <p:spPr>
          <a:xfrm>
            <a:off x="558800" y="491067"/>
            <a:ext cx="320886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4288366" y="491067"/>
            <a:ext cx="28490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占位符 8"/>
          <p:cNvSpPr>
            <a:spLocks noGrp="1"/>
          </p:cNvSpPr>
          <p:nvPr>
            <p:ph type="body" sz="quarter" idx="10" hasCustomPrompt="1"/>
          </p:nvPr>
        </p:nvSpPr>
        <p:spPr>
          <a:xfrm>
            <a:off x="558800" y="719582"/>
            <a:ext cx="3157037" cy="887620"/>
          </a:xfrm>
          <a:prstGeom prst="rect">
            <a:avLst/>
          </a:prstGeom>
        </p:spPr>
        <p:txBody>
          <a:bodyPr/>
          <a:lstStyle>
            <a:lvl1pPr marL="0" indent="0" algn="l">
              <a:buNone/>
              <a:defRPr sz="5400" b="1">
                <a:solidFill>
                  <a:schemeClr val="tx1">
                    <a:lumMod val="85000"/>
                    <a:lumOff val="15000"/>
                  </a:schemeClr>
                </a:solidFill>
              </a:defRPr>
            </a:lvl1pPr>
          </a:lstStyle>
          <a:p>
            <a:pPr lvl="0"/>
            <a:r>
              <a:rPr lang="zh-CN" altLang="en-US" dirty="0"/>
              <a:t>输入标题</a:t>
            </a:r>
          </a:p>
        </p:txBody>
      </p:sp>
      <p:sp>
        <p:nvSpPr>
          <p:cNvPr id="8" name="文本占位符 8"/>
          <p:cNvSpPr>
            <a:spLocks noGrp="1"/>
          </p:cNvSpPr>
          <p:nvPr>
            <p:ph type="body" sz="quarter" idx="11" hasCustomPrompt="1"/>
          </p:nvPr>
        </p:nvSpPr>
        <p:spPr>
          <a:xfrm>
            <a:off x="558800" y="1615584"/>
            <a:ext cx="3157037" cy="475683"/>
          </a:xfrm>
          <a:prstGeom prst="rect">
            <a:avLst/>
          </a:prstGeom>
        </p:spPr>
        <p:txBody>
          <a:bodyPr/>
          <a:lstStyle>
            <a:lvl1pPr marL="0" indent="0" algn="l">
              <a:buNone/>
              <a:defRPr sz="2800" b="0">
                <a:solidFill>
                  <a:schemeClr val="tx1">
                    <a:lumMod val="85000"/>
                    <a:lumOff val="15000"/>
                  </a:schemeClr>
                </a:solidFill>
              </a:defRPr>
            </a:lvl1pPr>
          </a:lstStyle>
          <a:p>
            <a:pPr lvl="0"/>
            <a:r>
              <a:rPr lang="en-US" altLang="zh-CN" dirty="0"/>
              <a:t>Add text</a:t>
            </a:r>
            <a:endParaRPr lang="zh-CN" altLang="en-US" dirty="0"/>
          </a:p>
        </p:txBody>
      </p:sp>
      <p:cxnSp>
        <p:nvCxnSpPr>
          <p:cNvPr id="12" name="直接连接符 11"/>
          <p:cNvCxnSpPr/>
          <p:nvPr userDrawn="1"/>
        </p:nvCxnSpPr>
        <p:spPr>
          <a:xfrm>
            <a:off x="7670800" y="491067"/>
            <a:ext cx="28490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4288366" y="3005667"/>
            <a:ext cx="28490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7670800" y="3005667"/>
            <a:ext cx="28490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文本占位符 5"/>
          <p:cNvSpPr>
            <a:spLocks noGrp="1"/>
          </p:cNvSpPr>
          <p:nvPr>
            <p:ph type="body" sz="quarter" idx="12" hasCustomPrompt="1"/>
          </p:nvPr>
        </p:nvSpPr>
        <p:spPr>
          <a:xfrm>
            <a:off x="4287838" y="3361780"/>
            <a:ext cx="2104230" cy="646331"/>
          </a:xfrm>
          <a:prstGeom prst="rect">
            <a:avLst/>
          </a:prstGeom>
          <a:noFill/>
        </p:spPr>
        <p:txBody>
          <a:bodyPr wrap="none" rtlCol="0">
            <a:spAutoFit/>
          </a:bodyPr>
          <a:lstStyle>
            <a:lvl1pPr marL="0" indent="0" algn="l">
              <a:buNone/>
              <a:defRPr lang="zh-CN" altLang="en-US" sz="4000" b="0" baseline="0" smtClean="0"/>
            </a:lvl1pPr>
            <a:lvl2pPr marL="228589" indent="0">
              <a:buNone/>
              <a:defRPr lang="zh-CN" altLang="en-US" sz="1800" smtClean="0"/>
            </a:lvl2pPr>
            <a:lvl3pPr marL="685777" indent="0">
              <a:buNone/>
              <a:defRPr lang="zh-CN" altLang="en-US" sz="1800" smtClean="0"/>
            </a:lvl3pPr>
            <a:lvl4pPr marL="1142966" indent="0">
              <a:buNone/>
              <a:defRPr lang="zh-CN" altLang="en-US" smtClean="0"/>
            </a:lvl4pPr>
            <a:lvl5pPr marL="1600154" indent="0">
              <a:buNone/>
              <a:defRPr lang="zh-CN" altLang="en-US"/>
            </a:lvl5pPr>
          </a:lstStyle>
          <a:p>
            <a:pPr marL="0" lvl="0" defTabSz="914377"/>
            <a:r>
              <a:rPr lang="en-US" altLang="zh-CN" dirty="0"/>
              <a:t>Add text</a:t>
            </a:r>
          </a:p>
        </p:txBody>
      </p:sp>
      <p:sp>
        <p:nvSpPr>
          <p:cNvPr id="15" name="文本占位符 5"/>
          <p:cNvSpPr>
            <a:spLocks noGrp="1"/>
          </p:cNvSpPr>
          <p:nvPr>
            <p:ph type="body" sz="quarter" idx="13" hasCustomPrompt="1"/>
          </p:nvPr>
        </p:nvSpPr>
        <p:spPr>
          <a:xfrm>
            <a:off x="4287838" y="4030990"/>
            <a:ext cx="2236510" cy="646331"/>
          </a:xfrm>
          <a:prstGeom prst="rect">
            <a:avLst/>
          </a:prstGeom>
          <a:noFill/>
        </p:spPr>
        <p:txBody>
          <a:bodyPr wrap="none" rtlCol="0">
            <a:spAutoFit/>
          </a:bodyPr>
          <a:lstStyle>
            <a:lvl1pPr marL="0" indent="0" algn="l">
              <a:buNone/>
              <a:defRPr lang="en-US" altLang="zh-CN" sz="4000" b="1" dirty="0" smtClean="0">
                <a:latin typeface="+mn-ea"/>
              </a:defRPr>
            </a:lvl1pPr>
          </a:lstStyle>
          <a:p>
            <a:pPr marL="0" lvl="0" defTabSz="914377"/>
            <a:r>
              <a:rPr lang="zh-CN" altLang="en-US" dirty="0"/>
              <a:t>输入标题</a:t>
            </a:r>
            <a:endParaRPr lang="en-US" altLang="zh-CN" dirty="0"/>
          </a:p>
        </p:txBody>
      </p:sp>
      <p:sp>
        <p:nvSpPr>
          <p:cNvPr id="16" name="文本占位符 5"/>
          <p:cNvSpPr>
            <a:spLocks noGrp="1"/>
          </p:cNvSpPr>
          <p:nvPr>
            <p:ph type="body" sz="quarter" idx="14" hasCustomPrompt="1"/>
          </p:nvPr>
        </p:nvSpPr>
        <p:spPr>
          <a:xfrm>
            <a:off x="4287838" y="847181"/>
            <a:ext cx="2104230" cy="646331"/>
          </a:xfrm>
          <a:prstGeom prst="rect">
            <a:avLst/>
          </a:prstGeom>
          <a:noFill/>
        </p:spPr>
        <p:txBody>
          <a:bodyPr wrap="none" rtlCol="0">
            <a:spAutoFit/>
          </a:bodyPr>
          <a:lstStyle>
            <a:lvl1pPr marL="0" indent="0" algn="l">
              <a:buNone/>
              <a:defRPr lang="zh-CN" altLang="en-US" sz="4000" b="0" baseline="0" smtClean="0"/>
            </a:lvl1pPr>
            <a:lvl2pPr marL="228589" indent="0">
              <a:buNone/>
              <a:defRPr lang="zh-CN" altLang="en-US" sz="1800" smtClean="0"/>
            </a:lvl2pPr>
            <a:lvl3pPr marL="685777" indent="0">
              <a:buNone/>
              <a:defRPr lang="zh-CN" altLang="en-US" sz="1800" smtClean="0"/>
            </a:lvl3pPr>
            <a:lvl4pPr marL="1142966" indent="0">
              <a:buNone/>
              <a:defRPr lang="zh-CN" altLang="en-US" smtClean="0"/>
            </a:lvl4pPr>
            <a:lvl5pPr marL="1600154" indent="0">
              <a:buNone/>
              <a:defRPr lang="zh-CN" altLang="en-US"/>
            </a:lvl5pPr>
          </a:lstStyle>
          <a:p>
            <a:pPr marL="0" lvl="0" defTabSz="914377"/>
            <a:r>
              <a:rPr lang="en-US" altLang="zh-CN" dirty="0"/>
              <a:t>Add text</a:t>
            </a:r>
          </a:p>
        </p:txBody>
      </p:sp>
      <p:sp>
        <p:nvSpPr>
          <p:cNvPr id="17" name="文本占位符 5"/>
          <p:cNvSpPr>
            <a:spLocks noGrp="1"/>
          </p:cNvSpPr>
          <p:nvPr>
            <p:ph type="body" sz="quarter" idx="15" hasCustomPrompt="1"/>
          </p:nvPr>
        </p:nvSpPr>
        <p:spPr>
          <a:xfrm>
            <a:off x="4287838" y="1516391"/>
            <a:ext cx="2236510" cy="646331"/>
          </a:xfrm>
          <a:prstGeom prst="rect">
            <a:avLst/>
          </a:prstGeom>
          <a:noFill/>
        </p:spPr>
        <p:txBody>
          <a:bodyPr wrap="none" rtlCol="0">
            <a:spAutoFit/>
          </a:bodyPr>
          <a:lstStyle>
            <a:lvl1pPr marL="0" indent="0" algn="l">
              <a:buNone/>
              <a:defRPr lang="en-US" altLang="zh-CN" sz="4000" b="1" dirty="0" smtClean="0">
                <a:latin typeface="+mn-ea"/>
              </a:defRPr>
            </a:lvl1pPr>
          </a:lstStyle>
          <a:p>
            <a:pPr marL="0" lvl="0" defTabSz="914377"/>
            <a:r>
              <a:rPr lang="zh-CN" altLang="en-US" dirty="0"/>
              <a:t>输入标题</a:t>
            </a:r>
            <a:endParaRPr lang="en-US" altLang="zh-CN" dirty="0"/>
          </a:p>
        </p:txBody>
      </p:sp>
      <p:sp>
        <p:nvSpPr>
          <p:cNvPr id="18" name="文本占位符 5"/>
          <p:cNvSpPr>
            <a:spLocks noGrp="1"/>
          </p:cNvSpPr>
          <p:nvPr>
            <p:ph type="body" sz="quarter" idx="16" hasCustomPrompt="1"/>
          </p:nvPr>
        </p:nvSpPr>
        <p:spPr>
          <a:xfrm>
            <a:off x="7670800" y="847181"/>
            <a:ext cx="2104230" cy="646331"/>
          </a:xfrm>
          <a:prstGeom prst="rect">
            <a:avLst/>
          </a:prstGeom>
          <a:noFill/>
        </p:spPr>
        <p:txBody>
          <a:bodyPr wrap="none" rtlCol="0">
            <a:spAutoFit/>
          </a:bodyPr>
          <a:lstStyle>
            <a:lvl1pPr marL="0" indent="0" algn="l">
              <a:buNone/>
              <a:defRPr lang="zh-CN" altLang="en-US" sz="4000" b="0" baseline="0" smtClean="0"/>
            </a:lvl1pPr>
            <a:lvl2pPr marL="228589" indent="0">
              <a:buNone/>
              <a:defRPr lang="zh-CN" altLang="en-US" sz="1800" smtClean="0"/>
            </a:lvl2pPr>
            <a:lvl3pPr marL="685777" indent="0">
              <a:buNone/>
              <a:defRPr lang="zh-CN" altLang="en-US" sz="1800" smtClean="0"/>
            </a:lvl3pPr>
            <a:lvl4pPr marL="1142966" indent="0">
              <a:buNone/>
              <a:defRPr lang="zh-CN" altLang="en-US" smtClean="0"/>
            </a:lvl4pPr>
            <a:lvl5pPr marL="1600154" indent="0">
              <a:buNone/>
              <a:defRPr lang="zh-CN" altLang="en-US"/>
            </a:lvl5pPr>
          </a:lstStyle>
          <a:p>
            <a:pPr marL="0" lvl="0" defTabSz="914377"/>
            <a:r>
              <a:rPr lang="en-US" altLang="zh-CN" dirty="0"/>
              <a:t>Add text</a:t>
            </a:r>
          </a:p>
        </p:txBody>
      </p:sp>
      <p:sp>
        <p:nvSpPr>
          <p:cNvPr id="19" name="文本占位符 5"/>
          <p:cNvSpPr>
            <a:spLocks noGrp="1"/>
          </p:cNvSpPr>
          <p:nvPr>
            <p:ph type="body" sz="quarter" idx="17" hasCustomPrompt="1"/>
          </p:nvPr>
        </p:nvSpPr>
        <p:spPr>
          <a:xfrm>
            <a:off x="7670800" y="1516391"/>
            <a:ext cx="2236510" cy="646331"/>
          </a:xfrm>
          <a:prstGeom prst="rect">
            <a:avLst/>
          </a:prstGeom>
          <a:noFill/>
        </p:spPr>
        <p:txBody>
          <a:bodyPr wrap="none" rtlCol="0">
            <a:spAutoFit/>
          </a:bodyPr>
          <a:lstStyle>
            <a:lvl1pPr marL="0" indent="0" algn="l">
              <a:buNone/>
              <a:defRPr lang="en-US" altLang="zh-CN" sz="4000" b="1" dirty="0" smtClean="0">
                <a:latin typeface="+mn-ea"/>
              </a:defRPr>
            </a:lvl1pPr>
          </a:lstStyle>
          <a:p>
            <a:pPr marL="0" lvl="0" defTabSz="914377"/>
            <a:r>
              <a:rPr lang="zh-CN" altLang="en-US" dirty="0"/>
              <a:t>输入标题</a:t>
            </a:r>
            <a:endParaRPr lang="en-US" altLang="zh-CN" dirty="0"/>
          </a:p>
        </p:txBody>
      </p:sp>
      <p:sp>
        <p:nvSpPr>
          <p:cNvPr id="22" name="文本占位符 5"/>
          <p:cNvSpPr>
            <a:spLocks noGrp="1"/>
          </p:cNvSpPr>
          <p:nvPr>
            <p:ph type="body" sz="quarter" idx="18" hasCustomPrompt="1"/>
          </p:nvPr>
        </p:nvSpPr>
        <p:spPr>
          <a:xfrm>
            <a:off x="7670800" y="3361780"/>
            <a:ext cx="2104230" cy="646331"/>
          </a:xfrm>
          <a:prstGeom prst="rect">
            <a:avLst/>
          </a:prstGeom>
          <a:noFill/>
        </p:spPr>
        <p:txBody>
          <a:bodyPr wrap="none" rtlCol="0">
            <a:spAutoFit/>
          </a:bodyPr>
          <a:lstStyle>
            <a:lvl1pPr marL="0" indent="0" algn="l">
              <a:buNone/>
              <a:defRPr lang="zh-CN" altLang="en-US" sz="4000" b="0" baseline="0" smtClean="0"/>
            </a:lvl1pPr>
            <a:lvl2pPr marL="228589" indent="0">
              <a:buNone/>
              <a:defRPr lang="zh-CN" altLang="en-US" sz="1800" smtClean="0"/>
            </a:lvl2pPr>
            <a:lvl3pPr marL="685777" indent="0">
              <a:buNone/>
              <a:defRPr lang="zh-CN" altLang="en-US" sz="1800" smtClean="0"/>
            </a:lvl3pPr>
            <a:lvl4pPr marL="1142966" indent="0">
              <a:buNone/>
              <a:defRPr lang="zh-CN" altLang="en-US" smtClean="0"/>
            </a:lvl4pPr>
            <a:lvl5pPr marL="1600154" indent="0">
              <a:buNone/>
              <a:defRPr lang="zh-CN" altLang="en-US"/>
            </a:lvl5pPr>
          </a:lstStyle>
          <a:p>
            <a:pPr marL="0" lvl="0" defTabSz="914377"/>
            <a:r>
              <a:rPr lang="en-US" altLang="zh-CN" dirty="0"/>
              <a:t>Add text</a:t>
            </a:r>
          </a:p>
        </p:txBody>
      </p:sp>
      <p:sp>
        <p:nvSpPr>
          <p:cNvPr id="23" name="文本占位符 5"/>
          <p:cNvSpPr>
            <a:spLocks noGrp="1"/>
          </p:cNvSpPr>
          <p:nvPr>
            <p:ph type="body" sz="quarter" idx="19" hasCustomPrompt="1"/>
          </p:nvPr>
        </p:nvSpPr>
        <p:spPr>
          <a:xfrm>
            <a:off x="7670800" y="4030990"/>
            <a:ext cx="2236510" cy="646331"/>
          </a:xfrm>
          <a:prstGeom prst="rect">
            <a:avLst/>
          </a:prstGeom>
          <a:noFill/>
        </p:spPr>
        <p:txBody>
          <a:bodyPr wrap="none" rtlCol="0">
            <a:spAutoFit/>
          </a:bodyPr>
          <a:lstStyle>
            <a:lvl1pPr marL="0" indent="0" algn="l">
              <a:buNone/>
              <a:defRPr lang="en-US" altLang="zh-CN" sz="4000" b="1" dirty="0" smtClean="0">
                <a:latin typeface="+mn-ea"/>
              </a:defRPr>
            </a:lvl1pPr>
          </a:lstStyle>
          <a:p>
            <a:pPr marL="0" lvl="0" defTabSz="914377"/>
            <a:r>
              <a:rPr lang="zh-CN" altLang="en-US" dirty="0"/>
              <a:t>输入标题</a:t>
            </a:r>
            <a:endParaRPr lang="en-US" altLang="zh-CN" dirty="0"/>
          </a:p>
        </p:txBody>
      </p:sp>
    </p:spTree>
    <p:extLst>
      <p:ext uri="{BB962C8B-B14F-4D97-AF65-F5344CB8AC3E}">
        <p14:creationId xmlns:p14="http://schemas.microsoft.com/office/powerpoint/2010/main" val="271868505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六项目录">
    <p:bg>
      <p:bgPr>
        <a:gradFill flip="none" rotWithShape="1">
          <a:gsLst>
            <a:gs pos="0">
              <a:schemeClr val="bg1">
                <a:tint val="93000"/>
                <a:satMod val="150000"/>
                <a:shade val="98000"/>
                <a:lumMod val="102000"/>
              </a:schemeClr>
            </a:gs>
            <a:gs pos="23000">
              <a:schemeClr val="bg1">
                <a:tint val="98000"/>
                <a:satMod val="130000"/>
                <a:shade val="90000"/>
                <a:lumMod val="103000"/>
              </a:schemeClr>
            </a:gs>
            <a:gs pos="100000">
              <a:schemeClr val="bg1">
                <a:lumMod val="85000"/>
              </a:schemeClr>
            </a:gs>
          </a:gsLst>
          <a:lin ang="5400000" scaled="1"/>
          <a:tileRect/>
        </a:gradFill>
        <a:effectLst/>
      </p:bgPr>
    </p:bg>
    <p:spTree>
      <p:nvGrpSpPr>
        <p:cNvPr id="1" name=""/>
        <p:cNvGrpSpPr/>
        <p:nvPr/>
      </p:nvGrpSpPr>
      <p:grpSpPr>
        <a:xfrm>
          <a:off x="0" y="0"/>
          <a:ext cx="0" cy="0"/>
          <a:chOff x="0" y="0"/>
          <a:chExt cx="0" cy="0"/>
        </a:xfrm>
      </p:grpSpPr>
      <p:cxnSp>
        <p:nvCxnSpPr>
          <p:cNvPr id="4" name="直接连接符 3"/>
          <p:cNvCxnSpPr/>
          <p:nvPr userDrawn="1"/>
        </p:nvCxnSpPr>
        <p:spPr>
          <a:xfrm>
            <a:off x="558800" y="491067"/>
            <a:ext cx="320886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4288366" y="491067"/>
            <a:ext cx="28490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占位符 8"/>
          <p:cNvSpPr>
            <a:spLocks noGrp="1"/>
          </p:cNvSpPr>
          <p:nvPr>
            <p:ph type="body" sz="quarter" idx="10" hasCustomPrompt="1"/>
          </p:nvPr>
        </p:nvSpPr>
        <p:spPr>
          <a:xfrm>
            <a:off x="558800" y="719582"/>
            <a:ext cx="3157037" cy="887620"/>
          </a:xfrm>
          <a:prstGeom prst="rect">
            <a:avLst/>
          </a:prstGeom>
        </p:spPr>
        <p:txBody>
          <a:bodyPr/>
          <a:lstStyle>
            <a:lvl1pPr marL="0" indent="0" algn="l">
              <a:buNone/>
              <a:defRPr sz="5400" b="1">
                <a:solidFill>
                  <a:schemeClr val="tx1">
                    <a:lumMod val="85000"/>
                    <a:lumOff val="15000"/>
                  </a:schemeClr>
                </a:solidFill>
              </a:defRPr>
            </a:lvl1pPr>
          </a:lstStyle>
          <a:p>
            <a:pPr lvl="0"/>
            <a:r>
              <a:rPr lang="zh-CN" altLang="en-US" dirty="0"/>
              <a:t>输入标题</a:t>
            </a:r>
          </a:p>
        </p:txBody>
      </p:sp>
      <p:sp>
        <p:nvSpPr>
          <p:cNvPr id="8" name="文本占位符 8"/>
          <p:cNvSpPr>
            <a:spLocks noGrp="1"/>
          </p:cNvSpPr>
          <p:nvPr>
            <p:ph type="body" sz="quarter" idx="11" hasCustomPrompt="1"/>
          </p:nvPr>
        </p:nvSpPr>
        <p:spPr>
          <a:xfrm>
            <a:off x="558800" y="1615584"/>
            <a:ext cx="3157037" cy="475683"/>
          </a:xfrm>
          <a:prstGeom prst="rect">
            <a:avLst/>
          </a:prstGeom>
        </p:spPr>
        <p:txBody>
          <a:bodyPr/>
          <a:lstStyle>
            <a:lvl1pPr marL="0" indent="0" algn="l">
              <a:buNone/>
              <a:defRPr sz="2800" b="0">
                <a:solidFill>
                  <a:schemeClr val="tx1">
                    <a:lumMod val="85000"/>
                    <a:lumOff val="15000"/>
                  </a:schemeClr>
                </a:solidFill>
              </a:defRPr>
            </a:lvl1pPr>
          </a:lstStyle>
          <a:p>
            <a:pPr lvl="0"/>
            <a:r>
              <a:rPr lang="en-US" altLang="zh-CN" dirty="0"/>
              <a:t>Add text</a:t>
            </a:r>
            <a:endParaRPr lang="zh-CN" altLang="en-US" dirty="0"/>
          </a:p>
        </p:txBody>
      </p:sp>
      <p:cxnSp>
        <p:nvCxnSpPr>
          <p:cNvPr id="12" name="直接连接符 11"/>
          <p:cNvCxnSpPr/>
          <p:nvPr userDrawn="1"/>
        </p:nvCxnSpPr>
        <p:spPr>
          <a:xfrm>
            <a:off x="7670800" y="491067"/>
            <a:ext cx="28490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4288366" y="2637367"/>
            <a:ext cx="28490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7670800" y="2637367"/>
            <a:ext cx="28490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nvCxnSpPr>
        <p:spPr>
          <a:xfrm>
            <a:off x="4288366" y="2637367"/>
            <a:ext cx="28490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userDrawn="1"/>
        </p:nvCxnSpPr>
        <p:spPr>
          <a:xfrm>
            <a:off x="7670800" y="2637367"/>
            <a:ext cx="28490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4288366" y="4783667"/>
            <a:ext cx="28490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7670800" y="4783667"/>
            <a:ext cx="284903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文本占位符 5"/>
          <p:cNvSpPr>
            <a:spLocks noGrp="1"/>
          </p:cNvSpPr>
          <p:nvPr>
            <p:ph type="body" sz="quarter" idx="14" hasCustomPrompt="1"/>
          </p:nvPr>
        </p:nvSpPr>
        <p:spPr>
          <a:xfrm>
            <a:off x="4287838" y="847181"/>
            <a:ext cx="2104230" cy="646331"/>
          </a:xfrm>
          <a:prstGeom prst="rect">
            <a:avLst/>
          </a:prstGeom>
          <a:noFill/>
        </p:spPr>
        <p:txBody>
          <a:bodyPr wrap="none" rtlCol="0">
            <a:spAutoFit/>
          </a:bodyPr>
          <a:lstStyle>
            <a:lvl1pPr marL="0" indent="0" algn="l">
              <a:buNone/>
              <a:defRPr lang="zh-CN" altLang="en-US" sz="4000" b="0" baseline="0" smtClean="0"/>
            </a:lvl1pPr>
            <a:lvl2pPr marL="228589" indent="0">
              <a:buNone/>
              <a:defRPr lang="zh-CN" altLang="en-US" sz="1800" smtClean="0"/>
            </a:lvl2pPr>
            <a:lvl3pPr marL="685777" indent="0">
              <a:buNone/>
              <a:defRPr lang="zh-CN" altLang="en-US" sz="1800" smtClean="0"/>
            </a:lvl3pPr>
            <a:lvl4pPr marL="1142966" indent="0">
              <a:buNone/>
              <a:defRPr lang="zh-CN" altLang="en-US" smtClean="0"/>
            </a:lvl4pPr>
            <a:lvl5pPr marL="1600154" indent="0">
              <a:buNone/>
              <a:defRPr lang="zh-CN" altLang="en-US"/>
            </a:lvl5pPr>
          </a:lstStyle>
          <a:p>
            <a:pPr marL="0" lvl="0" defTabSz="914377"/>
            <a:r>
              <a:rPr lang="en-US" altLang="zh-CN" dirty="0"/>
              <a:t>Add text</a:t>
            </a:r>
          </a:p>
        </p:txBody>
      </p:sp>
      <p:sp>
        <p:nvSpPr>
          <p:cNvPr id="20" name="文本占位符 5"/>
          <p:cNvSpPr>
            <a:spLocks noGrp="1"/>
          </p:cNvSpPr>
          <p:nvPr>
            <p:ph type="body" sz="quarter" idx="15" hasCustomPrompt="1"/>
          </p:nvPr>
        </p:nvSpPr>
        <p:spPr>
          <a:xfrm>
            <a:off x="4287838" y="1516391"/>
            <a:ext cx="2236510" cy="646331"/>
          </a:xfrm>
          <a:prstGeom prst="rect">
            <a:avLst/>
          </a:prstGeom>
          <a:noFill/>
        </p:spPr>
        <p:txBody>
          <a:bodyPr wrap="none" rtlCol="0">
            <a:spAutoFit/>
          </a:bodyPr>
          <a:lstStyle>
            <a:lvl1pPr marL="0" indent="0" algn="l">
              <a:buNone/>
              <a:defRPr lang="en-US" altLang="zh-CN" sz="4000" b="1" dirty="0" smtClean="0">
                <a:latin typeface="+mn-ea"/>
              </a:defRPr>
            </a:lvl1pPr>
          </a:lstStyle>
          <a:p>
            <a:pPr marL="0" lvl="0" defTabSz="914377"/>
            <a:r>
              <a:rPr lang="zh-CN" altLang="en-US" dirty="0"/>
              <a:t>输入标题</a:t>
            </a:r>
            <a:endParaRPr lang="en-US" altLang="zh-CN" dirty="0"/>
          </a:p>
        </p:txBody>
      </p:sp>
      <p:sp>
        <p:nvSpPr>
          <p:cNvPr id="21" name="文本占位符 5"/>
          <p:cNvSpPr>
            <a:spLocks noGrp="1"/>
          </p:cNvSpPr>
          <p:nvPr>
            <p:ph type="body" sz="quarter" idx="16" hasCustomPrompt="1"/>
          </p:nvPr>
        </p:nvSpPr>
        <p:spPr>
          <a:xfrm>
            <a:off x="7670800" y="847181"/>
            <a:ext cx="2104230" cy="646331"/>
          </a:xfrm>
          <a:prstGeom prst="rect">
            <a:avLst/>
          </a:prstGeom>
          <a:noFill/>
        </p:spPr>
        <p:txBody>
          <a:bodyPr wrap="none" rtlCol="0">
            <a:spAutoFit/>
          </a:bodyPr>
          <a:lstStyle>
            <a:lvl1pPr marL="0" indent="0" algn="l">
              <a:buNone/>
              <a:defRPr lang="zh-CN" altLang="en-US" sz="4000" b="0" baseline="0" smtClean="0"/>
            </a:lvl1pPr>
            <a:lvl2pPr marL="228589" indent="0">
              <a:buNone/>
              <a:defRPr lang="zh-CN" altLang="en-US" sz="1800" smtClean="0"/>
            </a:lvl2pPr>
            <a:lvl3pPr marL="685777" indent="0">
              <a:buNone/>
              <a:defRPr lang="zh-CN" altLang="en-US" sz="1800" smtClean="0"/>
            </a:lvl3pPr>
            <a:lvl4pPr marL="1142966" indent="0">
              <a:buNone/>
              <a:defRPr lang="zh-CN" altLang="en-US" smtClean="0"/>
            </a:lvl4pPr>
            <a:lvl5pPr marL="1600154" indent="0">
              <a:buNone/>
              <a:defRPr lang="zh-CN" altLang="en-US"/>
            </a:lvl5pPr>
          </a:lstStyle>
          <a:p>
            <a:pPr marL="0" lvl="0" defTabSz="914377"/>
            <a:r>
              <a:rPr lang="en-US" altLang="zh-CN" dirty="0"/>
              <a:t>Add text</a:t>
            </a:r>
          </a:p>
        </p:txBody>
      </p:sp>
      <p:sp>
        <p:nvSpPr>
          <p:cNvPr id="22" name="文本占位符 5"/>
          <p:cNvSpPr>
            <a:spLocks noGrp="1"/>
          </p:cNvSpPr>
          <p:nvPr>
            <p:ph type="body" sz="quarter" idx="17" hasCustomPrompt="1"/>
          </p:nvPr>
        </p:nvSpPr>
        <p:spPr>
          <a:xfrm>
            <a:off x="7670800" y="1516391"/>
            <a:ext cx="2236510" cy="646331"/>
          </a:xfrm>
          <a:prstGeom prst="rect">
            <a:avLst/>
          </a:prstGeom>
          <a:noFill/>
        </p:spPr>
        <p:txBody>
          <a:bodyPr wrap="none" rtlCol="0">
            <a:spAutoFit/>
          </a:bodyPr>
          <a:lstStyle>
            <a:lvl1pPr marL="0" indent="0" algn="l">
              <a:buNone/>
              <a:defRPr lang="en-US" altLang="zh-CN" sz="4000" b="1" dirty="0" smtClean="0">
                <a:latin typeface="+mn-ea"/>
              </a:defRPr>
            </a:lvl1pPr>
          </a:lstStyle>
          <a:p>
            <a:pPr marL="0" lvl="0" defTabSz="914377"/>
            <a:r>
              <a:rPr lang="zh-CN" altLang="en-US" dirty="0"/>
              <a:t>输入标题</a:t>
            </a:r>
            <a:endParaRPr lang="en-US" altLang="zh-CN" dirty="0"/>
          </a:p>
        </p:txBody>
      </p:sp>
      <p:sp>
        <p:nvSpPr>
          <p:cNvPr id="23" name="文本占位符 5"/>
          <p:cNvSpPr>
            <a:spLocks noGrp="1"/>
          </p:cNvSpPr>
          <p:nvPr>
            <p:ph type="body" sz="quarter" idx="18" hasCustomPrompt="1"/>
          </p:nvPr>
        </p:nvSpPr>
        <p:spPr>
          <a:xfrm>
            <a:off x="4287838" y="2993480"/>
            <a:ext cx="2104230" cy="646331"/>
          </a:xfrm>
          <a:prstGeom prst="rect">
            <a:avLst/>
          </a:prstGeom>
          <a:noFill/>
        </p:spPr>
        <p:txBody>
          <a:bodyPr wrap="none" rtlCol="0">
            <a:spAutoFit/>
          </a:bodyPr>
          <a:lstStyle>
            <a:lvl1pPr marL="0" indent="0" algn="l">
              <a:buNone/>
              <a:defRPr lang="zh-CN" altLang="en-US" sz="4000" b="0" baseline="0" smtClean="0"/>
            </a:lvl1pPr>
            <a:lvl2pPr marL="228589" indent="0">
              <a:buNone/>
              <a:defRPr lang="zh-CN" altLang="en-US" sz="1800" smtClean="0"/>
            </a:lvl2pPr>
            <a:lvl3pPr marL="685777" indent="0">
              <a:buNone/>
              <a:defRPr lang="zh-CN" altLang="en-US" sz="1800" smtClean="0"/>
            </a:lvl3pPr>
            <a:lvl4pPr marL="1142966" indent="0">
              <a:buNone/>
              <a:defRPr lang="zh-CN" altLang="en-US" smtClean="0"/>
            </a:lvl4pPr>
            <a:lvl5pPr marL="1600154" indent="0">
              <a:buNone/>
              <a:defRPr lang="zh-CN" altLang="en-US"/>
            </a:lvl5pPr>
          </a:lstStyle>
          <a:p>
            <a:pPr marL="0" lvl="0" defTabSz="914377"/>
            <a:r>
              <a:rPr lang="en-US" altLang="zh-CN" dirty="0"/>
              <a:t>Add text</a:t>
            </a:r>
          </a:p>
        </p:txBody>
      </p:sp>
      <p:sp>
        <p:nvSpPr>
          <p:cNvPr id="24" name="文本占位符 5"/>
          <p:cNvSpPr>
            <a:spLocks noGrp="1"/>
          </p:cNvSpPr>
          <p:nvPr>
            <p:ph type="body" sz="quarter" idx="19" hasCustomPrompt="1"/>
          </p:nvPr>
        </p:nvSpPr>
        <p:spPr>
          <a:xfrm>
            <a:off x="4287838" y="3662690"/>
            <a:ext cx="2236510" cy="646331"/>
          </a:xfrm>
          <a:prstGeom prst="rect">
            <a:avLst/>
          </a:prstGeom>
          <a:noFill/>
        </p:spPr>
        <p:txBody>
          <a:bodyPr wrap="none" rtlCol="0">
            <a:spAutoFit/>
          </a:bodyPr>
          <a:lstStyle>
            <a:lvl1pPr marL="0" indent="0" algn="l">
              <a:buNone/>
              <a:defRPr lang="en-US" altLang="zh-CN" sz="4000" b="1" dirty="0" smtClean="0">
                <a:latin typeface="+mn-ea"/>
              </a:defRPr>
            </a:lvl1pPr>
          </a:lstStyle>
          <a:p>
            <a:pPr marL="0" lvl="0" defTabSz="914377"/>
            <a:r>
              <a:rPr lang="zh-CN" altLang="en-US" dirty="0"/>
              <a:t>输入标题</a:t>
            </a:r>
            <a:endParaRPr lang="en-US" altLang="zh-CN" dirty="0"/>
          </a:p>
        </p:txBody>
      </p:sp>
      <p:sp>
        <p:nvSpPr>
          <p:cNvPr id="25" name="文本占位符 5"/>
          <p:cNvSpPr>
            <a:spLocks noGrp="1"/>
          </p:cNvSpPr>
          <p:nvPr>
            <p:ph type="body" sz="quarter" idx="20" hasCustomPrompt="1"/>
          </p:nvPr>
        </p:nvSpPr>
        <p:spPr>
          <a:xfrm>
            <a:off x="7670800" y="2993480"/>
            <a:ext cx="2104230" cy="646331"/>
          </a:xfrm>
          <a:prstGeom prst="rect">
            <a:avLst/>
          </a:prstGeom>
          <a:noFill/>
        </p:spPr>
        <p:txBody>
          <a:bodyPr wrap="none" rtlCol="0">
            <a:spAutoFit/>
          </a:bodyPr>
          <a:lstStyle>
            <a:lvl1pPr marL="0" indent="0" algn="l">
              <a:buNone/>
              <a:defRPr lang="zh-CN" altLang="en-US" sz="4000" b="0" baseline="0" smtClean="0"/>
            </a:lvl1pPr>
            <a:lvl2pPr marL="228589" indent="0">
              <a:buNone/>
              <a:defRPr lang="zh-CN" altLang="en-US" sz="1800" smtClean="0"/>
            </a:lvl2pPr>
            <a:lvl3pPr marL="685777" indent="0">
              <a:buNone/>
              <a:defRPr lang="zh-CN" altLang="en-US" sz="1800" smtClean="0"/>
            </a:lvl3pPr>
            <a:lvl4pPr marL="1142966" indent="0">
              <a:buNone/>
              <a:defRPr lang="zh-CN" altLang="en-US" smtClean="0"/>
            </a:lvl4pPr>
            <a:lvl5pPr marL="1600154" indent="0">
              <a:buNone/>
              <a:defRPr lang="zh-CN" altLang="en-US"/>
            </a:lvl5pPr>
          </a:lstStyle>
          <a:p>
            <a:pPr marL="0" lvl="0" defTabSz="914377"/>
            <a:r>
              <a:rPr lang="en-US" altLang="zh-CN" dirty="0"/>
              <a:t>Add text</a:t>
            </a:r>
          </a:p>
        </p:txBody>
      </p:sp>
      <p:sp>
        <p:nvSpPr>
          <p:cNvPr id="26" name="文本占位符 5"/>
          <p:cNvSpPr>
            <a:spLocks noGrp="1"/>
          </p:cNvSpPr>
          <p:nvPr>
            <p:ph type="body" sz="quarter" idx="21" hasCustomPrompt="1"/>
          </p:nvPr>
        </p:nvSpPr>
        <p:spPr>
          <a:xfrm>
            <a:off x="7670800" y="3662690"/>
            <a:ext cx="2236510" cy="646331"/>
          </a:xfrm>
          <a:prstGeom prst="rect">
            <a:avLst/>
          </a:prstGeom>
          <a:noFill/>
        </p:spPr>
        <p:txBody>
          <a:bodyPr wrap="none" rtlCol="0">
            <a:spAutoFit/>
          </a:bodyPr>
          <a:lstStyle>
            <a:lvl1pPr marL="0" indent="0" algn="l">
              <a:buNone/>
              <a:defRPr lang="en-US" altLang="zh-CN" sz="4000" b="1" dirty="0" smtClean="0">
                <a:latin typeface="+mn-ea"/>
              </a:defRPr>
            </a:lvl1pPr>
          </a:lstStyle>
          <a:p>
            <a:pPr marL="0" lvl="0" defTabSz="914377"/>
            <a:r>
              <a:rPr lang="zh-CN" altLang="en-US" dirty="0"/>
              <a:t>输入标题</a:t>
            </a:r>
            <a:endParaRPr lang="en-US" altLang="zh-CN" dirty="0"/>
          </a:p>
        </p:txBody>
      </p:sp>
      <p:sp>
        <p:nvSpPr>
          <p:cNvPr id="27" name="文本占位符 5"/>
          <p:cNvSpPr>
            <a:spLocks noGrp="1"/>
          </p:cNvSpPr>
          <p:nvPr>
            <p:ph type="body" sz="quarter" idx="22" hasCustomPrompt="1"/>
          </p:nvPr>
        </p:nvSpPr>
        <p:spPr>
          <a:xfrm>
            <a:off x="4287838" y="5139779"/>
            <a:ext cx="2104230" cy="646331"/>
          </a:xfrm>
          <a:prstGeom prst="rect">
            <a:avLst/>
          </a:prstGeom>
          <a:noFill/>
        </p:spPr>
        <p:txBody>
          <a:bodyPr wrap="none" rtlCol="0">
            <a:spAutoFit/>
          </a:bodyPr>
          <a:lstStyle>
            <a:lvl1pPr marL="0" indent="0" algn="l">
              <a:buNone/>
              <a:defRPr lang="zh-CN" altLang="en-US" sz="4000" b="0" baseline="0" smtClean="0"/>
            </a:lvl1pPr>
            <a:lvl2pPr marL="228589" indent="0">
              <a:buNone/>
              <a:defRPr lang="zh-CN" altLang="en-US" sz="1800" smtClean="0"/>
            </a:lvl2pPr>
            <a:lvl3pPr marL="685777" indent="0">
              <a:buNone/>
              <a:defRPr lang="zh-CN" altLang="en-US" sz="1800" smtClean="0"/>
            </a:lvl3pPr>
            <a:lvl4pPr marL="1142966" indent="0">
              <a:buNone/>
              <a:defRPr lang="zh-CN" altLang="en-US" smtClean="0"/>
            </a:lvl4pPr>
            <a:lvl5pPr marL="1600154" indent="0">
              <a:buNone/>
              <a:defRPr lang="zh-CN" altLang="en-US"/>
            </a:lvl5pPr>
          </a:lstStyle>
          <a:p>
            <a:pPr marL="0" lvl="0" defTabSz="914377"/>
            <a:r>
              <a:rPr lang="en-US" altLang="zh-CN" dirty="0"/>
              <a:t>Add text</a:t>
            </a:r>
          </a:p>
        </p:txBody>
      </p:sp>
      <p:sp>
        <p:nvSpPr>
          <p:cNvPr id="28" name="文本占位符 5"/>
          <p:cNvSpPr>
            <a:spLocks noGrp="1"/>
          </p:cNvSpPr>
          <p:nvPr>
            <p:ph type="body" sz="quarter" idx="23" hasCustomPrompt="1"/>
          </p:nvPr>
        </p:nvSpPr>
        <p:spPr>
          <a:xfrm>
            <a:off x="4287838" y="5808989"/>
            <a:ext cx="2236510" cy="646331"/>
          </a:xfrm>
          <a:prstGeom prst="rect">
            <a:avLst/>
          </a:prstGeom>
          <a:noFill/>
        </p:spPr>
        <p:txBody>
          <a:bodyPr wrap="none" rtlCol="0">
            <a:spAutoFit/>
          </a:bodyPr>
          <a:lstStyle>
            <a:lvl1pPr marL="0" indent="0" algn="l">
              <a:buNone/>
              <a:defRPr lang="en-US" altLang="zh-CN" sz="4000" b="1" dirty="0" smtClean="0">
                <a:latin typeface="+mn-ea"/>
              </a:defRPr>
            </a:lvl1pPr>
          </a:lstStyle>
          <a:p>
            <a:pPr marL="0" lvl="0" defTabSz="914377"/>
            <a:r>
              <a:rPr lang="zh-CN" altLang="en-US" dirty="0"/>
              <a:t>输入标题</a:t>
            </a:r>
            <a:endParaRPr lang="en-US" altLang="zh-CN" dirty="0"/>
          </a:p>
        </p:txBody>
      </p:sp>
      <p:sp>
        <p:nvSpPr>
          <p:cNvPr id="29" name="文本占位符 5"/>
          <p:cNvSpPr>
            <a:spLocks noGrp="1"/>
          </p:cNvSpPr>
          <p:nvPr>
            <p:ph type="body" sz="quarter" idx="24" hasCustomPrompt="1"/>
          </p:nvPr>
        </p:nvSpPr>
        <p:spPr>
          <a:xfrm>
            <a:off x="7670800" y="5139779"/>
            <a:ext cx="2104230" cy="646331"/>
          </a:xfrm>
          <a:prstGeom prst="rect">
            <a:avLst/>
          </a:prstGeom>
          <a:noFill/>
        </p:spPr>
        <p:txBody>
          <a:bodyPr wrap="none" rtlCol="0">
            <a:spAutoFit/>
          </a:bodyPr>
          <a:lstStyle>
            <a:lvl1pPr marL="0" indent="0" algn="l">
              <a:buNone/>
              <a:defRPr lang="zh-CN" altLang="en-US" sz="4000" b="0" baseline="0" smtClean="0"/>
            </a:lvl1pPr>
            <a:lvl2pPr marL="228589" indent="0">
              <a:buNone/>
              <a:defRPr lang="zh-CN" altLang="en-US" sz="1800" smtClean="0"/>
            </a:lvl2pPr>
            <a:lvl3pPr marL="685777" indent="0">
              <a:buNone/>
              <a:defRPr lang="zh-CN" altLang="en-US" sz="1800" smtClean="0"/>
            </a:lvl3pPr>
            <a:lvl4pPr marL="1142966" indent="0">
              <a:buNone/>
              <a:defRPr lang="zh-CN" altLang="en-US" smtClean="0"/>
            </a:lvl4pPr>
            <a:lvl5pPr marL="1600154" indent="0">
              <a:buNone/>
              <a:defRPr lang="zh-CN" altLang="en-US"/>
            </a:lvl5pPr>
          </a:lstStyle>
          <a:p>
            <a:pPr marL="0" lvl="0" defTabSz="914377"/>
            <a:r>
              <a:rPr lang="en-US" altLang="zh-CN" dirty="0"/>
              <a:t>Add text</a:t>
            </a:r>
          </a:p>
        </p:txBody>
      </p:sp>
      <p:sp>
        <p:nvSpPr>
          <p:cNvPr id="30" name="文本占位符 5"/>
          <p:cNvSpPr>
            <a:spLocks noGrp="1"/>
          </p:cNvSpPr>
          <p:nvPr>
            <p:ph type="body" sz="quarter" idx="25" hasCustomPrompt="1"/>
          </p:nvPr>
        </p:nvSpPr>
        <p:spPr>
          <a:xfrm>
            <a:off x="7670800" y="5808989"/>
            <a:ext cx="2236510" cy="646331"/>
          </a:xfrm>
          <a:prstGeom prst="rect">
            <a:avLst/>
          </a:prstGeom>
          <a:noFill/>
        </p:spPr>
        <p:txBody>
          <a:bodyPr wrap="none" rtlCol="0">
            <a:spAutoFit/>
          </a:bodyPr>
          <a:lstStyle>
            <a:lvl1pPr marL="0" indent="0" algn="l">
              <a:buNone/>
              <a:defRPr lang="en-US" altLang="zh-CN" sz="4000" b="1" dirty="0" smtClean="0">
                <a:latin typeface="+mn-ea"/>
              </a:defRPr>
            </a:lvl1pPr>
          </a:lstStyle>
          <a:p>
            <a:pPr marL="0" lvl="0" defTabSz="914377"/>
            <a:r>
              <a:rPr lang="zh-CN" altLang="en-US" dirty="0"/>
              <a:t>输入标题</a:t>
            </a:r>
            <a:endParaRPr lang="en-US" altLang="zh-CN" dirty="0"/>
          </a:p>
        </p:txBody>
      </p:sp>
    </p:spTree>
    <p:extLst>
      <p:ext uri="{BB962C8B-B14F-4D97-AF65-F5344CB8AC3E}">
        <p14:creationId xmlns:p14="http://schemas.microsoft.com/office/powerpoint/2010/main" val="4287750365"/>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副标题页1">
    <p:bg>
      <p:bgPr>
        <a:gradFill>
          <a:gsLst>
            <a:gs pos="0">
              <a:schemeClr val="tx1">
                <a:lumMod val="65000"/>
                <a:lumOff val="35000"/>
              </a:schemeClr>
            </a:gs>
            <a:gs pos="55000">
              <a:schemeClr val="tx1">
                <a:lumMod val="85000"/>
                <a:lumOff val="15000"/>
              </a:schemeClr>
            </a:gs>
            <a:gs pos="97000">
              <a:schemeClr val="tx1">
                <a:lumMod val="95000"/>
                <a:lumOff val="5000"/>
              </a:schemeClr>
            </a:gs>
          </a:gsLst>
          <a:lin ang="5400000" scaled="1"/>
        </a:gradFill>
        <a:effectLst/>
      </p:bgPr>
    </p:bg>
    <p:spTree>
      <p:nvGrpSpPr>
        <p:cNvPr id="1" name=""/>
        <p:cNvGrpSpPr/>
        <p:nvPr/>
      </p:nvGrpSpPr>
      <p:grpSpPr>
        <a:xfrm>
          <a:off x="0" y="0"/>
          <a:ext cx="0" cy="0"/>
          <a:chOff x="0" y="0"/>
          <a:chExt cx="0" cy="0"/>
        </a:xfrm>
      </p:grpSpPr>
      <p:graphicFrame>
        <p:nvGraphicFramePr>
          <p:cNvPr id="2" name="图表 1"/>
          <p:cNvGraphicFramePr/>
          <p:nvPr userDrawn="1">
            <p:extLst/>
          </p:nvPr>
        </p:nvGraphicFramePr>
        <p:xfrm>
          <a:off x="1118988" y="15852"/>
          <a:ext cx="9954024" cy="6753248"/>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组合 2"/>
          <p:cNvGrpSpPr/>
          <p:nvPr userDrawn="1"/>
        </p:nvGrpSpPr>
        <p:grpSpPr>
          <a:xfrm>
            <a:off x="4079131" y="1412132"/>
            <a:ext cx="4033736" cy="4033736"/>
            <a:chOff x="4216400" y="1549400"/>
            <a:chExt cx="3911600" cy="3911600"/>
          </a:xfrm>
          <a:effectLst>
            <a:outerShdw blurRad="342900" dist="88900" dir="8100000" algn="tr" rotWithShape="0">
              <a:prstClr val="black">
                <a:alpha val="83000"/>
              </a:prstClr>
            </a:outerShdw>
          </a:effectLst>
        </p:grpSpPr>
        <p:sp>
          <p:nvSpPr>
            <p:cNvPr id="4" name="椭圆 3"/>
            <p:cNvSpPr/>
            <p:nvPr/>
          </p:nvSpPr>
          <p:spPr>
            <a:xfrm>
              <a:off x="4216400" y="1549400"/>
              <a:ext cx="3911600" cy="3911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445000" y="1778000"/>
              <a:ext cx="3454400" cy="345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文本占位符 8"/>
          <p:cNvSpPr>
            <a:spLocks noGrp="1"/>
          </p:cNvSpPr>
          <p:nvPr>
            <p:ph type="body" sz="quarter" idx="10" hasCustomPrompt="1"/>
          </p:nvPr>
        </p:nvSpPr>
        <p:spPr>
          <a:xfrm>
            <a:off x="4539163" y="2666915"/>
            <a:ext cx="3157037" cy="887620"/>
          </a:xfrm>
          <a:prstGeom prst="rect">
            <a:avLst/>
          </a:prstGeom>
        </p:spPr>
        <p:txBody>
          <a:bodyPr/>
          <a:lstStyle>
            <a:lvl1pPr marL="0" indent="0" algn="ctr">
              <a:buNone/>
              <a:defRPr sz="5400" b="1">
                <a:solidFill>
                  <a:schemeClr val="bg1"/>
                </a:solidFill>
              </a:defRPr>
            </a:lvl1pPr>
          </a:lstStyle>
          <a:p>
            <a:pPr lvl="0"/>
            <a:r>
              <a:rPr lang="zh-CN" altLang="en-US" dirty="0"/>
              <a:t>输入标题</a:t>
            </a:r>
          </a:p>
        </p:txBody>
      </p:sp>
      <p:cxnSp>
        <p:nvCxnSpPr>
          <p:cNvPr id="11" name="直接连接符 10"/>
          <p:cNvCxnSpPr/>
          <p:nvPr userDrawn="1"/>
        </p:nvCxnSpPr>
        <p:spPr>
          <a:xfrm>
            <a:off x="4483100" y="3670300"/>
            <a:ext cx="32131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文本占位符 10"/>
          <p:cNvSpPr>
            <a:spLocks noGrp="1"/>
          </p:cNvSpPr>
          <p:nvPr>
            <p:ph type="body" sz="quarter" idx="11" hasCustomPrompt="1"/>
          </p:nvPr>
        </p:nvSpPr>
        <p:spPr>
          <a:xfrm>
            <a:off x="4965634" y="3803516"/>
            <a:ext cx="2260732" cy="425584"/>
          </a:xfrm>
          <a:prstGeom prst="rect">
            <a:avLst/>
          </a:prstGeom>
        </p:spPr>
        <p:txBody>
          <a:bodyPr/>
          <a:lstStyle>
            <a:lvl1pPr marL="0" indent="0" algn="ctr">
              <a:buNone/>
              <a:defRPr sz="3200" b="1" baseline="0">
                <a:solidFill>
                  <a:schemeClr val="bg1"/>
                </a:solidFill>
                <a:latin typeface="+mn-ea"/>
                <a:ea typeface="+mn-ea"/>
              </a:defRPr>
            </a:lvl1pPr>
          </a:lstStyle>
          <a:p>
            <a:pPr lvl="0"/>
            <a:r>
              <a:rPr lang="en-US" altLang="zh-CN" dirty="0"/>
              <a:t>Add Text</a:t>
            </a:r>
          </a:p>
        </p:txBody>
      </p:sp>
    </p:spTree>
    <p:extLst>
      <p:ext uri="{BB962C8B-B14F-4D97-AF65-F5344CB8AC3E}">
        <p14:creationId xmlns:p14="http://schemas.microsoft.com/office/powerpoint/2010/main" val="789791719"/>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副标题页2">
    <p:bg>
      <p:bgPr>
        <a:gradFill>
          <a:gsLst>
            <a:gs pos="0">
              <a:schemeClr val="tx1">
                <a:lumMod val="65000"/>
                <a:lumOff val="35000"/>
              </a:schemeClr>
            </a:gs>
            <a:gs pos="55000">
              <a:schemeClr val="tx1">
                <a:lumMod val="85000"/>
                <a:lumOff val="15000"/>
              </a:schemeClr>
            </a:gs>
            <a:gs pos="97000">
              <a:schemeClr val="tx1">
                <a:lumMod val="95000"/>
                <a:lumOff val="5000"/>
              </a:schemeClr>
            </a:gs>
          </a:gsLst>
          <a:lin ang="5400000" scaled="1"/>
        </a:gradFill>
        <a:effectLst/>
      </p:bgPr>
    </p:bg>
    <p:spTree>
      <p:nvGrpSpPr>
        <p:cNvPr id="1" name=""/>
        <p:cNvGrpSpPr/>
        <p:nvPr/>
      </p:nvGrpSpPr>
      <p:grpSpPr>
        <a:xfrm>
          <a:off x="0" y="0"/>
          <a:ext cx="0" cy="0"/>
          <a:chOff x="0" y="0"/>
          <a:chExt cx="0" cy="0"/>
        </a:xfrm>
      </p:grpSpPr>
      <p:graphicFrame>
        <p:nvGraphicFramePr>
          <p:cNvPr id="2" name="图表 1"/>
          <p:cNvGraphicFramePr/>
          <p:nvPr userDrawn="1">
            <p:extLst/>
          </p:nvPr>
        </p:nvGraphicFramePr>
        <p:xfrm>
          <a:off x="1118988" y="15852"/>
          <a:ext cx="9954024" cy="6753248"/>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组合 2"/>
          <p:cNvGrpSpPr/>
          <p:nvPr userDrawn="1"/>
        </p:nvGrpSpPr>
        <p:grpSpPr>
          <a:xfrm>
            <a:off x="4079131" y="1412132"/>
            <a:ext cx="4033736" cy="4033736"/>
            <a:chOff x="4216400" y="1549400"/>
            <a:chExt cx="3911600" cy="3911600"/>
          </a:xfrm>
          <a:effectLst>
            <a:outerShdw blurRad="342900" dist="88900" dir="8100000" algn="tr" rotWithShape="0">
              <a:prstClr val="black">
                <a:alpha val="83000"/>
              </a:prstClr>
            </a:outerShdw>
          </a:effectLst>
        </p:grpSpPr>
        <p:sp>
          <p:nvSpPr>
            <p:cNvPr id="4" name="椭圆 3"/>
            <p:cNvSpPr/>
            <p:nvPr/>
          </p:nvSpPr>
          <p:spPr>
            <a:xfrm>
              <a:off x="4216400" y="1549400"/>
              <a:ext cx="3911600" cy="3911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445000" y="1778000"/>
              <a:ext cx="3454400" cy="345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 name="直接连接符 6"/>
          <p:cNvCxnSpPr/>
          <p:nvPr userDrawn="1"/>
        </p:nvCxnSpPr>
        <p:spPr>
          <a:xfrm>
            <a:off x="4483100" y="3670300"/>
            <a:ext cx="32131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占位符 8"/>
          <p:cNvSpPr>
            <a:spLocks noGrp="1"/>
          </p:cNvSpPr>
          <p:nvPr>
            <p:ph type="body" sz="quarter" idx="10" hasCustomPrompt="1"/>
          </p:nvPr>
        </p:nvSpPr>
        <p:spPr>
          <a:xfrm>
            <a:off x="4539163" y="2666915"/>
            <a:ext cx="3157037" cy="887620"/>
          </a:xfrm>
          <a:prstGeom prst="rect">
            <a:avLst/>
          </a:prstGeom>
        </p:spPr>
        <p:txBody>
          <a:bodyPr/>
          <a:lstStyle>
            <a:lvl1pPr marL="0" indent="0" algn="ctr">
              <a:buNone/>
              <a:defRPr sz="5400" b="1">
                <a:solidFill>
                  <a:schemeClr val="bg1"/>
                </a:solidFill>
              </a:defRPr>
            </a:lvl1pPr>
          </a:lstStyle>
          <a:p>
            <a:pPr lvl="0"/>
            <a:r>
              <a:rPr lang="zh-CN" altLang="en-US" dirty="0"/>
              <a:t>输入标题</a:t>
            </a:r>
          </a:p>
        </p:txBody>
      </p:sp>
      <p:sp>
        <p:nvSpPr>
          <p:cNvPr id="11" name="文本占位符 10"/>
          <p:cNvSpPr>
            <a:spLocks noGrp="1"/>
          </p:cNvSpPr>
          <p:nvPr>
            <p:ph type="body" sz="quarter" idx="11" hasCustomPrompt="1"/>
          </p:nvPr>
        </p:nvSpPr>
        <p:spPr>
          <a:xfrm>
            <a:off x="4965634" y="3803516"/>
            <a:ext cx="2260732" cy="425584"/>
          </a:xfrm>
          <a:prstGeom prst="rect">
            <a:avLst/>
          </a:prstGeom>
        </p:spPr>
        <p:txBody>
          <a:bodyPr/>
          <a:lstStyle>
            <a:lvl1pPr marL="0" indent="0" algn="ctr">
              <a:buNone/>
              <a:defRPr sz="3200" b="1" baseline="0">
                <a:solidFill>
                  <a:schemeClr val="bg1"/>
                </a:solidFill>
                <a:latin typeface="+mn-ea"/>
                <a:ea typeface="+mn-ea"/>
              </a:defRPr>
            </a:lvl1pPr>
          </a:lstStyle>
          <a:p>
            <a:pPr lvl="0"/>
            <a:r>
              <a:rPr lang="en-US" altLang="zh-CN" dirty="0"/>
              <a:t>Add Text</a:t>
            </a:r>
          </a:p>
        </p:txBody>
      </p:sp>
    </p:spTree>
    <p:extLst>
      <p:ext uri="{BB962C8B-B14F-4D97-AF65-F5344CB8AC3E}">
        <p14:creationId xmlns:p14="http://schemas.microsoft.com/office/powerpoint/2010/main" val="20285326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副标题页3">
    <p:bg>
      <p:bgPr>
        <a:gradFill>
          <a:gsLst>
            <a:gs pos="0">
              <a:schemeClr val="tx1">
                <a:lumMod val="65000"/>
                <a:lumOff val="35000"/>
              </a:schemeClr>
            </a:gs>
            <a:gs pos="55000">
              <a:schemeClr val="tx1">
                <a:lumMod val="85000"/>
                <a:lumOff val="15000"/>
              </a:schemeClr>
            </a:gs>
            <a:gs pos="97000">
              <a:schemeClr val="tx1">
                <a:lumMod val="95000"/>
                <a:lumOff val="5000"/>
              </a:schemeClr>
            </a:gs>
          </a:gsLst>
          <a:lin ang="5400000" scaled="1"/>
        </a:gradFill>
        <a:effectLst/>
      </p:bgPr>
    </p:bg>
    <p:spTree>
      <p:nvGrpSpPr>
        <p:cNvPr id="1" name=""/>
        <p:cNvGrpSpPr/>
        <p:nvPr/>
      </p:nvGrpSpPr>
      <p:grpSpPr>
        <a:xfrm>
          <a:off x="0" y="0"/>
          <a:ext cx="0" cy="0"/>
          <a:chOff x="0" y="0"/>
          <a:chExt cx="0" cy="0"/>
        </a:xfrm>
      </p:grpSpPr>
      <p:graphicFrame>
        <p:nvGraphicFramePr>
          <p:cNvPr id="2" name="图表 1"/>
          <p:cNvGraphicFramePr/>
          <p:nvPr userDrawn="1">
            <p:extLst/>
          </p:nvPr>
        </p:nvGraphicFramePr>
        <p:xfrm>
          <a:off x="1118988" y="15852"/>
          <a:ext cx="9954024" cy="6753248"/>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组合 2"/>
          <p:cNvGrpSpPr/>
          <p:nvPr userDrawn="1"/>
        </p:nvGrpSpPr>
        <p:grpSpPr>
          <a:xfrm>
            <a:off x="4079131" y="1412132"/>
            <a:ext cx="4033736" cy="4033736"/>
            <a:chOff x="4216400" y="1549400"/>
            <a:chExt cx="3911600" cy="3911600"/>
          </a:xfrm>
          <a:effectLst>
            <a:outerShdw blurRad="342900" dist="88900" dir="8100000" algn="tr" rotWithShape="0">
              <a:prstClr val="black">
                <a:alpha val="83000"/>
              </a:prstClr>
            </a:outerShdw>
          </a:effectLst>
        </p:grpSpPr>
        <p:sp>
          <p:nvSpPr>
            <p:cNvPr id="4" name="椭圆 3"/>
            <p:cNvSpPr/>
            <p:nvPr/>
          </p:nvSpPr>
          <p:spPr>
            <a:xfrm>
              <a:off x="4216400" y="1549400"/>
              <a:ext cx="3911600" cy="3911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445000" y="1778000"/>
              <a:ext cx="3454400" cy="345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 name="直接连接符 10"/>
          <p:cNvCxnSpPr/>
          <p:nvPr userDrawn="1"/>
        </p:nvCxnSpPr>
        <p:spPr>
          <a:xfrm>
            <a:off x="4483100" y="3670300"/>
            <a:ext cx="32131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文本占位符 8"/>
          <p:cNvSpPr>
            <a:spLocks noGrp="1"/>
          </p:cNvSpPr>
          <p:nvPr>
            <p:ph type="body" sz="quarter" idx="10" hasCustomPrompt="1"/>
          </p:nvPr>
        </p:nvSpPr>
        <p:spPr>
          <a:xfrm>
            <a:off x="4539163" y="2666915"/>
            <a:ext cx="3157037" cy="887620"/>
          </a:xfrm>
          <a:prstGeom prst="rect">
            <a:avLst/>
          </a:prstGeom>
        </p:spPr>
        <p:txBody>
          <a:bodyPr/>
          <a:lstStyle>
            <a:lvl1pPr marL="0" indent="0" algn="ctr">
              <a:buNone/>
              <a:defRPr sz="5400" b="1">
                <a:solidFill>
                  <a:schemeClr val="bg1"/>
                </a:solidFill>
              </a:defRPr>
            </a:lvl1pPr>
          </a:lstStyle>
          <a:p>
            <a:pPr lvl="0"/>
            <a:r>
              <a:rPr lang="zh-CN" altLang="en-US" dirty="0"/>
              <a:t>输入标题</a:t>
            </a:r>
          </a:p>
        </p:txBody>
      </p:sp>
      <p:sp>
        <p:nvSpPr>
          <p:cNvPr id="15" name="文本占位符 10"/>
          <p:cNvSpPr>
            <a:spLocks noGrp="1"/>
          </p:cNvSpPr>
          <p:nvPr>
            <p:ph type="body" sz="quarter" idx="11" hasCustomPrompt="1"/>
          </p:nvPr>
        </p:nvSpPr>
        <p:spPr>
          <a:xfrm>
            <a:off x="4965634" y="3803516"/>
            <a:ext cx="2260732" cy="425584"/>
          </a:xfrm>
          <a:prstGeom prst="rect">
            <a:avLst/>
          </a:prstGeom>
        </p:spPr>
        <p:txBody>
          <a:bodyPr/>
          <a:lstStyle>
            <a:lvl1pPr marL="0" indent="0" algn="ctr">
              <a:buNone/>
              <a:defRPr sz="3200" b="1" baseline="0">
                <a:solidFill>
                  <a:schemeClr val="bg1"/>
                </a:solidFill>
                <a:latin typeface="+mn-ea"/>
                <a:ea typeface="+mn-ea"/>
              </a:defRPr>
            </a:lvl1pPr>
          </a:lstStyle>
          <a:p>
            <a:pPr lvl="0"/>
            <a:r>
              <a:rPr lang="en-US" altLang="zh-CN" dirty="0"/>
              <a:t>Add Text</a:t>
            </a:r>
          </a:p>
        </p:txBody>
      </p:sp>
    </p:spTree>
    <p:extLst>
      <p:ext uri="{BB962C8B-B14F-4D97-AF65-F5344CB8AC3E}">
        <p14:creationId xmlns:p14="http://schemas.microsoft.com/office/powerpoint/2010/main" val="949003477"/>
      </p:ext>
    </p:extLst>
  </p:cSld>
  <p:clrMapOvr>
    <a:masterClrMapping/>
  </p:clrMapOvr>
  <p:extLst>
    <p:ext uri="{DCECCB84-F9BA-43D5-87BE-67443E8EF086}">
      <p15:sldGuideLst xmlns:p15="http://schemas.microsoft.com/office/powerpoint/2012/main">
        <p15:guide id="1" pos="3840">
          <p15:clr>
            <a:srgbClr val="FBAE40"/>
          </p15:clr>
        </p15:guide>
        <p15:guide id="2"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副标题页4">
    <p:bg>
      <p:bgPr>
        <a:gradFill>
          <a:gsLst>
            <a:gs pos="0">
              <a:schemeClr val="tx1">
                <a:lumMod val="65000"/>
                <a:lumOff val="35000"/>
              </a:schemeClr>
            </a:gs>
            <a:gs pos="55000">
              <a:schemeClr val="tx1">
                <a:lumMod val="85000"/>
                <a:lumOff val="15000"/>
              </a:schemeClr>
            </a:gs>
            <a:gs pos="97000">
              <a:schemeClr val="tx1">
                <a:lumMod val="95000"/>
                <a:lumOff val="5000"/>
              </a:schemeClr>
            </a:gs>
          </a:gsLst>
          <a:lin ang="5400000" scaled="1"/>
        </a:gradFill>
        <a:effectLst/>
      </p:bgPr>
    </p:bg>
    <p:spTree>
      <p:nvGrpSpPr>
        <p:cNvPr id="1" name=""/>
        <p:cNvGrpSpPr/>
        <p:nvPr/>
      </p:nvGrpSpPr>
      <p:grpSpPr>
        <a:xfrm>
          <a:off x="0" y="0"/>
          <a:ext cx="0" cy="0"/>
          <a:chOff x="0" y="0"/>
          <a:chExt cx="0" cy="0"/>
        </a:xfrm>
      </p:grpSpPr>
      <p:graphicFrame>
        <p:nvGraphicFramePr>
          <p:cNvPr id="2" name="图表 1"/>
          <p:cNvGraphicFramePr/>
          <p:nvPr userDrawn="1">
            <p:extLst/>
          </p:nvPr>
        </p:nvGraphicFramePr>
        <p:xfrm>
          <a:off x="1118988" y="15852"/>
          <a:ext cx="9954024" cy="6753248"/>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组合 2"/>
          <p:cNvGrpSpPr/>
          <p:nvPr userDrawn="1"/>
        </p:nvGrpSpPr>
        <p:grpSpPr>
          <a:xfrm>
            <a:off x="4079131" y="1412132"/>
            <a:ext cx="4033736" cy="4033736"/>
            <a:chOff x="4216400" y="1549400"/>
            <a:chExt cx="3911600" cy="3911600"/>
          </a:xfrm>
          <a:effectLst>
            <a:outerShdw blurRad="342900" dist="88900" dir="8100000" algn="tr" rotWithShape="0">
              <a:prstClr val="black">
                <a:alpha val="83000"/>
              </a:prstClr>
            </a:outerShdw>
          </a:effectLst>
        </p:grpSpPr>
        <p:sp>
          <p:nvSpPr>
            <p:cNvPr id="4" name="椭圆 3"/>
            <p:cNvSpPr/>
            <p:nvPr/>
          </p:nvSpPr>
          <p:spPr>
            <a:xfrm>
              <a:off x="4216400" y="1549400"/>
              <a:ext cx="3911600" cy="3911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445000" y="1778000"/>
              <a:ext cx="3454400" cy="345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 name="直接连接符 6"/>
          <p:cNvCxnSpPr/>
          <p:nvPr userDrawn="1"/>
        </p:nvCxnSpPr>
        <p:spPr>
          <a:xfrm>
            <a:off x="4483100" y="3670300"/>
            <a:ext cx="32131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占位符 8"/>
          <p:cNvSpPr>
            <a:spLocks noGrp="1"/>
          </p:cNvSpPr>
          <p:nvPr>
            <p:ph type="body" sz="quarter" idx="10" hasCustomPrompt="1"/>
          </p:nvPr>
        </p:nvSpPr>
        <p:spPr>
          <a:xfrm>
            <a:off x="4539163" y="2666915"/>
            <a:ext cx="3157037" cy="887620"/>
          </a:xfrm>
          <a:prstGeom prst="rect">
            <a:avLst/>
          </a:prstGeom>
        </p:spPr>
        <p:txBody>
          <a:bodyPr/>
          <a:lstStyle>
            <a:lvl1pPr marL="0" indent="0" algn="ctr">
              <a:buNone/>
              <a:defRPr sz="5400" b="1">
                <a:solidFill>
                  <a:schemeClr val="bg1"/>
                </a:solidFill>
              </a:defRPr>
            </a:lvl1pPr>
          </a:lstStyle>
          <a:p>
            <a:pPr lvl="0"/>
            <a:r>
              <a:rPr lang="zh-CN" altLang="en-US" dirty="0"/>
              <a:t>输入标题</a:t>
            </a:r>
          </a:p>
        </p:txBody>
      </p:sp>
      <p:sp>
        <p:nvSpPr>
          <p:cNvPr id="11" name="文本占位符 10"/>
          <p:cNvSpPr>
            <a:spLocks noGrp="1"/>
          </p:cNvSpPr>
          <p:nvPr>
            <p:ph type="body" sz="quarter" idx="11" hasCustomPrompt="1"/>
          </p:nvPr>
        </p:nvSpPr>
        <p:spPr>
          <a:xfrm>
            <a:off x="4965634" y="3803516"/>
            <a:ext cx="2260732" cy="425584"/>
          </a:xfrm>
          <a:prstGeom prst="rect">
            <a:avLst/>
          </a:prstGeom>
        </p:spPr>
        <p:txBody>
          <a:bodyPr/>
          <a:lstStyle>
            <a:lvl1pPr marL="0" indent="0" algn="ctr">
              <a:buNone/>
              <a:defRPr sz="3200" b="1" baseline="0">
                <a:solidFill>
                  <a:schemeClr val="bg1"/>
                </a:solidFill>
                <a:latin typeface="+mn-ea"/>
                <a:ea typeface="+mn-ea"/>
              </a:defRPr>
            </a:lvl1pPr>
          </a:lstStyle>
          <a:p>
            <a:pPr lvl="0"/>
            <a:r>
              <a:rPr lang="en-US" altLang="zh-CN" dirty="0"/>
              <a:t>Add Text</a:t>
            </a:r>
          </a:p>
        </p:txBody>
      </p:sp>
    </p:spTree>
    <p:extLst>
      <p:ext uri="{BB962C8B-B14F-4D97-AF65-F5344CB8AC3E}">
        <p14:creationId xmlns:p14="http://schemas.microsoft.com/office/powerpoint/2010/main" val="3570388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副标题页5">
    <p:bg>
      <p:bgPr>
        <a:gradFill>
          <a:gsLst>
            <a:gs pos="0">
              <a:schemeClr val="tx1">
                <a:lumMod val="65000"/>
                <a:lumOff val="35000"/>
              </a:schemeClr>
            </a:gs>
            <a:gs pos="55000">
              <a:schemeClr val="tx1">
                <a:lumMod val="85000"/>
                <a:lumOff val="15000"/>
              </a:schemeClr>
            </a:gs>
            <a:gs pos="97000">
              <a:schemeClr val="tx1">
                <a:lumMod val="95000"/>
                <a:lumOff val="5000"/>
              </a:schemeClr>
            </a:gs>
          </a:gsLst>
          <a:lin ang="5400000" scaled="1"/>
        </a:gradFill>
        <a:effectLst/>
      </p:bgPr>
    </p:bg>
    <p:spTree>
      <p:nvGrpSpPr>
        <p:cNvPr id="1" name=""/>
        <p:cNvGrpSpPr/>
        <p:nvPr/>
      </p:nvGrpSpPr>
      <p:grpSpPr>
        <a:xfrm>
          <a:off x="0" y="0"/>
          <a:ext cx="0" cy="0"/>
          <a:chOff x="0" y="0"/>
          <a:chExt cx="0" cy="0"/>
        </a:xfrm>
      </p:grpSpPr>
      <p:graphicFrame>
        <p:nvGraphicFramePr>
          <p:cNvPr id="2" name="图表 1"/>
          <p:cNvGraphicFramePr/>
          <p:nvPr userDrawn="1">
            <p:extLst/>
          </p:nvPr>
        </p:nvGraphicFramePr>
        <p:xfrm>
          <a:off x="1118988" y="15852"/>
          <a:ext cx="9954024" cy="6753248"/>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组合 2"/>
          <p:cNvGrpSpPr/>
          <p:nvPr userDrawn="1"/>
        </p:nvGrpSpPr>
        <p:grpSpPr>
          <a:xfrm>
            <a:off x="4079131" y="1412132"/>
            <a:ext cx="4033736" cy="4033736"/>
            <a:chOff x="4216400" y="1549400"/>
            <a:chExt cx="3911600" cy="3911600"/>
          </a:xfrm>
          <a:effectLst>
            <a:outerShdw blurRad="342900" dist="88900" dir="8100000" algn="tr" rotWithShape="0">
              <a:prstClr val="black">
                <a:alpha val="83000"/>
              </a:prstClr>
            </a:outerShdw>
          </a:effectLst>
        </p:grpSpPr>
        <p:sp>
          <p:nvSpPr>
            <p:cNvPr id="4" name="椭圆 3"/>
            <p:cNvSpPr/>
            <p:nvPr/>
          </p:nvSpPr>
          <p:spPr>
            <a:xfrm>
              <a:off x="4216400" y="1549400"/>
              <a:ext cx="3911600" cy="3911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445000" y="1778000"/>
              <a:ext cx="3454400" cy="345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 name="直接连接符 6"/>
          <p:cNvCxnSpPr/>
          <p:nvPr userDrawn="1"/>
        </p:nvCxnSpPr>
        <p:spPr>
          <a:xfrm>
            <a:off x="4483100" y="3670300"/>
            <a:ext cx="32131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占位符 8"/>
          <p:cNvSpPr>
            <a:spLocks noGrp="1"/>
          </p:cNvSpPr>
          <p:nvPr>
            <p:ph type="body" sz="quarter" idx="10" hasCustomPrompt="1"/>
          </p:nvPr>
        </p:nvSpPr>
        <p:spPr>
          <a:xfrm>
            <a:off x="4539163" y="2666915"/>
            <a:ext cx="3157037" cy="887620"/>
          </a:xfrm>
          <a:prstGeom prst="rect">
            <a:avLst/>
          </a:prstGeom>
        </p:spPr>
        <p:txBody>
          <a:bodyPr/>
          <a:lstStyle>
            <a:lvl1pPr marL="0" indent="0" algn="ctr">
              <a:buNone/>
              <a:defRPr sz="5400" b="1">
                <a:solidFill>
                  <a:schemeClr val="bg1"/>
                </a:solidFill>
              </a:defRPr>
            </a:lvl1pPr>
          </a:lstStyle>
          <a:p>
            <a:pPr lvl="0"/>
            <a:r>
              <a:rPr lang="zh-CN" altLang="en-US" dirty="0"/>
              <a:t>输入标题</a:t>
            </a:r>
          </a:p>
        </p:txBody>
      </p:sp>
      <p:sp>
        <p:nvSpPr>
          <p:cNvPr id="11" name="文本占位符 10"/>
          <p:cNvSpPr>
            <a:spLocks noGrp="1"/>
          </p:cNvSpPr>
          <p:nvPr>
            <p:ph type="body" sz="quarter" idx="11" hasCustomPrompt="1"/>
          </p:nvPr>
        </p:nvSpPr>
        <p:spPr>
          <a:xfrm>
            <a:off x="4965634" y="3803516"/>
            <a:ext cx="2260732" cy="425584"/>
          </a:xfrm>
          <a:prstGeom prst="rect">
            <a:avLst/>
          </a:prstGeom>
        </p:spPr>
        <p:txBody>
          <a:bodyPr/>
          <a:lstStyle>
            <a:lvl1pPr marL="0" indent="0" algn="ctr">
              <a:buNone/>
              <a:defRPr sz="3200" b="1" baseline="0">
                <a:solidFill>
                  <a:schemeClr val="bg1"/>
                </a:solidFill>
                <a:latin typeface="+mn-ea"/>
                <a:ea typeface="+mn-ea"/>
              </a:defRPr>
            </a:lvl1pPr>
          </a:lstStyle>
          <a:p>
            <a:pPr lvl="0"/>
            <a:r>
              <a:rPr lang="en-US" altLang="zh-CN" dirty="0"/>
              <a:t>Add Text</a:t>
            </a:r>
          </a:p>
        </p:txBody>
      </p:sp>
    </p:spTree>
    <p:extLst>
      <p:ext uri="{BB962C8B-B14F-4D97-AF65-F5344CB8AC3E}">
        <p14:creationId xmlns:p14="http://schemas.microsoft.com/office/powerpoint/2010/main" val="78085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副标题页6">
    <p:bg>
      <p:bgPr>
        <a:gradFill>
          <a:gsLst>
            <a:gs pos="0">
              <a:schemeClr val="tx1">
                <a:lumMod val="65000"/>
                <a:lumOff val="35000"/>
              </a:schemeClr>
            </a:gs>
            <a:gs pos="55000">
              <a:schemeClr val="tx1">
                <a:lumMod val="85000"/>
                <a:lumOff val="15000"/>
              </a:schemeClr>
            </a:gs>
            <a:gs pos="97000">
              <a:schemeClr val="tx1">
                <a:lumMod val="95000"/>
                <a:lumOff val="5000"/>
              </a:schemeClr>
            </a:gs>
          </a:gsLst>
          <a:lin ang="5400000" scaled="1"/>
        </a:gradFill>
        <a:effectLst/>
      </p:bgPr>
    </p:bg>
    <p:spTree>
      <p:nvGrpSpPr>
        <p:cNvPr id="1" name=""/>
        <p:cNvGrpSpPr/>
        <p:nvPr/>
      </p:nvGrpSpPr>
      <p:grpSpPr>
        <a:xfrm>
          <a:off x="0" y="0"/>
          <a:ext cx="0" cy="0"/>
          <a:chOff x="0" y="0"/>
          <a:chExt cx="0" cy="0"/>
        </a:xfrm>
      </p:grpSpPr>
      <p:graphicFrame>
        <p:nvGraphicFramePr>
          <p:cNvPr id="2" name="图表 1"/>
          <p:cNvGraphicFramePr/>
          <p:nvPr userDrawn="1">
            <p:extLst/>
          </p:nvPr>
        </p:nvGraphicFramePr>
        <p:xfrm>
          <a:off x="1118988" y="15852"/>
          <a:ext cx="9954024" cy="6753248"/>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组合 2"/>
          <p:cNvGrpSpPr/>
          <p:nvPr userDrawn="1"/>
        </p:nvGrpSpPr>
        <p:grpSpPr>
          <a:xfrm>
            <a:off x="4079131" y="1412132"/>
            <a:ext cx="4033736" cy="4033736"/>
            <a:chOff x="4216400" y="1549400"/>
            <a:chExt cx="3911600" cy="3911600"/>
          </a:xfrm>
          <a:effectLst>
            <a:outerShdw blurRad="342900" dist="88900" dir="8100000" algn="tr" rotWithShape="0">
              <a:prstClr val="black">
                <a:alpha val="83000"/>
              </a:prstClr>
            </a:outerShdw>
          </a:effectLst>
        </p:grpSpPr>
        <p:sp>
          <p:nvSpPr>
            <p:cNvPr id="4" name="椭圆 3"/>
            <p:cNvSpPr/>
            <p:nvPr/>
          </p:nvSpPr>
          <p:spPr>
            <a:xfrm>
              <a:off x="4216400" y="1549400"/>
              <a:ext cx="3911600" cy="391160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4445000" y="1778000"/>
              <a:ext cx="3454400" cy="34544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 name="直接连接符 6"/>
          <p:cNvCxnSpPr/>
          <p:nvPr userDrawn="1"/>
        </p:nvCxnSpPr>
        <p:spPr>
          <a:xfrm>
            <a:off x="4483100" y="3670300"/>
            <a:ext cx="32131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文本占位符 8"/>
          <p:cNvSpPr>
            <a:spLocks noGrp="1"/>
          </p:cNvSpPr>
          <p:nvPr>
            <p:ph type="body" sz="quarter" idx="10" hasCustomPrompt="1"/>
          </p:nvPr>
        </p:nvSpPr>
        <p:spPr>
          <a:xfrm>
            <a:off x="4539163" y="2666915"/>
            <a:ext cx="3157037" cy="887620"/>
          </a:xfrm>
          <a:prstGeom prst="rect">
            <a:avLst/>
          </a:prstGeom>
        </p:spPr>
        <p:txBody>
          <a:bodyPr/>
          <a:lstStyle>
            <a:lvl1pPr marL="0" indent="0" algn="ctr">
              <a:buNone/>
              <a:defRPr sz="5400" b="1">
                <a:solidFill>
                  <a:schemeClr val="bg1"/>
                </a:solidFill>
              </a:defRPr>
            </a:lvl1pPr>
          </a:lstStyle>
          <a:p>
            <a:pPr lvl="0"/>
            <a:r>
              <a:rPr lang="zh-CN" altLang="en-US" dirty="0"/>
              <a:t>输入标题</a:t>
            </a:r>
          </a:p>
        </p:txBody>
      </p:sp>
      <p:sp>
        <p:nvSpPr>
          <p:cNvPr id="11" name="文本占位符 10"/>
          <p:cNvSpPr>
            <a:spLocks noGrp="1"/>
          </p:cNvSpPr>
          <p:nvPr>
            <p:ph type="body" sz="quarter" idx="11" hasCustomPrompt="1"/>
          </p:nvPr>
        </p:nvSpPr>
        <p:spPr>
          <a:xfrm>
            <a:off x="4965634" y="3803516"/>
            <a:ext cx="2260732" cy="425584"/>
          </a:xfrm>
          <a:prstGeom prst="rect">
            <a:avLst/>
          </a:prstGeom>
        </p:spPr>
        <p:txBody>
          <a:bodyPr/>
          <a:lstStyle>
            <a:lvl1pPr marL="0" indent="0" algn="ctr">
              <a:buNone/>
              <a:defRPr sz="3200" b="1" baseline="0">
                <a:solidFill>
                  <a:schemeClr val="bg1"/>
                </a:solidFill>
                <a:latin typeface="+mn-ea"/>
                <a:ea typeface="+mn-ea"/>
              </a:defRPr>
            </a:lvl1pPr>
          </a:lstStyle>
          <a:p>
            <a:pPr lvl="0"/>
            <a:r>
              <a:rPr lang="en-US" altLang="zh-CN" dirty="0"/>
              <a:t>Add Text</a:t>
            </a:r>
          </a:p>
        </p:txBody>
      </p:sp>
    </p:spTree>
    <p:extLst>
      <p:ext uri="{BB962C8B-B14F-4D97-AF65-F5344CB8AC3E}">
        <p14:creationId xmlns:p14="http://schemas.microsoft.com/office/powerpoint/2010/main" val="3165484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页1">
    <p:bg>
      <p:bgPr>
        <a:gradFill>
          <a:gsLst>
            <a:gs pos="0">
              <a:schemeClr val="tx1">
                <a:lumMod val="65000"/>
                <a:lumOff val="35000"/>
              </a:schemeClr>
            </a:gs>
            <a:gs pos="55000">
              <a:schemeClr val="tx1">
                <a:lumMod val="85000"/>
                <a:lumOff val="15000"/>
              </a:schemeClr>
            </a:gs>
            <a:gs pos="97000">
              <a:schemeClr val="tx1">
                <a:lumMod val="95000"/>
                <a:lumOff val="5000"/>
              </a:schemeClr>
            </a:gs>
          </a:gsLst>
          <a:lin ang="5400000" scaled="1"/>
        </a:gradFill>
        <a:effectLst/>
      </p:bgPr>
    </p:bg>
    <p:spTree>
      <p:nvGrpSpPr>
        <p:cNvPr id="1" name=""/>
        <p:cNvGrpSpPr/>
        <p:nvPr/>
      </p:nvGrpSpPr>
      <p:grpSpPr>
        <a:xfrm>
          <a:off x="0" y="0"/>
          <a:ext cx="0" cy="0"/>
          <a:chOff x="0" y="0"/>
          <a:chExt cx="0" cy="0"/>
        </a:xfrm>
      </p:grpSpPr>
      <p:cxnSp>
        <p:nvCxnSpPr>
          <p:cNvPr id="9" name="直接连接符 8"/>
          <p:cNvCxnSpPr/>
          <p:nvPr userDrawn="1"/>
        </p:nvCxnSpPr>
        <p:spPr>
          <a:xfrm>
            <a:off x="558800" y="491067"/>
            <a:ext cx="320886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文本占位符 8"/>
          <p:cNvSpPr>
            <a:spLocks noGrp="1"/>
          </p:cNvSpPr>
          <p:nvPr>
            <p:ph type="body" sz="quarter" idx="10" hasCustomPrompt="1"/>
          </p:nvPr>
        </p:nvSpPr>
        <p:spPr>
          <a:xfrm>
            <a:off x="558800" y="719582"/>
            <a:ext cx="3157037" cy="887620"/>
          </a:xfrm>
          <a:prstGeom prst="rect">
            <a:avLst/>
          </a:prstGeom>
        </p:spPr>
        <p:txBody>
          <a:bodyPr/>
          <a:lstStyle>
            <a:lvl1pPr marL="0" indent="0" algn="l">
              <a:buNone/>
              <a:defRPr sz="5400" b="1">
                <a:solidFill>
                  <a:schemeClr val="bg1"/>
                </a:solidFill>
              </a:defRPr>
            </a:lvl1pPr>
          </a:lstStyle>
          <a:p>
            <a:pPr lvl="0"/>
            <a:r>
              <a:rPr lang="zh-CN" altLang="en-US" dirty="0"/>
              <a:t>输入标题</a:t>
            </a:r>
          </a:p>
        </p:txBody>
      </p:sp>
      <p:sp>
        <p:nvSpPr>
          <p:cNvPr id="14" name="文本占位符 8"/>
          <p:cNvSpPr>
            <a:spLocks noGrp="1"/>
          </p:cNvSpPr>
          <p:nvPr>
            <p:ph type="body" sz="quarter" idx="11" hasCustomPrompt="1"/>
          </p:nvPr>
        </p:nvSpPr>
        <p:spPr>
          <a:xfrm>
            <a:off x="558800" y="1615584"/>
            <a:ext cx="3157037" cy="475683"/>
          </a:xfrm>
          <a:prstGeom prst="rect">
            <a:avLst/>
          </a:prstGeom>
        </p:spPr>
        <p:txBody>
          <a:bodyPr/>
          <a:lstStyle>
            <a:lvl1pPr marL="0" indent="0" algn="l">
              <a:buNone/>
              <a:defRPr sz="2800" b="0">
                <a:solidFill>
                  <a:schemeClr val="bg1"/>
                </a:solidFill>
              </a:defRPr>
            </a:lvl1pPr>
          </a:lstStyle>
          <a:p>
            <a:pPr lvl="0"/>
            <a:r>
              <a:rPr lang="en-US" altLang="zh-CN" dirty="0"/>
              <a:t>Add text</a:t>
            </a:r>
            <a:endParaRPr lang="zh-CN" altLang="en-US" dirty="0"/>
          </a:p>
        </p:txBody>
      </p:sp>
    </p:spTree>
    <p:extLst>
      <p:ext uri="{BB962C8B-B14F-4D97-AF65-F5344CB8AC3E}">
        <p14:creationId xmlns:p14="http://schemas.microsoft.com/office/powerpoint/2010/main" val="2636091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页2">
    <p:bg>
      <p:bgPr>
        <a:gradFill flip="none" rotWithShape="1">
          <a:gsLst>
            <a:gs pos="0">
              <a:schemeClr val="bg1">
                <a:tint val="93000"/>
                <a:satMod val="150000"/>
                <a:shade val="98000"/>
                <a:lumMod val="102000"/>
              </a:schemeClr>
            </a:gs>
            <a:gs pos="23000">
              <a:schemeClr val="bg1">
                <a:tint val="98000"/>
                <a:satMod val="130000"/>
                <a:shade val="90000"/>
                <a:lumMod val="103000"/>
              </a:schemeClr>
            </a:gs>
            <a:gs pos="100000">
              <a:schemeClr val="bg1">
                <a:lumMod val="85000"/>
              </a:schemeClr>
            </a:gs>
          </a:gsLst>
          <a:lin ang="5400000" scaled="1"/>
          <a:tileRect/>
        </a:gradFill>
        <a:effectLst/>
      </p:bgPr>
    </p:bg>
    <p:spTree>
      <p:nvGrpSpPr>
        <p:cNvPr id="1" name=""/>
        <p:cNvGrpSpPr/>
        <p:nvPr/>
      </p:nvGrpSpPr>
      <p:grpSpPr>
        <a:xfrm>
          <a:off x="0" y="0"/>
          <a:ext cx="0" cy="0"/>
          <a:chOff x="0" y="0"/>
          <a:chExt cx="0" cy="0"/>
        </a:xfrm>
      </p:grpSpPr>
      <p:cxnSp>
        <p:nvCxnSpPr>
          <p:cNvPr id="4" name="直接连接符 3"/>
          <p:cNvCxnSpPr/>
          <p:nvPr userDrawn="1"/>
        </p:nvCxnSpPr>
        <p:spPr>
          <a:xfrm>
            <a:off x="558800" y="491067"/>
            <a:ext cx="320886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占位符 8"/>
          <p:cNvSpPr>
            <a:spLocks noGrp="1"/>
          </p:cNvSpPr>
          <p:nvPr>
            <p:ph type="body" sz="quarter" idx="10" hasCustomPrompt="1"/>
          </p:nvPr>
        </p:nvSpPr>
        <p:spPr>
          <a:xfrm>
            <a:off x="558800" y="719582"/>
            <a:ext cx="3157037" cy="887620"/>
          </a:xfrm>
          <a:prstGeom prst="rect">
            <a:avLst/>
          </a:prstGeom>
        </p:spPr>
        <p:txBody>
          <a:bodyPr/>
          <a:lstStyle>
            <a:lvl1pPr marL="0" indent="0" algn="l">
              <a:buNone/>
              <a:defRPr sz="5400" b="1">
                <a:solidFill>
                  <a:schemeClr val="tx1">
                    <a:lumMod val="85000"/>
                    <a:lumOff val="15000"/>
                  </a:schemeClr>
                </a:solidFill>
              </a:defRPr>
            </a:lvl1pPr>
          </a:lstStyle>
          <a:p>
            <a:pPr lvl="0"/>
            <a:r>
              <a:rPr lang="zh-CN" altLang="en-US" dirty="0"/>
              <a:t>输入标题</a:t>
            </a:r>
          </a:p>
        </p:txBody>
      </p:sp>
      <p:sp>
        <p:nvSpPr>
          <p:cNvPr id="8" name="文本占位符 8"/>
          <p:cNvSpPr>
            <a:spLocks noGrp="1"/>
          </p:cNvSpPr>
          <p:nvPr>
            <p:ph type="body" sz="quarter" idx="11" hasCustomPrompt="1"/>
          </p:nvPr>
        </p:nvSpPr>
        <p:spPr>
          <a:xfrm>
            <a:off x="558800" y="1615584"/>
            <a:ext cx="3157037" cy="475683"/>
          </a:xfrm>
          <a:prstGeom prst="rect">
            <a:avLst/>
          </a:prstGeom>
        </p:spPr>
        <p:txBody>
          <a:bodyPr/>
          <a:lstStyle>
            <a:lvl1pPr marL="0" indent="0" algn="l">
              <a:buNone/>
              <a:defRPr sz="2800" b="0">
                <a:solidFill>
                  <a:schemeClr val="tx1">
                    <a:lumMod val="85000"/>
                    <a:lumOff val="15000"/>
                  </a:schemeClr>
                </a:solidFill>
              </a:defRPr>
            </a:lvl1pPr>
          </a:lstStyle>
          <a:p>
            <a:pPr lvl="0"/>
            <a:r>
              <a:rPr lang="en-US" altLang="zh-CN" dirty="0"/>
              <a:t>Add text</a:t>
            </a:r>
            <a:endParaRPr lang="zh-CN" altLang="en-US" dirty="0"/>
          </a:p>
        </p:txBody>
      </p:sp>
    </p:spTree>
    <p:extLst>
      <p:ext uri="{BB962C8B-B14F-4D97-AF65-F5344CB8AC3E}">
        <p14:creationId xmlns:p14="http://schemas.microsoft.com/office/powerpoint/2010/main" val="8106525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容页3">
    <p:bg>
      <p:bgPr>
        <a:gradFill flip="none" rotWithShape="1">
          <a:gsLst>
            <a:gs pos="0">
              <a:schemeClr val="bg1">
                <a:tint val="93000"/>
                <a:satMod val="150000"/>
                <a:shade val="98000"/>
                <a:lumMod val="102000"/>
              </a:schemeClr>
            </a:gs>
            <a:gs pos="23000">
              <a:schemeClr val="bg1">
                <a:tint val="98000"/>
                <a:satMod val="130000"/>
                <a:shade val="90000"/>
                <a:lumMod val="103000"/>
              </a:schemeClr>
            </a:gs>
            <a:gs pos="100000">
              <a:schemeClr val="bg1">
                <a:lumMod val="85000"/>
              </a:schemeClr>
            </a:gs>
          </a:gsLst>
          <a:lin ang="5400000" scaled="1"/>
          <a:tileRect/>
        </a:gradFill>
        <a:effectLst/>
      </p:bgPr>
    </p:bg>
    <p:spTree>
      <p:nvGrpSpPr>
        <p:cNvPr id="1" name=""/>
        <p:cNvGrpSpPr/>
        <p:nvPr/>
      </p:nvGrpSpPr>
      <p:grpSpPr>
        <a:xfrm>
          <a:off x="0" y="0"/>
          <a:ext cx="0" cy="0"/>
          <a:chOff x="0" y="0"/>
          <a:chExt cx="0" cy="0"/>
        </a:xfrm>
      </p:grpSpPr>
      <p:grpSp>
        <p:nvGrpSpPr>
          <p:cNvPr id="18" name="组合 17"/>
          <p:cNvGrpSpPr/>
          <p:nvPr userDrawn="1"/>
        </p:nvGrpSpPr>
        <p:grpSpPr>
          <a:xfrm>
            <a:off x="-2651384" y="-1392620"/>
            <a:ext cx="9458584" cy="9458584"/>
            <a:chOff x="16528736" y="1744900"/>
            <a:chExt cx="3960000" cy="3960000"/>
          </a:xfrm>
        </p:grpSpPr>
        <p:sp>
          <p:nvSpPr>
            <p:cNvPr id="16" name="椭圆 15"/>
            <p:cNvSpPr>
              <a:spLocks/>
            </p:cNvSpPr>
            <p:nvPr userDrawn="1"/>
          </p:nvSpPr>
          <p:spPr>
            <a:xfrm>
              <a:off x="16528736" y="1744900"/>
              <a:ext cx="3960000" cy="3960000"/>
            </a:xfrm>
            <a:prstGeom prst="ellipse">
              <a:avLst/>
            </a:pr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a:spLocks noChangeAspect="1"/>
            </p:cNvSpPr>
            <p:nvPr userDrawn="1"/>
          </p:nvSpPr>
          <p:spPr>
            <a:xfrm>
              <a:off x="16708736" y="1924900"/>
              <a:ext cx="3600000" cy="3600000"/>
            </a:xfrm>
            <a:prstGeom prst="ellipse">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a:spLocks noChangeAspect="1"/>
            </p:cNvSpPr>
            <p:nvPr userDrawn="1"/>
          </p:nvSpPr>
          <p:spPr>
            <a:xfrm>
              <a:off x="16888736" y="2104900"/>
              <a:ext cx="3240000" cy="3240000"/>
            </a:xfrm>
            <a:prstGeom prst="ellipse">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a:spLocks noChangeAspect="1"/>
            </p:cNvSpPr>
            <p:nvPr userDrawn="1"/>
          </p:nvSpPr>
          <p:spPr>
            <a:xfrm>
              <a:off x="17068736" y="2284900"/>
              <a:ext cx="2880000" cy="2880000"/>
            </a:xfrm>
            <a:prstGeom prst="ellipse">
              <a:avLst/>
            </a:prstGeom>
            <a:solidFill>
              <a:schemeClr val="accent3">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椭圆 11"/>
            <p:cNvSpPr/>
            <p:nvPr userDrawn="1"/>
          </p:nvSpPr>
          <p:spPr>
            <a:xfrm>
              <a:off x="17248736" y="2464900"/>
              <a:ext cx="2520000" cy="2520000"/>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a:off x="17428736" y="2644900"/>
              <a:ext cx="2160000" cy="2160000"/>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a:off x="17608736" y="2824900"/>
              <a:ext cx="1800000" cy="1800000"/>
            </a:xfrm>
            <a:prstGeom prst="ellipse">
              <a:avLst/>
            </a:prstGeom>
            <a:solidFill>
              <a:schemeClr val="tx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 name="直接连接符 3"/>
          <p:cNvCxnSpPr/>
          <p:nvPr userDrawn="1"/>
        </p:nvCxnSpPr>
        <p:spPr>
          <a:xfrm>
            <a:off x="558800" y="491067"/>
            <a:ext cx="320886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占位符 8"/>
          <p:cNvSpPr>
            <a:spLocks noGrp="1"/>
          </p:cNvSpPr>
          <p:nvPr>
            <p:ph type="body" sz="quarter" idx="10" hasCustomPrompt="1"/>
          </p:nvPr>
        </p:nvSpPr>
        <p:spPr>
          <a:xfrm>
            <a:off x="558800" y="719582"/>
            <a:ext cx="3157037" cy="887620"/>
          </a:xfrm>
          <a:prstGeom prst="rect">
            <a:avLst/>
          </a:prstGeom>
        </p:spPr>
        <p:txBody>
          <a:bodyPr/>
          <a:lstStyle>
            <a:lvl1pPr marL="0" indent="0" algn="l">
              <a:buNone/>
              <a:defRPr sz="5400" b="1">
                <a:solidFill>
                  <a:schemeClr val="bg1"/>
                </a:solidFill>
              </a:defRPr>
            </a:lvl1pPr>
          </a:lstStyle>
          <a:p>
            <a:pPr lvl="0"/>
            <a:r>
              <a:rPr lang="zh-CN" altLang="en-US" dirty="0"/>
              <a:t>输入标题</a:t>
            </a:r>
          </a:p>
        </p:txBody>
      </p:sp>
      <p:sp>
        <p:nvSpPr>
          <p:cNvPr id="8" name="文本占位符 8"/>
          <p:cNvSpPr>
            <a:spLocks noGrp="1"/>
          </p:cNvSpPr>
          <p:nvPr>
            <p:ph type="body" sz="quarter" idx="11" hasCustomPrompt="1"/>
          </p:nvPr>
        </p:nvSpPr>
        <p:spPr>
          <a:xfrm>
            <a:off x="558800" y="1615584"/>
            <a:ext cx="3157037" cy="475683"/>
          </a:xfrm>
          <a:prstGeom prst="rect">
            <a:avLst/>
          </a:prstGeom>
        </p:spPr>
        <p:txBody>
          <a:bodyPr/>
          <a:lstStyle>
            <a:lvl1pPr marL="0" indent="0" algn="l">
              <a:buNone/>
              <a:defRPr sz="2800" b="0">
                <a:solidFill>
                  <a:schemeClr val="bg1"/>
                </a:solidFill>
              </a:defRPr>
            </a:lvl1pPr>
          </a:lstStyle>
          <a:p>
            <a:pPr lvl="0"/>
            <a:r>
              <a:rPr lang="en-US" altLang="zh-CN" dirty="0"/>
              <a:t>Add text</a:t>
            </a:r>
            <a:endParaRPr lang="zh-CN" altLang="en-US" dirty="0"/>
          </a:p>
        </p:txBody>
      </p:sp>
    </p:spTree>
    <p:extLst>
      <p:ext uri="{BB962C8B-B14F-4D97-AF65-F5344CB8AC3E}">
        <p14:creationId xmlns:p14="http://schemas.microsoft.com/office/powerpoint/2010/main" val="285776019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页4">
    <p:bg>
      <p:bgPr>
        <a:gradFill flip="none" rotWithShape="1">
          <a:gsLst>
            <a:gs pos="0">
              <a:schemeClr val="bg1">
                <a:tint val="93000"/>
                <a:satMod val="150000"/>
                <a:shade val="98000"/>
                <a:lumMod val="102000"/>
              </a:schemeClr>
            </a:gs>
            <a:gs pos="23000">
              <a:schemeClr val="bg1">
                <a:tint val="98000"/>
                <a:satMod val="130000"/>
                <a:shade val="90000"/>
                <a:lumMod val="103000"/>
              </a:schemeClr>
            </a:gs>
            <a:gs pos="100000">
              <a:schemeClr val="bg1">
                <a:lumMod val="85000"/>
              </a:schemeClr>
            </a:gs>
          </a:gsLst>
          <a:lin ang="5400000" scaled="1"/>
          <a:tileRect/>
        </a:gradFill>
        <a:effectLst/>
      </p:bgPr>
    </p:bg>
    <p:spTree>
      <p:nvGrpSpPr>
        <p:cNvPr id="1" name=""/>
        <p:cNvGrpSpPr/>
        <p:nvPr/>
      </p:nvGrpSpPr>
      <p:grpSpPr>
        <a:xfrm>
          <a:off x="0" y="0"/>
          <a:ext cx="0" cy="0"/>
          <a:chOff x="0" y="0"/>
          <a:chExt cx="0" cy="0"/>
        </a:xfrm>
      </p:grpSpPr>
      <p:sp>
        <p:nvSpPr>
          <p:cNvPr id="2" name="椭圆 1"/>
          <p:cNvSpPr/>
          <p:nvPr userDrawn="1"/>
        </p:nvSpPr>
        <p:spPr>
          <a:xfrm>
            <a:off x="0" y="-8467"/>
            <a:ext cx="6874934" cy="6874934"/>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a:p>
        </p:txBody>
      </p:sp>
      <p:sp>
        <p:nvSpPr>
          <p:cNvPr id="9" name="椭圆 8"/>
          <p:cNvSpPr/>
          <p:nvPr userDrawn="1"/>
        </p:nvSpPr>
        <p:spPr>
          <a:xfrm>
            <a:off x="2658533" y="-8467"/>
            <a:ext cx="6874934" cy="6874934"/>
          </a:xfrm>
          <a:prstGeom prst="ellipse">
            <a:avLst/>
          </a:prstGeom>
          <a:solidFill>
            <a:schemeClr val="accent3">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a:off x="5317066" y="-8467"/>
            <a:ext cx="6874934" cy="6874934"/>
          </a:xfrm>
          <a:prstGeom prst="ellipse">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p:cNvCxnSpPr/>
          <p:nvPr userDrawn="1"/>
        </p:nvCxnSpPr>
        <p:spPr>
          <a:xfrm>
            <a:off x="558800" y="491067"/>
            <a:ext cx="320886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占位符 8"/>
          <p:cNvSpPr>
            <a:spLocks noGrp="1"/>
          </p:cNvSpPr>
          <p:nvPr>
            <p:ph type="body" sz="quarter" idx="10" hasCustomPrompt="1"/>
          </p:nvPr>
        </p:nvSpPr>
        <p:spPr>
          <a:xfrm>
            <a:off x="558800" y="719582"/>
            <a:ext cx="3157037" cy="887620"/>
          </a:xfrm>
          <a:prstGeom prst="rect">
            <a:avLst/>
          </a:prstGeom>
        </p:spPr>
        <p:txBody>
          <a:bodyPr/>
          <a:lstStyle>
            <a:lvl1pPr marL="0" indent="0" algn="l">
              <a:buNone/>
              <a:defRPr sz="5400" b="1">
                <a:solidFill>
                  <a:schemeClr val="bg1"/>
                </a:solidFill>
              </a:defRPr>
            </a:lvl1pPr>
          </a:lstStyle>
          <a:p>
            <a:pPr lvl="0"/>
            <a:r>
              <a:rPr lang="zh-CN" altLang="en-US" dirty="0"/>
              <a:t>输入标题</a:t>
            </a:r>
          </a:p>
        </p:txBody>
      </p:sp>
      <p:sp>
        <p:nvSpPr>
          <p:cNvPr id="8" name="文本占位符 8"/>
          <p:cNvSpPr>
            <a:spLocks noGrp="1"/>
          </p:cNvSpPr>
          <p:nvPr>
            <p:ph type="body" sz="quarter" idx="11" hasCustomPrompt="1"/>
          </p:nvPr>
        </p:nvSpPr>
        <p:spPr>
          <a:xfrm>
            <a:off x="558800" y="1615584"/>
            <a:ext cx="3157037" cy="475683"/>
          </a:xfrm>
          <a:prstGeom prst="rect">
            <a:avLst/>
          </a:prstGeom>
        </p:spPr>
        <p:txBody>
          <a:bodyPr/>
          <a:lstStyle>
            <a:lvl1pPr marL="0" indent="0" algn="l">
              <a:buNone/>
              <a:defRPr sz="2800" b="0">
                <a:solidFill>
                  <a:schemeClr val="bg1"/>
                </a:solidFill>
              </a:defRPr>
            </a:lvl1pPr>
          </a:lstStyle>
          <a:p>
            <a:pPr lvl="0"/>
            <a:r>
              <a:rPr lang="en-US" altLang="zh-CN" dirty="0"/>
              <a:t>Add text</a:t>
            </a:r>
            <a:endParaRPr lang="zh-CN" altLang="en-US" dirty="0"/>
          </a:p>
        </p:txBody>
      </p:sp>
    </p:spTree>
    <p:extLst>
      <p:ext uri="{BB962C8B-B14F-4D97-AF65-F5344CB8AC3E}">
        <p14:creationId xmlns:p14="http://schemas.microsoft.com/office/powerpoint/2010/main" val="896563809"/>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页5">
    <p:bg>
      <p:bgPr>
        <a:gradFill flip="none" rotWithShape="1">
          <a:gsLst>
            <a:gs pos="0">
              <a:schemeClr val="bg1">
                <a:tint val="93000"/>
                <a:satMod val="150000"/>
                <a:shade val="98000"/>
                <a:lumMod val="102000"/>
              </a:schemeClr>
            </a:gs>
            <a:gs pos="23000">
              <a:schemeClr val="bg1">
                <a:tint val="98000"/>
                <a:satMod val="130000"/>
                <a:shade val="90000"/>
                <a:lumMod val="103000"/>
              </a:schemeClr>
            </a:gs>
            <a:gs pos="100000">
              <a:schemeClr val="bg1">
                <a:lumMod val="85000"/>
              </a:schemeClr>
            </a:gs>
          </a:gsLst>
          <a:lin ang="5400000" scaled="1"/>
          <a:tileRect/>
        </a:gradFill>
        <a:effectLst/>
      </p:bgPr>
    </p:bg>
    <p:spTree>
      <p:nvGrpSpPr>
        <p:cNvPr id="1" name=""/>
        <p:cNvGrpSpPr/>
        <p:nvPr/>
      </p:nvGrpSpPr>
      <p:grpSpPr>
        <a:xfrm>
          <a:off x="0" y="0"/>
          <a:ext cx="0" cy="0"/>
          <a:chOff x="0" y="0"/>
          <a:chExt cx="0" cy="0"/>
        </a:xfrm>
      </p:grpSpPr>
      <p:grpSp>
        <p:nvGrpSpPr>
          <p:cNvPr id="6" name="组 3"/>
          <p:cNvGrpSpPr/>
          <p:nvPr userDrawn="1"/>
        </p:nvGrpSpPr>
        <p:grpSpPr>
          <a:xfrm>
            <a:off x="-984381" y="406561"/>
            <a:ext cx="14160762" cy="6402682"/>
            <a:chOff x="468684" y="1795903"/>
            <a:chExt cx="4682512" cy="2527084"/>
          </a:xfrm>
          <a:solidFill>
            <a:schemeClr val="bg1">
              <a:lumMod val="85000"/>
            </a:schemeClr>
          </a:solidFill>
        </p:grpSpPr>
        <p:sp>
          <p:nvSpPr>
            <p:cNvPr id="9" name="Freeform 559"/>
            <p:cNvSpPr>
              <a:spLocks/>
            </p:cNvSpPr>
            <p:nvPr/>
          </p:nvSpPr>
          <p:spPr bwMode="auto">
            <a:xfrm>
              <a:off x="2597256" y="2585130"/>
              <a:ext cx="59777" cy="92697"/>
            </a:xfrm>
            <a:custGeom>
              <a:avLst/>
              <a:gdLst>
                <a:gd name="T0" fmla="*/ 2147483647 w 56"/>
                <a:gd name="T1" fmla="*/ 2147483647 h 88"/>
                <a:gd name="T2" fmla="*/ 0 w 56"/>
                <a:gd name="T3" fmla="*/ 2147483647 h 88"/>
                <a:gd name="T4" fmla="*/ 0 w 56"/>
                <a:gd name="T5" fmla="*/ 2147483647 h 88"/>
                <a:gd name="T6" fmla="*/ 0 w 56"/>
                <a:gd name="T7" fmla="*/ 2147483647 h 88"/>
                <a:gd name="T8" fmla="*/ 2147483647 w 56"/>
                <a:gd name="T9" fmla="*/ 2147483647 h 88"/>
                <a:gd name="T10" fmla="*/ 2147483647 w 56"/>
                <a:gd name="T11" fmla="*/ 2147483647 h 88"/>
                <a:gd name="T12" fmla="*/ 0 w 56"/>
                <a:gd name="T13" fmla="*/ 2147483647 h 88"/>
                <a:gd name="T14" fmla="*/ 2147483647 w 56"/>
                <a:gd name="T15" fmla="*/ 2147483647 h 88"/>
                <a:gd name="T16" fmla="*/ 0 w 56"/>
                <a:gd name="T17" fmla="*/ 2147483647 h 88"/>
                <a:gd name="T18" fmla="*/ 2147483647 w 56"/>
                <a:gd name="T19" fmla="*/ 2147483647 h 88"/>
                <a:gd name="T20" fmla="*/ 2147483647 w 56"/>
                <a:gd name="T21" fmla="*/ 2147483647 h 88"/>
                <a:gd name="T22" fmla="*/ 2147483647 w 56"/>
                <a:gd name="T23" fmla="*/ 0 h 88"/>
                <a:gd name="T24" fmla="*/ 2147483647 w 56"/>
                <a:gd name="T25" fmla="*/ 2147483647 h 88"/>
                <a:gd name="T26" fmla="*/ 2147483647 w 56"/>
                <a:gd name="T27" fmla="*/ 2147483647 h 88"/>
                <a:gd name="T28" fmla="*/ 2147483647 w 56"/>
                <a:gd name="T29" fmla="*/ 2147483647 h 88"/>
                <a:gd name="T30" fmla="*/ 2147483647 w 56"/>
                <a:gd name="T31" fmla="*/ 2147483647 h 88"/>
                <a:gd name="T32" fmla="*/ 2147483647 w 56"/>
                <a:gd name="T33" fmla="*/ 2147483647 h 88"/>
                <a:gd name="T34" fmla="*/ 2147483647 w 56"/>
                <a:gd name="T35" fmla="*/ 2147483647 h 88"/>
                <a:gd name="T36" fmla="*/ 2147483647 w 56"/>
                <a:gd name="T37" fmla="*/ 2147483647 h 88"/>
                <a:gd name="T38" fmla="*/ 2147483647 w 56"/>
                <a:gd name="T39" fmla="*/ 2147483647 h 88"/>
                <a:gd name="T40" fmla="*/ 2147483647 w 56"/>
                <a:gd name="T41" fmla="*/ 214748364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6"/>
                <a:gd name="T64" fmla="*/ 0 h 88"/>
                <a:gd name="T65" fmla="*/ 56 w 56"/>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6" h="88">
                  <a:moveTo>
                    <a:pt x="8" y="88"/>
                  </a:moveTo>
                  <a:lnTo>
                    <a:pt x="0" y="80"/>
                  </a:lnTo>
                  <a:lnTo>
                    <a:pt x="0" y="72"/>
                  </a:lnTo>
                  <a:lnTo>
                    <a:pt x="0" y="64"/>
                  </a:lnTo>
                  <a:lnTo>
                    <a:pt x="8" y="56"/>
                  </a:lnTo>
                  <a:lnTo>
                    <a:pt x="8" y="48"/>
                  </a:lnTo>
                  <a:lnTo>
                    <a:pt x="0" y="40"/>
                  </a:lnTo>
                  <a:lnTo>
                    <a:pt x="8" y="40"/>
                  </a:lnTo>
                  <a:lnTo>
                    <a:pt x="0" y="24"/>
                  </a:lnTo>
                  <a:lnTo>
                    <a:pt x="16" y="24"/>
                  </a:lnTo>
                  <a:lnTo>
                    <a:pt x="16" y="16"/>
                  </a:lnTo>
                  <a:lnTo>
                    <a:pt x="32" y="0"/>
                  </a:lnTo>
                  <a:lnTo>
                    <a:pt x="40" y="8"/>
                  </a:lnTo>
                  <a:lnTo>
                    <a:pt x="48" y="8"/>
                  </a:lnTo>
                  <a:lnTo>
                    <a:pt x="48" y="16"/>
                  </a:lnTo>
                  <a:lnTo>
                    <a:pt x="56" y="24"/>
                  </a:lnTo>
                  <a:lnTo>
                    <a:pt x="48" y="32"/>
                  </a:lnTo>
                  <a:lnTo>
                    <a:pt x="48" y="48"/>
                  </a:lnTo>
                  <a:lnTo>
                    <a:pt x="48" y="64"/>
                  </a:lnTo>
                  <a:lnTo>
                    <a:pt x="32" y="72"/>
                  </a:lnTo>
                  <a:lnTo>
                    <a:pt x="8" y="8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0" name="Freeform 560"/>
            <p:cNvSpPr>
              <a:spLocks/>
            </p:cNvSpPr>
            <p:nvPr/>
          </p:nvSpPr>
          <p:spPr bwMode="auto">
            <a:xfrm>
              <a:off x="2648370" y="2508026"/>
              <a:ext cx="101360" cy="195791"/>
            </a:xfrm>
            <a:custGeom>
              <a:avLst/>
              <a:gdLst>
                <a:gd name="T0" fmla="*/ 2147483647 w 96"/>
                <a:gd name="T1" fmla="*/ 2147483647 h 184"/>
                <a:gd name="T2" fmla="*/ 2147483647 w 96"/>
                <a:gd name="T3" fmla="*/ 2147483647 h 184"/>
                <a:gd name="T4" fmla="*/ 2147483647 w 96"/>
                <a:gd name="T5" fmla="*/ 2147483647 h 184"/>
                <a:gd name="T6" fmla="*/ 2147483647 w 96"/>
                <a:gd name="T7" fmla="*/ 2147483647 h 184"/>
                <a:gd name="T8" fmla="*/ 2147483647 w 96"/>
                <a:gd name="T9" fmla="*/ 2147483647 h 184"/>
                <a:gd name="T10" fmla="*/ 2147483647 w 96"/>
                <a:gd name="T11" fmla="*/ 2147483647 h 184"/>
                <a:gd name="T12" fmla="*/ 2147483647 w 96"/>
                <a:gd name="T13" fmla="*/ 2147483647 h 184"/>
                <a:gd name="T14" fmla="*/ 2147483647 w 96"/>
                <a:gd name="T15" fmla="*/ 2147483647 h 184"/>
                <a:gd name="T16" fmla="*/ 2147483647 w 96"/>
                <a:gd name="T17" fmla="*/ 2147483647 h 184"/>
                <a:gd name="T18" fmla="*/ 2147483647 w 96"/>
                <a:gd name="T19" fmla="*/ 2147483647 h 184"/>
                <a:gd name="T20" fmla="*/ 2147483647 w 96"/>
                <a:gd name="T21" fmla="*/ 2147483647 h 184"/>
                <a:gd name="T22" fmla="*/ 2147483647 w 96"/>
                <a:gd name="T23" fmla="*/ 2147483647 h 184"/>
                <a:gd name="T24" fmla="*/ 2147483647 w 96"/>
                <a:gd name="T25" fmla="*/ 2147483647 h 184"/>
                <a:gd name="T26" fmla="*/ 2147483647 w 96"/>
                <a:gd name="T27" fmla="*/ 2147483647 h 184"/>
                <a:gd name="T28" fmla="*/ 2147483647 w 96"/>
                <a:gd name="T29" fmla="*/ 2147483647 h 184"/>
                <a:gd name="T30" fmla="*/ 0 w 96"/>
                <a:gd name="T31" fmla="*/ 2147483647 h 184"/>
                <a:gd name="T32" fmla="*/ 0 w 96"/>
                <a:gd name="T33" fmla="*/ 2147483647 h 184"/>
                <a:gd name="T34" fmla="*/ 0 w 96"/>
                <a:gd name="T35" fmla="*/ 2147483647 h 184"/>
                <a:gd name="T36" fmla="*/ 0 w 96"/>
                <a:gd name="T37" fmla="*/ 2147483647 h 184"/>
                <a:gd name="T38" fmla="*/ 0 w 96"/>
                <a:gd name="T39" fmla="*/ 2147483647 h 184"/>
                <a:gd name="T40" fmla="*/ 2147483647 w 96"/>
                <a:gd name="T41" fmla="*/ 2147483647 h 184"/>
                <a:gd name="T42" fmla="*/ 2147483647 w 96"/>
                <a:gd name="T43" fmla="*/ 0 h 184"/>
                <a:gd name="T44" fmla="*/ 2147483647 w 96"/>
                <a:gd name="T45" fmla="*/ 0 h 184"/>
                <a:gd name="T46" fmla="*/ 2147483647 w 96"/>
                <a:gd name="T47" fmla="*/ 0 h 184"/>
                <a:gd name="T48" fmla="*/ 2147483647 w 96"/>
                <a:gd name="T49" fmla="*/ 2147483647 h 184"/>
                <a:gd name="T50" fmla="*/ 2147483647 w 96"/>
                <a:gd name="T51" fmla="*/ 2147483647 h 184"/>
                <a:gd name="T52" fmla="*/ 2147483647 w 96"/>
                <a:gd name="T53" fmla="*/ 2147483647 h 184"/>
                <a:gd name="T54" fmla="*/ 2147483647 w 96"/>
                <a:gd name="T55" fmla="*/ 2147483647 h 184"/>
                <a:gd name="T56" fmla="*/ 2147483647 w 96"/>
                <a:gd name="T57" fmla="*/ 2147483647 h 184"/>
                <a:gd name="T58" fmla="*/ 2147483647 w 96"/>
                <a:gd name="T59" fmla="*/ 2147483647 h 184"/>
                <a:gd name="T60" fmla="*/ 2147483647 w 96"/>
                <a:gd name="T61" fmla="*/ 2147483647 h 184"/>
                <a:gd name="T62" fmla="*/ 2147483647 w 96"/>
                <a:gd name="T63" fmla="*/ 2147483647 h 184"/>
                <a:gd name="T64" fmla="*/ 2147483647 w 96"/>
                <a:gd name="T65" fmla="*/ 2147483647 h 184"/>
                <a:gd name="T66" fmla="*/ 2147483647 w 96"/>
                <a:gd name="T67" fmla="*/ 2147483647 h 184"/>
                <a:gd name="T68" fmla="*/ 2147483647 w 96"/>
                <a:gd name="T69" fmla="*/ 2147483647 h 184"/>
                <a:gd name="T70" fmla="*/ 2147483647 w 96"/>
                <a:gd name="T71" fmla="*/ 2147483647 h 184"/>
                <a:gd name="T72" fmla="*/ 2147483647 w 96"/>
                <a:gd name="T73" fmla="*/ 2147483647 h 184"/>
                <a:gd name="T74" fmla="*/ 2147483647 w 96"/>
                <a:gd name="T75" fmla="*/ 2147483647 h 184"/>
                <a:gd name="T76" fmla="*/ 2147483647 w 96"/>
                <a:gd name="T77" fmla="*/ 2147483647 h 184"/>
                <a:gd name="T78" fmla="*/ 2147483647 w 96"/>
                <a:gd name="T79" fmla="*/ 2147483647 h 184"/>
                <a:gd name="T80" fmla="*/ 2147483647 w 96"/>
                <a:gd name="T81" fmla="*/ 2147483647 h 184"/>
                <a:gd name="T82" fmla="*/ 2147483647 w 96"/>
                <a:gd name="T83" fmla="*/ 2147483647 h 184"/>
                <a:gd name="T84" fmla="*/ 2147483647 w 96"/>
                <a:gd name="T85" fmla="*/ 2147483647 h 184"/>
                <a:gd name="T86" fmla="*/ 2147483647 w 96"/>
                <a:gd name="T87" fmla="*/ 2147483647 h 184"/>
                <a:gd name="T88" fmla="*/ 2147483647 w 96"/>
                <a:gd name="T89" fmla="*/ 2147483647 h 184"/>
                <a:gd name="T90" fmla="*/ 2147483647 w 96"/>
                <a:gd name="T91" fmla="*/ 2147483647 h 184"/>
                <a:gd name="T92" fmla="*/ 2147483647 w 96"/>
                <a:gd name="T93" fmla="*/ 2147483647 h 184"/>
                <a:gd name="T94" fmla="*/ 2147483647 w 96"/>
                <a:gd name="T95" fmla="*/ 2147483647 h 184"/>
                <a:gd name="T96" fmla="*/ 2147483647 w 96"/>
                <a:gd name="T97" fmla="*/ 2147483647 h 184"/>
                <a:gd name="T98" fmla="*/ 2147483647 w 96"/>
                <a:gd name="T99" fmla="*/ 2147483647 h 184"/>
                <a:gd name="T100" fmla="*/ 2147483647 w 96"/>
                <a:gd name="T101" fmla="*/ 2147483647 h 184"/>
                <a:gd name="T102" fmla="*/ 2147483647 w 96"/>
                <a:gd name="T103" fmla="*/ 2147483647 h 184"/>
                <a:gd name="T104" fmla="*/ 2147483647 w 96"/>
                <a:gd name="T105" fmla="*/ 2147483647 h 184"/>
                <a:gd name="T106" fmla="*/ 2147483647 w 96"/>
                <a:gd name="T107" fmla="*/ 2147483647 h 184"/>
                <a:gd name="T108" fmla="*/ 2147483647 w 96"/>
                <a:gd name="T109" fmla="*/ 2147483647 h 184"/>
                <a:gd name="T110" fmla="*/ 2147483647 w 96"/>
                <a:gd name="T111" fmla="*/ 2147483647 h 184"/>
                <a:gd name="T112" fmla="*/ 2147483647 w 96"/>
                <a:gd name="T113" fmla="*/ 2147483647 h 184"/>
                <a:gd name="T114" fmla="*/ 2147483647 w 96"/>
                <a:gd name="T115" fmla="*/ 2147483647 h 184"/>
                <a:gd name="T116" fmla="*/ 2147483647 w 96"/>
                <a:gd name="T117" fmla="*/ 2147483647 h 184"/>
                <a:gd name="T118" fmla="*/ 2147483647 w 96"/>
                <a:gd name="T119" fmla="*/ 2147483647 h 1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6"/>
                <a:gd name="T181" fmla="*/ 0 h 184"/>
                <a:gd name="T182" fmla="*/ 96 w 96"/>
                <a:gd name="T183" fmla="*/ 184 h 18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6" h="184">
                  <a:moveTo>
                    <a:pt x="16" y="144"/>
                  </a:moveTo>
                  <a:lnTo>
                    <a:pt x="24" y="136"/>
                  </a:lnTo>
                  <a:lnTo>
                    <a:pt x="24" y="128"/>
                  </a:lnTo>
                  <a:lnTo>
                    <a:pt x="16" y="128"/>
                  </a:lnTo>
                  <a:lnTo>
                    <a:pt x="24" y="120"/>
                  </a:lnTo>
                  <a:lnTo>
                    <a:pt x="40" y="112"/>
                  </a:lnTo>
                  <a:lnTo>
                    <a:pt x="40" y="104"/>
                  </a:lnTo>
                  <a:lnTo>
                    <a:pt x="40" y="96"/>
                  </a:lnTo>
                  <a:lnTo>
                    <a:pt x="32" y="88"/>
                  </a:lnTo>
                  <a:lnTo>
                    <a:pt x="24" y="88"/>
                  </a:lnTo>
                  <a:lnTo>
                    <a:pt x="16" y="88"/>
                  </a:lnTo>
                  <a:lnTo>
                    <a:pt x="16" y="80"/>
                  </a:lnTo>
                  <a:lnTo>
                    <a:pt x="16" y="64"/>
                  </a:lnTo>
                  <a:lnTo>
                    <a:pt x="8" y="64"/>
                  </a:lnTo>
                  <a:lnTo>
                    <a:pt x="8" y="72"/>
                  </a:lnTo>
                  <a:lnTo>
                    <a:pt x="0" y="64"/>
                  </a:lnTo>
                  <a:lnTo>
                    <a:pt x="0" y="48"/>
                  </a:lnTo>
                  <a:lnTo>
                    <a:pt x="0" y="40"/>
                  </a:lnTo>
                  <a:lnTo>
                    <a:pt x="0" y="32"/>
                  </a:lnTo>
                  <a:lnTo>
                    <a:pt x="0" y="24"/>
                  </a:lnTo>
                  <a:lnTo>
                    <a:pt x="8" y="16"/>
                  </a:lnTo>
                  <a:lnTo>
                    <a:pt x="16" y="0"/>
                  </a:lnTo>
                  <a:lnTo>
                    <a:pt x="24" y="0"/>
                  </a:lnTo>
                  <a:lnTo>
                    <a:pt x="32" y="0"/>
                  </a:lnTo>
                  <a:lnTo>
                    <a:pt x="24" y="16"/>
                  </a:lnTo>
                  <a:lnTo>
                    <a:pt x="32" y="24"/>
                  </a:lnTo>
                  <a:lnTo>
                    <a:pt x="40" y="16"/>
                  </a:lnTo>
                  <a:lnTo>
                    <a:pt x="56" y="24"/>
                  </a:lnTo>
                  <a:lnTo>
                    <a:pt x="48" y="32"/>
                  </a:lnTo>
                  <a:lnTo>
                    <a:pt x="48" y="40"/>
                  </a:lnTo>
                  <a:lnTo>
                    <a:pt x="40" y="56"/>
                  </a:lnTo>
                  <a:lnTo>
                    <a:pt x="48" y="64"/>
                  </a:lnTo>
                  <a:lnTo>
                    <a:pt x="56" y="64"/>
                  </a:lnTo>
                  <a:lnTo>
                    <a:pt x="64" y="88"/>
                  </a:lnTo>
                  <a:lnTo>
                    <a:pt x="72" y="96"/>
                  </a:lnTo>
                  <a:lnTo>
                    <a:pt x="80" y="112"/>
                  </a:lnTo>
                  <a:lnTo>
                    <a:pt x="80" y="120"/>
                  </a:lnTo>
                  <a:lnTo>
                    <a:pt x="80" y="128"/>
                  </a:lnTo>
                  <a:lnTo>
                    <a:pt x="88" y="128"/>
                  </a:lnTo>
                  <a:lnTo>
                    <a:pt x="96" y="128"/>
                  </a:lnTo>
                  <a:lnTo>
                    <a:pt x="96" y="144"/>
                  </a:lnTo>
                  <a:lnTo>
                    <a:pt x="88" y="152"/>
                  </a:lnTo>
                  <a:lnTo>
                    <a:pt x="88" y="160"/>
                  </a:lnTo>
                  <a:lnTo>
                    <a:pt x="96" y="160"/>
                  </a:lnTo>
                  <a:lnTo>
                    <a:pt x="88" y="160"/>
                  </a:lnTo>
                  <a:lnTo>
                    <a:pt x="72" y="168"/>
                  </a:lnTo>
                  <a:lnTo>
                    <a:pt x="56" y="168"/>
                  </a:lnTo>
                  <a:lnTo>
                    <a:pt x="48" y="176"/>
                  </a:lnTo>
                  <a:lnTo>
                    <a:pt x="40" y="168"/>
                  </a:lnTo>
                  <a:lnTo>
                    <a:pt x="32" y="176"/>
                  </a:lnTo>
                  <a:lnTo>
                    <a:pt x="24" y="176"/>
                  </a:lnTo>
                  <a:lnTo>
                    <a:pt x="16" y="176"/>
                  </a:lnTo>
                  <a:lnTo>
                    <a:pt x="16" y="184"/>
                  </a:lnTo>
                  <a:lnTo>
                    <a:pt x="8" y="184"/>
                  </a:lnTo>
                  <a:lnTo>
                    <a:pt x="8" y="176"/>
                  </a:lnTo>
                  <a:lnTo>
                    <a:pt x="24" y="168"/>
                  </a:lnTo>
                  <a:lnTo>
                    <a:pt x="32" y="152"/>
                  </a:lnTo>
                  <a:lnTo>
                    <a:pt x="24" y="152"/>
                  </a:lnTo>
                  <a:lnTo>
                    <a:pt x="16" y="152"/>
                  </a:lnTo>
                  <a:lnTo>
                    <a:pt x="16" y="14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1" name="Freeform 561"/>
            <p:cNvSpPr>
              <a:spLocks/>
            </p:cNvSpPr>
            <p:nvPr/>
          </p:nvSpPr>
          <p:spPr bwMode="auto">
            <a:xfrm>
              <a:off x="3421136" y="1821893"/>
              <a:ext cx="237374" cy="296285"/>
            </a:xfrm>
            <a:custGeom>
              <a:avLst/>
              <a:gdLst>
                <a:gd name="T0" fmla="*/ 2147483647 w 224"/>
                <a:gd name="T1" fmla="*/ 2147483647 h 280"/>
                <a:gd name="T2" fmla="*/ 2147483647 w 224"/>
                <a:gd name="T3" fmla="*/ 2147483647 h 280"/>
                <a:gd name="T4" fmla="*/ 2147483647 w 224"/>
                <a:gd name="T5" fmla="*/ 2147483647 h 280"/>
                <a:gd name="T6" fmla="*/ 2147483647 w 224"/>
                <a:gd name="T7" fmla="*/ 2147483647 h 280"/>
                <a:gd name="T8" fmla="*/ 2147483647 w 224"/>
                <a:gd name="T9" fmla="*/ 2147483647 h 280"/>
                <a:gd name="T10" fmla="*/ 2147483647 w 224"/>
                <a:gd name="T11" fmla="*/ 2147483647 h 280"/>
                <a:gd name="T12" fmla="*/ 2147483647 w 224"/>
                <a:gd name="T13" fmla="*/ 2147483647 h 280"/>
                <a:gd name="T14" fmla="*/ 2147483647 w 224"/>
                <a:gd name="T15" fmla="*/ 2147483647 h 280"/>
                <a:gd name="T16" fmla="*/ 2147483647 w 224"/>
                <a:gd name="T17" fmla="*/ 2147483647 h 280"/>
                <a:gd name="T18" fmla="*/ 2147483647 w 224"/>
                <a:gd name="T19" fmla="*/ 2147483647 h 280"/>
                <a:gd name="T20" fmla="*/ 2147483647 w 224"/>
                <a:gd name="T21" fmla="*/ 0 h 280"/>
                <a:gd name="T22" fmla="*/ 2147483647 w 224"/>
                <a:gd name="T23" fmla="*/ 0 h 280"/>
                <a:gd name="T24" fmla="*/ 2147483647 w 224"/>
                <a:gd name="T25" fmla="*/ 2147483647 h 280"/>
                <a:gd name="T26" fmla="*/ 2147483647 w 224"/>
                <a:gd name="T27" fmla="*/ 2147483647 h 280"/>
                <a:gd name="T28" fmla="*/ 2147483647 w 224"/>
                <a:gd name="T29" fmla="*/ 2147483647 h 280"/>
                <a:gd name="T30" fmla="*/ 2147483647 w 224"/>
                <a:gd name="T31" fmla="*/ 2147483647 h 280"/>
                <a:gd name="T32" fmla="*/ 2147483647 w 224"/>
                <a:gd name="T33" fmla="*/ 2147483647 h 280"/>
                <a:gd name="T34" fmla="*/ 2147483647 w 224"/>
                <a:gd name="T35" fmla="*/ 2147483647 h 280"/>
                <a:gd name="T36" fmla="*/ 2147483647 w 224"/>
                <a:gd name="T37" fmla="*/ 2147483647 h 280"/>
                <a:gd name="T38" fmla="*/ 2147483647 w 224"/>
                <a:gd name="T39" fmla="*/ 2147483647 h 280"/>
                <a:gd name="T40" fmla="*/ 2147483647 w 224"/>
                <a:gd name="T41" fmla="*/ 2147483647 h 280"/>
                <a:gd name="T42" fmla="*/ 2147483647 w 224"/>
                <a:gd name="T43" fmla="*/ 2147483647 h 280"/>
                <a:gd name="T44" fmla="*/ 2147483647 w 224"/>
                <a:gd name="T45" fmla="*/ 2147483647 h 280"/>
                <a:gd name="T46" fmla="*/ 2147483647 w 224"/>
                <a:gd name="T47" fmla="*/ 2147483647 h 280"/>
                <a:gd name="T48" fmla="*/ 2147483647 w 224"/>
                <a:gd name="T49" fmla="*/ 2147483647 h 280"/>
                <a:gd name="T50" fmla="*/ 2147483647 w 224"/>
                <a:gd name="T51" fmla="*/ 2147483647 h 280"/>
                <a:gd name="T52" fmla="*/ 2147483647 w 224"/>
                <a:gd name="T53" fmla="*/ 2147483647 h 280"/>
                <a:gd name="T54" fmla="*/ 0 w 224"/>
                <a:gd name="T55" fmla="*/ 2147483647 h 280"/>
                <a:gd name="T56" fmla="*/ 2147483647 w 224"/>
                <a:gd name="T57" fmla="*/ 2147483647 h 280"/>
                <a:gd name="T58" fmla="*/ 2147483647 w 224"/>
                <a:gd name="T59" fmla="*/ 2147483647 h 280"/>
                <a:gd name="T60" fmla="*/ 2147483647 w 224"/>
                <a:gd name="T61" fmla="*/ 2147483647 h 280"/>
                <a:gd name="T62" fmla="*/ 2147483647 w 224"/>
                <a:gd name="T63" fmla="*/ 2147483647 h 280"/>
                <a:gd name="T64" fmla="*/ 2147483647 w 224"/>
                <a:gd name="T65" fmla="*/ 2147483647 h 2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4"/>
                <a:gd name="T100" fmla="*/ 0 h 280"/>
                <a:gd name="T101" fmla="*/ 224 w 224"/>
                <a:gd name="T102" fmla="*/ 280 h 2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4" h="280">
                  <a:moveTo>
                    <a:pt x="80" y="280"/>
                  </a:moveTo>
                  <a:lnTo>
                    <a:pt x="64" y="264"/>
                  </a:lnTo>
                  <a:lnTo>
                    <a:pt x="48" y="216"/>
                  </a:lnTo>
                  <a:lnTo>
                    <a:pt x="64" y="184"/>
                  </a:lnTo>
                  <a:lnTo>
                    <a:pt x="96" y="120"/>
                  </a:lnTo>
                  <a:lnTo>
                    <a:pt x="128" y="96"/>
                  </a:lnTo>
                  <a:lnTo>
                    <a:pt x="144" y="72"/>
                  </a:lnTo>
                  <a:lnTo>
                    <a:pt x="168" y="64"/>
                  </a:lnTo>
                  <a:lnTo>
                    <a:pt x="192" y="48"/>
                  </a:lnTo>
                  <a:lnTo>
                    <a:pt x="224" y="16"/>
                  </a:lnTo>
                  <a:lnTo>
                    <a:pt x="216" y="0"/>
                  </a:lnTo>
                  <a:lnTo>
                    <a:pt x="192" y="0"/>
                  </a:lnTo>
                  <a:lnTo>
                    <a:pt x="176" y="16"/>
                  </a:lnTo>
                  <a:lnTo>
                    <a:pt x="168" y="24"/>
                  </a:lnTo>
                  <a:lnTo>
                    <a:pt x="144" y="32"/>
                  </a:lnTo>
                  <a:lnTo>
                    <a:pt x="120" y="32"/>
                  </a:lnTo>
                  <a:lnTo>
                    <a:pt x="112" y="40"/>
                  </a:lnTo>
                  <a:lnTo>
                    <a:pt x="104" y="48"/>
                  </a:lnTo>
                  <a:lnTo>
                    <a:pt x="72" y="80"/>
                  </a:lnTo>
                  <a:lnTo>
                    <a:pt x="56" y="88"/>
                  </a:lnTo>
                  <a:lnTo>
                    <a:pt x="56" y="112"/>
                  </a:lnTo>
                  <a:lnTo>
                    <a:pt x="40" y="120"/>
                  </a:lnTo>
                  <a:lnTo>
                    <a:pt x="24" y="144"/>
                  </a:lnTo>
                  <a:lnTo>
                    <a:pt x="24" y="160"/>
                  </a:lnTo>
                  <a:lnTo>
                    <a:pt x="16" y="176"/>
                  </a:lnTo>
                  <a:lnTo>
                    <a:pt x="8" y="192"/>
                  </a:lnTo>
                  <a:lnTo>
                    <a:pt x="8" y="216"/>
                  </a:lnTo>
                  <a:lnTo>
                    <a:pt x="0" y="232"/>
                  </a:lnTo>
                  <a:lnTo>
                    <a:pt x="8" y="256"/>
                  </a:lnTo>
                  <a:lnTo>
                    <a:pt x="32" y="264"/>
                  </a:lnTo>
                  <a:lnTo>
                    <a:pt x="32" y="272"/>
                  </a:lnTo>
                  <a:lnTo>
                    <a:pt x="48" y="280"/>
                  </a:lnTo>
                  <a:lnTo>
                    <a:pt x="80" y="28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2" name="Freeform 562"/>
            <p:cNvSpPr>
              <a:spLocks/>
            </p:cNvSpPr>
            <p:nvPr/>
          </p:nvSpPr>
          <p:spPr bwMode="auto">
            <a:xfrm>
              <a:off x="2597256" y="2585130"/>
              <a:ext cx="59777" cy="92697"/>
            </a:xfrm>
            <a:custGeom>
              <a:avLst/>
              <a:gdLst>
                <a:gd name="T0" fmla="*/ 2147483647 w 56"/>
                <a:gd name="T1" fmla="*/ 2147483647 h 88"/>
                <a:gd name="T2" fmla="*/ 0 w 56"/>
                <a:gd name="T3" fmla="*/ 2147483647 h 88"/>
                <a:gd name="T4" fmla="*/ 0 w 56"/>
                <a:gd name="T5" fmla="*/ 2147483647 h 88"/>
                <a:gd name="T6" fmla="*/ 0 w 56"/>
                <a:gd name="T7" fmla="*/ 2147483647 h 88"/>
                <a:gd name="T8" fmla="*/ 2147483647 w 56"/>
                <a:gd name="T9" fmla="*/ 2147483647 h 88"/>
                <a:gd name="T10" fmla="*/ 2147483647 w 56"/>
                <a:gd name="T11" fmla="*/ 2147483647 h 88"/>
                <a:gd name="T12" fmla="*/ 0 w 56"/>
                <a:gd name="T13" fmla="*/ 2147483647 h 88"/>
                <a:gd name="T14" fmla="*/ 2147483647 w 56"/>
                <a:gd name="T15" fmla="*/ 2147483647 h 88"/>
                <a:gd name="T16" fmla="*/ 0 w 56"/>
                <a:gd name="T17" fmla="*/ 2147483647 h 88"/>
                <a:gd name="T18" fmla="*/ 2147483647 w 56"/>
                <a:gd name="T19" fmla="*/ 2147483647 h 88"/>
                <a:gd name="T20" fmla="*/ 2147483647 w 56"/>
                <a:gd name="T21" fmla="*/ 2147483647 h 88"/>
                <a:gd name="T22" fmla="*/ 2147483647 w 56"/>
                <a:gd name="T23" fmla="*/ 0 h 88"/>
                <a:gd name="T24" fmla="*/ 2147483647 w 56"/>
                <a:gd name="T25" fmla="*/ 2147483647 h 88"/>
                <a:gd name="T26" fmla="*/ 2147483647 w 56"/>
                <a:gd name="T27" fmla="*/ 2147483647 h 88"/>
                <a:gd name="T28" fmla="*/ 2147483647 w 56"/>
                <a:gd name="T29" fmla="*/ 2147483647 h 88"/>
                <a:gd name="T30" fmla="*/ 2147483647 w 56"/>
                <a:gd name="T31" fmla="*/ 2147483647 h 88"/>
                <a:gd name="T32" fmla="*/ 2147483647 w 56"/>
                <a:gd name="T33" fmla="*/ 2147483647 h 88"/>
                <a:gd name="T34" fmla="*/ 2147483647 w 56"/>
                <a:gd name="T35" fmla="*/ 2147483647 h 88"/>
                <a:gd name="T36" fmla="*/ 2147483647 w 56"/>
                <a:gd name="T37" fmla="*/ 2147483647 h 88"/>
                <a:gd name="T38" fmla="*/ 2147483647 w 56"/>
                <a:gd name="T39" fmla="*/ 2147483647 h 88"/>
                <a:gd name="T40" fmla="*/ 2147483647 w 56"/>
                <a:gd name="T41" fmla="*/ 214748364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6"/>
                <a:gd name="T64" fmla="*/ 0 h 88"/>
                <a:gd name="T65" fmla="*/ 56 w 56"/>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6" h="88">
                  <a:moveTo>
                    <a:pt x="8" y="88"/>
                  </a:moveTo>
                  <a:lnTo>
                    <a:pt x="0" y="80"/>
                  </a:lnTo>
                  <a:lnTo>
                    <a:pt x="0" y="72"/>
                  </a:lnTo>
                  <a:lnTo>
                    <a:pt x="0" y="64"/>
                  </a:lnTo>
                  <a:lnTo>
                    <a:pt x="8" y="56"/>
                  </a:lnTo>
                  <a:lnTo>
                    <a:pt x="8" y="48"/>
                  </a:lnTo>
                  <a:lnTo>
                    <a:pt x="0" y="40"/>
                  </a:lnTo>
                  <a:lnTo>
                    <a:pt x="8" y="40"/>
                  </a:lnTo>
                  <a:lnTo>
                    <a:pt x="0" y="24"/>
                  </a:lnTo>
                  <a:lnTo>
                    <a:pt x="16" y="24"/>
                  </a:lnTo>
                  <a:lnTo>
                    <a:pt x="16" y="16"/>
                  </a:lnTo>
                  <a:lnTo>
                    <a:pt x="32" y="0"/>
                  </a:lnTo>
                  <a:lnTo>
                    <a:pt x="40" y="8"/>
                  </a:lnTo>
                  <a:lnTo>
                    <a:pt x="48" y="8"/>
                  </a:lnTo>
                  <a:lnTo>
                    <a:pt x="48" y="16"/>
                  </a:lnTo>
                  <a:lnTo>
                    <a:pt x="56" y="24"/>
                  </a:lnTo>
                  <a:lnTo>
                    <a:pt x="48" y="32"/>
                  </a:lnTo>
                  <a:lnTo>
                    <a:pt x="48" y="48"/>
                  </a:lnTo>
                  <a:lnTo>
                    <a:pt x="48" y="64"/>
                  </a:lnTo>
                  <a:lnTo>
                    <a:pt x="32" y="72"/>
                  </a:lnTo>
                  <a:lnTo>
                    <a:pt x="8" y="8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3" name="Freeform 563"/>
            <p:cNvSpPr>
              <a:spLocks/>
            </p:cNvSpPr>
            <p:nvPr/>
          </p:nvSpPr>
          <p:spPr bwMode="auto">
            <a:xfrm>
              <a:off x="3421136" y="1821893"/>
              <a:ext cx="237374" cy="296285"/>
            </a:xfrm>
            <a:custGeom>
              <a:avLst/>
              <a:gdLst>
                <a:gd name="T0" fmla="*/ 2147483647 w 224"/>
                <a:gd name="T1" fmla="*/ 2147483647 h 280"/>
                <a:gd name="T2" fmla="*/ 2147483647 w 224"/>
                <a:gd name="T3" fmla="*/ 2147483647 h 280"/>
                <a:gd name="T4" fmla="*/ 2147483647 w 224"/>
                <a:gd name="T5" fmla="*/ 2147483647 h 280"/>
                <a:gd name="T6" fmla="*/ 2147483647 w 224"/>
                <a:gd name="T7" fmla="*/ 2147483647 h 280"/>
                <a:gd name="T8" fmla="*/ 2147483647 w 224"/>
                <a:gd name="T9" fmla="*/ 2147483647 h 280"/>
                <a:gd name="T10" fmla="*/ 2147483647 w 224"/>
                <a:gd name="T11" fmla="*/ 2147483647 h 280"/>
                <a:gd name="T12" fmla="*/ 2147483647 w 224"/>
                <a:gd name="T13" fmla="*/ 2147483647 h 280"/>
                <a:gd name="T14" fmla="*/ 2147483647 w 224"/>
                <a:gd name="T15" fmla="*/ 2147483647 h 280"/>
                <a:gd name="T16" fmla="*/ 2147483647 w 224"/>
                <a:gd name="T17" fmla="*/ 2147483647 h 280"/>
                <a:gd name="T18" fmla="*/ 2147483647 w 224"/>
                <a:gd name="T19" fmla="*/ 2147483647 h 280"/>
                <a:gd name="T20" fmla="*/ 2147483647 w 224"/>
                <a:gd name="T21" fmla="*/ 0 h 280"/>
                <a:gd name="T22" fmla="*/ 2147483647 w 224"/>
                <a:gd name="T23" fmla="*/ 0 h 280"/>
                <a:gd name="T24" fmla="*/ 2147483647 w 224"/>
                <a:gd name="T25" fmla="*/ 2147483647 h 280"/>
                <a:gd name="T26" fmla="*/ 2147483647 w 224"/>
                <a:gd name="T27" fmla="*/ 2147483647 h 280"/>
                <a:gd name="T28" fmla="*/ 2147483647 w 224"/>
                <a:gd name="T29" fmla="*/ 2147483647 h 280"/>
                <a:gd name="T30" fmla="*/ 2147483647 w 224"/>
                <a:gd name="T31" fmla="*/ 2147483647 h 280"/>
                <a:gd name="T32" fmla="*/ 2147483647 w 224"/>
                <a:gd name="T33" fmla="*/ 2147483647 h 280"/>
                <a:gd name="T34" fmla="*/ 2147483647 w 224"/>
                <a:gd name="T35" fmla="*/ 2147483647 h 280"/>
                <a:gd name="T36" fmla="*/ 2147483647 w 224"/>
                <a:gd name="T37" fmla="*/ 2147483647 h 280"/>
                <a:gd name="T38" fmla="*/ 2147483647 w 224"/>
                <a:gd name="T39" fmla="*/ 2147483647 h 280"/>
                <a:gd name="T40" fmla="*/ 2147483647 w 224"/>
                <a:gd name="T41" fmla="*/ 2147483647 h 280"/>
                <a:gd name="T42" fmla="*/ 2147483647 w 224"/>
                <a:gd name="T43" fmla="*/ 2147483647 h 280"/>
                <a:gd name="T44" fmla="*/ 2147483647 w 224"/>
                <a:gd name="T45" fmla="*/ 2147483647 h 280"/>
                <a:gd name="T46" fmla="*/ 2147483647 w 224"/>
                <a:gd name="T47" fmla="*/ 2147483647 h 280"/>
                <a:gd name="T48" fmla="*/ 2147483647 w 224"/>
                <a:gd name="T49" fmla="*/ 2147483647 h 280"/>
                <a:gd name="T50" fmla="*/ 2147483647 w 224"/>
                <a:gd name="T51" fmla="*/ 2147483647 h 280"/>
                <a:gd name="T52" fmla="*/ 2147483647 w 224"/>
                <a:gd name="T53" fmla="*/ 2147483647 h 280"/>
                <a:gd name="T54" fmla="*/ 0 w 224"/>
                <a:gd name="T55" fmla="*/ 2147483647 h 280"/>
                <a:gd name="T56" fmla="*/ 2147483647 w 224"/>
                <a:gd name="T57" fmla="*/ 2147483647 h 280"/>
                <a:gd name="T58" fmla="*/ 2147483647 w 224"/>
                <a:gd name="T59" fmla="*/ 2147483647 h 280"/>
                <a:gd name="T60" fmla="*/ 2147483647 w 224"/>
                <a:gd name="T61" fmla="*/ 2147483647 h 280"/>
                <a:gd name="T62" fmla="*/ 2147483647 w 224"/>
                <a:gd name="T63" fmla="*/ 2147483647 h 280"/>
                <a:gd name="T64" fmla="*/ 2147483647 w 224"/>
                <a:gd name="T65" fmla="*/ 2147483647 h 2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4"/>
                <a:gd name="T100" fmla="*/ 0 h 280"/>
                <a:gd name="T101" fmla="*/ 224 w 224"/>
                <a:gd name="T102" fmla="*/ 280 h 2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4" h="280">
                  <a:moveTo>
                    <a:pt x="80" y="280"/>
                  </a:moveTo>
                  <a:lnTo>
                    <a:pt x="64" y="264"/>
                  </a:lnTo>
                  <a:lnTo>
                    <a:pt x="48" y="216"/>
                  </a:lnTo>
                  <a:lnTo>
                    <a:pt x="64" y="184"/>
                  </a:lnTo>
                  <a:lnTo>
                    <a:pt x="96" y="120"/>
                  </a:lnTo>
                  <a:lnTo>
                    <a:pt x="128" y="96"/>
                  </a:lnTo>
                  <a:lnTo>
                    <a:pt x="144" y="72"/>
                  </a:lnTo>
                  <a:lnTo>
                    <a:pt x="168" y="64"/>
                  </a:lnTo>
                  <a:lnTo>
                    <a:pt x="192" y="48"/>
                  </a:lnTo>
                  <a:lnTo>
                    <a:pt x="224" y="16"/>
                  </a:lnTo>
                  <a:lnTo>
                    <a:pt x="216" y="0"/>
                  </a:lnTo>
                  <a:lnTo>
                    <a:pt x="192" y="0"/>
                  </a:lnTo>
                  <a:lnTo>
                    <a:pt x="176" y="16"/>
                  </a:lnTo>
                  <a:lnTo>
                    <a:pt x="168" y="24"/>
                  </a:lnTo>
                  <a:lnTo>
                    <a:pt x="144" y="32"/>
                  </a:lnTo>
                  <a:lnTo>
                    <a:pt x="120" y="32"/>
                  </a:lnTo>
                  <a:lnTo>
                    <a:pt x="112" y="40"/>
                  </a:lnTo>
                  <a:lnTo>
                    <a:pt x="104" y="48"/>
                  </a:lnTo>
                  <a:lnTo>
                    <a:pt x="72" y="80"/>
                  </a:lnTo>
                  <a:lnTo>
                    <a:pt x="56" y="88"/>
                  </a:lnTo>
                  <a:lnTo>
                    <a:pt x="56" y="112"/>
                  </a:lnTo>
                  <a:lnTo>
                    <a:pt x="40" y="120"/>
                  </a:lnTo>
                  <a:lnTo>
                    <a:pt x="24" y="144"/>
                  </a:lnTo>
                  <a:lnTo>
                    <a:pt x="24" y="160"/>
                  </a:lnTo>
                  <a:lnTo>
                    <a:pt x="16" y="176"/>
                  </a:lnTo>
                  <a:lnTo>
                    <a:pt x="8" y="192"/>
                  </a:lnTo>
                  <a:lnTo>
                    <a:pt x="8" y="216"/>
                  </a:lnTo>
                  <a:lnTo>
                    <a:pt x="0" y="232"/>
                  </a:lnTo>
                  <a:lnTo>
                    <a:pt x="8" y="256"/>
                  </a:lnTo>
                  <a:lnTo>
                    <a:pt x="32" y="264"/>
                  </a:lnTo>
                  <a:lnTo>
                    <a:pt x="32" y="272"/>
                  </a:lnTo>
                  <a:lnTo>
                    <a:pt x="48" y="280"/>
                  </a:lnTo>
                  <a:lnTo>
                    <a:pt x="80" y="28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4" name="Freeform 564"/>
            <p:cNvSpPr>
              <a:spLocks/>
            </p:cNvSpPr>
            <p:nvPr/>
          </p:nvSpPr>
          <p:spPr bwMode="auto">
            <a:xfrm>
              <a:off x="3304181" y="3644651"/>
              <a:ext cx="84900" cy="187127"/>
            </a:xfrm>
            <a:custGeom>
              <a:avLst/>
              <a:gdLst>
                <a:gd name="T0" fmla="*/ 0 w 80"/>
                <a:gd name="T1" fmla="*/ 2147483647 h 176"/>
                <a:gd name="T2" fmla="*/ 0 w 80"/>
                <a:gd name="T3" fmla="*/ 2147483647 h 176"/>
                <a:gd name="T4" fmla="*/ 2147483647 w 80"/>
                <a:gd name="T5" fmla="*/ 2147483647 h 176"/>
                <a:gd name="T6" fmla="*/ 2147483647 w 80"/>
                <a:gd name="T7" fmla="*/ 2147483647 h 176"/>
                <a:gd name="T8" fmla="*/ 2147483647 w 80"/>
                <a:gd name="T9" fmla="*/ 2147483647 h 176"/>
                <a:gd name="T10" fmla="*/ 2147483647 w 80"/>
                <a:gd name="T11" fmla="*/ 2147483647 h 176"/>
                <a:gd name="T12" fmla="*/ 2147483647 w 80"/>
                <a:gd name="T13" fmla="*/ 2147483647 h 176"/>
                <a:gd name="T14" fmla="*/ 2147483647 w 80"/>
                <a:gd name="T15" fmla="*/ 2147483647 h 176"/>
                <a:gd name="T16" fmla="*/ 2147483647 w 80"/>
                <a:gd name="T17" fmla="*/ 0 h 176"/>
                <a:gd name="T18" fmla="*/ 2147483647 w 80"/>
                <a:gd name="T19" fmla="*/ 2147483647 h 176"/>
                <a:gd name="T20" fmla="*/ 2147483647 w 80"/>
                <a:gd name="T21" fmla="*/ 2147483647 h 176"/>
                <a:gd name="T22" fmla="*/ 2147483647 w 80"/>
                <a:gd name="T23" fmla="*/ 2147483647 h 176"/>
                <a:gd name="T24" fmla="*/ 2147483647 w 80"/>
                <a:gd name="T25" fmla="*/ 2147483647 h 176"/>
                <a:gd name="T26" fmla="*/ 2147483647 w 80"/>
                <a:gd name="T27" fmla="*/ 2147483647 h 176"/>
                <a:gd name="T28" fmla="*/ 2147483647 w 80"/>
                <a:gd name="T29" fmla="*/ 2147483647 h 176"/>
                <a:gd name="T30" fmla="*/ 0 w 80"/>
                <a:gd name="T31" fmla="*/ 2147483647 h 176"/>
                <a:gd name="T32" fmla="*/ 0 w 80"/>
                <a:gd name="T33" fmla="*/ 2147483647 h 1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176"/>
                <a:gd name="T53" fmla="*/ 80 w 80"/>
                <a:gd name="T54" fmla="*/ 176 h 1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176">
                  <a:moveTo>
                    <a:pt x="0" y="144"/>
                  </a:moveTo>
                  <a:lnTo>
                    <a:pt x="0" y="128"/>
                  </a:lnTo>
                  <a:lnTo>
                    <a:pt x="8" y="112"/>
                  </a:lnTo>
                  <a:lnTo>
                    <a:pt x="16" y="88"/>
                  </a:lnTo>
                  <a:lnTo>
                    <a:pt x="8" y="56"/>
                  </a:lnTo>
                  <a:lnTo>
                    <a:pt x="16" y="48"/>
                  </a:lnTo>
                  <a:lnTo>
                    <a:pt x="32" y="40"/>
                  </a:lnTo>
                  <a:lnTo>
                    <a:pt x="48" y="16"/>
                  </a:lnTo>
                  <a:lnTo>
                    <a:pt x="72" y="0"/>
                  </a:lnTo>
                  <a:lnTo>
                    <a:pt x="80" y="16"/>
                  </a:lnTo>
                  <a:lnTo>
                    <a:pt x="80" y="40"/>
                  </a:lnTo>
                  <a:lnTo>
                    <a:pt x="80" y="56"/>
                  </a:lnTo>
                  <a:lnTo>
                    <a:pt x="48" y="168"/>
                  </a:lnTo>
                  <a:lnTo>
                    <a:pt x="32" y="168"/>
                  </a:lnTo>
                  <a:lnTo>
                    <a:pt x="16" y="176"/>
                  </a:lnTo>
                  <a:lnTo>
                    <a:pt x="0" y="160"/>
                  </a:lnTo>
                  <a:lnTo>
                    <a:pt x="0" y="14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5" name="Freeform 565"/>
            <p:cNvSpPr>
              <a:spLocks/>
            </p:cNvSpPr>
            <p:nvPr/>
          </p:nvSpPr>
          <p:spPr bwMode="auto">
            <a:xfrm>
              <a:off x="3803187" y="3356163"/>
              <a:ext cx="25124" cy="34653"/>
            </a:xfrm>
            <a:custGeom>
              <a:avLst/>
              <a:gdLst>
                <a:gd name="T0" fmla="*/ 0 w 24"/>
                <a:gd name="T1" fmla="*/ 0 h 32"/>
                <a:gd name="T2" fmla="*/ 0 w 24"/>
                <a:gd name="T3" fmla="*/ 2147483647 h 32"/>
                <a:gd name="T4" fmla="*/ 0 w 24"/>
                <a:gd name="T5" fmla="*/ 2147483647 h 32"/>
                <a:gd name="T6" fmla="*/ 2147483647 w 24"/>
                <a:gd name="T7" fmla="*/ 2147483647 h 32"/>
                <a:gd name="T8" fmla="*/ 2147483647 w 24"/>
                <a:gd name="T9" fmla="*/ 2147483647 h 32"/>
                <a:gd name="T10" fmla="*/ 0 w 24"/>
                <a:gd name="T11" fmla="*/ 0 h 32"/>
                <a:gd name="T12" fmla="*/ 0 60000 65536"/>
                <a:gd name="T13" fmla="*/ 0 60000 65536"/>
                <a:gd name="T14" fmla="*/ 0 60000 65536"/>
                <a:gd name="T15" fmla="*/ 0 60000 65536"/>
                <a:gd name="T16" fmla="*/ 0 60000 65536"/>
                <a:gd name="T17" fmla="*/ 0 60000 65536"/>
                <a:gd name="T18" fmla="*/ 0 w 24"/>
                <a:gd name="T19" fmla="*/ 0 h 32"/>
                <a:gd name="T20" fmla="*/ 24 w 24"/>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24" h="32">
                  <a:moveTo>
                    <a:pt x="0" y="0"/>
                  </a:moveTo>
                  <a:lnTo>
                    <a:pt x="0" y="16"/>
                  </a:lnTo>
                  <a:lnTo>
                    <a:pt x="0" y="32"/>
                  </a:lnTo>
                  <a:lnTo>
                    <a:pt x="16" y="32"/>
                  </a:lnTo>
                  <a:lnTo>
                    <a:pt x="24" y="16"/>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6" name="Freeform 566"/>
            <p:cNvSpPr>
              <a:spLocks/>
            </p:cNvSpPr>
            <p:nvPr/>
          </p:nvSpPr>
          <p:spPr bwMode="auto">
            <a:xfrm>
              <a:off x="4193035" y="3203689"/>
              <a:ext cx="25124" cy="25990"/>
            </a:xfrm>
            <a:custGeom>
              <a:avLst/>
              <a:gdLst>
                <a:gd name="T0" fmla="*/ 0 w 24"/>
                <a:gd name="T1" fmla="*/ 2147483647 h 24"/>
                <a:gd name="T2" fmla="*/ 2147483647 w 24"/>
                <a:gd name="T3" fmla="*/ 2147483647 h 24"/>
                <a:gd name="T4" fmla="*/ 2147483647 w 24"/>
                <a:gd name="T5" fmla="*/ 0 h 24"/>
                <a:gd name="T6" fmla="*/ 2147483647 w 24"/>
                <a:gd name="T7" fmla="*/ 2147483647 h 24"/>
                <a:gd name="T8" fmla="*/ 2147483647 w 24"/>
                <a:gd name="T9" fmla="*/ 2147483647 h 24"/>
                <a:gd name="T10" fmla="*/ 2147483647 w 24"/>
                <a:gd name="T11" fmla="*/ 2147483647 h 24"/>
                <a:gd name="T12" fmla="*/ 0 w 24"/>
                <a:gd name="T13" fmla="*/ 2147483647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0" y="16"/>
                  </a:moveTo>
                  <a:lnTo>
                    <a:pt x="8" y="8"/>
                  </a:lnTo>
                  <a:lnTo>
                    <a:pt x="16" y="0"/>
                  </a:lnTo>
                  <a:lnTo>
                    <a:pt x="24" y="8"/>
                  </a:lnTo>
                  <a:lnTo>
                    <a:pt x="16" y="16"/>
                  </a:lnTo>
                  <a:lnTo>
                    <a:pt x="8" y="24"/>
                  </a:lnTo>
                  <a:lnTo>
                    <a:pt x="0"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7" name="Freeform 567"/>
            <p:cNvSpPr>
              <a:spLocks/>
            </p:cNvSpPr>
            <p:nvPr/>
          </p:nvSpPr>
          <p:spPr bwMode="auto">
            <a:xfrm>
              <a:off x="3803187" y="3356163"/>
              <a:ext cx="25124" cy="34653"/>
            </a:xfrm>
            <a:custGeom>
              <a:avLst/>
              <a:gdLst>
                <a:gd name="T0" fmla="*/ 0 w 24"/>
                <a:gd name="T1" fmla="*/ 0 h 32"/>
                <a:gd name="T2" fmla="*/ 0 w 24"/>
                <a:gd name="T3" fmla="*/ 2147483647 h 32"/>
                <a:gd name="T4" fmla="*/ 0 w 24"/>
                <a:gd name="T5" fmla="*/ 2147483647 h 32"/>
                <a:gd name="T6" fmla="*/ 2147483647 w 24"/>
                <a:gd name="T7" fmla="*/ 2147483647 h 32"/>
                <a:gd name="T8" fmla="*/ 2147483647 w 24"/>
                <a:gd name="T9" fmla="*/ 2147483647 h 32"/>
                <a:gd name="T10" fmla="*/ 0 w 24"/>
                <a:gd name="T11" fmla="*/ 0 h 32"/>
                <a:gd name="T12" fmla="*/ 0 60000 65536"/>
                <a:gd name="T13" fmla="*/ 0 60000 65536"/>
                <a:gd name="T14" fmla="*/ 0 60000 65536"/>
                <a:gd name="T15" fmla="*/ 0 60000 65536"/>
                <a:gd name="T16" fmla="*/ 0 60000 65536"/>
                <a:gd name="T17" fmla="*/ 0 60000 65536"/>
                <a:gd name="T18" fmla="*/ 0 w 24"/>
                <a:gd name="T19" fmla="*/ 0 h 32"/>
                <a:gd name="T20" fmla="*/ 24 w 24"/>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24" h="32">
                  <a:moveTo>
                    <a:pt x="0" y="0"/>
                  </a:moveTo>
                  <a:lnTo>
                    <a:pt x="0" y="16"/>
                  </a:lnTo>
                  <a:lnTo>
                    <a:pt x="0" y="32"/>
                  </a:lnTo>
                  <a:lnTo>
                    <a:pt x="16" y="32"/>
                  </a:lnTo>
                  <a:lnTo>
                    <a:pt x="24" y="16"/>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8" name="Freeform 568"/>
            <p:cNvSpPr>
              <a:spLocks/>
            </p:cNvSpPr>
            <p:nvPr/>
          </p:nvSpPr>
          <p:spPr bwMode="auto">
            <a:xfrm>
              <a:off x="4193035" y="3203689"/>
              <a:ext cx="25124" cy="25990"/>
            </a:xfrm>
            <a:custGeom>
              <a:avLst/>
              <a:gdLst>
                <a:gd name="T0" fmla="*/ 0 w 24"/>
                <a:gd name="T1" fmla="*/ 2147483647 h 24"/>
                <a:gd name="T2" fmla="*/ 2147483647 w 24"/>
                <a:gd name="T3" fmla="*/ 2147483647 h 24"/>
                <a:gd name="T4" fmla="*/ 2147483647 w 24"/>
                <a:gd name="T5" fmla="*/ 0 h 24"/>
                <a:gd name="T6" fmla="*/ 2147483647 w 24"/>
                <a:gd name="T7" fmla="*/ 2147483647 h 24"/>
                <a:gd name="T8" fmla="*/ 2147483647 w 24"/>
                <a:gd name="T9" fmla="*/ 2147483647 h 24"/>
                <a:gd name="T10" fmla="*/ 2147483647 w 24"/>
                <a:gd name="T11" fmla="*/ 2147483647 h 24"/>
                <a:gd name="T12" fmla="*/ 0 w 24"/>
                <a:gd name="T13" fmla="*/ 2147483647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0" y="16"/>
                  </a:moveTo>
                  <a:lnTo>
                    <a:pt x="8" y="8"/>
                  </a:lnTo>
                  <a:lnTo>
                    <a:pt x="16" y="0"/>
                  </a:lnTo>
                  <a:lnTo>
                    <a:pt x="24" y="8"/>
                  </a:lnTo>
                  <a:lnTo>
                    <a:pt x="16" y="16"/>
                  </a:lnTo>
                  <a:lnTo>
                    <a:pt x="8" y="24"/>
                  </a:lnTo>
                  <a:lnTo>
                    <a:pt x="0"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9" name="Freeform 569"/>
            <p:cNvSpPr>
              <a:spLocks/>
            </p:cNvSpPr>
            <p:nvPr/>
          </p:nvSpPr>
          <p:spPr bwMode="auto">
            <a:xfrm>
              <a:off x="4345509" y="3127452"/>
              <a:ext cx="17327" cy="51113"/>
            </a:xfrm>
            <a:custGeom>
              <a:avLst/>
              <a:gdLst>
                <a:gd name="T0" fmla="*/ 0 w 16"/>
                <a:gd name="T1" fmla="*/ 2147483647 h 48"/>
                <a:gd name="T2" fmla="*/ 0 w 16"/>
                <a:gd name="T3" fmla="*/ 2147483647 h 48"/>
                <a:gd name="T4" fmla="*/ 2147483647 w 16"/>
                <a:gd name="T5" fmla="*/ 0 h 48"/>
                <a:gd name="T6" fmla="*/ 2147483647 w 16"/>
                <a:gd name="T7" fmla="*/ 2147483647 h 48"/>
                <a:gd name="T8" fmla="*/ 2147483647 w 16"/>
                <a:gd name="T9" fmla="*/ 2147483647 h 48"/>
                <a:gd name="T10" fmla="*/ 0 w 16"/>
                <a:gd name="T11" fmla="*/ 2147483647 h 48"/>
                <a:gd name="T12" fmla="*/ 0 60000 65536"/>
                <a:gd name="T13" fmla="*/ 0 60000 65536"/>
                <a:gd name="T14" fmla="*/ 0 60000 65536"/>
                <a:gd name="T15" fmla="*/ 0 60000 65536"/>
                <a:gd name="T16" fmla="*/ 0 60000 65536"/>
                <a:gd name="T17" fmla="*/ 0 60000 65536"/>
                <a:gd name="T18" fmla="*/ 0 w 16"/>
                <a:gd name="T19" fmla="*/ 0 h 48"/>
                <a:gd name="T20" fmla="*/ 16 w 16"/>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16" h="48">
                  <a:moveTo>
                    <a:pt x="0" y="32"/>
                  </a:moveTo>
                  <a:lnTo>
                    <a:pt x="0" y="16"/>
                  </a:lnTo>
                  <a:lnTo>
                    <a:pt x="16" y="0"/>
                  </a:lnTo>
                  <a:lnTo>
                    <a:pt x="16" y="16"/>
                  </a:lnTo>
                  <a:lnTo>
                    <a:pt x="8" y="48"/>
                  </a:lnTo>
                  <a:lnTo>
                    <a:pt x="0"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0" name="Freeform 570"/>
            <p:cNvSpPr>
              <a:spLocks/>
            </p:cNvSpPr>
            <p:nvPr/>
          </p:nvSpPr>
          <p:spPr bwMode="auto">
            <a:xfrm>
              <a:off x="4472860" y="3000101"/>
              <a:ext cx="25123" cy="33787"/>
            </a:xfrm>
            <a:custGeom>
              <a:avLst/>
              <a:gdLst>
                <a:gd name="T0" fmla="*/ 0 w 24"/>
                <a:gd name="T1" fmla="*/ 2147483647 h 32"/>
                <a:gd name="T2" fmla="*/ 2147483647 w 24"/>
                <a:gd name="T3" fmla="*/ 2147483647 h 32"/>
                <a:gd name="T4" fmla="*/ 2147483647 w 24"/>
                <a:gd name="T5" fmla="*/ 2147483647 h 32"/>
                <a:gd name="T6" fmla="*/ 2147483647 w 24"/>
                <a:gd name="T7" fmla="*/ 2147483647 h 32"/>
                <a:gd name="T8" fmla="*/ 2147483647 w 24"/>
                <a:gd name="T9" fmla="*/ 2147483647 h 32"/>
                <a:gd name="T10" fmla="*/ 2147483647 w 24"/>
                <a:gd name="T11" fmla="*/ 0 h 32"/>
                <a:gd name="T12" fmla="*/ 0 w 24"/>
                <a:gd name="T13" fmla="*/ 2147483647 h 32"/>
                <a:gd name="T14" fmla="*/ 0 60000 65536"/>
                <a:gd name="T15" fmla="*/ 0 60000 65536"/>
                <a:gd name="T16" fmla="*/ 0 60000 65536"/>
                <a:gd name="T17" fmla="*/ 0 60000 65536"/>
                <a:gd name="T18" fmla="*/ 0 60000 65536"/>
                <a:gd name="T19" fmla="*/ 0 60000 65536"/>
                <a:gd name="T20" fmla="*/ 0 60000 65536"/>
                <a:gd name="T21" fmla="*/ 0 w 24"/>
                <a:gd name="T22" fmla="*/ 0 h 32"/>
                <a:gd name="T23" fmla="*/ 24 w 24"/>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32">
                  <a:moveTo>
                    <a:pt x="0" y="8"/>
                  </a:moveTo>
                  <a:lnTo>
                    <a:pt x="8" y="24"/>
                  </a:lnTo>
                  <a:lnTo>
                    <a:pt x="8" y="32"/>
                  </a:lnTo>
                  <a:lnTo>
                    <a:pt x="24" y="24"/>
                  </a:lnTo>
                  <a:lnTo>
                    <a:pt x="24" y="8"/>
                  </a:lnTo>
                  <a:lnTo>
                    <a:pt x="24" y="0"/>
                  </a:lnTo>
                  <a:lnTo>
                    <a:pt x="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1" name="Freeform 571"/>
            <p:cNvSpPr>
              <a:spLocks/>
            </p:cNvSpPr>
            <p:nvPr/>
          </p:nvSpPr>
          <p:spPr bwMode="auto">
            <a:xfrm>
              <a:off x="4345509" y="3127452"/>
              <a:ext cx="17327" cy="51113"/>
            </a:xfrm>
            <a:custGeom>
              <a:avLst/>
              <a:gdLst>
                <a:gd name="T0" fmla="*/ 0 w 16"/>
                <a:gd name="T1" fmla="*/ 2147483647 h 48"/>
                <a:gd name="T2" fmla="*/ 0 w 16"/>
                <a:gd name="T3" fmla="*/ 2147483647 h 48"/>
                <a:gd name="T4" fmla="*/ 2147483647 w 16"/>
                <a:gd name="T5" fmla="*/ 0 h 48"/>
                <a:gd name="T6" fmla="*/ 2147483647 w 16"/>
                <a:gd name="T7" fmla="*/ 2147483647 h 48"/>
                <a:gd name="T8" fmla="*/ 2147483647 w 16"/>
                <a:gd name="T9" fmla="*/ 2147483647 h 48"/>
                <a:gd name="T10" fmla="*/ 0 w 16"/>
                <a:gd name="T11" fmla="*/ 2147483647 h 48"/>
                <a:gd name="T12" fmla="*/ 0 60000 65536"/>
                <a:gd name="T13" fmla="*/ 0 60000 65536"/>
                <a:gd name="T14" fmla="*/ 0 60000 65536"/>
                <a:gd name="T15" fmla="*/ 0 60000 65536"/>
                <a:gd name="T16" fmla="*/ 0 60000 65536"/>
                <a:gd name="T17" fmla="*/ 0 60000 65536"/>
                <a:gd name="T18" fmla="*/ 0 w 16"/>
                <a:gd name="T19" fmla="*/ 0 h 48"/>
                <a:gd name="T20" fmla="*/ 16 w 16"/>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16" h="48">
                  <a:moveTo>
                    <a:pt x="0" y="32"/>
                  </a:moveTo>
                  <a:lnTo>
                    <a:pt x="0" y="16"/>
                  </a:lnTo>
                  <a:lnTo>
                    <a:pt x="16" y="0"/>
                  </a:lnTo>
                  <a:lnTo>
                    <a:pt x="16" y="16"/>
                  </a:lnTo>
                  <a:lnTo>
                    <a:pt x="8" y="48"/>
                  </a:lnTo>
                  <a:lnTo>
                    <a:pt x="0"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2" name="Freeform 572"/>
            <p:cNvSpPr>
              <a:spLocks/>
            </p:cNvSpPr>
            <p:nvPr/>
          </p:nvSpPr>
          <p:spPr bwMode="auto">
            <a:xfrm>
              <a:off x="4472860" y="3000101"/>
              <a:ext cx="25123" cy="33787"/>
            </a:xfrm>
            <a:custGeom>
              <a:avLst/>
              <a:gdLst>
                <a:gd name="T0" fmla="*/ 0 w 24"/>
                <a:gd name="T1" fmla="*/ 2147483647 h 32"/>
                <a:gd name="T2" fmla="*/ 2147483647 w 24"/>
                <a:gd name="T3" fmla="*/ 2147483647 h 32"/>
                <a:gd name="T4" fmla="*/ 2147483647 w 24"/>
                <a:gd name="T5" fmla="*/ 2147483647 h 32"/>
                <a:gd name="T6" fmla="*/ 2147483647 w 24"/>
                <a:gd name="T7" fmla="*/ 2147483647 h 32"/>
                <a:gd name="T8" fmla="*/ 2147483647 w 24"/>
                <a:gd name="T9" fmla="*/ 2147483647 h 32"/>
                <a:gd name="T10" fmla="*/ 2147483647 w 24"/>
                <a:gd name="T11" fmla="*/ 0 h 32"/>
                <a:gd name="T12" fmla="*/ 0 w 24"/>
                <a:gd name="T13" fmla="*/ 2147483647 h 32"/>
                <a:gd name="T14" fmla="*/ 0 60000 65536"/>
                <a:gd name="T15" fmla="*/ 0 60000 65536"/>
                <a:gd name="T16" fmla="*/ 0 60000 65536"/>
                <a:gd name="T17" fmla="*/ 0 60000 65536"/>
                <a:gd name="T18" fmla="*/ 0 60000 65536"/>
                <a:gd name="T19" fmla="*/ 0 60000 65536"/>
                <a:gd name="T20" fmla="*/ 0 60000 65536"/>
                <a:gd name="T21" fmla="*/ 0 w 24"/>
                <a:gd name="T22" fmla="*/ 0 h 32"/>
                <a:gd name="T23" fmla="*/ 24 w 24"/>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32">
                  <a:moveTo>
                    <a:pt x="0" y="8"/>
                  </a:moveTo>
                  <a:lnTo>
                    <a:pt x="8" y="24"/>
                  </a:lnTo>
                  <a:lnTo>
                    <a:pt x="8" y="32"/>
                  </a:lnTo>
                  <a:lnTo>
                    <a:pt x="24" y="24"/>
                  </a:lnTo>
                  <a:lnTo>
                    <a:pt x="24" y="8"/>
                  </a:lnTo>
                  <a:lnTo>
                    <a:pt x="24" y="0"/>
                  </a:lnTo>
                  <a:lnTo>
                    <a:pt x="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3" name="Freeform 573"/>
            <p:cNvSpPr>
              <a:spLocks/>
            </p:cNvSpPr>
            <p:nvPr/>
          </p:nvSpPr>
          <p:spPr bwMode="auto">
            <a:xfrm>
              <a:off x="4506647" y="2805177"/>
              <a:ext cx="186261" cy="203587"/>
            </a:xfrm>
            <a:custGeom>
              <a:avLst/>
              <a:gdLst>
                <a:gd name="T0" fmla="*/ 0 w 176"/>
                <a:gd name="T1" fmla="*/ 2147483647 h 192"/>
                <a:gd name="T2" fmla="*/ 2147483647 w 176"/>
                <a:gd name="T3" fmla="*/ 2147483647 h 192"/>
                <a:gd name="T4" fmla="*/ 2147483647 w 176"/>
                <a:gd name="T5" fmla="*/ 2147483647 h 192"/>
                <a:gd name="T6" fmla="*/ 2147483647 w 176"/>
                <a:gd name="T7" fmla="*/ 2147483647 h 192"/>
                <a:gd name="T8" fmla="*/ 2147483647 w 176"/>
                <a:gd name="T9" fmla="*/ 2147483647 h 192"/>
                <a:gd name="T10" fmla="*/ 2147483647 w 176"/>
                <a:gd name="T11" fmla="*/ 2147483647 h 192"/>
                <a:gd name="T12" fmla="*/ 2147483647 w 176"/>
                <a:gd name="T13" fmla="*/ 2147483647 h 192"/>
                <a:gd name="T14" fmla="*/ 2147483647 w 176"/>
                <a:gd name="T15" fmla="*/ 2147483647 h 192"/>
                <a:gd name="T16" fmla="*/ 2147483647 w 176"/>
                <a:gd name="T17" fmla="*/ 2147483647 h 192"/>
                <a:gd name="T18" fmla="*/ 2147483647 w 176"/>
                <a:gd name="T19" fmla="*/ 2147483647 h 192"/>
                <a:gd name="T20" fmla="*/ 2147483647 w 176"/>
                <a:gd name="T21" fmla="*/ 0 h 192"/>
                <a:gd name="T22" fmla="*/ 2147483647 w 176"/>
                <a:gd name="T23" fmla="*/ 2147483647 h 192"/>
                <a:gd name="T24" fmla="*/ 2147483647 w 176"/>
                <a:gd name="T25" fmla="*/ 2147483647 h 192"/>
                <a:gd name="T26" fmla="*/ 2147483647 w 176"/>
                <a:gd name="T27" fmla="*/ 2147483647 h 192"/>
                <a:gd name="T28" fmla="*/ 2147483647 w 176"/>
                <a:gd name="T29" fmla="*/ 2147483647 h 192"/>
                <a:gd name="T30" fmla="*/ 2147483647 w 176"/>
                <a:gd name="T31" fmla="*/ 2147483647 h 192"/>
                <a:gd name="T32" fmla="*/ 2147483647 w 176"/>
                <a:gd name="T33" fmla="*/ 2147483647 h 192"/>
                <a:gd name="T34" fmla="*/ 2147483647 w 176"/>
                <a:gd name="T35" fmla="*/ 2147483647 h 192"/>
                <a:gd name="T36" fmla="*/ 2147483647 w 176"/>
                <a:gd name="T37" fmla="*/ 2147483647 h 192"/>
                <a:gd name="T38" fmla="*/ 2147483647 w 176"/>
                <a:gd name="T39" fmla="*/ 2147483647 h 192"/>
                <a:gd name="T40" fmla="*/ 2147483647 w 176"/>
                <a:gd name="T41" fmla="*/ 2147483647 h 192"/>
                <a:gd name="T42" fmla="*/ 2147483647 w 176"/>
                <a:gd name="T43" fmla="*/ 2147483647 h 192"/>
                <a:gd name="T44" fmla="*/ 2147483647 w 176"/>
                <a:gd name="T45" fmla="*/ 2147483647 h 192"/>
                <a:gd name="T46" fmla="*/ 2147483647 w 176"/>
                <a:gd name="T47" fmla="*/ 2147483647 h 192"/>
                <a:gd name="T48" fmla="*/ 2147483647 w 176"/>
                <a:gd name="T49" fmla="*/ 2147483647 h 192"/>
                <a:gd name="T50" fmla="*/ 2147483647 w 176"/>
                <a:gd name="T51" fmla="*/ 2147483647 h 192"/>
                <a:gd name="T52" fmla="*/ 2147483647 w 176"/>
                <a:gd name="T53" fmla="*/ 2147483647 h 192"/>
                <a:gd name="T54" fmla="*/ 2147483647 w 176"/>
                <a:gd name="T55" fmla="*/ 2147483647 h 192"/>
                <a:gd name="T56" fmla="*/ 2147483647 w 176"/>
                <a:gd name="T57" fmla="*/ 2147483647 h 192"/>
                <a:gd name="T58" fmla="*/ 2147483647 w 176"/>
                <a:gd name="T59" fmla="*/ 2147483647 h 192"/>
                <a:gd name="T60" fmla="*/ 2147483647 w 176"/>
                <a:gd name="T61" fmla="*/ 2147483647 h 192"/>
                <a:gd name="T62" fmla="*/ 2147483647 w 176"/>
                <a:gd name="T63" fmla="*/ 2147483647 h 192"/>
                <a:gd name="T64" fmla="*/ 2147483647 w 176"/>
                <a:gd name="T65" fmla="*/ 2147483647 h 192"/>
                <a:gd name="T66" fmla="*/ 0 w 176"/>
                <a:gd name="T67" fmla="*/ 2147483647 h 192"/>
                <a:gd name="T68" fmla="*/ 0 w 176"/>
                <a:gd name="T69" fmla="*/ 2147483647 h 1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6"/>
                <a:gd name="T106" fmla="*/ 0 h 192"/>
                <a:gd name="T107" fmla="*/ 176 w 176"/>
                <a:gd name="T108" fmla="*/ 192 h 1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6" h="192">
                  <a:moveTo>
                    <a:pt x="0" y="160"/>
                  </a:moveTo>
                  <a:lnTo>
                    <a:pt x="24" y="152"/>
                  </a:lnTo>
                  <a:lnTo>
                    <a:pt x="40" y="152"/>
                  </a:lnTo>
                  <a:lnTo>
                    <a:pt x="72" y="128"/>
                  </a:lnTo>
                  <a:lnTo>
                    <a:pt x="88" y="120"/>
                  </a:lnTo>
                  <a:lnTo>
                    <a:pt x="96" y="104"/>
                  </a:lnTo>
                  <a:lnTo>
                    <a:pt x="104" y="72"/>
                  </a:lnTo>
                  <a:lnTo>
                    <a:pt x="104" y="48"/>
                  </a:lnTo>
                  <a:lnTo>
                    <a:pt x="112" y="32"/>
                  </a:lnTo>
                  <a:lnTo>
                    <a:pt x="112" y="8"/>
                  </a:lnTo>
                  <a:lnTo>
                    <a:pt x="120" y="0"/>
                  </a:lnTo>
                  <a:lnTo>
                    <a:pt x="136" y="8"/>
                  </a:lnTo>
                  <a:lnTo>
                    <a:pt x="160" y="16"/>
                  </a:lnTo>
                  <a:lnTo>
                    <a:pt x="176" y="16"/>
                  </a:lnTo>
                  <a:lnTo>
                    <a:pt x="160" y="32"/>
                  </a:lnTo>
                  <a:lnTo>
                    <a:pt x="144" y="40"/>
                  </a:lnTo>
                  <a:lnTo>
                    <a:pt x="136" y="56"/>
                  </a:lnTo>
                  <a:lnTo>
                    <a:pt x="120" y="40"/>
                  </a:lnTo>
                  <a:lnTo>
                    <a:pt x="104" y="64"/>
                  </a:lnTo>
                  <a:lnTo>
                    <a:pt x="120" y="88"/>
                  </a:lnTo>
                  <a:lnTo>
                    <a:pt x="112" y="112"/>
                  </a:lnTo>
                  <a:lnTo>
                    <a:pt x="104" y="128"/>
                  </a:lnTo>
                  <a:lnTo>
                    <a:pt x="104" y="152"/>
                  </a:lnTo>
                  <a:lnTo>
                    <a:pt x="96" y="160"/>
                  </a:lnTo>
                  <a:lnTo>
                    <a:pt x="88" y="160"/>
                  </a:lnTo>
                  <a:lnTo>
                    <a:pt x="80" y="160"/>
                  </a:lnTo>
                  <a:lnTo>
                    <a:pt x="64" y="160"/>
                  </a:lnTo>
                  <a:lnTo>
                    <a:pt x="56" y="160"/>
                  </a:lnTo>
                  <a:lnTo>
                    <a:pt x="40" y="176"/>
                  </a:lnTo>
                  <a:lnTo>
                    <a:pt x="40" y="168"/>
                  </a:lnTo>
                  <a:lnTo>
                    <a:pt x="32" y="176"/>
                  </a:lnTo>
                  <a:lnTo>
                    <a:pt x="24" y="176"/>
                  </a:lnTo>
                  <a:lnTo>
                    <a:pt x="8" y="192"/>
                  </a:lnTo>
                  <a:lnTo>
                    <a:pt x="0" y="168"/>
                  </a:lnTo>
                  <a:lnTo>
                    <a:pt x="0" y="16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4" name="Freeform 574"/>
            <p:cNvSpPr>
              <a:spLocks/>
            </p:cNvSpPr>
            <p:nvPr/>
          </p:nvSpPr>
          <p:spPr bwMode="auto">
            <a:xfrm>
              <a:off x="4633997" y="2618916"/>
              <a:ext cx="33787" cy="161137"/>
            </a:xfrm>
            <a:custGeom>
              <a:avLst/>
              <a:gdLst>
                <a:gd name="T0" fmla="*/ 2147483647 w 32"/>
                <a:gd name="T1" fmla="*/ 2147483647 h 152"/>
                <a:gd name="T2" fmla="*/ 2147483647 w 32"/>
                <a:gd name="T3" fmla="*/ 2147483647 h 152"/>
                <a:gd name="T4" fmla="*/ 2147483647 w 32"/>
                <a:gd name="T5" fmla="*/ 2147483647 h 152"/>
                <a:gd name="T6" fmla="*/ 0 w 32"/>
                <a:gd name="T7" fmla="*/ 2147483647 h 152"/>
                <a:gd name="T8" fmla="*/ 2147483647 w 32"/>
                <a:gd name="T9" fmla="*/ 2147483647 h 152"/>
                <a:gd name="T10" fmla="*/ 2147483647 w 32"/>
                <a:gd name="T11" fmla="*/ 0 h 152"/>
                <a:gd name="T12" fmla="*/ 2147483647 w 32"/>
                <a:gd name="T13" fmla="*/ 2147483647 h 152"/>
                <a:gd name="T14" fmla="*/ 2147483647 w 32"/>
                <a:gd name="T15" fmla="*/ 2147483647 h 152"/>
                <a:gd name="T16" fmla="*/ 2147483647 w 32"/>
                <a:gd name="T17" fmla="*/ 2147483647 h 152"/>
                <a:gd name="T18" fmla="*/ 2147483647 w 32"/>
                <a:gd name="T19" fmla="*/ 2147483647 h 152"/>
                <a:gd name="T20" fmla="*/ 2147483647 w 32"/>
                <a:gd name="T21" fmla="*/ 2147483647 h 152"/>
                <a:gd name="T22" fmla="*/ 2147483647 w 32"/>
                <a:gd name="T23" fmla="*/ 2147483647 h 152"/>
                <a:gd name="T24" fmla="*/ 2147483647 w 32"/>
                <a:gd name="T25" fmla="*/ 2147483647 h 152"/>
                <a:gd name="T26" fmla="*/ 2147483647 w 32"/>
                <a:gd name="T27" fmla="*/ 2147483647 h 1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
                <a:gd name="T43" fmla="*/ 0 h 152"/>
                <a:gd name="T44" fmla="*/ 32 w 32"/>
                <a:gd name="T45" fmla="*/ 152 h 1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 h="152">
                  <a:moveTo>
                    <a:pt x="8" y="144"/>
                  </a:moveTo>
                  <a:lnTo>
                    <a:pt x="8" y="120"/>
                  </a:lnTo>
                  <a:lnTo>
                    <a:pt x="8" y="56"/>
                  </a:lnTo>
                  <a:lnTo>
                    <a:pt x="0" y="40"/>
                  </a:lnTo>
                  <a:lnTo>
                    <a:pt x="8" y="16"/>
                  </a:lnTo>
                  <a:lnTo>
                    <a:pt x="8" y="0"/>
                  </a:lnTo>
                  <a:lnTo>
                    <a:pt x="16" y="24"/>
                  </a:lnTo>
                  <a:lnTo>
                    <a:pt x="16" y="40"/>
                  </a:lnTo>
                  <a:lnTo>
                    <a:pt x="32" y="104"/>
                  </a:lnTo>
                  <a:lnTo>
                    <a:pt x="24" y="96"/>
                  </a:lnTo>
                  <a:lnTo>
                    <a:pt x="16" y="112"/>
                  </a:lnTo>
                  <a:lnTo>
                    <a:pt x="16" y="128"/>
                  </a:lnTo>
                  <a:lnTo>
                    <a:pt x="32" y="152"/>
                  </a:lnTo>
                  <a:lnTo>
                    <a:pt x="8" y="14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5" name="Freeform 575"/>
            <p:cNvSpPr>
              <a:spLocks/>
            </p:cNvSpPr>
            <p:nvPr/>
          </p:nvSpPr>
          <p:spPr bwMode="auto">
            <a:xfrm>
              <a:off x="4972732" y="4076949"/>
              <a:ext cx="93564" cy="110890"/>
            </a:xfrm>
            <a:custGeom>
              <a:avLst/>
              <a:gdLst>
                <a:gd name="T0" fmla="*/ 0 w 88"/>
                <a:gd name="T1" fmla="*/ 2147483647 h 104"/>
                <a:gd name="T2" fmla="*/ 2147483647 w 88"/>
                <a:gd name="T3" fmla="*/ 2147483647 h 104"/>
                <a:gd name="T4" fmla="*/ 2147483647 w 88"/>
                <a:gd name="T5" fmla="*/ 2147483647 h 104"/>
                <a:gd name="T6" fmla="*/ 2147483647 w 88"/>
                <a:gd name="T7" fmla="*/ 2147483647 h 104"/>
                <a:gd name="T8" fmla="*/ 2147483647 w 88"/>
                <a:gd name="T9" fmla="*/ 2147483647 h 104"/>
                <a:gd name="T10" fmla="*/ 2147483647 w 88"/>
                <a:gd name="T11" fmla="*/ 2147483647 h 104"/>
                <a:gd name="T12" fmla="*/ 2147483647 w 88"/>
                <a:gd name="T13" fmla="*/ 0 h 104"/>
                <a:gd name="T14" fmla="*/ 2147483647 w 88"/>
                <a:gd name="T15" fmla="*/ 2147483647 h 104"/>
                <a:gd name="T16" fmla="*/ 2147483647 w 88"/>
                <a:gd name="T17" fmla="*/ 2147483647 h 104"/>
                <a:gd name="T18" fmla="*/ 2147483647 w 88"/>
                <a:gd name="T19" fmla="*/ 2147483647 h 104"/>
                <a:gd name="T20" fmla="*/ 2147483647 w 88"/>
                <a:gd name="T21" fmla="*/ 2147483647 h 104"/>
                <a:gd name="T22" fmla="*/ 2147483647 w 88"/>
                <a:gd name="T23" fmla="*/ 2147483647 h 104"/>
                <a:gd name="T24" fmla="*/ 2147483647 w 88"/>
                <a:gd name="T25" fmla="*/ 2147483647 h 104"/>
                <a:gd name="T26" fmla="*/ 2147483647 w 88"/>
                <a:gd name="T27" fmla="*/ 2147483647 h 104"/>
                <a:gd name="T28" fmla="*/ 2147483647 w 88"/>
                <a:gd name="T29" fmla="*/ 2147483647 h 104"/>
                <a:gd name="T30" fmla="*/ 2147483647 w 88"/>
                <a:gd name="T31" fmla="*/ 2147483647 h 104"/>
                <a:gd name="T32" fmla="*/ 2147483647 w 88"/>
                <a:gd name="T33" fmla="*/ 2147483647 h 104"/>
                <a:gd name="T34" fmla="*/ 0 w 88"/>
                <a:gd name="T35" fmla="*/ 2147483647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04"/>
                <a:gd name="T56" fmla="*/ 88 w 88"/>
                <a:gd name="T57" fmla="*/ 104 h 1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04">
                  <a:moveTo>
                    <a:pt x="0" y="88"/>
                  </a:moveTo>
                  <a:lnTo>
                    <a:pt x="8" y="64"/>
                  </a:lnTo>
                  <a:lnTo>
                    <a:pt x="16" y="48"/>
                  </a:lnTo>
                  <a:lnTo>
                    <a:pt x="40" y="40"/>
                  </a:lnTo>
                  <a:lnTo>
                    <a:pt x="48" y="32"/>
                  </a:lnTo>
                  <a:lnTo>
                    <a:pt x="56" y="16"/>
                  </a:lnTo>
                  <a:lnTo>
                    <a:pt x="64" y="0"/>
                  </a:lnTo>
                  <a:lnTo>
                    <a:pt x="72" y="8"/>
                  </a:lnTo>
                  <a:lnTo>
                    <a:pt x="88" y="8"/>
                  </a:lnTo>
                  <a:lnTo>
                    <a:pt x="88" y="24"/>
                  </a:lnTo>
                  <a:lnTo>
                    <a:pt x="72" y="32"/>
                  </a:lnTo>
                  <a:lnTo>
                    <a:pt x="64" y="40"/>
                  </a:lnTo>
                  <a:lnTo>
                    <a:pt x="48" y="56"/>
                  </a:lnTo>
                  <a:lnTo>
                    <a:pt x="48" y="72"/>
                  </a:lnTo>
                  <a:lnTo>
                    <a:pt x="40" y="96"/>
                  </a:lnTo>
                  <a:lnTo>
                    <a:pt x="24" y="104"/>
                  </a:lnTo>
                  <a:lnTo>
                    <a:pt x="8" y="96"/>
                  </a:lnTo>
                  <a:lnTo>
                    <a:pt x="0" y="8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6" name="Freeform 576"/>
            <p:cNvSpPr>
              <a:spLocks/>
            </p:cNvSpPr>
            <p:nvPr/>
          </p:nvSpPr>
          <p:spPr bwMode="auto">
            <a:xfrm>
              <a:off x="4633997" y="2618916"/>
              <a:ext cx="33787" cy="161137"/>
            </a:xfrm>
            <a:custGeom>
              <a:avLst/>
              <a:gdLst>
                <a:gd name="T0" fmla="*/ 2147483647 w 32"/>
                <a:gd name="T1" fmla="*/ 2147483647 h 152"/>
                <a:gd name="T2" fmla="*/ 2147483647 w 32"/>
                <a:gd name="T3" fmla="*/ 2147483647 h 152"/>
                <a:gd name="T4" fmla="*/ 2147483647 w 32"/>
                <a:gd name="T5" fmla="*/ 2147483647 h 152"/>
                <a:gd name="T6" fmla="*/ 0 w 32"/>
                <a:gd name="T7" fmla="*/ 2147483647 h 152"/>
                <a:gd name="T8" fmla="*/ 2147483647 w 32"/>
                <a:gd name="T9" fmla="*/ 2147483647 h 152"/>
                <a:gd name="T10" fmla="*/ 2147483647 w 32"/>
                <a:gd name="T11" fmla="*/ 0 h 152"/>
                <a:gd name="T12" fmla="*/ 2147483647 w 32"/>
                <a:gd name="T13" fmla="*/ 2147483647 h 152"/>
                <a:gd name="T14" fmla="*/ 2147483647 w 32"/>
                <a:gd name="T15" fmla="*/ 2147483647 h 152"/>
                <a:gd name="T16" fmla="*/ 2147483647 w 32"/>
                <a:gd name="T17" fmla="*/ 2147483647 h 152"/>
                <a:gd name="T18" fmla="*/ 2147483647 w 32"/>
                <a:gd name="T19" fmla="*/ 2147483647 h 152"/>
                <a:gd name="T20" fmla="*/ 2147483647 w 32"/>
                <a:gd name="T21" fmla="*/ 2147483647 h 152"/>
                <a:gd name="T22" fmla="*/ 2147483647 w 32"/>
                <a:gd name="T23" fmla="*/ 2147483647 h 152"/>
                <a:gd name="T24" fmla="*/ 2147483647 w 32"/>
                <a:gd name="T25" fmla="*/ 2147483647 h 152"/>
                <a:gd name="T26" fmla="*/ 2147483647 w 32"/>
                <a:gd name="T27" fmla="*/ 2147483647 h 1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
                <a:gd name="T43" fmla="*/ 0 h 152"/>
                <a:gd name="T44" fmla="*/ 32 w 32"/>
                <a:gd name="T45" fmla="*/ 152 h 1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 h="152">
                  <a:moveTo>
                    <a:pt x="8" y="144"/>
                  </a:moveTo>
                  <a:lnTo>
                    <a:pt x="8" y="120"/>
                  </a:lnTo>
                  <a:lnTo>
                    <a:pt x="8" y="56"/>
                  </a:lnTo>
                  <a:lnTo>
                    <a:pt x="0" y="40"/>
                  </a:lnTo>
                  <a:lnTo>
                    <a:pt x="8" y="16"/>
                  </a:lnTo>
                  <a:lnTo>
                    <a:pt x="8" y="0"/>
                  </a:lnTo>
                  <a:lnTo>
                    <a:pt x="16" y="24"/>
                  </a:lnTo>
                  <a:lnTo>
                    <a:pt x="16" y="40"/>
                  </a:lnTo>
                  <a:lnTo>
                    <a:pt x="32" y="104"/>
                  </a:lnTo>
                  <a:lnTo>
                    <a:pt x="24" y="96"/>
                  </a:lnTo>
                  <a:lnTo>
                    <a:pt x="16" y="112"/>
                  </a:lnTo>
                  <a:lnTo>
                    <a:pt x="16" y="128"/>
                  </a:lnTo>
                  <a:lnTo>
                    <a:pt x="32" y="152"/>
                  </a:lnTo>
                  <a:lnTo>
                    <a:pt x="8" y="14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7" name="Freeform 577"/>
            <p:cNvSpPr>
              <a:spLocks/>
            </p:cNvSpPr>
            <p:nvPr/>
          </p:nvSpPr>
          <p:spPr bwMode="auto">
            <a:xfrm>
              <a:off x="4972732" y="4076949"/>
              <a:ext cx="93564" cy="110890"/>
            </a:xfrm>
            <a:custGeom>
              <a:avLst/>
              <a:gdLst>
                <a:gd name="T0" fmla="*/ 0 w 88"/>
                <a:gd name="T1" fmla="*/ 2147483647 h 104"/>
                <a:gd name="T2" fmla="*/ 2147483647 w 88"/>
                <a:gd name="T3" fmla="*/ 2147483647 h 104"/>
                <a:gd name="T4" fmla="*/ 2147483647 w 88"/>
                <a:gd name="T5" fmla="*/ 2147483647 h 104"/>
                <a:gd name="T6" fmla="*/ 2147483647 w 88"/>
                <a:gd name="T7" fmla="*/ 2147483647 h 104"/>
                <a:gd name="T8" fmla="*/ 2147483647 w 88"/>
                <a:gd name="T9" fmla="*/ 2147483647 h 104"/>
                <a:gd name="T10" fmla="*/ 2147483647 w 88"/>
                <a:gd name="T11" fmla="*/ 2147483647 h 104"/>
                <a:gd name="T12" fmla="*/ 2147483647 w 88"/>
                <a:gd name="T13" fmla="*/ 0 h 104"/>
                <a:gd name="T14" fmla="*/ 2147483647 w 88"/>
                <a:gd name="T15" fmla="*/ 2147483647 h 104"/>
                <a:gd name="T16" fmla="*/ 2147483647 w 88"/>
                <a:gd name="T17" fmla="*/ 2147483647 h 104"/>
                <a:gd name="T18" fmla="*/ 2147483647 w 88"/>
                <a:gd name="T19" fmla="*/ 2147483647 h 104"/>
                <a:gd name="T20" fmla="*/ 2147483647 w 88"/>
                <a:gd name="T21" fmla="*/ 2147483647 h 104"/>
                <a:gd name="T22" fmla="*/ 2147483647 w 88"/>
                <a:gd name="T23" fmla="*/ 2147483647 h 104"/>
                <a:gd name="T24" fmla="*/ 2147483647 w 88"/>
                <a:gd name="T25" fmla="*/ 2147483647 h 104"/>
                <a:gd name="T26" fmla="*/ 2147483647 w 88"/>
                <a:gd name="T27" fmla="*/ 2147483647 h 104"/>
                <a:gd name="T28" fmla="*/ 2147483647 w 88"/>
                <a:gd name="T29" fmla="*/ 2147483647 h 104"/>
                <a:gd name="T30" fmla="*/ 2147483647 w 88"/>
                <a:gd name="T31" fmla="*/ 2147483647 h 104"/>
                <a:gd name="T32" fmla="*/ 2147483647 w 88"/>
                <a:gd name="T33" fmla="*/ 2147483647 h 104"/>
                <a:gd name="T34" fmla="*/ 0 w 88"/>
                <a:gd name="T35" fmla="*/ 2147483647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04"/>
                <a:gd name="T56" fmla="*/ 88 w 88"/>
                <a:gd name="T57" fmla="*/ 104 h 1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04">
                  <a:moveTo>
                    <a:pt x="0" y="88"/>
                  </a:moveTo>
                  <a:lnTo>
                    <a:pt x="8" y="64"/>
                  </a:lnTo>
                  <a:lnTo>
                    <a:pt x="16" y="48"/>
                  </a:lnTo>
                  <a:lnTo>
                    <a:pt x="40" y="40"/>
                  </a:lnTo>
                  <a:lnTo>
                    <a:pt x="48" y="32"/>
                  </a:lnTo>
                  <a:lnTo>
                    <a:pt x="56" y="16"/>
                  </a:lnTo>
                  <a:lnTo>
                    <a:pt x="64" y="0"/>
                  </a:lnTo>
                  <a:lnTo>
                    <a:pt x="72" y="8"/>
                  </a:lnTo>
                  <a:lnTo>
                    <a:pt x="88" y="8"/>
                  </a:lnTo>
                  <a:lnTo>
                    <a:pt x="88" y="24"/>
                  </a:lnTo>
                  <a:lnTo>
                    <a:pt x="72" y="32"/>
                  </a:lnTo>
                  <a:lnTo>
                    <a:pt x="64" y="40"/>
                  </a:lnTo>
                  <a:lnTo>
                    <a:pt x="48" y="56"/>
                  </a:lnTo>
                  <a:lnTo>
                    <a:pt x="48" y="72"/>
                  </a:lnTo>
                  <a:lnTo>
                    <a:pt x="40" y="96"/>
                  </a:lnTo>
                  <a:lnTo>
                    <a:pt x="24" y="104"/>
                  </a:lnTo>
                  <a:lnTo>
                    <a:pt x="8" y="96"/>
                  </a:lnTo>
                  <a:lnTo>
                    <a:pt x="0" y="8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8" name="Freeform 578"/>
            <p:cNvSpPr>
              <a:spLocks/>
            </p:cNvSpPr>
            <p:nvPr/>
          </p:nvSpPr>
          <p:spPr bwMode="auto">
            <a:xfrm>
              <a:off x="5057632" y="3975589"/>
              <a:ext cx="68440" cy="110024"/>
            </a:xfrm>
            <a:custGeom>
              <a:avLst/>
              <a:gdLst>
                <a:gd name="T0" fmla="*/ 0 w 64"/>
                <a:gd name="T1" fmla="*/ 2147483647 h 104"/>
                <a:gd name="T2" fmla="*/ 2147483647 w 64"/>
                <a:gd name="T3" fmla="*/ 2147483647 h 104"/>
                <a:gd name="T4" fmla="*/ 2147483647 w 64"/>
                <a:gd name="T5" fmla="*/ 2147483647 h 104"/>
                <a:gd name="T6" fmla="*/ 0 w 64"/>
                <a:gd name="T7" fmla="*/ 0 h 104"/>
                <a:gd name="T8" fmla="*/ 2147483647 w 64"/>
                <a:gd name="T9" fmla="*/ 2147483647 h 104"/>
                <a:gd name="T10" fmla="*/ 2147483647 w 64"/>
                <a:gd name="T11" fmla="*/ 2147483647 h 104"/>
                <a:gd name="T12" fmla="*/ 2147483647 w 64"/>
                <a:gd name="T13" fmla="*/ 2147483647 h 104"/>
                <a:gd name="T14" fmla="*/ 2147483647 w 64"/>
                <a:gd name="T15" fmla="*/ 2147483647 h 104"/>
                <a:gd name="T16" fmla="*/ 2147483647 w 64"/>
                <a:gd name="T17" fmla="*/ 2147483647 h 104"/>
                <a:gd name="T18" fmla="*/ 2147483647 w 64"/>
                <a:gd name="T19" fmla="*/ 2147483647 h 104"/>
                <a:gd name="T20" fmla="*/ 2147483647 w 64"/>
                <a:gd name="T21" fmla="*/ 2147483647 h 104"/>
                <a:gd name="T22" fmla="*/ 2147483647 w 64"/>
                <a:gd name="T23" fmla="*/ 2147483647 h 104"/>
                <a:gd name="T24" fmla="*/ 2147483647 w 64"/>
                <a:gd name="T25" fmla="*/ 2147483647 h 104"/>
                <a:gd name="T26" fmla="*/ 2147483647 w 64"/>
                <a:gd name="T27" fmla="*/ 2147483647 h 104"/>
                <a:gd name="T28" fmla="*/ 2147483647 w 64"/>
                <a:gd name="T29" fmla="*/ 2147483647 h 104"/>
                <a:gd name="T30" fmla="*/ 2147483647 w 64"/>
                <a:gd name="T31" fmla="*/ 2147483647 h 104"/>
                <a:gd name="T32" fmla="*/ 2147483647 w 64"/>
                <a:gd name="T33" fmla="*/ 2147483647 h 104"/>
                <a:gd name="T34" fmla="*/ 0 w 64"/>
                <a:gd name="T35" fmla="*/ 2147483647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4"/>
                <a:gd name="T55" fmla="*/ 0 h 104"/>
                <a:gd name="T56" fmla="*/ 64 w 64"/>
                <a:gd name="T57" fmla="*/ 104 h 1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4" h="104">
                  <a:moveTo>
                    <a:pt x="0" y="72"/>
                  </a:moveTo>
                  <a:lnTo>
                    <a:pt x="16" y="48"/>
                  </a:lnTo>
                  <a:lnTo>
                    <a:pt x="16" y="32"/>
                  </a:lnTo>
                  <a:lnTo>
                    <a:pt x="0" y="0"/>
                  </a:lnTo>
                  <a:lnTo>
                    <a:pt x="16" y="8"/>
                  </a:lnTo>
                  <a:lnTo>
                    <a:pt x="16" y="24"/>
                  </a:lnTo>
                  <a:lnTo>
                    <a:pt x="24" y="40"/>
                  </a:lnTo>
                  <a:lnTo>
                    <a:pt x="40" y="48"/>
                  </a:lnTo>
                  <a:lnTo>
                    <a:pt x="56" y="40"/>
                  </a:lnTo>
                  <a:lnTo>
                    <a:pt x="64" y="48"/>
                  </a:lnTo>
                  <a:lnTo>
                    <a:pt x="56" y="56"/>
                  </a:lnTo>
                  <a:lnTo>
                    <a:pt x="48" y="64"/>
                  </a:lnTo>
                  <a:lnTo>
                    <a:pt x="40" y="72"/>
                  </a:lnTo>
                  <a:lnTo>
                    <a:pt x="40" y="88"/>
                  </a:lnTo>
                  <a:lnTo>
                    <a:pt x="24" y="104"/>
                  </a:lnTo>
                  <a:lnTo>
                    <a:pt x="16" y="96"/>
                  </a:lnTo>
                  <a:lnTo>
                    <a:pt x="16" y="80"/>
                  </a:lnTo>
                  <a:lnTo>
                    <a:pt x="0" y="7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9" name="Freeform 579"/>
            <p:cNvSpPr>
              <a:spLocks/>
            </p:cNvSpPr>
            <p:nvPr/>
          </p:nvSpPr>
          <p:spPr bwMode="auto">
            <a:xfrm>
              <a:off x="4251946" y="3635987"/>
              <a:ext cx="534526" cy="407175"/>
            </a:xfrm>
            <a:custGeom>
              <a:avLst/>
              <a:gdLst>
                <a:gd name="T0" fmla="*/ 2147483647 w 504"/>
                <a:gd name="T1" fmla="*/ 2147483647 h 384"/>
                <a:gd name="T2" fmla="*/ 2147483647 w 504"/>
                <a:gd name="T3" fmla="*/ 2147483647 h 384"/>
                <a:gd name="T4" fmla="*/ 0 w 504"/>
                <a:gd name="T5" fmla="*/ 2147483647 h 384"/>
                <a:gd name="T6" fmla="*/ 2147483647 w 504"/>
                <a:gd name="T7" fmla="*/ 2147483647 h 384"/>
                <a:gd name="T8" fmla="*/ 2147483647 w 504"/>
                <a:gd name="T9" fmla="*/ 2147483647 h 384"/>
                <a:gd name="T10" fmla="*/ 2147483647 w 504"/>
                <a:gd name="T11" fmla="*/ 2147483647 h 384"/>
                <a:gd name="T12" fmla="*/ 2147483647 w 504"/>
                <a:gd name="T13" fmla="*/ 2147483647 h 384"/>
                <a:gd name="T14" fmla="*/ 2147483647 w 504"/>
                <a:gd name="T15" fmla="*/ 2147483647 h 384"/>
                <a:gd name="T16" fmla="*/ 2147483647 w 504"/>
                <a:gd name="T17" fmla="*/ 2147483647 h 384"/>
                <a:gd name="T18" fmla="*/ 2147483647 w 504"/>
                <a:gd name="T19" fmla="*/ 2147483647 h 384"/>
                <a:gd name="T20" fmla="*/ 2147483647 w 504"/>
                <a:gd name="T21" fmla="*/ 0 h 384"/>
                <a:gd name="T22" fmla="*/ 2147483647 w 504"/>
                <a:gd name="T23" fmla="*/ 2147483647 h 384"/>
                <a:gd name="T24" fmla="*/ 2147483647 w 504"/>
                <a:gd name="T25" fmla="*/ 2147483647 h 384"/>
                <a:gd name="T26" fmla="*/ 2147483647 w 504"/>
                <a:gd name="T27" fmla="*/ 2147483647 h 384"/>
                <a:gd name="T28" fmla="*/ 2147483647 w 504"/>
                <a:gd name="T29" fmla="*/ 2147483647 h 384"/>
                <a:gd name="T30" fmla="*/ 2147483647 w 504"/>
                <a:gd name="T31" fmla="*/ 2147483647 h 384"/>
                <a:gd name="T32" fmla="*/ 2147483647 w 504"/>
                <a:gd name="T33" fmla="*/ 2147483647 h 384"/>
                <a:gd name="T34" fmla="*/ 2147483647 w 504"/>
                <a:gd name="T35" fmla="*/ 2147483647 h 384"/>
                <a:gd name="T36" fmla="*/ 2147483647 w 504"/>
                <a:gd name="T37" fmla="*/ 2147483647 h 384"/>
                <a:gd name="T38" fmla="*/ 2147483647 w 504"/>
                <a:gd name="T39" fmla="*/ 2147483647 h 384"/>
                <a:gd name="T40" fmla="*/ 2147483647 w 504"/>
                <a:gd name="T41" fmla="*/ 2147483647 h 384"/>
                <a:gd name="T42" fmla="*/ 2147483647 w 504"/>
                <a:gd name="T43" fmla="*/ 2147483647 h 384"/>
                <a:gd name="T44" fmla="*/ 2147483647 w 504"/>
                <a:gd name="T45" fmla="*/ 2147483647 h 384"/>
                <a:gd name="T46" fmla="*/ 2147483647 w 504"/>
                <a:gd name="T47" fmla="*/ 2147483647 h 384"/>
                <a:gd name="T48" fmla="*/ 2147483647 w 504"/>
                <a:gd name="T49" fmla="*/ 2147483647 h 384"/>
                <a:gd name="T50" fmla="*/ 2147483647 w 504"/>
                <a:gd name="T51" fmla="*/ 2147483647 h 384"/>
                <a:gd name="T52" fmla="*/ 2147483647 w 504"/>
                <a:gd name="T53" fmla="*/ 2147483647 h 384"/>
                <a:gd name="T54" fmla="*/ 2147483647 w 504"/>
                <a:gd name="T55" fmla="*/ 2147483647 h 384"/>
                <a:gd name="T56" fmla="*/ 2147483647 w 504"/>
                <a:gd name="T57" fmla="*/ 2147483647 h 384"/>
                <a:gd name="T58" fmla="*/ 2147483647 w 504"/>
                <a:gd name="T59" fmla="*/ 2147483647 h 384"/>
                <a:gd name="T60" fmla="*/ 2147483647 w 504"/>
                <a:gd name="T61" fmla="*/ 2147483647 h 384"/>
                <a:gd name="T62" fmla="*/ 2147483647 w 504"/>
                <a:gd name="T63" fmla="*/ 2147483647 h 384"/>
                <a:gd name="T64" fmla="*/ 2147483647 w 504"/>
                <a:gd name="T65" fmla="*/ 2147483647 h 384"/>
                <a:gd name="T66" fmla="*/ 2147483647 w 504"/>
                <a:gd name="T67" fmla="*/ 2147483647 h 384"/>
                <a:gd name="T68" fmla="*/ 2147483647 w 504"/>
                <a:gd name="T69" fmla="*/ 2147483647 h 384"/>
                <a:gd name="T70" fmla="*/ 2147483647 w 504"/>
                <a:gd name="T71" fmla="*/ 2147483647 h 38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04"/>
                <a:gd name="T109" fmla="*/ 0 h 384"/>
                <a:gd name="T110" fmla="*/ 504 w 504"/>
                <a:gd name="T111" fmla="*/ 384 h 38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04" h="384">
                  <a:moveTo>
                    <a:pt x="24" y="304"/>
                  </a:moveTo>
                  <a:lnTo>
                    <a:pt x="24" y="272"/>
                  </a:lnTo>
                  <a:lnTo>
                    <a:pt x="24" y="256"/>
                  </a:lnTo>
                  <a:lnTo>
                    <a:pt x="8" y="200"/>
                  </a:lnTo>
                  <a:lnTo>
                    <a:pt x="8" y="184"/>
                  </a:lnTo>
                  <a:lnTo>
                    <a:pt x="0" y="160"/>
                  </a:lnTo>
                  <a:lnTo>
                    <a:pt x="8" y="144"/>
                  </a:lnTo>
                  <a:lnTo>
                    <a:pt x="24" y="128"/>
                  </a:lnTo>
                  <a:lnTo>
                    <a:pt x="56" y="112"/>
                  </a:lnTo>
                  <a:lnTo>
                    <a:pt x="80" y="96"/>
                  </a:lnTo>
                  <a:lnTo>
                    <a:pt x="96" y="96"/>
                  </a:lnTo>
                  <a:lnTo>
                    <a:pt x="104" y="72"/>
                  </a:lnTo>
                  <a:lnTo>
                    <a:pt x="120" y="64"/>
                  </a:lnTo>
                  <a:lnTo>
                    <a:pt x="136" y="56"/>
                  </a:lnTo>
                  <a:lnTo>
                    <a:pt x="160" y="40"/>
                  </a:lnTo>
                  <a:lnTo>
                    <a:pt x="176" y="32"/>
                  </a:lnTo>
                  <a:lnTo>
                    <a:pt x="192" y="40"/>
                  </a:lnTo>
                  <a:lnTo>
                    <a:pt x="200" y="40"/>
                  </a:lnTo>
                  <a:lnTo>
                    <a:pt x="208" y="24"/>
                  </a:lnTo>
                  <a:lnTo>
                    <a:pt x="224" y="16"/>
                  </a:lnTo>
                  <a:lnTo>
                    <a:pt x="240" y="8"/>
                  </a:lnTo>
                  <a:lnTo>
                    <a:pt x="248" y="0"/>
                  </a:lnTo>
                  <a:lnTo>
                    <a:pt x="264" y="0"/>
                  </a:lnTo>
                  <a:lnTo>
                    <a:pt x="296" y="8"/>
                  </a:lnTo>
                  <a:lnTo>
                    <a:pt x="288" y="24"/>
                  </a:lnTo>
                  <a:lnTo>
                    <a:pt x="280" y="40"/>
                  </a:lnTo>
                  <a:lnTo>
                    <a:pt x="296" y="48"/>
                  </a:lnTo>
                  <a:lnTo>
                    <a:pt x="312" y="48"/>
                  </a:lnTo>
                  <a:lnTo>
                    <a:pt x="328" y="72"/>
                  </a:lnTo>
                  <a:lnTo>
                    <a:pt x="344" y="72"/>
                  </a:lnTo>
                  <a:lnTo>
                    <a:pt x="360" y="56"/>
                  </a:lnTo>
                  <a:lnTo>
                    <a:pt x="360" y="16"/>
                  </a:lnTo>
                  <a:lnTo>
                    <a:pt x="376" y="0"/>
                  </a:lnTo>
                  <a:lnTo>
                    <a:pt x="384" y="24"/>
                  </a:lnTo>
                  <a:lnTo>
                    <a:pt x="392" y="32"/>
                  </a:lnTo>
                  <a:lnTo>
                    <a:pt x="400" y="40"/>
                  </a:lnTo>
                  <a:lnTo>
                    <a:pt x="408" y="80"/>
                  </a:lnTo>
                  <a:lnTo>
                    <a:pt x="432" y="96"/>
                  </a:lnTo>
                  <a:lnTo>
                    <a:pt x="456" y="104"/>
                  </a:lnTo>
                  <a:lnTo>
                    <a:pt x="464" y="128"/>
                  </a:lnTo>
                  <a:lnTo>
                    <a:pt x="472" y="136"/>
                  </a:lnTo>
                  <a:lnTo>
                    <a:pt x="480" y="160"/>
                  </a:lnTo>
                  <a:lnTo>
                    <a:pt x="504" y="176"/>
                  </a:lnTo>
                  <a:lnTo>
                    <a:pt x="504" y="192"/>
                  </a:lnTo>
                  <a:lnTo>
                    <a:pt x="504" y="216"/>
                  </a:lnTo>
                  <a:lnTo>
                    <a:pt x="504" y="248"/>
                  </a:lnTo>
                  <a:lnTo>
                    <a:pt x="480" y="312"/>
                  </a:lnTo>
                  <a:lnTo>
                    <a:pt x="464" y="344"/>
                  </a:lnTo>
                  <a:lnTo>
                    <a:pt x="464" y="360"/>
                  </a:lnTo>
                  <a:lnTo>
                    <a:pt x="456" y="360"/>
                  </a:lnTo>
                  <a:lnTo>
                    <a:pt x="440" y="368"/>
                  </a:lnTo>
                  <a:lnTo>
                    <a:pt x="424" y="384"/>
                  </a:lnTo>
                  <a:lnTo>
                    <a:pt x="416" y="384"/>
                  </a:lnTo>
                  <a:lnTo>
                    <a:pt x="400" y="368"/>
                  </a:lnTo>
                  <a:lnTo>
                    <a:pt x="384" y="376"/>
                  </a:lnTo>
                  <a:lnTo>
                    <a:pt x="360" y="368"/>
                  </a:lnTo>
                  <a:lnTo>
                    <a:pt x="336" y="352"/>
                  </a:lnTo>
                  <a:lnTo>
                    <a:pt x="320" y="336"/>
                  </a:lnTo>
                  <a:lnTo>
                    <a:pt x="312" y="320"/>
                  </a:lnTo>
                  <a:lnTo>
                    <a:pt x="296" y="320"/>
                  </a:lnTo>
                  <a:lnTo>
                    <a:pt x="280" y="304"/>
                  </a:lnTo>
                  <a:lnTo>
                    <a:pt x="256" y="280"/>
                  </a:lnTo>
                  <a:lnTo>
                    <a:pt x="208" y="272"/>
                  </a:lnTo>
                  <a:lnTo>
                    <a:pt x="176" y="272"/>
                  </a:lnTo>
                  <a:lnTo>
                    <a:pt x="136" y="288"/>
                  </a:lnTo>
                  <a:lnTo>
                    <a:pt x="136" y="296"/>
                  </a:lnTo>
                  <a:lnTo>
                    <a:pt x="112" y="304"/>
                  </a:lnTo>
                  <a:lnTo>
                    <a:pt x="96" y="304"/>
                  </a:lnTo>
                  <a:lnTo>
                    <a:pt x="80" y="312"/>
                  </a:lnTo>
                  <a:lnTo>
                    <a:pt x="56" y="320"/>
                  </a:lnTo>
                  <a:lnTo>
                    <a:pt x="40" y="320"/>
                  </a:lnTo>
                  <a:lnTo>
                    <a:pt x="24" y="30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30" name="Freeform 580"/>
            <p:cNvSpPr>
              <a:spLocks/>
            </p:cNvSpPr>
            <p:nvPr/>
          </p:nvSpPr>
          <p:spPr bwMode="auto">
            <a:xfrm>
              <a:off x="5057632" y="3975589"/>
              <a:ext cx="68440" cy="110024"/>
            </a:xfrm>
            <a:custGeom>
              <a:avLst/>
              <a:gdLst>
                <a:gd name="T0" fmla="*/ 0 w 64"/>
                <a:gd name="T1" fmla="*/ 2147483647 h 104"/>
                <a:gd name="T2" fmla="*/ 2147483647 w 64"/>
                <a:gd name="T3" fmla="*/ 2147483647 h 104"/>
                <a:gd name="T4" fmla="*/ 2147483647 w 64"/>
                <a:gd name="T5" fmla="*/ 2147483647 h 104"/>
                <a:gd name="T6" fmla="*/ 0 w 64"/>
                <a:gd name="T7" fmla="*/ 0 h 104"/>
                <a:gd name="T8" fmla="*/ 2147483647 w 64"/>
                <a:gd name="T9" fmla="*/ 2147483647 h 104"/>
                <a:gd name="T10" fmla="*/ 2147483647 w 64"/>
                <a:gd name="T11" fmla="*/ 2147483647 h 104"/>
                <a:gd name="T12" fmla="*/ 2147483647 w 64"/>
                <a:gd name="T13" fmla="*/ 2147483647 h 104"/>
                <a:gd name="T14" fmla="*/ 2147483647 w 64"/>
                <a:gd name="T15" fmla="*/ 2147483647 h 104"/>
                <a:gd name="T16" fmla="*/ 2147483647 w 64"/>
                <a:gd name="T17" fmla="*/ 2147483647 h 104"/>
                <a:gd name="T18" fmla="*/ 2147483647 w 64"/>
                <a:gd name="T19" fmla="*/ 2147483647 h 104"/>
                <a:gd name="T20" fmla="*/ 2147483647 w 64"/>
                <a:gd name="T21" fmla="*/ 2147483647 h 104"/>
                <a:gd name="T22" fmla="*/ 2147483647 w 64"/>
                <a:gd name="T23" fmla="*/ 2147483647 h 104"/>
                <a:gd name="T24" fmla="*/ 2147483647 w 64"/>
                <a:gd name="T25" fmla="*/ 2147483647 h 104"/>
                <a:gd name="T26" fmla="*/ 2147483647 w 64"/>
                <a:gd name="T27" fmla="*/ 2147483647 h 104"/>
                <a:gd name="T28" fmla="*/ 2147483647 w 64"/>
                <a:gd name="T29" fmla="*/ 2147483647 h 104"/>
                <a:gd name="T30" fmla="*/ 2147483647 w 64"/>
                <a:gd name="T31" fmla="*/ 2147483647 h 104"/>
                <a:gd name="T32" fmla="*/ 2147483647 w 64"/>
                <a:gd name="T33" fmla="*/ 2147483647 h 104"/>
                <a:gd name="T34" fmla="*/ 0 w 64"/>
                <a:gd name="T35" fmla="*/ 2147483647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4"/>
                <a:gd name="T55" fmla="*/ 0 h 104"/>
                <a:gd name="T56" fmla="*/ 64 w 64"/>
                <a:gd name="T57" fmla="*/ 104 h 1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4" h="104">
                  <a:moveTo>
                    <a:pt x="0" y="72"/>
                  </a:moveTo>
                  <a:lnTo>
                    <a:pt x="16" y="48"/>
                  </a:lnTo>
                  <a:lnTo>
                    <a:pt x="16" y="32"/>
                  </a:lnTo>
                  <a:lnTo>
                    <a:pt x="0" y="0"/>
                  </a:lnTo>
                  <a:lnTo>
                    <a:pt x="16" y="8"/>
                  </a:lnTo>
                  <a:lnTo>
                    <a:pt x="16" y="24"/>
                  </a:lnTo>
                  <a:lnTo>
                    <a:pt x="24" y="40"/>
                  </a:lnTo>
                  <a:lnTo>
                    <a:pt x="40" y="48"/>
                  </a:lnTo>
                  <a:lnTo>
                    <a:pt x="56" y="40"/>
                  </a:lnTo>
                  <a:lnTo>
                    <a:pt x="64" y="48"/>
                  </a:lnTo>
                  <a:lnTo>
                    <a:pt x="56" y="56"/>
                  </a:lnTo>
                  <a:lnTo>
                    <a:pt x="48" y="64"/>
                  </a:lnTo>
                  <a:lnTo>
                    <a:pt x="40" y="72"/>
                  </a:lnTo>
                  <a:lnTo>
                    <a:pt x="40" y="88"/>
                  </a:lnTo>
                  <a:lnTo>
                    <a:pt x="24" y="104"/>
                  </a:lnTo>
                  <a:lnTo>
                    <a:pt x="16" y="96"/>
                  </a:lnTo>
                  <a:lnTo>
                    <a:pt x="16" y="80"/>
                  </a:lnTo>
                  <a:lnTo>
                    <a:pt x="0" y="7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31" name="Freeform 581"/>
            <p:cNvSpPr>
              <a:spLocks/>
            </p:cNvSpPr>
            <p:nvPr/>
          </p:nvSpPr>
          <p:spPr bwMode="auto">
            <a:xfrm>
              <a:off x="4251946" y="3635987"/>
              <a:ext cx="534526" cy="407175"/>
            </a:xfrm>
            <a:custGeom>
              <a:avLst/>
              <a:gdLst>
                <a:gd name="T0" fmla="*/ 2147483647 w 504"/>
                <a:gd name="T1" fmla="*/ 2147483647 h 384"/>
                <a:gd name="T2" fmla="*/ 2147483647 w 504"/>
                <a:gd name="T3" fmla="*/ 2147483647 h 384"/>
                <a:gd name="T4" fmla="*/ 0 w 504"/>
                <a:gd name="T5" fmla="*/ 2147483647 h 384"/>
                <a:gd name="T6" fmla="*/ 2147483647 w 504"/>
                <a:gd name="T7" fmla="*/ 2147483647 h 384"/>
                <a:gd name="T8" fmla="*/ 2147483647 w 504"/>
                <a:gd name="T9" fmla="*/ 2147483647 h 384"/>
                <a:gd name="T10" fmla="*/ 2147483647 w 504"/>
                <a:gd name="T11" fmla="*/ 2147483647 h 384"/>
                <a:gd name="T12" fmla="*/ 2147483647 w 504"/>
                <a:gd name="T13" fmla="*/ 2147483647 h 384"/>
                <a:gd name="T14" fmla="*/ 2147483647 w 504"/>
                <a:gd name="T15" fmla="*/ 2147483647 h 384"/>
                <a:gd name="T16" fmla="*/ 2147483647 w 504"/>
                <a:gd name="T17" fmla="*/ 2147483647 h 384"/>
                <a:gd name="T18" fmla="*/ 2147483647 w 504"/>
                <a:gd name="T19" fmla="*/ 2147483647 h 384"/>
                <a:gd name="T20" fmla="*/ 2147483647 w 504"/>
                <a:gd name="T21" fmla="*/ 0 h 384"/>
                <a:gd name="T22" fmla="*/ 2147483647 w 504"/>
                <a:gd name="T23" fmla="*/ 2147483647 h 384"/>
                <a:gd name="T24" fmla="*/ 2147483647 w 504"/>
                <a:gd name="T25" fmla="*/ 2147483647 h 384"/>
                <a:gd name="T26" fmla="*/ 2147483647 w 504"/>
                <a:gd name="T27" fmla="*/ 2147483647 h 384"/>
                <a:gd name="T28" fmla="*/ 2147483647 w 504"/>
                <a:gd name="T29" fmla="*/ 2147483647 h 384"/>
                <a:gd name="T30" fmla="*/ 2147483647 w 504"/>
                <a:gd name="T31" fmla="*/ 2147483647 h 384"/>
                <a:gd name="T32" fmla="*/ 2147483647 w 504"/>
                <a:gd name="T33" fmla="*/ 2147483647 h 384"/>
                <a:gd name="T34" fmla="*/ 2147483647 w 504"/>
                <a:gd name="T35" fmla="*/ 2147483647 h 384"/>
                <a:gd name="T36" fmla="*/ 2147483647 w 504"/>
                <a:gd name="T37" fmla="*/ 2147483647 h 384"/>
                <a:gd name="T38" fmla="*/ 2147483647 w 504"/>
                <a:gd name="T39" fmla="*/ 2147483647 h 384"/>
                <a:gd name="T40" fmla="*/ 2147483647 w 504"/>
                <a:gd name="T41" fmla="*/ 2147483647 h 384"/>
                <a:gd name="T42" fmla="*/ 2147483647 w 504"/>
                <a:gd name="T43" fmla="*/ 2147483647 h 384"/>
                <a:gd name="T44" fmla="*/ 2147483647 w 504"/>
                <a:gd name="T45" fmla="*/ 2147483647 h 384"/>
                <a:gd name="T46" fmla="*/ 2147483647 w 504"/>
                <a:gd name="T47" fmla="*/ 2147483647 h 384"/>
                <a:gd name="T48" fmla="*/ 2147483647 w 504"/>
                <a:gd name="T49" fmla="*/ 2147483647 h 384"/>
                <a:gd name="T50" fmla="*/ 2147483647 w 504"/>
                <a:gd name="T51" fmla="*/ 2147483647 h 384"/>
                <a:gd name="T52" fmla="*/ 2147483647 w 504"/>
                <a:gd name="T53" fmla="*/ 2147483647 h 384"/>
                <a:gd name="T54" fmla="*/ 2147483647 w 504"/>
                <a:gd name="T55" fmla="*/ 2147483647 h 384"/>
                <a:gd name="T56" fmla="*/ 2147483647 w 504"/>
                <a:gd name="T57" fmla="*/ 2147483647 h 384"/>
                <a:gd name="T58" fmla="*/ 2147483647 w 504"/>
                <a:gd name="T59" fmla="*/ 2147483647 h 384"/>
                <a:gd name="T60" fmla="*/ 2147483647 w 504"/>
                <a:gd name="T61" fmla="*/ 2147483647 h 384"/>
                <a:gd name="T62" fmla="*/ 2147483647 w 504"/>
                <a:gd name="T63" fmla="*/ 2147483647 h 384"/>
                <a:gd name="T64" fmla="*/ 2147483647 w 504"/>
                <a:gd name="T65" fmla="*/ 2147483647 h 384"/>
                <a:gd name="T66" fmla="*/ 2147483647 w 504"/>
                <a:gd name="T67" fmla="*/ 2147483647 h 384"/>
                <a:gd name="T68" fmla="*/ 2147483647 w 504"/>
                <a:gd name="T69" fmla="*/ 2147483647 h 384"/>
                <a:gd name="T70" fmla="*/ 2147483647 w 504"/>
                <a:gd name="T71" fmla="*/ 2147483647 h 38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04"/>
                <a:gd name="T109" fmla="*/ 0 h 384"/>
                <a:gd name="T110" fmla="*/ 504 w 504"/>
                <a:gd name="T111" fmla="*/ 384 h 38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04" h="384">
                  <a:moveTo>
                    <a:pt x="24" y="304"/>
                  </a:moveTo>
                  <a:lnTo>
                    <a:pt x="24" y="272"/>
                  </a:lnTo>
                  <a:lnTo>
                    <a:pt x="24" y="256"/>
                  </a:lnTo>
                  <a:lnTo>
                    <a:pt x="8" y="200"/>
                  </a:lnTo>
                  <a:lnTo>
                    <a:pt x="8" y="184"/>
                  </a:lnTo>
                  <a:lnTo>
                    <a:pt x="0" y="160"/>
                  </a:lnTo>
                  <a:lnTo>
                    <a:pt x="8" y="144"/>
                  </a:lnTo>
                  <a:lnTo>
                    <a:pt x="24" y="128"/>
                  </a:lnTo>
                  <a:lnTo>
                    <a:pt x="56" y="112"/>
                  </a:lnTo>
                  <a:lnTo>
                    <a:pt x="80" y="96"/>
                  </a:lnTo>
                  <a:lnTo>
                    <a:pt x="96" y="96"/>
                  </a:lnTo>
                  <a:lnTo>
                    <a:pt x="104" y="72"/>
                  </a:lnTo>
                  <a:lnTo>
                    <a:pt x="120" y="64"/>
                  </a:lnTo>
                  <a:lnTo>
                    <a:pt x="136" y="56"/>
                  </a:lnTo>
                  <a:lnTo>
                    <a:pt x="160" y="40"/>
                  </a:lnTo>
                  <a:lnTo>
                    <a:pt x="176" y="32"/>
                  </a:lnTo>
                  <a:lnTo>
                    <a:pt x="192" y="40"/>
                  </a:lnTo>
                  <a:lnTo>
                    <a:pt x="200" y="40"/>
                  </a:lnTo>
                  <a:lnTo>
                    <a:pt x="208" y="24"/>
                  </a:lnTo>
                  <a:lnTo>
                    <a:pt x="224" y="16"/>
                  </a:lnTo>
                  <a:lnTo>
                    <a:pt x="240" y="8"/>
                  </a:lnTo>
                  <a:lnTo>
                    <a:pt x="248" y="0"/>
                  </a:lnTo>
                  <a:lnTo>
                    <a:pt x="264" y="0"/>
                  </a:lnTo>
                  <a:lnTo>
                    <a:pt x="296" y="8"/>
                  </a:lnTo>
                  <a:lnTo>
                    <a:pt x="288" y="24"/>
                  </a:lnTo>
                  <a:lnTo>
                    <a:pt x="280" y="40"/>
                  </a:lnTo>
                  <a:lnTo>
                    <a:pt x="296" y="48"/>
                  </a:lnTo>
                  <a:lnTo>
                    <a:pt x="312" y="48"/>
                  </a:lnTo>
                  <a:lnTo>
                    <a:pt x="328" y="72"/>
                  </a:lnTo>
                  <a:lnTo>
                    <a:pt x="344" y="72"/>
                  </a:lnTo>
                  <a:lnTo>
                    <a:pt x="360" y="56"/>
                  </a:lnTo>
                  <a:lnTo>
                    <a:pt x="360" y="16"/>
                  </a:lnTo>
                  <a:lnTo>
                    <a:pt x="376" y="0"/>
                  </a:lnTo>
                  <a:lnTo>
                    <a:pt x="384" y="24"/>
                  </a:lnTo>
                  <a:lnTo>
                    <a:pt x="392" y="32"/>
                  </a:lnTo>
                  <a:lnTo>
                    <a:pt x="400" y="40"/>
                  </a:lnTo>
                  <a:lnTo>
                    <a:pt x="408" y="80"/>
                  </a:lnTo>
                  <a:lnTo>
                    <a:pt x="432" y="96"/>
                  </a:lnTo>
                  <a:lnTo>
                    <a:pt x="456" y="104"/>
                  </a:lnTo>
                  <a:lnTo>
                    <a:pt x="464" y="128"/>
                  </a:lnTo>
                  <a:lnTo>
                    <a:pt x="472" y="136"/>
                  </a:lnTo>
                  <a:lnTo>
                    <a:pt x="480" y="160"/>
                  </a:lnTo>
                  <a:lnTo>
                    <a:pt x="504" y="176"/>
                  </a:lnTo>
                  <a:lnTo>
                    <a:pt x="504" y="192"/>
                  </a:lnTo>
                  <a:lnTo>
                    <a:pt x="504" y="216"/>
                  </a:lnTo>
                  <a:lnTo>
                    <a:pt x="504" y="248"/>
                  </a:lnTo>
                  <a:lnTo>
                    <a:pt x="480" y="312"/>
                  </a:lnTo>
                  <a:lnTo>
                    <a:pt x="464" y="344"/>
                  </a:lnTo>
                  <a:lnTo>
                    <a:pt x="464" y="360"/>
                  </a:lnTo>
                  <a:lnTo>
                    <a:pt x="456" y="360"/>
                  </a:lnTo>
                  <a:lnTo>
                    <a:pt x="440" y="368"/>
                  </a:lnTo>
                  <a:lnTo>
                    <a:pt x="424" y="384"/>
                  </a:lnTo>
                  <a:lnTo>
                    <a:pt x="416" y="384"/>
                  </a:lnTo>
                  <a:lnTo>
                    <a:pt x="400" y="368"/>
                  </a:lnTo>
                  <a:lnTo>
                    <a:pt x="384" y="376"/>
                  </a:lnTo>
                  <a:lnTo>
                    <a:pt x="360" y="368"/>
                  </a:lnTo>
                  <a:lnTo>
                    <a:pt x="336" y="352"/>
                  </a:lnTo>
                  <a:lnTo>
                    <a:pt x="320" y="336"/>
                  </a:lnTo>
                  <a:lnTo>
                    <a:pt x="312" y="320"/>
                  </a:lnTo>
                  <a:lnTo>
                    <a:pt x="296" y="320"/>
                  </a:lnTo>
                  <a:lnTo>
                    <a:pt x="280" y="304"/>
                  </a:lnTo>
                  <a:lnTo>
                    <a:pt x="256" y="280"/>
                  </a:lnTo>
                  <a:lnTo>
                    <a:pt x="208" y="272"/>
                  </a:lnTo>
                  <a:lnTo>
                    <a:pt x="176" y="272"/>
                  </a:lnTo>
                  <a:lnTo>
                    <a:pt x="136" y="288"/>
                  </a:lnTo>
                  <a:lnTo>
                    <a:pt x="136" y="296"/>
                  </a:lnTo>
                  <a:lnTo>
                    <a:pt x="112" y="304"/>
                  </a:lnTo>
                  <a:lnTo>
                    <a:pt x="96" y="304"/>
                  </a:lnTo>
                  <a:lnTo>
                    <a:pt x="80" y="312"/>
                  </a:lnTo>
                  <a:lnTo>
                    <a:pt x="56" y="320"/>
                  </a:lnTo>
                  <a:lnTo>
                    <a:pt x="40" y="320"/>
                  </a:lnTo>
                  <a:lnTo>
                    <a:pt x="24" y="30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32" name="Freeform 582"/>
            <p:cNvSpPr>
              <a:spLocks/>
            </p:cNvSpPr>
            <p:nvPr/>
          </p:nvSpPr>
          <p:spPr bwMode="auto">
            <a:xfrm>
              <a:off x="4676447" y="4069152"/>
              <a:ext cx="42450" cy="58910"/>
            </a:xfrm>
            <a:custGeom>
              <a:avLst/>
              <a:gdLst>
                <a:gd name="T0" fmla="*/ 0 w 40"/>
                <a:gd name="T1" fmla="*/ 2147483647 h 56"/>
                <a:gd name="T2" fmla="*/ 2147483647 w 40"/>
                <a:gd name="T3" fmla="*/ 2147483647 h 56"/>
                <a:gd name="T4" fmla="*/ 2147483647 w 40"/>
                <a:gd name="T5" fmla="*/ 2147483647 h 56"/>
                <a:gd name="T6" fmla="*/ 2147483647 w 40"/>
                <a:gd name="T7" fmla="*/ 2147483647 h 56"/>
                <a:gd name="T8" fmla="*/ 2147483647 w 40"/>
                <a:gd name="T9" fmla="*/ 2147483647 h 56"/>
                <a:gd name="T10" fmla="*/ 2147483647 w 40"/>
                <a:gd name="T11" fmla="*/ 2147483647 h 56"/>
                <a:gd name="T12" fmla="*/ 2147483647 w 40"/>
                <a:gd name="T13" fmla="*/ 0 h 56"/>
                <a:gd name="T14" fmla="*/ 2147483647 w 40"/>
                <a:gd name="T15" fmla="*/ 2147483647 h 56"/>
                <a:gd name="T16" fmla="*/ 0 w 40"/>
                <a:gd name="T17" fmla="*/ 2147483647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
                <a:gd name="T28" fmla="*/ 0 h 56"/>
                <a:gd name="T29" fmla="*/ 40 w 40"/>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 h="56">
                  <a:moveTo>
                    <a:pt x="0" y="8"/>
                  </a:moveTo>
                  <a:lnTo>
                    <a:pt x="8" y="32"/>
                  </a:lnTo>
                  <a:lnTo>
                    <a:pt x="8" y="48"/>
                  </a:lnTo>
                  <a:lnTo>
                    <a:pt x="24" y="56"/>
                  </a:lnTo>
                  <a:lnTo>
                    <a:pt x="32" y="40"/>
                  </a:lnTo>
                  <a:lnTo>
                    <a:pt x="40" y="16"/>
                  </a:lnTo>
                  <a:lnTo>
                    <a:pt x="40" y="0"/>
                  </a:lnTo>
                  <a:lnTo>
                    <a:pt x="24" y="8"/>
                  </a:lnTo>
                  <a:lnTo>
                    <a:pt x="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33" name="Freeform 583"/>
            <p:cNvSpPr>
              <a:spLocks/>
            </p:cNvSpPr>
            <p:nvPr/>
          </p:nvSpPr>
          <p:spPr bwMode="auto">
            <a:xfrm>
              <a:off x="4023235" y="3407276"/>
              <a:ext cx="136014" cy="144677"/>
            </a:xfrm>
            <a:custGeom>
              <a:avLst/>
              <a:gdLst>
                <a:gd name="T0" fmla="*/ 0 w 128"/>
                <a:gd name="T1" fmla="*/ 0 h 136"/>
                <a:gd name="T2" fmla="*/ 2147483647 w 128"/>
                <a:gd name="T3" fmla="*/ 0 h 136"/>
                <a:gd name="T4" fmla="*/ 2147483647 w 128"/>
                <a:gd name="T5" fmla="*/ 2147483647 h 136"/>
                <a:gd name="T6" fmla="*/ 2147483647 w 128"/>
                <a:gd name="T7" fmla="*/ 2147483647 h 136"/>
                <a:gd name="T8" fmla="*/ 2147483647 w 128"/>
                <a:gd name="T9" fmla="*/ 2147483647 h 136"/>
                <a:gd name="T10" fmla="*/ 2147483647 w 128"/>
                <a:gd name="T11" fmla="*/ 2147483647 h 136"/>
                <a:gd name="T12" fmla="*/ 2147483647 w 128"/>
                <a:gd name="T13" fmla="*/ 2147483647 h 136"/>
                <a:gd name="T14" fmla="*/ 2147483647 w 128"/>
                <a:gd name="T15" fmla="*/ 2147483647 h 136"/>
                <a:gd name="T16" fmla="*/ 2147483647 w 128"/>
                <a:gd name="T17" fmla="*/ 2147483647 h 136"/>
                <a:gd name="T18" fmla="*/ 2147483647 w 128"/>
                <a:gd name="T19" fmla="*/ 2147483647 h 136"/>
                <a:gd name="T20" fmla="*/ 2147483647 w 128"/>
                <a:gd name="T21" fmla="*/ 2147483647 h 136"/>
                <a:gd name="T22" fmla="*/ 2147483647 w 128"/>
                <a:gd name="T23" fmla="*/ 2147483647 h 136"/>
                <a:gd name="T24" fmla="*/ 2147483647 w 128"/>
                <a:gd name="T25" fmla="*/ 2147483647 h 136"/>
                <a:gd name="T26" fmla="*/ 2147483647 w 128"/>
                <a:gd name="T27" fmla="*/ 2147483647 h 136"/>
                <a:gd name="T28" fmla="*/ 2147483647 w 128"/>
                <a:gd name="T29" fmla="*/ 2147483647 h 136"/>
                <a:gd name="T30" fmla="*/ 2147483647 w 128"/>
                <a:gd name="T31" fmla="*/ 2147483647 h 136"/>
                <a:gd name="T32" fmla="*/ 0 w 128"/>
                <a:gd name="T33" fmla="*/ 0 h 1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36"/>
                <a:gd name="T53" fmla="*/ 128 w 128"/>
                <a:gd name="T54" fmla="*/ 136 h 1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36">
                  <a:moveTo>
                    <a:pt x="0" y="0"/>
                  </a:moveTo>
                  <a:lnTo>
                    <a:pt x="16" y="0"/>
                  </a:lnTo>
                  <a:lnTo>
                    <a:pt x="32" y="24"/>
                  </a:lnTo>
                  <a:lnTo>
                    <a:pt x="48" y="32"/>
                  </a:lnTo>
                  <a:lnTo>
                    <a:pt x="64" y="40"/>
                  </a:lnTo>
                  <a:lnTo>
                    <a:pt x="96" y="72"/>
                  </a:lnTo>
                  <a:lnTo>
                    <a:pt x="104" y="80"/>
                  </a:lnTo>
                  <a:lnTo>
                    <a:pt x="120" y="104"/>
                  </a:lnTo>
                  <a:lnTo>
                    <a:pt x="128" y="128"/>
                  </a:lnTo>
                  <a:lnTo>
                    <a:pt x="112" y="136"/>
                  </a:lnTo>
                  <a:lnTo>
                    <a:pt x="88" y="120"/>
                  </a:lnTo>
                  <a:lnTo>
                    <a:pt x="64" y="104"/>
                  </a:lnTo>
                  <a:lnTo>
                    <a:pt x="48" y="72"/>
                  </a:lnTo>
                  <a:lnTo>
                    <a:pt x="40" y="64"/>
                  </a:lnTo>
                  <a:lnTo>
                    <a:pt x="24" y="48"/>
                  </a:lnTo>
                  <a:lnTo>
                    <a:pt x="8" y="32"/>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34" name="Freeform 584"/>
            <p:cNvSpPr>
              <a:spLocks/>
            </p:cNvSpPr>
            <p:nvPr/>
          </p:nvSpPr>
          <p:spPr bwMode="auto">
            <a:xfrm>
              <a:off x="4201699" y="3382153"/>
              <a:ext cx="126484" cy="143811"/>
            </a:xfrm>
            <a:custGeom>
              <a:avLst/>
              <a:gdLst>
                <a:gd name="T0" fmla="*/ 2147483647 w 120"/>
                <a:gd name="T1" fmla="*/ 2147483647 h 136"/>
                <a:gd name="T2" fmla="*/ 0 w 120"/>
                <a:gd name="T3" fmla="*/ 2147483647 h 136"/>
                <a:gd name="T4" fmla="*/ 0 w 120"/>
                <a:gd name="T5" fmla="*/ 2147483647 h 136"/>
                <a:gd name="T6" fmla="*/ 2147483647 w 120"/>
                <a:gd name="T7" fmla="*/ 2147483647 h 136"/>
                <a:gd name="T8" fmla="*/ 2147483647 w 120"/>
                <a:gd name="T9" fmla="*/ 2147483647 h 136"/>
                <a:gd name="T10" fmla="*/ 2147483647 w 120"/>
                <a:gd name="T11" fmla="*/ 2147483647 h 136"/>
                <a:gd name="T12" fmla="*/ 2147483647 w 120"/>
                <a:gd name="T13" fmla="*/ 2147483647 h 136"/>
                <a:gd name="T14" fmla="*/ 2147483647 w 120"/>
                <a:gd name="T15" fmla="*/ 0 h 136"/>
                <a:gd name="T16" fmla="*/ 2147483647 w 120"/>
                <a:gd name="T17" fmla="*/ 2147483647 h 136"/>
                <a:gd name="T18" fmla="*/ 2147483647 w 120"/>
                <a:gd name="T19" fmla="*/ 2147483647 h 136"/>
                <a:gd name="T20" fmla="*/ 2147483647 w 120"/>
                <a:gd name="T21" fmla="*/ 2147483647 h 136"/>
                <a:gd name="T22" fmla="*/ 2147483647 w 120"/>
                <a:gd name="T23" fmla="*/ 2147483647 h 136"/>
                <a:gd name="T24" fmla="*/ 2147483647 w 120"/>
                <a:gd name="T25" fmla="*/ 2147483647 h 136"/>
                <a:gd name="T26" fmla="*/ 2147483647 w 120"/>
                <a:gd name="T27" fmla="*/ 2147483647 h 136"/>
                <a:gd name="T28" fmla="*/ 2147483647 w 120"/>
                <a:gd name="T29" fmla="*/ 2147483647 h 136"/>
                <a:gd name="T30" fmla="*/ 2147483647 w 120"/>
                <a:gd name="T31" fmla="*/ 2147483647 h 136"/>
                <a:gd name="T32" fmla="*/ 2147483647 w 120"/>
                <a:gd name="T33" fmla="*/ 2147483647 h 136"/>
                <a:gd name="T34" fmla="*/ 2147483647 w 120"/>
                <a:gd name="T35" fmla="*/ 2147483647 h 136"/>
                <a:gd name="T36" fmla="*/ 2147483647 w 120"/>
                <a:gd name="T37" fmla="*/ 2147483647 h 136"/>
                <a:gd name="T38" fmla="*/ 2147483647 w 120"/>
                <a:gd name="T39" fmla="*/ 2147483647 h 136"/>
                <a:gd name="T40" fmla="*/ 2147483647 w 120"/>
                <a:gd name="T41" fmla="*/ 2147483647 h 136"/>
                <a:gd name="T42" fmla="*/ 2147483647 w 120"/>
                <a:gd name="T43" fmla="*/ 2147483647 h 136"/>
                <a:gd name="T44" fmla="*/ 2147483647 w 120"/>
                <a:gd name="T45" fmla="*/ 2147483647 h 136"/>
                <a:gd name="T46" fmla="*/ 2147483647 w 120"/>
                <a:gd name="T47" fmla="*/ 2147483647 h 1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20"/>
                <a:gd name="T73" fmla="*/ 0 h 136"/>
                <a:gd name="T74" fmla="*/ 120 w 120"/>
                <a:gd name="T75" fmla="*/ 136 h 1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20" h="136">
                  <a:moveTo>
                    <a:pt x="8" y="112"/>
                  </a:moveTo>
                  <a:lnTo>
                    <a:pt x="0" y="96"/>
                  </a:lnTo>
                  <a:lnTo>
                    <a:pt x="0" y="72"/>
                  </a:lnTo>
                  <a:lnTo>
                    <a:pt x="8" y="64"/>
                  </a:lnTo>
                  <a:lnTo>
                    <a:pt x="24" y="56"/>
                  </a:lnTo>
                  <a:lnTo>
                    <a:pt x="40" y="48"/>
                  </a:lnTo>
                  <a:lnTo>
                    <a:pt x="64" y="16"/>
                  </a:lnTo>
                  <a:lnTo>
                    <a:pt x="96" y="0"/>
                  </a:lnTo>
                  <a:lnTo>
                    <a:pt x="112" y="8"/>
                  </a:lnTo>
                  <a:lnTo>
                    <a:pt x="120" y="24"/>
                  </a:lnTo>
                  <a:lnTo>
                    <a:pt x="104" y="32"/>
                  </a:lnTo>
                  <a:lnTo>
                    <a:pt x="104" y="48"/>
                  </a:lnTo>
                  <a:lnTo>
                    <a:pt x="104" y="64"/>
                  </a:lnTo>
                  <a:lnTo>
                    <a:pt x="120" y="72"/>
                  </a:lnTo>
                  <a:lnTo>
                    <a:pt x="104" y="80"/>
                  </a:lnTo>
                  <a:lnTo>
                    <a:pt x="104" y="88"/>
                  </a:lnTo>
                  <a:lnTo>
                    <a:pt x="96" y="104"/>
                  </a:lnTo>
                  <a:lnTo>
                    <a:pt x="88" y="112"/>
                  </a:lnTo>
                  <a:lnTo>
                    <a:pt x="80" y="136"/>
                  </a:lnTo>
                  <a:lnTo>
                    <a:pt x="64" y="136"/>
                  </a:lnTo>
                  <a:lnTo>
                    <a:pt x="48" y="128"/>
                  </a:lnTo>
                  <a:lnTo>
                    <a:pt x="32" y="128"/>
                  </a:lnTo>
                  <a:lnTo>
                    <a:pt x="16" y="128"/>
                  </a:lnTo>
                  <a:lnTo>
                    <a:pt x="8" y="11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35" name="Freeform 585"/>
            <p:cNvSpPr>
              <a:spLocks/>
            </p:cNvSpPr>
            <p:nvPr/>
          </p:nvSpPr>
          <p:spPr bwMode="auto">
            <a:xfrm>
              <a:off x="4489320" y="3483513"/>
              <a:ext cx="246038" cy="136014"/>
            </a:xfrm>
            <a:custGeom>
              <a:avLst/>
              <a:gdLst>
                <a:gd name="T0" fmla="*/ 0 w 232"/>
                <a:gd name="T1" fmla="*/ 2147483647 h 128"/>
                <a:gd name="T2" fmla="*/ 2147483647 w 232"/>
                <a:gd name="T3" fmla="*/ 2147483647 h 128"/>
                <a:gd name="T4" fmla="*/ 2147483647 w 232"/>
                <a:gd name="T5" fmla="*/ 2147483647 h 128"/>
                <a:gd name="T6" fmla="*/ 2147483647 w 232"/>
                <a:gd name="T7" fmla="*/ 2147483647 h 128"/>
                <a:gd name="T8" fmla="*/ 2147483647 w 232"/>
                <a:gd name="T9" fmla="*/ 2147483647 h 128"/>
                <a:gd name="T10" fmla="*/ 2147483647 w 232"/>
                <a:gd name="T11" fmla="*/ 2147483647 h 128"/>
                <a:gd name="T12" fmla="*/ 2147483647 w 232"/>
                <a:gd name="T13" fmla="*/ 2147483647 h 128"/>
                <a:gd name="T14" fmla="*/ 2147483647 w 232"/>
                <a:gd name="T15" fmla="*/ 2147483647 h 128"/>
                <a:gd name="T16" fmla="*/ 2147483647 w 232"/>
                <a:gd name="T17" fmla="*/ 2147483647 h 128"/>
                <a:gd name="T18" fmla="*/ 2147483647 w 232"/>
                <a:gd name="T19" fmla="*/ 2147483647 h 128"/>
                <a:gd name="T20" fmla="*/ 2147483647 w 232"/>
                <a:gd name="T21" fmla="*/ 2147483647 h 128"/>
                <a:gd name="T22" fmla="*/ 2147483647 w 232"/>
                <a:gd name="T23" fmla="*/ 2147483647 h 128"/>
                <a:gd name="T24" fmla="*/ 2147483647 w 232"/>
                <a:gd name="T25" fmla="*/ 2147483647 h 128"/>
                <a:gd name="T26" fmla="*/ 2147483647 w 232"/>
                <a:gd name="T27" fmla="*/ 2147483647 h 128"/>
                <a:gd name="T28" fmla="*/ 2147483647 w 232"/>
                <a:gd name="T29" fmla="*/ 2147483647 h 128"/>
                <a:gd name="T30" fmla="*/ 2147483647 w 232"/>
                <a:gd name="T31" fmla="*/ 2147483647 h 128"/>
                <a:gd name="T32" fmla="*/ 2147483647 w 232"/>
                <a:gd name="T33" fmla="*/ 2147483647 h 128"/>
                <a:gd name="T34" fmla="*/ 2147483647 w 232"/>
                <a:gd name="T35" fmla="*/ 2147483647 h 128"/>
                <a:gd name="T36" fmla="*/ 2147483647 w 232"/>
                <a:gd name="T37" fmla="*/ 2147483647 h 128"/>
                <a:gd name="T38" fmla="*/ 2147483647 w 232"/>
                <a:gd name="T39" fmla="*/ 2147483647 h 128"/>
                <a:gd name="T40" fmla="*/ 2147483647 w 232"/>
                <a:gd name="T41" fmla="*/ 2147483647 h 128"/>
                <a:gd name="T42" fmla="*/ 2147483647 w 232"/>
                <a:gd name="T43" fmla="*/ 2147483647 h 128"/>
                <a:gd name="T44" fmla="*/ 2147483647 w 232"/>
                <a:gd name="T45" fmla="*/ 2147483647 h 128"/>
                <a:gd name="T46" fmla="*/ 2147483647 w 232"/>
                <a:gd name="T47" fmla="*/ 2147483647 h 128"/>
                <a:gd name="T48" fmla="*/ 2147483647 w 232"/>
                <a:gd name="T49" fmla="*/ 2147483647 h 128"/>
                <a:gd name="T50" fmla="*/ 2147483647 w 232"/>
                <a:gd name="T51" fmla="*/ 2147483647 h 128"/>
                <a:gd name="T52" fmla="*/ 2147483647 w 232"/>
                <a:gd name="T53" fmla="*/ 2147483647 h 128"/>
                <a:gd name="T54" fmla="*/ 2147483647 w 232"/>
                <a:gd name="T55" fmla="*/ 2147483647 h 128"/>
                <a:gd name="T56" fmla="*/ 2147483647 w 232"/>
                <a:gd name="T57" fmla="*/ 2147483647 h 128"/>
                <a:gd name="T58" fmla="*/ 2147483647 w 232"/>
                <a:gd name="T59" fmla="*/ 2147483647 h 128"/>
                <a:gd name="T60" fmla="*/ 2147483647 w 232"/>
                <a:gd name="T61" fmla="*/ 0 h 128"/>
                <a:gd name="T62" fmla="*/ 2147483647 w 232"/>
                <a:gd name="T63" fmla="*/ 0 h 128"/>
                <a:gd name="T64" fmla="*/ 0 w 232"/>
                <a:gd name="T65" fmla="*/ 214748364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
                <a:gd name="T100" fmla="*/ 0 h 128"/>
                <a:gd name="T101" fmla="*/ 232 w 232"/>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 h="128">
                  <a:moveTo>
                    <a:pt x="0" y="16"/>
                  </a:moveTo>
                  <a:lnTo>
                    <a:pt x="16" y="24"/>
                  </a:lnTo>
                  <a:lnTo>
                    <a:pt x="24" y="32"/>
                  </a:lnTo>
                  <a:lnTo>
                    <a:pt x="24" y="48"/>
                  </a:lnTo>
                  <a:lnTo>
                    <a:pt x="40" y="48"/>
                  </a:lnTo>
                  <a:lnTo>
                    <a:pt x="48" y="48"/>
                  </a:lnTo>
                  <a:lnTo>
                    <a:pt x="72" y="64"/>
                  </a:lnTo>
                  <a:lnTo>
                    <a:pt x="104" y="80"/>
                  </a:lnTo>
                  <a:lnTo>
                    <a:pt x="104" y="88"/>
                  </a:lnTo>
                  <a:lnTo>
                    <a:pt x="88" y="96"/>
                  </a:lnTo>
                  <a:lnTo>
                    <a:pt x="104" y="96"/>
                  </a:lnTo>
                  <a:lnTo>
                    <a:pt x="120" y="104"/>
                  </a:lnTo>
                  <a:lnTo>
                    <a:pt x="136" y="112"/>
                  </a:lnTo>
                  <a:lnTo>
                    <a:pt x="144" y="112"/>
                  </a:lnTo>
                  <a:lnTo>
                    <a:pt x="160" y="96"/>
                  </a:lnTo>
                  <a:lnTo>
                    <a:pt x="176" y="88"/>
                  </a:lnTo>
                  <a:lnTo>
                    <a:pt x="192" y="96"/>
                  </a:lnTo>
                  <a:lnTo>
                    <a:pt x="216" y="120"/>
                  </a:lnTo>
                  <a:lnTo>
                    <a:pt x="232" y="128"/>
                  </a:lnTo>
                  <a:lnTo>
                    <a:pt x="232" y="104"/>
                  </a:lnTo>
                  <a:lnTo>
                    <a:pt x="208" y="96"/>
                  </a:lnTo>
                  <a:lnTo>
                    <a:pt x="208" y="80"/>
                  </a:lnTo>
                  <a:lnTo>
                    <a:pt x="216" y="72"/>
                  </a:lnTo>
                  <a:lnTo>
                    <a:pt x="192" y="64"/>
                  </a:lnTo>
                  <a:lnTo>
                    <a:pt x="184" y="48"/>
                  </a:lnTo>
                  <a:lnTo>
                    <a:pt x="160" y="32"/>
                  </a:lnTo>
                  <a:lnTo>
                    <a:pt x="96" y="16"/>
                  </a:lnTo>
                  <a:lnTo>
                    <a:pt x="72" y="32"/>
                  </a:lnTo>
                  <a:lnTo>
                    <a:pt x="56" y="32"/>
                  </a:lnTo>
                  <a:lnTo>
                    <a:pt x="40" y="16"/>
                  </a:lnTo>
                  <a:lnTo>
                    <a:pt x="24" y="0"/>
                  </a:lnTo>
                  <a:lnTo>
                    <a:pt x="8" y="0"/>
                  </a:lnTo>
                  <a:lnTo>
                    <a:pt x="0"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36" name="Freeform 586"/>
            <p:cNvSpPr>
              <a:spLocks/>
            </p:cNvSpPr>
            <p:nvPr/>
          </p:nvSpPr>
          <p:spPr bwMode="auto">
            <a:xfrm>
              <a:off x="4201699" y="3382153"/>
              <a:ext cx="126484" cy="143811"/>
            </a:xfrm>
            <a:custGeom>
              <a:avLst/>
              <a:gdLst>
                <a:gd name="T0" fmla="*/ 2147483647 w 120"/>
                <a:gd name="T1" fmla="*/ 2147483647 h 136"/>
                <a:gd name="T2" fmla="*/ 0 w 120"/>
                <a:gd name="T3" fmla="*/ 2147483647 h 136"/>
                <a:gd name="T4" fmla="*/ 0 w 120"/>
                <a:gd name="T5" fmla="*/ 2147483647 h 136"/>
                <a:gd name="T6" fmla="*/ 2147483647 w 120"/>
                <a:gd name="T7" fmla="*/ 2147483647 h 136"/>
                <a:gd name="T8" fmla="*/ 2147483647 w 120"/>
                <a:gd name="T9" fmla="*/ 2147483647 h 136"/>
                <a:gd name="T10" fmla="*/ 2147483647 w 120"/>
                <a:gd name="T11" fmla="*/ 2147483647 h 136"/>
                <a:gd name="T12" fmla="*/ 2147483647 w 120"/>
                <a:gd name="T13" fmla="*/ 2147483647 h 136"/>
                <a:gd name="T14" fmla="*/ 2147483647 w 120"/>
                <a:gd name="T15" fmla="*/ 0 h 136"/>
                <a:gd name="T16" fmla="*/ 2147483647 w 120"/>
                <a:gd name="T17" fmla="*/ 2147483647 h 136"/>
                <a:gd name="T18" fmla="*/ 2147483647 w 120"/>
                <a:gd name="T19" fmla="*/ 2147483647 h 136"/>
                <a:gd name="T20" fmla="*/ 2147483647 w 120"/>
                <a:gd name="T21" fmla="*/ 2147483647 h 136"/>
                <a:gd name="T22" fmla="*/ 2147483647 w 120"/>
                <a:gd name="T23" fmla="*/ 2147483647 h 136"/>
                <a:gd name="T24" fmla="*/ 2147483647 w 120"/>
                <a:gd name="T25" fmla="*/ 2147483647 h 136"/>
                <a:gd name="T26" fmla="*/ 2147483647 w 120"/>
                <a:gd name="T27" fmla="*/ 2147483647 h 136"/>
                <a:gd name="T28" fmla="*/ 2147483647 w 120"/>
                <a:gd name="T29" fmla="*/ 2147483647 h 136"/>
                <a:gd name="T30" fmla="*/ 2147483647 w 120"/>
                <a:gd name="T31" fmla="*/ 2147483647 h 136"/>
                <a:gd name="T32" fmla="*/ 2147483647 w 120"/>
                <a:gd name="T33" fmla="*/ 2147483647 h 136"/>
                <a:gd name="T34" fmla="*/ 2147483647 w 120"/>
                <a:gd name="T35" fmla="*/ 2147483647 h 136"/>
                <a:gd name="T36" fmla="*/ 2147483647 w 120"/>
                <a:gd name="T37" fmla="*/ 2147483647 h 136"/>
                <a:gd name="T38" fmla="*/ 2147483647 w 120"/>
                <a:gd name="T39" fmla="*/ 2147483647 h 136"/>
                <a:gd name="T40" fmla="*/ 2147483647 w 120"/>
                <a:gd name="T41" fmla="*/ 2147483647 h 136"/>
                <a:gd name="T42" fmla="*/ 2147483647 w 120"/>
                <a:gd name="T43" fmla="*/ 2147483647 h 136"/>
                <a:gd name="T44" fmla="*/ 2147483647 w 120"/>
                <a:gd name="T45" fmla="*/ 2147483647 h 136"/>
                <a:gd name="T46" fmla="*/ 2147483647 w 120"/>
                <a:gd name="T47" fmla="*/ 2147483647 h 1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20"/>
                <a:gd name="T73" fmla="*/ 0 h 136"/>
                <a:gd name="T74" fmla="*/ 120 w 120"/>
                <a:gd name="T75" fmla="*/ 136 h 1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20" h="136">
                  <a:moveTo>
                    <a:pt x="8" y="112"/>
                  </a:moveTo>
                  <a:lnTo>
                    <a:pt x="0" y="96"/>
                  </a:lnTo>
                  <a:lnTo>
                    <a:pt x="0" y="72"/>
                  </a:lnTo>
                  <a:lnTo>
                    <a:pt x="8" y="64"/>
                  </a:lnTo>
                  <a:lnTo>
                    <a:pt x="24" y="56"/>
                  </a:lnTo>
                  <a:lnTo>
                    <a:pt x="40" y="48"/>
                  </a:lnTo>
                  <a:lnTo>
                    <a:pt x="64" y="16"/>
                  </a:lnTo>
                  <a:lnTo>
                    <a:pt x="96" y="0"/>
                  </a:lnTo>
                  <a:lnTo>
                    <a:pt x="112" y="8"/>
                  </a:lnTo>
                  <a:lnTo>
                    <a:pt x="120" y="24"/>
                  </a:lnTo>
                  <a:lnTo>
                    <a:pt x="104" y="32"/>
                  </a:lnTo>
                  <a:lnTo>
                    <a:pt x="104" y="48"/>
                  </a:lnTo>
                  <a:lnTo>
                    <a:pt x="104" y="64"/>
                  </a:lnTo>
                  <a:lnTo>
                    <a:pt x="120" y="72"/>
                  </a:lnTo>
                  <a:lnTo>
                    <a:pt x="104" y="80"/>
                  </a:lnTo>
                  <a:lnTo>
                    <a:pt x="104" y="88"/>
                  </a:lnTo>
                  <a:lnTo>
                    <a:pt x="96" y="104"/>
                  </a:lnTo>
                  <a:lnTo>
                    <a:pt x="88" y="112"/>
                  </a:lnTo>
                  <a:lnTo>
                    <a:pt x="80" y="136"/>
                  </a:lnTo>
                  <a:lnTo>
                    <a:pt x="64" y="136"/>
                  </a:lnTo>
                  <a:lnTo>
                    <a:pt x="48" y="128"/>
                  </a:lnTo>
                  <a:lnTo>
                    <a:pt x="32" y="128"/>
                  </a:lnTo>
                  <a:lnTo>
                    <a:pt x="16" y="128"/>
                  </a:lnTo>
                  <a:lnTo>
                    <a:pt x="8" y="11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37" name="Freeform 587"/>
            <p:cNvSpPr>
              <a:spLocks/>
            </p:cNvSpPr>
            <p:nvPr/>
          </p:nvSpPr>
          <p:spPr bwMode="auto">
            <a:xfrm>
              <a:off x="4489320" y="3483513"/>
              <a:ext cx="246038" cy="136014"/>
            </a:xfrm>
            <a:custGeom>
              <a:avLst/>
              <a:gdLst>
                <a:gd name="T0" fmla="*/ 0 w 232"/>
                <a:gd name="T1" fmla="*/ 2147483647 h 128"/>
                <a:gd name="T2" fmla="*/ 2147483647 w 232"/>
                <a:gd name="T3" fmla="*/ 2147483647 h 128"/>
                <a:gd name="T4" fmla="*/ 2147483647 w 232"/>
                <a:gd name="T5" fmla="*/ 2147483647 h 128"/>
                <a:gd name="T6" fmla="*/ 2147483647 w 232"/>
                <a:gd name="T7" fmla="*/ 2147483647 h 128"/>
                <a:gd name="T8" fmla="*/ 2147483647 w 232"/>
                <a:gd name="T9" fmla="*/ 2147483647 h 128"/>
                <a:gd name="T10" fmla="*/ 2147483647 w 232"/>
                <a:gd name="T11" fmla="*/ 2147483647 h 128"/>
                <a:gd name="T12" fmla="*/ 2147483647 w 232"/>
                <a:gd name="T13" fmla="*/ 2147483647 h 128"/>
                <a:gd name="T14" fmla="*/ 2147483647 w 232"/>
                <a:gd name="T15" fmla="*/ 2147483647 h 128"/>
                <a:gd name="T16" fmla="*/ 2147483647 w 232"/>
                <a:gd name="T17" fmla="*/ 2147483647 h 128"/>
                <a:gd name="T18" fmla="*/ 2147483647 w 232"/>
                <a:gd name="T19" fmla="*/ 2147483647 h 128"/>
                <a:gd name="T20" fmla="*/ 2147483647 w 232"/>
                <a:gd name="T21" fmla="*/ 2147483647 h 128"/>
                <a:gd name="T22" fmla="*/ 2147483647 w 232"/>
                <a:gd name="T23" fmla="*/ 2147483647 h 128"/>
                <a:gd name="T24" fmla="*/ 2147483647 w 232"/>
                <a:gd name="T25" fmla="*/ 2147483647 h 128"/>
                <a:gd name="T26" fmla="*/ 2147483647 w 232"/>
                <a:gd name="T27" fmla="*/ 2147483647 h 128"/>
                <a:gd name="T28" fmla="*/ 2147483647 w 232"/>
                <a:gd name="T29" fmla="*/ 2147483647 h 128"/>
                <a:gd name="T30" fmla="*/ 2147483647 w 232"/>
                <a:gd name="T31" fmla="*/ 2147483647 h 128"/>
                <a:gd name="T32" fmla="*/ 2147483647 w 232"/>
                <a:gd name="T33" fmla="*/ 2147483647 h 128"/>
                <a:gd name="T34" fmla="*/ 2147483647 w 232"/>
                <a:gd name="T35" fmla="*/ 2147483647 h 128"/>
                <a:gd name="T36" fmla="*/ 2147483647 w 232"/>
                <a:gd name="T37" fmla="*/ 2147483647 h 128"/>
                <a:gd name="T38" fmla="*/ 2147483647 w 232"/>
                <a:gd name="T39" fmla="*/ 2147483647 h 128"/>
                <a:gd name="T40" fmla="*/ 2147483647 w 232"/>
                <a:gd name="T41" fmla="*/ 2147483647 h 128"/>
                <a:gd name="T42" fmla="*/ 2147483647 w 232"/>
                <a:gd name="T43" fmla="*/ 2147483647 h 128"/>
                <a:gd name="T44" fmla="*/ 2147483647 w 232"/>
                <a:gd name="T45" fmla="*/ 2147483647 h 128"/>
                <a:gd name="T46" fmla="*/ 2147483647 w 232"/>
                <a:gd name="T47" fmla="*/ 2147483647 h 128"/>
                <a:gd name="T48" fmla="*/ 2147483647 w 232"/>
                <a:gd name="T49" fmla="*/ 2147483647 h 128"/>
                <a:gd name="T50" fmla="*/ 2147483647 w 232"/>
                <a:gd name="T51" fmla="*/ 2147483647 h 128"/>
                <a:gd name="T52" fmla="*/ 2147483647 w 232"/>
                <a:gd name="T53" fmla="*/ 2147483647 h 128"/>
                <a:gd name="T54" fmla="*/ 2147483647 w 232"/>
                <a:gd name="T55" fmla="*/ 2147483647 h 128"/>
                <a:gd name="T56" fmla="*/ 2147483647 w 232"/>
                <a:gd name="T57" fmla="*/ 2147483647 h 128"/>
                <a:gd name="T58" fmla="*/ 2147483647 w 232"/>
                <a:gd name="T59" fmla="*/ 2147483647 h 128"/>
                <a:gd name="T60" fmla="*/ 2147483647 w 232"/>
                <a:gd name="T61" fmla="*/ 0 h 128"/>
                <a:gd name="T62" fmla="*/ 2147483647 w 232"/>
                <a:gd name="T63" fmla="*/ 0 h 128"/>
                <a:gd name="T64" fmla="*/ 0 w 232"/>
                <a:gd name="T65" fmla="*/ 214748364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
                <a:gd name="T100" fmla="*/ 0 h 128"/>
                <a:gd name="T101" fmla="*/ 232 w 232"/>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 h="128">
                  <a:moveTo>
                    <a:pt x="0" y="16"/>
                  </a:moveTo>
                  <a:lnTo>
                    <a:pt x="16" y="24"/>
                  </a:lnTo>
                  <a:lnTo>
                    <a:pt x="24" y="32"/>
                  </a:lnTo>
                  <a:lnTo>
                    <a:pt x="24" y="48"/>
                  </a:lnTo>
                  <a:lnTo>
                    <a:pt x="40" y="48"/>
                  </a:lnTo>
                  <a:lnTo>
                    <a:pt x="48" y="48"/>
                  </a:lnTo>
                  <a:lnTo>
                    <a:pt x="72" y="64"/>
                  </a:lnTo>
                  <a:lnTo>
                    <a:pt x="104" y="80"/>
                  </a:lnTo>
                  <a:lnTo>
                    <a:pt x="104" y="88"/>
                  </a:lnTo>
                  <a:lnTo>
                    <a:pt x="88" y="96"/>
                  </a:lnTo>
                  <a:lnTo>
                    <a:pt x="104" y="96"/>
                  </a:lnTo>
                  <a:lnTo>
                    <a:pt x="120" y="104"/>
                  </a:lnTo>
                  <a:lnTo>
                    <a:pt x="136" y="112"/>
                  </a:lnTo>
                  <a:lnTo>
                    <a:pt x="144" y="112"/>
                  </a:lnTo>
                  <a:lnTo>
                    <a:pt x="160" y="96"/>
                  </a:lnTo>
                  <a:lnTo>
                    <a:pt x="176" y="88"/>
                  </a:lnTo>
                  <a:lnTo>
                    <a:pt x="192" y="96"/>
                  </a:lnTo>
                  <a:lnTo>
                    <a:pt x="216" y="120"/>
                  </a:lnTo>
                  <a:lnTo>
                    <a:pt x="232" y="128"/>
                  </a:lnTo>
                  <a:lnTo>
                    <a:pt x="232" y="104"/>
                  </a:lnTo>
                  <a:lnTo>
                    <a:pt x="208" y="96"/>
                  </a:lnTo>
                  <a:lnTo>
                    <a:pt x="208" y="80"/>
                  </a:lnTo>
                  <a:lnTo>
                    <a:pt x="216" y="72"/>
                  </a:lnTo>
                  <a:lnTo>
                    <a:pt x="192" y="64"/>
                  </a:lnTo>
                  <a:lnTo>
                    <a:pt x="184" y="48"/>
                  </a:lnTo>
                  <a:lnTo>
                    <a:pt x="160" y="32"/>
                  </a:lnTo>
                  <a:lnTo>
                    <a:pt x="96" y="16"/>
                  </a:lnTo>
                  <a:lnTo>
                    <a:pt x="72" y="32"/>
                  </a:lnTo>
                  <a:lnTo>
                    <a:pt x="56" y="32"/>
                  </a:lnTo>
                  <a:lnTo>
                    <a:pt x="40" y="16"/>
                  </a:lnTo>
                  <a:lnTo>
                    <a:pt x="24" y="0"/>
                  </a:lnTo>
                  <a:lnTo>
                    <a:pt x="8" y="0"/>
                  </a:lnTo>
                  <a:lnTo>
                    <a:pt x="0"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38" name="Freeform 588"/>
            <p:cNvSpPr>
              <a:spLocks/>
            </p:cNvSpPr>
            <p:nvPr/>
          </p:nvSpPr>
          <p:spPr bwMode="auto">
            <a:xfrm>
              <a:off x="4336846" y="3229679"/>
              <a:ext cx="76237" cy="101360"/>
            </a:xfrm>
            <a:custGeom>
              <a:avLst/>
              <a:gdLst>
                <a:gd name="T0" fmla="*/ 2147483647 w 72"/>
                <a:gd name="T1" fmla="*/ 2147483647 h 96"/>
                <a:gd name="T2" fmla="*/ 0 w 72"/>
                <a:gd name="T3" fmla="*/ 2147483647 h 96"/>
                <a:gd name="T4" fmla="*/ 2147483647 w 72"/>
                <a:gd name="T5" fmla="*/ 2147483647 h 96"/>
                <a:gd name="T6" fmla="*/ 2147483647 w 72"/>
                <a:gd name="T7" fmla="*/ 2147483647 h 96"/>
                <a:gd name="T8" fmla="*/ 2147483647 w 72"/>
                <a:gd name="T9" fmla="*/ 2147483647 h 96"/>
                <a:gd name="T10" fmla="*/ 2147483647 w 72"/>
                <a:gd name="T11" fmla="*/ 2147483647 h 96"/>
                <a:gd name="T12" fmla="*/ 2147483647 w 72"/>
                <a:gd name="T13" fmla="*/ 2147483647 h 96"/>
                <a:gd name="T14" fmla="*/ 2147483647 w 72"/>
                <a:gd name="T15" fmla="*/ 2147483647 h 96"/>
                <a:gd name="T16" fmla="*/ 2147483647 w 72"/>
                <a:gd name="T17" fmla="*/ 2147483647 h 96"/>
                <a:gd name="T18" fmla="*/ 2147483647 w 72"/>
                <a:gd name="T19" fmla="*/ 2147483647 h 96"/>
                <a:gd name="T20" fmla="*/ 2147483647 w 72"/>
                <a:gd name="T21" fmla="*/ 2147483647 h 96"/>
                <a:gd name="T22" fmla="*/ 2147483647 w 72"/>
                <a:gd name="T23" fmla="*/ 2147483647 h 96"/>
                <a:gd name="T24" fmla="*/ 2147483647 w 72"/>
                <a:gd name="T25" fmla="*/ 2147483647 h 96"/>
                <a:gd name="T26" fmla="*/ 2147483647 w 72"/>
                <a:gd name="T27" fmla="*/ 0 h 96"/>
                <a:gd name="T28" fmla="*/ 2147483647 w 72"/>
                <a:gd name="T29" fmla="*/ 2147483647 h 9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
                <a:gd name="T46" fmla="*/ 0 h 96"/>
                <a:gd name="T47" fmla="*/ 72 w 72"/>
                <a:gd name="T48" fmla="*/ 96 h 9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 h="96">
                  <a:moveTo>
                    <a:pt x="8" y="8"/>
                  </a:moveTo>
                  <a:lnTo>
                    <a:pt x="0" y="24"/>
                  </a:lnTo>
                  <a:lnTo>
                    <a:pt x="8" y="48"/>
                  </a:lnTo>
                  <a:lnTo>
                    <a:pt x="16" y="56"/>
                  </a:lnTo>
                  <a:lnTo>
                    <a:pt x="24" y="56"/>
                  </a:lnTo>
                  <a:lnTo>
                    <a:pt x="48" y="72"/>
                  </a:lnTo>
                  <a:lnTo>
                    <a:pt x="56" y="88"/>
                  </a:lnTo>
                  <a:lnTo>
                    <a:pt x="72" y="96"/>
                  </a:lnTo>
                  <a:lnTo>
                    <a:pt x="72" y="80"/>
                  </a:lnTo>
                  <a:lnTo>
                    <a:pt x="56" y="56"/>
                  </a:lnTo>
                  <a:lnTo>
                    <a:pt x="32" y="40"/>
                  </a:lnTo>
                  <a:lnTo>
                    <a:pt x="32" y="32"/>
                  </a:lnTo>
                  <a:lnTo>
                    <a:pt x="40" y="8"/>
                  </a:lnTo>
                  <a:lnTo>
                    <a:pt x="24" y="0"/>
                  </a:lnTo>
                  <a:lnTo>
                    <a:pt x="8"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39" name="Freeform 589"/>
            <p:cNvSpPr>
              <a:spLocks/>
            </p:cNvSpPr>
            <p:nvPr/>
          </p:nvSpPr>
          <p:spPr bwMode="auto">
            <a:xfrm>
              <a:off x="4370633" y="3348366"/>
              <a:ext cx="59776" cy="50247"/>
            </a:xfrm>
            <a:custGeom>
              <a:avLst/>
              <a:gdLst>
                <a:gd name="T0" fmla="*/ 0 w 56"/>
                <a:gd name="T1" fmla="*/ 2147483647 h 48"/>
                <a:gd name="T2" fmla="*/ 2147483647 w 56"/>
                <a:gd name="T3" fmla="*/ 2147483647 h 48"/>
                <a:gd name="T4" fmla="*/ 2147483647 w 56"/>
                <a:gd name="T5" fmla="*/ 2147483647 h 48"/>
                <a:gd name="T6" fmla="*/ 2147483647 w 56"/>
                <a:gd name="T7" fmla="*/ 0 h 48"/>
                <a:gd name="T8" fmla="*/ 2147483647 w 56"/>
                <a:gd name="T9" fmla="*/ 2147483647 h 48"/>
                <a:gd name="T10" fmla="*/ 2147483647 w 56"/>
                <a:gd name="T11" fmla="*/ 2147483647 h 48"/>
                <a:gd name="T12" fmla="*/ 2147483647 w 56"/>
                <a:gd name="T13" fmla="*/ 2147483647 h 48"/>
                <a:gd name="T14" fmla="*/ 2147483647 w 56"/>
                <a:gd name="T15" fmla="*/ 2147483647 h 48"/>
                <a:gd name="T16" fmla="*/ 2147483647 w 56"/>
                <a:gd name="T17" fmla="*/ 2147483647 h 48"/>
                <a:gd name="T18" fmla="*/ 0 w 56"/>
                <a:gd name="T19" fmla="*/ 2147483647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6"/>
                <a:gd name="T31" fmla="*/ 0 h 48"/>
                <a:gd name="T32" fmla="*/ 56 w 56"/>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6" h="48">
                  <a:moveTo>
                    <a:pt x="0" y="40"/>
                  </a:moveTo>
                  <a:lnTo>
                    <a:pt x="8" y="16"/>
                  </a:lnTo>
                  <a:lnTo>
                    <a:pt x="24" y="16"/>
                  </a:lnTo>
                  <a:lnTo>
                    <a:pt x="40" y="0"/>
                  </a:lnTo>
                  <a:lnTo>
                    <a:pt x="56" y="16"/>
                  </a:lnTo>
                  <a:lnTo>
                    <a:pt x="56" y="48"/>
                  </a:lnTo>
                  <a:lnTo>
                    <a:pt x="40" y="40"/>
                  </a:lnTo>
                  <a:lnTo>
                    <a:pt x="24" y="40"/>
                  </a:lnTo>
                  <a:lnTo>
                    <a:pt x="16" y="32"/>
                  </a:lnTo>
                  <a:lnTo>
                    <a:pt x="0" y="4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40" name="Freeform 590"/>
            <p:cNvSpPr>
              <a:spLocks/>
            </p:cNvSpPr>
            <p:nvPr/>
          </p:nvSpPr>
          <p:spPr bwMode="auto">
            <a:xfrm>
              <a:off x="4340311" y="3229679"/>
              <a:ext cx="76237" cy="101360"/>
            </a:xfrm>
            <a:custGeom>
              <a:avLst/>
              <a:gdLst>
                <a:gd name="T0" fmla="*/ 2147483647 w 72"/>
                <a:gd name="T1" fmla="*/ 2147483647 h 96"/>
                <a:gd name="T2" fmla="*/ 0 w 72"/>
                <a:gd name="T3" fmla="*/ 2147483647 h 96"/>
                <a:gd name="T4" fmla="*/ 2147483647 w 72"/>
                <a:gd name="T5" fmla="*/ 2147483647 h 96"/>
                <a:gd name="T6" fmla="*/ 2147483647 w 72"/>
                <a:gd name="T7" fmla="*/ 2147483647 h 96"/>
                <a:gd name="T8" fmla="*/ 2147483647 w 72"/>
                <a:gd name="T9" fmla="*/ 2147483647 h 96"/>
                <a:gd name="T10" fmla="*/ 2147483647 w 72"/>
                <a:gd name="T11" fmla="*/ 2147483647 h 96"/>
                <a:gd name="T12" fmla="*/ 2147483647 w 72"/>
                <a:gd name="T13" fmla="*/ 2147483647 h 96"/>
                <a:gd name="T14" fmla="*/ 2147483647 w 72"/>
                <a:gd name="T15" fmla="*/ 2147483647 h 96"/>
                <a:gd name="T16" fmla="*/ 2147483647 w 72"/>
                <a:gd name="T17" fmla="*/ 2147483647 h 96"/>
                <a:gd name="T18" fmla="*/ 2147483647 w 72"/>
                <a:gd name="T19" fmla="*/ 2147483647 h 96"/>
                <a:gd name="T20" fmla="*/ 2147483647 w 72"/>
                <a:gd name="T21" fmla="*/ 2147483647 h 96"/>
                <a:gd name="T22" fmla="*/ 2147483647 w 72"/>
                <a:gd name="T23" fmla="*/ 2147483647 h 96"/>
                <a:gd name="T24" fmla="*/ 2147483647 w 72"/>
                <a:gd name="T25" fmla="*/ 2147483647 h 96"/>
                <a:gd name="T26" fmla="*/ 2147483647 w 72"/>
                <a:gd name="T27" fmla="*/ 0 h 96"/>
                <a:gd name="T28" fmla="*/ 2147483647 w 72"/>
                <a:gd name="T29" fmla="*/ 2147483647 h 9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
                <a:gd name="T46" fmla="*/ 0 h 96"/>
                <a:gd name="T47" fmla="*/ 72 w 72"/>
                <a:gd name="T48" fmla="*/ 96 h 9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 h="96">
                  <a:moveTo>
                    <a:pt x="8" y="8"/>
                  </a:moveTo>
                  <a:lnTo>
                    <a:pt x="0" y="24"/>
                  </a:lnTo>
                  <a:lnTo>
                    <a:pt x="8" y="48"/>
                  </a:lnTo>
                  <a:lnTo>
                    <a:pt x="16" y="56"/>
                  </a:lnTo>
                  <a:lnTo>
                    <a:pt x="24" y="56"/>
                  </a:lnTo>
                  <a:lnTo>
                    <a:pt x="48" y="72"/>
                  </a:lnTo>
                  <a:lnTo>
                    <a:pt x="56" y="88"/>
                  </a:lnTo>
                  <a:lnTo>
                    <a:pt x="72" y="96"/>
                  </a:lnTo>
                  <a:lnTo>
                    <a:pt x="72" y="80"/>
                  </a:lnTo>
                  <a:lnTo>
                    <a:pt x="56" y="56"/>
                  </a:lnTo>
                  <a:lnTo>
                    <a:pt x="32" y="40"/>
                  </a:lnTo>
                  <a:lnTo>
                    <a:pt x="32" y="32"/>
                  </a:lnTo>
                  <a:lnTo>
                    <a:pt x="40" y="8"/>
                  </a:lnTo>
                  <a:lnTo>
                    <a:pt x="24" y="0"/>
                  </a:lnTo>
                  <a:lnTo>
                    <a:pt x="8"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41" name="Freeform 591"/>
            <p:cNvSpPr>
              <a:spLocks/>
            </p:cNvSpPr>
            <p:nvPr/>
          </p:nvSpPr>
          <p:spPr bwMode="auto">
            <a:xfrm>
              <a:off x="4370633" y="3348366"/>
              <a:ext cx="59776" cy="50247"/>
            </a:xfrm>
            <a:custGeom>
              <a:avLst/>
              <a:gdLst>
                <a:gd name="T0" fmla="*/ 0 w 56"/>
                <a:gd name="T1" fmla="*/ 2147483647 h 48"/>
                <a:gd name="T2" fmla="*/ 2147483647 w 56"/>
                <a:gd name="T3" fmla="*/ 2147483647 h 48"/>
                <a:gd name="T4" fmla="*/ 2147483647 w 56"/>
                <a:gd name="T5" fmla="*/ 2147483647 h 48"/>
                <a:gd name="T6" fmla="*/ 2147483647 w 56"/>
                <a:gd name="T7" fmla="*/ 0 h 48"/>
                <a:gd name="T8" fmla="*/ 2147483647 w 56"/>
                <a:gd name="T9" fmla="*/ 2147483647 h 48"/>
                <a:gd name="T10" fmla="*/ 2147483647 w 56"/>
                <a:gd name="T11" fmla="*/ 2147483647 h 48"/>
                <a:gd name="T12" fmla="*/ 2147483647 w 56"/>
                <a:gd name="T13" fmla="*/ 2147483647 h 48"/>
                <a:gd name="T14" fmla="*/ 2147483647 w 56"/>
                <a:gd name="T15" fmla="*/ 2147483647 h 48"/>
                <a:gd name="T16" fmla="*/ 2147483647 w 56"/>
                <a:gd name="T17" fmla="*/ 2147483647 h 48"/>
                <a:gd name="T18" fmla="*/ 0 w 56"/>
                <a:gd name="T19" fmla="*/ 2147483647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6"/>
                <a:gd name="T31" fmla="*/ 0 h 48"/>
                <a:gd name="T32" fmla="*/ 56 w 56"/>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6" h="48">
                  <a:moveTo>
                    <a:pt x="0" y="40"/>
                  </a:moveTo>
                  <a:lnTo>
                    <a:pt x="8" y="16"/>
                  </a:lnTo>
                  <a:lnTo>
                    <a:pt x="24" y="16"/>
                  </a:lnTo>
                  <a:lnTo>
                    <a:pt x="40" y="0"/>
                  </a:lnTo>
                  <a:lnTo>
                    <a:pt x="56" y="16"/>
                  </a:lnTo>
                  <a:lnTo>
                    <a:pt x="56" y="48"/>
                  </a:lnTo>
                  <a:lnTo>
                    <a:pt x="40" y="40"/>
                  </a:lnTo>
                  <a:lnTo>
                    <a:pt x="24" y="40"/>
                  </a:lnTo>
                  <a:lnTo>
                    <a:pt x="16" y="32"/>
                  </a:lnTo>
                  <a:lnTo>
                    <a:pt x="0" y="4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42" name="Freeform 592"/>
            <p:cNvSpPr>
              <a:spLocks/>
            </p:cNvSpPr>
            <p:nvPr/>
          </p:nvSpPr>
          <p:spPr bwMode="auto">
            <a:xfrm>
              <a:off x="4328183" y="3458390"/>
              <a:ext cx="77104" cy="93564"/>
            </a:xfrm>
            <a:custGeom>
              <a:avLst/>
              <a:gdLst>
                <a:gd name="T0" fmla="*/ 2147483647 w 72"/>
                <a:gd name="T1" fmla="*/ 2147483647 h 88"/>
                <a:gd name="T2" fmla="*/ 2147483647 w 72"/>
                <a:gd name="T3" fmla="*/ 2147483647 h 88"/>
                <a:gd name="T4" fmla="*/ 0 w 72"/>
                <a:gd name="T5" fmla="*/ 2147483647 h 88"/>
                <a:gd name="T6" fmla="*/ 0 w 72"/>
                <a:gd name="T7" fmla="*/ 2147483647 h 88"/>
                <a:gd name="T8" fmla="*/ 2147483647 w 72"/>
                <a:gd name="T9" fmla="*/ 2147483647 h 88"/>
                <a:gd name="T10" fmla="*/ 2147483647 w 72"/>
                <a:gd name="T11" fmla="*/ 2147483647 h 88"/>
                <a:gd name="T12" fmla="*/ 2147483647 w 72"/>
                <a:gd name="T13" fmla="*/ 2147483647 h 88"/>
                <a:gd name="T14" fmla="*/ 2147483647 w 72"/>
                <a:gd name="T15" fmla="*/ 0 h 88"/>
                <a:gd name="T16" fmla="*/ 2147483647 w 72"/>
                <a:gd name="T17" fmla="*/ 2147483647 h 88"/>
                <a:gd name="T18" fmla="*/ 2147483647 w 72"/>
                <a:gd name="T19" fmla="*/ 2147483647 h 88"/>
                <a:gd name="T20" fmla="*/ 2147483647 w 72"/>
                <a:gd name="T21" fmla="*/ 2147483647 h 88"/>
                <a:gd name="T22" fmla="*/ 2147483647 w 72"/>
                <a:gd name="T23" fmla="*/ 2147483647 h 88"/>
                <a:gd name="T24" fmla="*/ 2147483647 w 72"/>
                <a:gd name="T25" fmla="*/ 2147483647 h 88"/>
                <a:gd name="T26" fmla="*/ 2147483647 w 72"/>
                <a:gd name="T27" fmla="*/ 2147483647 h 88"/>
                <a:gd name="T28" fmla="*/ 2147483647 w 72"/>
                <a:gd name="T29" fmla="*/ 2147483647 h 88"/>
                <a:gd name="T30" fmla="*/ 2147483647 w 72"/>
                <a:gd name="T31" fmla="*/ 2147483647 h 88"/>
                <a:gd name="T32" fmla="*/ 2147483647 w 72"/>
                <a:gd name="T33" fmla="*/ 2147483647 h 88"/>
                <a:gd name="T34" fmla="*/ 2147483647 w 72"/>
                <a:gd name="T35" fmla="*/ 2147483647 h 88"/>
                <a:gd name="T36" fmla="*/ 2147483647 w 72"/>
                <a:gd name="T37" fmla="*/ 2147483647 h 88"/>
                <a:gd name="T38" fmla="*/ 2147483647 w 72"/>
                <a:gd name="T39" fmla="*/ 2147483647 h 88"/>
                <a:gd name="T40" fmla="*/ 2147483647 w 72"/>
                <a:gd name="T41" fmla="*/ 2147483647 h 88"/>
                <a:gd name="T42" fmla="*/ 2147483647 w 72"/>
                <a:gd name="T43" fmla="*/ 2147483647 h 88"/>
                <a:gd name="T44" fmla="*/ 2147483647 w 72"/>
                <a:gd name="T45" fmla="*/ 2147483647 h 88"/>
                <a:gd name="T46" fmla="*/ 2147483647 w 72"/>
                <a:gd name="T47" fmla="*/ 2147483647 h 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2"/>
                <a:gd name="T73" fmla="*/ 0 h 88"/>
                <a:gd name="T74" fmla="*/ 72 w 72"/>
                <a:gd name="T75" fmla="*/ 88 h 8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2" h="88">
                  <a:moveTo>
                    <a:pt x="8" y="88"/>
                  </a:moveTo>
                  <a:lnTo>
                    <a:pt x="8" y="72"/>
                  </a:lnTo>
                  <a:lnTo>
                    <a:pt x="0" y="56"/>
                  </a:lnTo>
                  <a:lnTo>
                    <a:pt x="0" y="48"/>
                  </a:lnTo>
                  <a:lnTo>
                    <a:pt x="16" y="16"/>
                  </a:lnTo>
                  <a:lnTo>
                    <a:pt x="24" y="8"/>
                  </a:lnTo>
                  <a:lnTo>
                    <a:pt x="40" y="8"/>
                  </a:lnTo>
                  <a:lnTo>
                    <a:pt x="72" y="0"/>
                  </a:lnTo>
                  <a:lnTo>
                    <a:pt x="72" y="8"/>
                  </a:lnTo>
                  <a:lnTo>
                    <a:pt x="56" y="8"/>
                  </a:lnTo>
                  <a:lnTo>
                    <a:pt x="32" y="16"/>
                  </a:lnTo>
                  <a:lnTo>
                    <a:pt x="24" y="32"/>
                  </a:lnTo>
                  <a:lnTo>
                    <a:pt x="56" y="32"/>
                  </a:lnTo>
                  <a:lnTo>
                    <a:pt x="56" y="40"/>
                  </a:lnTo>
                  <a:lnTo>
                    <a:pt x="48" y="48"/>
                  </a:lnTo>
                  <a:lnTo>
                    <a:pt x="40" y="56"/>
                  </a:lnTo>
                  <a:lnTo>
                    <a:pt x="56" y="72"/>
                  </a:lnTo>
                  <a:lnTo>
                    <a:pt x="64" y="88"/>
                  </a:lnTo>
                  <a:lnTo>
                    <a:pt x="48" y="88"/>
                  </a:lnTo>
                  <a:lnTo>
                    <a:pt x="32" y="72"/>
                  </a:lnTo>
                  <a:lnTo>
                    <a:pt x="24" y="56"/>
                  </a:lnTo>
                  <a:lnTo>
                    <a:pt x="24" y="80"/>
                  </a:lnTo>
                  <a:lnTo>
                    <a:pt x="24" y="88"/>
                  </a:lnTo>
                  <a:lnTo>
                    <a:pt x="8" y="8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43" name="Freeform 593"/>
            <p:cNvSpPr>
              <a:spLocks/>
            </p:cNvSpPr>
            <p:nvPr/>
          </p:nvSpPr>
          <p:spPr bwMode="auto">
            <a:xfrm>
              <a:off x="4150585" y="3568414"/>
              <a:ext cx="143811" cy="33787"/>
            </a:xfrm>
            <a:custGeom>
              <a:avLst/>
              <a:gdLst>
                <a:gd name="T0" fmla="*/ 0 w 136"/>
                <a:gd name="T1" fmla="*/ 0 h 32"/>
                <a:gd name="T2" fmla="*/ 2147483647 w 136"/>
                <a:gd name="T3" fmla="*/ 0 h 32"/>
                <a:gd name="T4" fmla="*/ 2147483647 w 136"/>
                <a:gd name="T5" fmla="*/ 0 h 32"/>
                <a:gd name="T6" fmla="*/ 2147483647 w 136"/>
                <a:gd name="T7" fmla="*/ 0 h 32"/>
                <a:gd name="T8" fmla="*/ 2147483647 w 136"/>
                <a:gd name="T9" fmla="*/ 2147483647 h 32"/>
                <a:gd name="T10" fmla="*/ 2147483647 w 136"/>
                <a:gd name="T11" fmla="*/ 2147483647 h 32"/>
                <a:gd name="T12" fmla="*/ 2147483647 w 136"/>
                <a:gd name="T13" fmla="*/ 2147483647 h 32"/>
                <a:gd name="T14" fmla="*/ 2147483647 w 136"/>
                <a:gd name="T15" fmla="*/ 2147483647 h 32"/>
                <a:gd name="T16" fmla="*/ 2147483647 w 136"/>
                <a:gd name="T17" fmla="*/ 2147483647 h 32"/>
                <a:gd name="T18" fmla="*/ 2147483647 w 136"/>
                <a:gd name="T19" fmla="*/ 2147483647 h 32"/>
                <a:gd name="T20" fmla="*/ 0 w 136"/>
                <a:gd name="T21" fmla="*/ 0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32"/>
                <a:gd name="T35" fmla="*/ 136 w 136"/>
                <a:gd name="T36" fmla="*/ 32 h 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32">
                  <a:moveTo>
                    <a:pt x="0" y="0"/>
                  </a:moveTo>
                  <a:lnTo>
                    <a:pt x="40" y="0"/>
                  </a:lnTo>
                  <a:lnTo>
                    <a:pt x="64" y="0"/>
                  </a:lnTo>
                  <a:lnTo>
                    <a:pt x="80" y="0"/>
                  </a:lnTo>
                  <a:lnTo>
                    <a:pt x="96" y="8"/>
                  </a:lnTo>
                  <a:lnTo>
                    <a:pt x="128" y="16"/>
                  </a:lnTo>
                  <a:lnTo>
                    <a:pt x="136" y="32"/>
                  </a:lnTo>
                  <a:lnTo>
                    <a:pt x="104" y="24"/>
                  </a:lnTo>
                  <a:lnTo>
                    <a:pt x="80" y="24"/>
                  </a:lnTo>
                  <a:lnTo>
                    <a:pt x="32" y="16"/>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44" name="Freeform 594"/>
            <p:cNvSpPr>
              <a:spLocks/>
            </p:cNvSpPr>
            <p:nvPr/>
          </p:nvSpPr>
          <p:spPr bwMode="auto">
            <a:xfrm>
              <a:off x="1936247" y="2669163"/>
              <a:ext cx="84900" cy="102227"/>
            </a:xfrm>
            <a:custGeom>
              <a:avLst/>
              <a:gdLst>
                <a:gd name="T0" fmla="*/ 0 w 80"/>
                <a:gd name="T1" fmla="*/ 2147483647 h 96"/>
                <a:gd name="T2" fmla="*/ 0 w 80"/>
                <a:gd name="T3" fmla="*/ 2147483647 h 96"/>
                <a:gd name="T4" fmla="*/ 0 w 80"/>
                <a:gd name="T5" fmla="*/ 2147483647 h 96"/>
                <a:gd name="T6" fmla="*/ 2147483647 w 80"/>
                <a:gd name="T7" fmla="*/ 2147483647 h 96"/>
                <a:gd name="T8" fmla="*/ 2147483647 w 80"/>
                <a:gd name="T9" fmla="*/ 0 h 96"/>
                <a:gd name="T10" fmla="*/ 2147483647 w 80"/>
                <a:gd name="T11" fmla="*/ 2147483647 h 96"/>
                <a:gd name="T12" fmla="*/ 2147483647 w 80"/>
                <a:gd name="T13" fmla="*/ 2147483647 h 96"/>
                <a:gd name="T14" fmla="*/ 2147483647 w 80"/>
                <a:gd name="T15" fmla="*/ 2147483647 h 96"/>
                <a:gd name="T16" fmla="*/ 2147483647 w 80"/>
                <a:gd name="T17" fmla="*/ 2147483647 h 96"/>
                <a:gd name="T18" fmla="*/ 2147483647 w 80"/>
                <a:gd name="T19" fmla="*/ 2147483647 h 96"/>
                <a:gd name="T20" fmla="*/ 2147483647 w 80"/>
                <a:gd name="T21" fmla="*/ 2147483647 h 96"/>
                <a:gd name="T22" fmla="*/ 2147483647 w 80"/>
                <a:gd name="T23" fmla="*/ 2147483647 h 96"/>
                <a:gd name="T24" fmla="*/ 2147483647 w 80"/>
                <a:gd name="T25" fmla="*/ 2147483647 h 96"/>
                <a:gd name="T26" fmla="*/ 2147483647 w 80"/>
                <a:gd name="T27" fmla="*/ 2147483647 h 96"/>
                <a:gd name="T28" fmla="*/ 2147483647 w 80"/>
                <a:gd name="T29" fmla="*/ 2147483647 h 96"/>
                <a:gd name="T30" fmla="*/ 2147483647 w 80"/>
                <a:gd name="T31" fmla="*/ 2147483647 h 96"/>
                <a:gd name="T32" fmla="*/ 0 w 80"/>
                <a:gd name="T33" fmla="*/ 2147483647 h 9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96"/>
                <a:gd name="T53" fmla="*/ 80 w 80"/>
                <a:gd name="T54" fmla="*/ 96 h 9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96">
                  <a:moveTo>
                    <a:pt x="0" y="80"/>
                  </a:moveTo>
                  <a:lnTo>
                    <a:pt x="0" y="64"/>
                  </a:lnTo>
                  <a:lnTo>
                    <a:pt x="0" y="48"/>
                  </a:lnTo>
                  <a:lnTo>
                    <a:pt x="24" y="16"/>
                  </a:lnTo>
                  <a:lnTo>
                    <a:pt x="40" y="0"/>
                  </a:lnTo>
                  <a:lnTo>
                    <a:pt x="40" y="16"/>
                  </a:lnTo>
                  <a:lnTo>
                    <a:pt x="32" y="32"/>
                  </a:lnTo>
                  <a:lnTo>
                    <a:pt x="40" y="40"/>
                  </a:lnTo>
                  <a:lnTo>
                    <a:pt x="72" y="56"/>
                  </a:lnTo>
                  <a:lnTo>
                    <a:pt x="80" y="72"/>
                  </a:lnTo>
                  <a:lnTo>
                    <a:pt x="80" y="88"/>
                  </a:lnTo>
                  <a:lnTo>
                    <a:pt x="64" y="96"/>
                  </a:lnTo>
                  <a:lnTo>
                    <a:pt x="56" y="80"/>
                  </a:lnTo>
                  <a:lnTo>
                    <a:pt x="40" y="88"/>
                  </a:lnTo>
                  <a:lnTo>
                    <a:pt x="32" y="80"/>
                  </a:lnTo>
                  <a:lnTo>
                    <a:pt x="8" y="72"/>
                  </a:lnTo>
                  <a:lnTo>
                    <a:pt x="0" y="8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45" name="Freeform 595"/>
            <p:cNvSpPr>
              <a:spLocks/>
            </p:cNvSpPr>
            <p:nvPr/>
          </p:nvSpPr>
          <p:spPr bwMode="auto">
            <a:xfrm>
              <a:off x="1580185" y="3161239"/>
              <a:ext cx="152474" cy="42450"/>
            </a:xfrm>
            <a:custGeom>
              <a:avLst/>
              <a:gdLst>
                <a:gd name="T0" fmla="*/ 2147483647 w 144"/>
                <a:gd name="T1" fmla="*/ 2147483647 h 40"/>
                <a:gd name="T2" fmla="*/ 2147483647 w 144"/>
                <a:gd name="T3" fmla="*/ 0 h 40"/>
                <a:gd name="T4" fmla="*/ 2147483647 w 144"/>
                <a:gd name="T5" fmla="*/ 0 h 40"/>
                <a:gd name="T6" fmla="*/ 2147483647 w 144"/>
                <a:gd name="T7" fmla="*/ 2147483647 h 40"/>
                <a:gd name="T8" fmla="*/ 2147483647 w 144"/>
                <a:gd name="T9" fmla="*/ 2147483647 h 40"/>
                <a:gd name="T10" fmla="*/ 2147483647 w 144"/>
                <a:gd name="T11" fmla="*/ 2147483647 h 40"/>
                <a:gd name="T12" fmla="*/ 2147483647 w 144"/>
                <a:gd name="T13" fmla="*/ 2147483647 h 40"/>
                <a:gd name="T14" fmla="*/ 2147483647 w 144"/>
                <a:gd name="T15" fmla="*/ 2147483647 h 40"/>
                <a:gd name="T16" fmla="*/ 2147483647 w 144"/>
                <a:gd name="T17" fmla="*/ 2147483647 h 40"/>
                <a:gd name="T18" fmla="*/ 2147483647 w 144"/>
                <a:gd name="T19" fmla="*/ 2147483647 h 40"/>
                <a:gd name="T20" fmla="*/ 2147483647 w 144"/>
                <a:gd name="T21" fmla="*/ 2147483647 h 40"/>
                <a:gd name="T22" fmla="*/ 2147483647 w 144"/>
                <a:gd name="T23" fmla="*/ 2147483647 h 40"/>
                <a:gd name="T24" fmla="*/ 2147483647 w 144"/>
                <a:gd name="T25" fmla="*/ 2147483647 h 40"/>
                <a:gd name="T26" fmla="*/ 2147483647 w 144"/>
                <a:gd name="T27" fmla="*/ 2147483647 h 40"/>
                <a:gd name="T28" fmla="*/ 0 w 144"/>
                <a:gd name="T29" fmla="*/ 2147483647 h 40"/>
                <a:gd name="T30" fmla="*/ 2147483647 w 144"/>
                <a:gd name="T31" fmla="*/ 2147483647 h 4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4"/>
                <a:gd name="T49" fmla="*/ 0 h 40"/>
                <a:gd name="T50" fmla="*/ 144 w 144"/>
                <a:gd name="T51" fmla="*/ 40 h 4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4" h="40">
                  <a:moveTo>
                    <a:pt x="8" y="8"/>
                  </a:moveTo>
                  <a:lnTo>
                    <a:pt x="32" y="0"/>
                  </a:lnTo>
                  <a:lnTo>
                    <a:pt x="80" y="0"/>
                  </a:lnTo>
                  <a:lnTo>
                    <a:pt x="104" y="16"/>
                  </a:lnTo>
                  <a:lnTo>
                    <a:pt x="112" y="24"/>
                  </a:lnTo>
                  <a:lnTo>
                    <a:pt x="136" y="32"/>
                  </a:lnTo>
                  <a:lnTo>
                    <a:pt x="144" y="40"/>
                  </a:lnTo>
                  <a:lnTo>
                    <a:pt x="136" y="40"/>
                  </a:lnTo>
                  <a:lnTo>
                    <a:pt x="104" y="40"/>
                  </a:lnTo>
                  <a:lnTo>
                    <a:pt x="96" y="32"/>
                  </a:lnTo>
                  <a:lnTo>
                    <a:pt x="88" y="24"/>
                  </a:lnTo>
                  <a:lnTo>
                    <a:pt x="64" y="16"/>
                  </a:lnTo>
                  <a:lnTo>
                    <a:pt x="40" y="16"/>
                  </a:lnTo>
                  <a:lnTo>
                    <a:pt x="24" y="16"/>
                  </a:lnTo>
                  <a:lnTo>
                    <a:pt x="0" y="16"/>
                  </a:lnTo>
                  <a:lnTo>
                    <a:pt x="8" y="8"/>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46" name="Freeform 596"/>
            <p:cNvSpPr>
              <a:spLocks/>
            </p:cNvSpPr>
            <p:nvPr/>
          </p:nvSpPr>
          <p:spPr bwMode="auto">
            <a:xfrm>
              <a:off x="1732659" y="3212352"/>
              <a:ext cx="92698" cy="25123"/>
            </a:xfrm>
            <a:custGeom>
              <a:avLst/>
              <a:gdLst>
                <a:gd name="T0" fmla="*/ 2147483647 w 88"/>
                <a:gd name="T1" fmla="*/ 0 h 24"/>
                <a:gd name="T2" fmla="*/ 2147483647 w 88"/>
                <a:gd name="T3" fmla="*/ 2147483647 h 24"/>
                <a:gd name="T4" fmla="*/ 0 w 88"/>
                <a:gd name="T5" fmla="*/ 2147483647 h 24"/>
                <a:gd name="T6" fmla="*/ 2147483647 w 88"/>
                <a:gd name="T7" fmla="*/ 2147483647 h 24"/>
                <a:gd name="T8" fmla="*/ 2147483647 w 88"/>
                <a:gd name="T9" fmla="*/ 2147483647 h 24"/>
                <a:gd name="T10" fmla="*/ 2147483647 w 88"/>
                <a:gd name="T11" fmla="*/ 2147483647 h 24"/>
                <a:gd name="T12" fmla="*/ 2147483647 w 88"/>
                <a:gd name="T13" fmla="*/ 2147483647 h 24"/>
                <a:gd name="T14" fmla="*/ 2147483647 w 88"/>
                <a:gd name="T15" fmla="*/ 2147483647 h 24"/>
                <a:gd name="T16" fmla="*/ 2147483647 w 88"/>
                <a:gd name="T17" fmla="*/ 2147483647 h 24"/>
                <a:gd name="T18" fmla="*/ 2147483647 w 88"/>
                <a:gd name="T19" fmla="*/ 0 h 24"/>
                <a:gd name="T20" fmla="*/ 2147483647 w 88"/>
                <a:gd name="T21" fmla="*/ 0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8"/>
                <a:gd name="T34" fmla="*/ 0 h 24"/>
                <a:gd name="T35" fmla="*/ 88 w 8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8" h="24">
                  <a:moveTo>
                    <a:pt x="16" y="0"/>
                  </a:moveTo>
                  <a:lnTo>
                    <a:pt x="16" y="8"/>
                  </a:lnTo>
                  <a:lnTo>
                    <a:pt x="0" y="8"/>
                  </a:lnTo>
                  <a:lnTo>
                    <a:pt x="16" y="16"/>
                  </a:lnTo>
                  <a:lnTo>
                    <a:pt x="24" y="24"/>
                  </a:lnTo>
                  <a:lnTo>
                    <a:pt x="40" y="24"/>
                  </a:lnTo>
                  <a:lnTo>
                    <a:pt x="56" y="16"/>
                  </a:lnTo>
                  <a:lnTo>
                    <a:pt x="88" y="16"/>
                  </a:lnTo>
                  <a:lnTo>
                    <a:pt x="72" y="8"/>
                  </a:lnTo>
                  <a:lnTo>
                    <a:pt x="48" y="0"/>
                  </a:lnTo>
                  <a:lnTo>
                    <a:pt x="16" y="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47" name="Freeform 597"/>
            <p:cNvSpPr>
              <a:spLocks/>
            </p:cNvSpPr>
            <p:nvPr/>
          </p:nvSpPr>
          <p:spPr bwMode="auto">
            <a:xfrm>
              <a:off x="1936247" y="2669163"/>
              <a:ext cx="84900" cy="102227"/>
            </a:xfrm>
            <a:custGeom>
              <a:avLst/>
              <a:gdLst>
                <a:gd name="T0" fmla="*/ 0 w 80"/>
                <a:gd name="T1" fmla="*/ 2147483647 h 96"/>
                <a:gd name="T2" fmla="*/ 0 w 80"/>
                <a:gd name="T3" fmla="*/ 2147483647 h 96"/>
                <a:gd name="T4" fmla="*/ 0 w 80"/>
                <a:gd name="T5" fmla="*/ 2147483647 h 96"/>
                <a:gd name="T6" fmla="*/ 2147483647 w 80"/>
                <a:gd name="T7" fmla="*/ 2147483647 h 96"/>
                <a:gd name="T8" fmla="*/ 2147483647 w 80"/>
                <a:gd name="T9" fmla="*/ 0 h 96"/>
                <a:gd name="T10" fmla="*/ 2147483647 w 80"/>
                <a:gd name="T11" fmla="*/ 2147483647 h 96"/>
                <a:gd name="T12" fmla="*/ 2147483647 w 80"/>
                <a:gd name="T13" fmla="*/ 2147483647 h 96"/>
                <a:gd name="T14" fmla="*/ 2147483647 w 80"/>
                <a:gd name="T15" fmla="*/ 2147483647 h 96"/>
                <a:gd name="T16" fmla="*/ 2147483647 w 80"/>
                <a:gd name="T17" fmla="*/ 2147483647 h 96"/>
                <a:gd name="T18" fmla="*/ 2147483647 w 80"/>
                <a:gd name="T19" fmla="*/ 2147483647 h 96"/>
                <a:gd name="T20" fmla="*/ 2147483647 w 80"/>
                <a:gd name="T21" fmla="*/ 2147483647 h 96"/>
                <a:gd name="T22" fmla="*/ 2147483647 w 80"/>
                <a:gd name="T23" fmla="*/ 2147483647 h 96"/>
                <a:gd name="T24" fmla="*/ 2147483647 w 80"/>
                <a:gd name="T25" fmla="*/ 2147483647 h 96"/>
                <a:gd name="T26" fmla="*/ 2147483647 w 80"/>
                <a:gd name="T27" fmla="*/ 2147483647 h 96"/>
                <a:gd name="T28" fmla="*/ 2147483647 w 80"/>
                <a:gd name="T29" fmla="*/ 2147483647 h 96"/>
                <a:gd name="T30" fmla="*/ 2147483647 w 80"/>
                <a:gd name="T31" fmla="*/ 2147483647 h 96"/>
                <a:gd name="T32" fmla="*/ 0 w 80"/>
                <a:gd name="T33" fmla="*/ 2147483647 h 9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96"/>
                <a:gd name="T53" fmla="*/ 80 w 80"/>
                <a:gd name="T54" fmla="*/ 96 h 9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96">
                  <a:moveTo>
                    <a:pt x="0" y="80"/>
                  </a:moveTo>
                  <a:lnTo>
                    <a:pt x="0" y="64"/>
                  </a:lnTo>
                  <a:lnTo>
                    <a:pt x="0" y="48"/>
                  </a:lnTo>
                  <a:lnTo>
                    <a:pt x="24" y="16"/>
                  </a:lnTo>
                  <a:lnTo>
                    <a:pt x="40" y="0"/>
                  </a:lnTo>
                  <a:lnTo>
                    <a:pt x="40" y="16"/>
                  </a:lnTo>
                  <a:lnTo>
                    <a:pt x="32" y="32"/>
                  </a:lnTo>
                  <a:lnTo>
                    <a:pt x="40" y="40"/>
                  </a:lnTo>
                  <a:lnTo>
                    <a:pt x="72" y="56"/>
                  </a:lnTo>
                  <a:lnTo>
                    <a:pt x="80" y="72"/>
                  </a:lnTo>
                  <a:lnTo>
                    <a:pt x="80" y="88"/>
                  </a:lnTo>
                  <a:lnTo>
                    <a:pt x="64" y="96"/>
                  </a:lnTo>
                  <a:lnTo>
                    <a:pt x="56" y="80"/>
                  </a:lnTo>
                  <a:lnTo>
                    <a:pt x="40" y="88"/>
                  </a:lnTo>
                  <a:lnTo>
                    <a:pt x="32" y="80"/>
                  </a:lnTo>
                  <a:lnTo>
                    <a:pt x="8" y="72"/>
                  </a:lnTo>
                  <a:lnTo>
                    <a:pt x="0" y="8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48" name="Freeform 598"/>
            <p:cNvSpPr>
              <a:spLocks/>
            </p:cNvSpPr>
            <p:nvPr/>
          </p:nvSpPr>
          <p:spPr bwMode="auto">
            <a:xfrm>
              <a:off x="1732659" y="3212352"/>
              <a:ext cx="92698" cy="25123"/>
            </a:xfrm>
            <a:custGeom>
              <a:avLst/>
              <a:gdLst>
                <a:gd name="T0" fmla="*/ 2147483647 w 88"/>
                <a:gd name="T1" fmla="*/ 0 h 24"/>
                <a:gd name="T2" fmla="*/ 2147483647 w 88"/>
                <a:gd name="T3" fmla="*/ 2147483647 h 24"/>
                <a:gd name="T4" fmla="*/ 0 w 88"/>
                <a:gd name="T5" fmla="*/ 2147483647 h 24"/>
                <a:gd name="T6" fmla="*/ 2147483647 w 88"/>
                <a:gd name="T7" fmla="*/ 2147483647 h 24"/>
                <a:gd name="T8" fmla="*/ 2147483647 w 88"/>
                <a:gd name="T9" fmla="*/ 2147483647 h 24"/>
                <a:gd name="T10" fmla="*/ 2147483647 w 88"/>
                <a:gd name="T11" fmla="*/ 2147483647 h 24"/>
                <a:gd name="T12" fmla="*/ 2147483647 w 88"/>
                <a:gd name="T13" fmla="*/ 2147483647 h 24"/>
                <a:gd name="T14" fmla="*/ 2147483647 w 88"/>
                <a:gd name="T15" fmla="*/ 2147483647 h 24"/>
                <a:gd name="T16" fmla="*/ 2147483647 w 88"/>
                <a:gd name="T17" fmla="*/ 2147483647 h 24"/>
                <a:gd name="T18" fmla="*/ 2147483647 w 88"/>
                <a:gd name="T19" fmla="*/ 0 h 24"/>
                <a:gd name="T20" fmla="*/ 2147483647 w 88"/>
                <a:gd name="T21" fmla="*/ 0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8"/>
                <a:gd name="T34" fmla="*/ 0 h 24"/>
                <a:gd name="T35" fmla="*/ 88 w 8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8" h="24">
                  <a:moveTo>
                    <a:pt x="16" y="0"/>
                  </a:moveTo>
                  <a:lnTo>
                    <a:pt x="16" y="8"/>
                  </a:lnTo>
                  <a:lnTo>
                    <a:pt x="0" y="8"/>
                  </a:lnTo>
                  <a:lnTo>
                    <a:pt x="16" y="16"/>
                  </a:lnTo>
                  <a:lnTo>
                    <a:pt x="24" y="24"/>
                  </a:lnTo>
                  <a:lnTo>
                    <a:pt x="40" y="24"/>
                  </a:lnTo>
                  <a:lnTo>
                    <a:pt x="56" y="16"/>
                  </a:lnTo>
                  <a:lnTo>
                    <a:pt x="88" y="16"/>
                  </a:lnTo>
                  <a:lnTo>
                    <a:pt x="72" y="8"/>
                  </a:lnTo>
                  <a:lnTo>
                    <a:pt x="48" y="0"/>
                  </a:lnTo>
                  <a:lnTo>
                    <a:pt x="16" y="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49" name="Freeform 599"/>
            <p:cNvSpPr>
              <a:spLocks/>
            </p:cNvSpPr>
            <p:nvPr/>
          </p:nvSpPr>
          <p:spPr bwMode="auto">
            <a:xfrm>
              <a:off x="2886610" y="2923864"/>
              <a:ext cx="42450" cy="25990"/>
            </a:xfrm>
            <a:custGeom>
              <a:avLst/>
              <a:gdLst>
                <a:gd name="T0" fmla="*/ 0 w 40"/>
                <a:gd name="T1" fmla="*/ 2147483647 h 24"/>
                <a:gd name="T2" fmla="*/ 2147483647 w 40"/>
                <a:gd name="T3" fmla="*/ 0 h 24"/>
                <a:gd name="T4" fmla="*/ 2147483647 w 40"/>
                <a:gd name="T5" fmla="*/ 0 h 24"/>
                <a:gd name="T6" fmla="*/ 2147483647 w 40"/>
                <a:gd name="T7" fmla="*/ 2147483647 h 24"/>
                <a:gd name="T8" fmla="*/ 2147483647 w 40"/>
                <a:gd name="T9" fmla="*/ 2147483647 h 24"/>
                <a:gd name="T10" fmla="*/ 2147483647 w 40"/>
                <a:gd name="T11" fmla="*/ 2147483647 h 24"/>
                <a:gd name="T12" fmla="*/ 0 w 40"/>
                <a:gd name="T13" fmla="*/ 2147483647 h 24"/>
                <a:gd name="T14" fmla="*/ 0 60000 65536"/>
                <a:gd name="T15" fmla="*/ 0 60000 65536"/>
                <a:gd name="T16" fmla="*/ 0 60000 65536"/>
                <a:gd name="T17" fmla="*/ 0 60000 65536"/>
                <a:gd name="T18" fmla="*/ 0 60000 65536"/>
                <a:gd name="T19" fmla="*/ 0 60000 65536"/>
                <a:gd name="T20" fmla="*/ 0 60000 65536"/>
                <a:gd name="T21" fmla="*/ 0 w 40"/>
                <a:gd name="T22" fmla="*/ 0 h 24"/>
                <a:gd name="T23" fmla="*/ 40 w 4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24">
                  <a:moveTo>
                    <a:pt x="0" y="8"/>
                  </a:moveTo>
                  <a:lnTo>
                    <a:pt x="24" y="0"/>
                  </a:lnTo>
                  <a:lnTo>
                    <a:pt x="40" y="0"/>
                  </a:lnTo>
                  <a:lnTo>
                    <a:pt x="40" y="8"/>
                  </a:lnTo>
                  <a:lnTo>
                    <a:pt x="40" y="24"/>
                  </a:lnTo>
                  <a:lnTo>
                    <a:pt x="24" y="16"/>
                  </a:lnTo>
                  <a:lnTo>
                    <a:pt x="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50" name="Freeform 600"/>
            <p:cNvSpPr>
              <a:spLocks/>
            </p:cNvSpPr>
            <p:nvPr/>
          </p:nvSpPr>
          <p:spPr bwMode="auto">
            <a:xfrm>
              <a:off x="2844160" y="2872751"/>
              <a:ext cx="17327" cy="34653"/>
            </a:xfrm>
            <a:custGeom>
              <a:avLst/>
              <a:gdLst>
                <a:gd name="T0" fmla="*/ 0 w 16"/>
                <a:gd name="T1" fmla="*/ 2147483647 h 32"/>
                <a:gd name="T2" fmla="*/ 0 w 16"/>
                <a:gd name="T3" fmla="*/ 2147483647 h 32"/>
                <a:gd name="T4" fmla="*/ 2147483647 w 16"/>
                <a:gd name="T5" fmla="*/ 0 h 32"/>
                <a:gd name="T6" fmla="*/ 2147483647 w 16"/>
                <a:gd name="T7" fmla="*/ 2147483647 h 32"/>
                <a:gd name="T8" fmla="*/ 2147483647 w 16"/>
                <a:gd name="T9" fmla="*/ 2147483647 h 32"/>
                <a:gd name="T10" fmla="*/ 0 w 16"/>
                <a:gd name="T11" fmla="*/ 2147483647 h 32"/>
                <a:gd name="T12" fmla="*/ 0 60000 65536"/>
                <a:gd name="T13" fmla="*/ 0 60000 65536"/>
                <a:gd name="T14" fmla="*/ 0 60000 65536"/>
                <a:gd name="T15" fmla="*/ 0 60000 65536"/>
                <a:gd name="T16" fmla="*/ 0 60000 65536"/>
                <a:gd name="T17" fmla="*/ 0 60000 65536"/>
                <a:gd name="T18" fmla="*/ 0 w 16"/>
                <a:gd name="T19" fmla="*/ 0 h 32"/>
                <a:gd name="T20" fmla="*/ 16 w 16"/>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16" h="32">
                  <a:moveTo>
                    <a:pt x="0" y="32"/>
                  </a:moveTo>
                  <a:lnTo>
                    <a:pt x="0" y="8"/>
                  </a:lnTo>
                  <a:lnTo>
                    <a:pt x="8" y="0"/>
                  </a:lnTo>
                  <a:lnTo>
                    <a:pt x="16" y="16"/>
                  </a:lnTo>
                  <a:lnTo>
                    <a:pt x="16" y="32"/>
                  </a:lnTo>
                  <a:lnTo>
                    <a:pt x="0"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51" name="Freeform 601"/>
            <p:cNvSpPr>
              <a:spLocks/>
            </p:cNvSpPr>
            <p:nvPr/>
          </p:nvSpPr>
          <p:spPr bwMode="auto">
            <a:xfrm>
              <a:off x="2886610" y="2923864"/>
              <a:ext cx="42450" cy="25990"/>
            </a:xfrm>
            <a:custGeom>
              <a:avLst/>
              <a:gdLst>
                <a:gd name="T0" fmla="*/ 0 w 40"/>
                <a:gd name="T1" fmla="*/ 2147483647 h 24"/>
                <a:gd name="T2" fmla="*/ 2147483647 w 40"/>
                <a:gd name="T3" fmla="*/ 0 h 24"/>
                <a:gd name="T4" fmla="*/ 2147483647 w 40"/>
                <a:gd name="T5" fmla="*/ 0 h 24"/>
                <a:gd name="T6" fmla="*/ 2147483647 w 40"/>
                <a:gd name="T7" fmla="*/ 2147483647 h 24"/>
                <a:gd name="T8" fmla="*/ 2147483647 w 40"/>
                <a:gd name="T9" fmla="*/ 2147483647 h 24"/>
                <a:gd name="T10" fmla="*/ 2147483647 w 40"/>
                <a:gd name="T11" fmla="*/ 2147483647 h 24"/>
                <a:gd name="T12" fmla="*/ 0 w 40"/>
                <a:gd name="T13" fmla="*/ 2147483647 h 24"/>
                <a:gd name="T14" fmla="*/ 0 60000 65536"/>
                <a:gd name="T15" fmla="*/ 0 60000 65536"/>
                <a:gd name="T16" fmla="*/ 0 60000 65536"/>
                <a:gd name="T17" fmla="*/ 0 60000 65536"/>
                <a:gd name="T18" fmla="*/ 0 60000 65536"/>
                <a:gd name="T19" fmla="*/ 0 60000 65536"/>
                <a:gd name="T20" fmla="*/ 0 60000 65536"/>
                <a:gd name="T21" fmla="*/ 0 w 40"/>
                <a:gd name="T22" fmla="*/ 0 h 24"/>
                <a:gd name="T23" fmla="*/ 40 w 4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24">
                  <a:moveTo>
                    <a:pt x="0" y="8"/>
                  </a:moveTo>
                  <a:lnTo>
                    <a:pt x="24" y="0"/>
                  </a:lnTo>
                  <a:lnTo>
                    <a:pt x="40" y="0"/>
                  </a:lnTo>
                  <a:lnTo>
                    <a:pt x="40" y="8"/>
                  </a:lnTo>
                  <a:lnTo>
                    <a:pt x="40" y="24"/>
                  </a:lnTo>
                  <a:lnTo>
                    <a:pt x="24" y="16"/>
                  </a:lnTo>
                  <a:lnTo>
                    <a:pt x="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52" name="Freeform 602"/>
            <p:cNvSpPr>
              <a:spLocks/>
            </p:cNvSpPr>
            <p:nvPr/>
          </p:nvSpPr>
          <p:spPr bwMode="auto">
            <a:xfrm>
              <a:off x="2844160" y="2872751"/>
              <a:ext cx="17327" cy="34653"/>
            </a:xfrm>
            <a:custGeom>
              <a:avLst/>
              <a:gdLst>
                <a:gd name="T0" fmla="*/ 0 w 16"/>
                <a:gd name="T1" fmla="*/ 2147483647 h 32"/>
                <a:gd name="T2" fmla="*/ 0 w 16"/>
                <a:gd name="T3" fmla="*/ 2147483647 h 32"/>
                <a:gd name="T4" fmla="*/ 2147483647 w 16"/>
                <a:gd name="T5" fmla="*/ 0 h 32"/>
                <a:gd name="T6" fmla="*/ 2147483647 w 16"/>
                <a:gd name="T7" fmla="*/ 2147483647 h 32"/>
                <a:gd name="T8" fmla="*/ 2147483647 w 16"/>
                <a:gd name="T9" fmla="*/ 2147483647 h 32"/>
                <a:gd name="T10" fmla="*/ 0 w 16"/>
                <a:gd name="T11" fmla="*/ 2147483647 h 32"/>
                <a:gd name="T12" fmla="*/ 0 60000 65536"/>
                <a:gd name="T13" fmla="*/ 0 60000 65536"/>
                <a:gd name="T14" fmla="*/ 0 60000 65536"/>
                <a:gd name="T15" fmla="*/ 0 60000 65536"/>
                <a:gd name="T16" fmla="*/ 0 60000 65536"/>
                <a:gd name="T17" fmla="*/ 0 60000 65536"/>
                <a:gd name="T18" fmla="*/ 0 w 16"/>
                <a:gd name="T19" fmla="*/ 0 h 32"/>
                <a:gd name="T20" fmla="*/ 16 w 16"/>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16" h="32">
                  <a:moveTo>
                    <a:pt x="0" y="32"/>
                  </a:moveTo>
                  <a:lnTo>
                    <a:pt x="0" y="8"/>
                  </a:lnTo>
                  <a:lnTo>
                    <a:pt x="8" y="0"/>
                  </a:lnTo>
                  <a:lnTo>
                    <a:pt x="16" y="16"/>
                  </a:lnTo>
                  <a:lnTo>
                    <a:pt x="16" y="32"/>
                  </a:lnTo>
                  <a:lnTo>
                    <a:pt x="0"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53" name="Freeform 603"/>
            <p:cNvSpPr>
              <a:spLocks/>
            </p:cNvSpPr>
            <p:nvPr/>
          </p:nvSpPr>
          <p:spPr bwMode="auto">
            <a:xfrm>
              <a:off x="2836363" y="2838964"/>
              <a:ext cx="25124" cy="25990"/>
            </a:xfrm>
            <a:custGeom>
              <a:avLst/>
              <a:gdLst>
                <a:gd name="T0" fmla="*/ 0 w 24"/>
                <a:gd name="T1" fmla="*/ 2147483647 h 24"/>
                <a:gd name="T2" fmla="*/ 2147483647 w 24"/>
                <a:gd name="T3" fmla="*/ 0 h 24"/>
                <a:gd name="T4" fmla="*/ 2147483647 w 24"/>
                <a:gd name="T5" fmla="*/ 2147483647 h 24"/>
                <a:gd name="T6" fmla="*/ 2147483647 w 24"/>
                <a:gd name="T7" fmla="*/ 2147483647 h 24"/>
                <a:gd name="T8" fmla="*/ 0 w 24"/>
                <a:gd name="T9" fmla="*/ 2147483647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0" y="8"/>
                  </a:moveTo>
                  <a:lnTo>
                    <a:pt x="16" y="0"/>
                  </a:lnTo>
                  <a:lnTo>
                    <a:pt x="24" y="16"/>
                  </a:lnTo>
                  <a:lnTo>
                    <a:pt x="16" y="24"/>
                  </a:lnTo>
                  <a:lnTo>
                    <a:pt x="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54" name="Freeform 604"/>
            <p:cNvSpPr>
              <a:spLocks/>
            </p:cNvSpPr>
            <p:nvPr/>
          </p:nvSpPr>
          <p:spPr bwMode="auto">
            <a:xfrm>
              <a:off x="3277325" y="2941191"/>
              <a:ext cx="25123" cy="8663"/>
            </a:xfrm>
            <a:custGeom>
              <a:avLst/>
              <a:gdLst>
                <a:gd name="T0" fmla="*/ 2147483647 w 24"/>
                <a:gd name="T1" fmla="*/ 0 h 8"/>
                <a:gd name="T2" fmla="*/ 2147483647 w 24"/>
                <a:gd name="T3" fmla="*/ 0 h 8"/>
                <a:gd name="T4" fmla="*/ 0 w 24"/>
                <a:gd name="T5" fmla="*/ 2147483647 h 8"/>
                <a:gd name="T6" fmla="*/ 2147483647 w 24"/>
                <a:gd name="T7" fmla="*/ 0 h 8"/>
                <a:gd name="T8" fmla="*/ 0 60000 65536"/>
                <a:gd name="T9" fmla="*/ 0 60000 65536"/>
                <a:gd name="T10" fmla="*/ 0 60000 65536"/>
                <a:gd name="T11" fmla="*/ 0 60000 65536"/>
                <a:gd name="T12" fmla="*/ 0 w 24"/>
                <a:gd name="T13" fmla="*/ 0 h 8"/>
                <a:gd name="T14" fmla="*/ 24 w 24"/>
                <a:gd name="T15" fmla="*/ 8 h 8"/>
              </a:gdLst>
              <a:ahLst/>
              <a:cxnLst>
                <a:cxn ang="T8">
                  <a:pos x="T0" y="T1"/>
                </a:cxn>
                <a:cxn ang="T9">
                  <a:pos x="T2" y="T3"/>
                </a:cxn>
                <a:cxn ang="T10">
                  <a:pos x="T4" y="T5"/>
                </a:cxn>
                <a:cxn ang="T11">
                  <a:pos x="T6" y="T7"/>
                </a:cxn>
              </a:cxnLst>
              <a:rect l="T12" t="T13" r="T14" b="T15"/>
              <a:pathLst>
                <a:path w="24" h="8">
                  <a:moveTo>
                    <a:pt x="16" y="0"/>
                  </a:moveTo>
                  <a:lnTo>
                    <a:pt x="24" y="0"/>
                  </a:lnTo>
                  <a:lnTo>
                    <a:pt x="0" y="8"/>
                  </a:lnTo>
                  <a:lnTo>
                    <a:pt x="16"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55" name="Freeform 605"/>
            <p:cNvSpPr>
              <a:spLocks/>
            </p:cNvSpPr>
            <p:nvPr/>
          </p:nvSpPr>
          <p:spPr bwMode="auto">
            <a:xfrm>
              <a:off x="2836363" y="2838964"/>
              <a:ext cx="25124" cy="25990"/>
            </a:xfrm>
            <a:custGeom>
              <a:avLst/>
              <a:gdLst>
                <a:gd name="T0" fmla="*/ 0 w 24"/>
                <a:gd name="T1" fmla="*/ 2147483647 h 24"/>
                <a:gd name="T2" fmla="*/ 2147483647 w 24"/>
                <a:gd name="T3" fmla="*/ 0 h 24"/>
                <a:gd name="T4" fmla="*/ 2147483647 w 24"/>
                <a:gd name="T5" fmla="*/ 2147483647 h 24"/>
                <a:gd name="T6" fmla="*/ 2147483647 w 24"/>
                <a:gd name="T7" fmla="*/ 2147483647 h 24"/>
                <a:gd name="T8" fmla="*/ 0 w 24"/>
                <a:gd name="T9" fmla="*/ 2147483647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0" y="8"/>
                  </a:moveTo>
                  <a:lnTo>
                    <a:pt x="16" y="0"/>
                  </a:lnTo>
                  <a:lnTo>
                    <a:pt x="24" y="16"/>
                  </a:lnTo>
                  <a:lnTo>
                    <a:pt x="16" y="24"/>
                  </a:lnTo>
                  <a:lnTo>
                    <a:pt x="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56" name="Freeform 606"/>
            <p:cNvSpPr>
              <a:spLocks/>
            </p:cNvSpPr>
            <p:nvPr/>
          </p:nvSpPr>
          <p:spPr bwMode="auto">
            <a:xfrm>
              <a:off x="3277325" y="2941191"/>
              <a:ext cx="25123" cy="8663"/>
            </a:xfrm>
            <a:custGeom>
              <a:avLst/>
              <a:gdLst>
                <a:gd name="T0" fmla="*/ 2147483647 w 24"/>
                <a:gd name="T1" fmla="*/ 0 h 8"/>
                <a:gd name="T2" fmla="*/ 2147483647 w 24"/>
                <a:gd name="T3" fmla="*/ 0 h 8"/>
                <a:gd name="T4" fmla="*/ 0 w 24"/>
                <a:gd name="T5" fmla="*/ 2147483647 h 8"/>
                <a:gd name="T6" fmla="*/ 2147483647 w 24"/>
                <a:gd name="T7" fmla="*/ 0 h 8"/>
                <a:gd name="T8" fmla="*/ 0 60000 65536"/>
                <a:gd name="T9" fmla="*/ 0 60000 65536"/>
                <a:gd name="T10" fmla="*/ 0 60000 65536"/>
                <a:gd name="T11" fmla="*/ 0 60000 65536"/>
                <a:gd name="T12" fmla="*/ 0 w 24"/>
                <a:gd name="T13" fmla="*/ 0 h 8"/>
                <a:gd name="T14" fmla="*/ 24 w 24"/>
                <a:gd name="T15" fmla="*/ 8 h 8"/>
              </a:gdLst>
              <a:ahLst/>
              <a:cxnLst>
                <a:cxn ang="T8">
                  <a:pos x="T0" y="T1"/>
                </a:cxn>
                <a:cxn ang="T9">
                  <a:pos x="T2" y="T3"/>
                </a:cxn>
                <a:cxn ang="T10">
                  <a:pos x="T4" y="T5"/>
                </a:cxn>
                <a:cxn ang="T11">
                  <a:pos x="T6" y="T7"/>
                </a:cxn>
              </a:cxnLst>
              <a:rect l="T12" t="T13" r="T14" b="T15"/>
              <a:pathLst>
                <a:path w="24" h="8">
                  <a:moveTo>
                    <a:pt x="16" y="0"/>
                  </a:moveTo>
                  <a:lnTo>
                    <a:pt x="24" y="0"/>
                  </a:lnTo>
                  <a:lnTo>
                    <a:pt x="0" y="8"/>
                  </a:lnTo>
                  <a:lnTo>
                    <a:pt x="16"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57" name="Rectangle 607"/>
            <p:cNvSpPr>
              <a:spLocks noChangeArrowheads="1"/>
            </p:cNvSpPr>
            <p:nvPr/>
          </p:nvSpPr>
          <p:spPr bwMode="auto">
            <a:xfrm>
              <a:off x="3200221" y="3068542"/>
              <a:ext cx="0" cy="0"/>
            </a:xfrm>
            <a:prstGeom prst="rect">
              <a:avLst/>
            </a:prstGeom>
            <a:grpFill/>
            <a:ln w="6350">
              <a:no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048" eaLnBrk="1" hangingPunct="1">
                <a:spcBef>
                  <a:spcPct val="50000"/>
                </a:spcBef>
              </a:pPr>
              <a:endParaRPr lang="en-US" sz="3200">
                <a:solidFill>
                  <a:srgbClr val="4D4D4D"/>
                </a:solidFill>
                <a:ea typeface="MS PGothic" panose="020B0600070205080204" pitchFamily="34" charset="-128"/>
              </a:endParaRPr>
            </a:p>
          </p:txBody>
        </p:sp>
        <p:sp>
          <p:nvSpPr>
            <p:cNvPr id="58" name="Freeform 608"/>
            <p:cNvSpPr>
              <a:spLocks/>
            </p:cNvSpPr>
            <p:nvPr/>
          </p:nvSpPr>
          <p:spPr bwMode="auto">
            <a:xfrm>
              <a:off x="3081535" y="2864954"/>
              <a:ext cx="246038" cy="92698"/>
            </a:xfrm>
            <a:custGeom>
              <a:avLst/>
              <a:gdLst>
                <a:gd name="T0" fmla="*/ 2147483647 w 232"/>
                <a:gd name="T1" fmla="*/ 2147483647 h 88"/>
                <a:gd name="T2" fmla="*/ 2147483647 w 232"/>
                <a:gd name="T3" fmla="*/ 2147483647 h 88"/>
                <a:gd name="T4" fmla="*/ 2147483647 w 232"/>
                <a:gd name="T5" fmla="*/ 2147483647 h 88"/>
                <a:gd name="T6" fmla="*/ 2147483647 w 232"/>
                <a:gd name="T7" fmla="*/ 2147483647 h 88"/>
                <a:gd name="T8" fmla="*/ 2147483647 w 232"/>
                <a:gd name="T9" fmla="*/ 2147483647 h 88"/>
                <a:gd name="T10" fmla="*/ 2147483647 w 232"/>
                <a:gd name="T11" fmla="*/ 2147483647 h 88"/>
                <a:gd name="T12" fmla="*/ 2147483647 w 232"/>
                <a:gd name="T13" fmla="*/ 2147483647 h 88"/>
                <a:gd name="T14" fmla="*/ 2147483647 w 232"/>
                <a:gd name="T15" fmla="*/ 2147483647 h 88"/>
                <a:gd name="T16" fmla="*/ 2147483647 w 232"/>
                <a:gd name="T17" fmla="*/ 2147483647 h 88"/>
                <a:gd name="T18" fmla="*/ 2147483647 w 232"/>
                <a:gd name="T19" fmla="*/ 0 h 88"/>
                <a:gd name="T20" fmla="*/ 2147483647 w 232"/>
                <a:gd name="T21" fmla="*/ 0 h 88"/>
                <a:gd name="T22" fmla="*/ 2147483647 w 232"/>
                <a:gd name="T23" fmla="*/ 0 h 88"/>
                <a:gd name="T24" fmla="*/ 2147483647 w 232"/>
                <a:gd name="T25" fmla="*/ 2147483647 h 88"/>
                <a:gd name="T26" fmla="*/ 2147483647 w 232"/>
                <a:gd name="T27" fmla="*/ 2147483647 h 88"/>
                <a:gd name="T28" fmla="*/ 2147483647 w 232"/>
                <a:gd name="T29" fmla="*/ 2147483647 h 88"/>
                <a:gd name="T30" fmla="*/ 2147483647 w 232"/>
                <a:gd name="T31" fmla="*/ 0 h 88"/>
                <a:gd name="T32" fmla="*/ 2147483647 w 232"/>
                <a:gd name="T33" fmla="*/ 0 h 88"/>
                <a:gd name="T34" fmla="*/ 2147483647 w 232"/>
                <a:gd name="T35" fmla="*/ 0 h 88"/>
                <a:gd name="T36" fmla="*/ 2147483647 w 232"/>
                <a:gd name="T37" fmla="*/ 0 h 88"/>
                <a:gd name="T38" fmla="*/ 2147483647 w 232"/>
                <a:gd name="T39" fmla="*/ 0 h 88"/>
                <a:gd name="T40" fmla="*/ 2147483647 w 232"/>
                <a:gd name="T41" fmla="*/ 2147483647 h 88"/>
                <a:gd name="T42" fmla="*/ 2147483647 w 232"/>
                <a:gd name="T43" fmla="*/ 2147483647 h 88"/>
                <a:gd name="T44" fmla="*/ 2147483647 w 232"/>
                <a:gd name="T45" fmla="*/ 2147483647 h 88"/>
                <a:gd name="T46" fmla="*/ 2147483647 w 232"/>
                <a:gd name="T47" fmla="*/ 2147483647 h 88"/>
                <a:gd name="T48" fmla="*/ 2147483647 w 232"/>
                <a:gd name="T49" fmla="*/ 2147483647 h 88"/>
                <a:gd name="T50" fmla="*/ 0 w 232"/>
                <a:gd name="T51" fmla="*/ 2147483647 h 88"/>
                <a:gd name="T52" fmla="*/ 2147483647 w 232"/>
                <a:gd name="T53" fmla="*/ 2147483647 h 88"/>
                <a:gd name="T54" fmla="*/ 2147483647 w 232"/>
                <a:gd name="T55" fmla="*/ 2147483647 h 88"/>
                <a:gd name="T56" fmla="*/ 2147483647 w 232"/>
                <a:gd name="T57" fmla="*/ 2147483647 h 88"/>
                <a:gd name="T58" fmla="*/ 2147483647 w 232"/>
                <a:gd name="T59" fmla="*/ 2147483647 h 88"/>
                <a:gd name="T60" fmla="*/ 2147483647 w 232"/>
                <a:gd name="T61" fmla="*/ 2147483647 h 88"/>
                <a:gd name="T62" fmla="*/ 2147483647 w 232"/>
                <a:gd name="T63" fmla="*/ 2147483647 h 88"/>
                <a:gd name="T64" fmla="*/ 2147483647 w 232"/>
                <a:gd name="T65" fmla="*/ 2147483647 h 88"/>
                <a:gd name="T66" fmla="*/ 2147483647 w 232"/>
                <a:gd name="T67" fmla="*/ 2147483647 h 88"/>
                <a:gd name="T68" fmla="*/ 2147483647 w 232"/>
                <a:gd name="T69" fmla="*/ 2147483647 h 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32"/>
                <a:gd name="T106" fmla="*/ 0 h 88"/>
                <a:gd name="T107" fmla="*/ 232 w 232"/>
                <a:gd name="T108" fmla="*/ 88 h 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32" h="88">
                  <a:moveTo>
                    <a:pt x="136" y="80"/>
                  </a:moveTo>
                  <a:lnTo>
                    <a:pt x="144" y="80"/>
                  </a:lnTo>
                  <a:lnTo>
                    <a:pt x="184" y="80"/>
                  </a:lnTo>
                  <a:lnTo>
                    <a:pt x="208" y="72"/>
                  </a:lnTo>
                  <a:lnTo>
                    <a:pt x="224" y="72"/>
                  </a:lnTo>
                  <a:lnTo>
                    <a:pt x="232" y="72"/>
                  </a:lnTo>
                  <a:lnTo>
                    <a:pt x="232" y="64"/>
                  </a:lnTo>
                  <a:lnTo>
                    <a:pt x="232" y="32"/>
                  </a:lnTo>
                  <a:lnTo>
                    <a:pt x="216" y="8"/>
                  </a:lnTo>
                  <a:lnTo>
                    <a:pt x="208" y="0"/>
                  </a:lnTo>
                  <a:lnTo>
                    <a:pt x="200" y="0"/>
                  </a:lnTo>
                  <a:lnTo>
                    <a:pt x="192" y="0"/>
                  </a:lnTo>
                  <a:lnTo>
                    <a:pt x="176" y="8"/>
                  </a:lnTo>
                  <a:lnTo>
                    <a:pt x="160" y="8"/>
                  </a:lnTo>
                  <a:lnTo>
                    <a:pt x="152" y="8"/>
                  </a:lnTo>
                  <a:lnTo>
                    <a:pt x="136" y="0"/>
                  </a:lnTo>
                  <a:lnTo>
                    <a:pt x="128" y="0"/>
                  </a:lnTo>
                  <a:lnTo>
                    <a:pt x="96" y="0"/>
                  </a:lnTo>
                  <a:lnTo>
                    <a:pt x="88" y="0"/>
                  </a:lnTo>
                  <a:lnTo>
                    <a:pt x="72" y="0"/>
                  </a:lnTo>
                  <a:lnTo>
                    <a:pt x="64" y="8"/>
                  </a:lnTo>
                  <a:lnTo>
                    <a:pt x="48" y="16"/>
                  </a:lnTo>
                  <a:lnTo>
                    <a:pt x="40" y="8"/>
                  </a:lnTo>
                  <a:lnTo>
                    <a:pt x="32" y="24"/>
                  </a:lnTo>
                  <a:lnTo>
                    <a:pt x="16" y="24"/>
                  </a:lnTo>
                  <a:lnTo>
                    <a:pt x="0" y="32"/>
                  </a:lnTo>
                  <a:lnTo>
                    <a:pt x="8" y="48"/>
                  </a:lnTo>
                  <a:lnTo>
                    <a:pt x="16" y="64"/>
                  </a:lnTo>
                  <a:lnTo>
                    <a:pt x="24" y="80"/>
                  </a:lnTo>
                  <a:lnTo>
                    <a:pt x="56" y="80"/>
                  </a:lnTo>
                  <a:lnTo>
                    <a:pt x="64" y="80"/>
                  </a:lnTo>
                  <a:lnTo>
                    <a:pt x="88" y="88"/>
                  </a:lnTo>
                  <a:lnTo>
                    <a:pt x="104" y="80"/>
                  </a:lnTo>
                  <a:lnTo>
                    <a:pt x="120" y="88"/>
                  </a:lnTo>
                  <a:lnTo>
                    <a:pt x="136" y="8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59" name="Freeform 609"/>
            <p:cNvSpPr>
              <a:spLocks/>
            </p:cNvSpPr>
            <p:nvPr/>
          </p:nvSpPr>
          <p:spPr bwMode="auto">
            <a:xfrm>
              <a:off x="3200221" y="2941191"/>
              <a:ext cx="93564" cy="84900"/>
            </a:xfrm>
            <a:custGeom>
              <a:avLst/>
              <a:gdLst>
                <a:gd name="T0" fmla="*/ 2147483647 w 88"/>
                <a:gd name="T1" fmla="*/ 2147483647 h 80"/>
                <a:gd name="T2" fmla="*/ 2147483647 w 88"/>
                <a:gd name="T3" fmla="*/ 2147483647 h 80"/>
                <a:gd name="T4" fmla="*/ 2147483647 w 88"/>
                <a:gd name="T5" fmla="*/ 2147483647 h 80"/>
                <a:gd name="T6" fmla="*/ 2147483647 w 88"/>
                <a:gd name="T7" fmla="*/ 2147483647 h 80"/>
                <a:gd name="T8" fmla="*/ 2147483647 w 88"/>
                <a:gd name="T9" fmla="*/ 2147483647 h 80"/>
                <a:gd name="T10" fmla="*/ 2147483647 w 88"/>
                <a:gd name="T11" fmla="*/ 2147483647 h 80"/>
                <a:gd name="T12" fmla="*/ 2147483647 w 88"/>
                <a:gd name="T13" fmla="*/ 0 h 80"/>
                <a:gd name="T14" fmla="*/ 2147483647 w 88"/>
                <a:gd name="T15" fmla="*/ 2147483647 h 80"/>
                <a:gd name="T16" fmla="*/ 2147483647 w 88"/>
                <a:gd name="T17" fmla="*/ 2147483647 h 80"/>
                <a:gd name="T18" fmla="*/ 2147483647 w 88"/>
                <a:gd name="T19" fmla="*/ 2147483647 h 80"/>
                <a:gd name="T20" fmla="*/ 2147483647 w 88"/>
                <a:gd name="T21" fmla="*/ 2147483647 h 80"/>
                <a:gd name="T22" fmla="*/ 2147483647 w 88"/>
                <a:gd name="T23" fmla="*/ 2147483647 h 80"/>
                <a:gd name="T24" fmla="*/ 0 w 88"/>
                <a:gd name="T25" fmla="*/ 2147483647 h 80"/>
                <a:gd name="T26" fmla="*/ 2147483647 w 88"/>
                <a:gd name="T27" fmla="*/ 2147483647 h 80"/>
                <a:gd name="T28" fmla="*/ 2147483647 w 88"/>
                <a:gd name="T29" fmla="*/ 214748364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8"/>
                <a:gd name="T46" fmla="*/ 0 h 80"/>
                <a:gd name="T47" fmla="*/ 88 w 88"/>
                <a:gd name="T48" fmla="*/ 80 h 8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8" h="80">
                  <a:moveTo>
                    <a:pt x="16" y="80"/>
                  </a:moveTo>
                  <a:lnTo>
                    <a:pt x="40" y="64"/>
                  </a:lnTo>
                  <a:lnTo>
                    <a:pt x="48" y="64"/>
                  </a:lnTo>
                  <a:lnTo>
                    <a:pt x="72" y="48"/>
                  </a:lnTo>
                  <a:lnTo>
                    <a:pt x="80" y="16"/>
                  </a:lnTo>
                  <a:lnTo>
                    <a:pt x="88" y="8"/>
                  </a:lnTo>
                  <a:lnTo>
                    <a:pt x="88" y="0"/>
                  </a:lnTo>
                  <a:lnTo>
                    <a:pt x="72" y="8"/>
                  </a:lnTo>
                  <a:lnTo>
                    <a:pt x="32" y="8"/>
                  </a:lnTo>
                  <a:lnTo>
                    <a:pt x="24" y="8"/>
                  </a:lnTo>
                  <a:lnTo>
                    <a:pt x="8" y="16"/>
                  </a:lnTo>
                  <a:lnTo>
                    <a:pt x="16" y="32"/>
                  </a:lnTo>
                  <a:lnTo>
                    <a:pt x="0" y="72"/>
                  </a:lnTo>
                  <a:lnTo>
                    <a:pt x="8" y="72"/>
                  </a:lnTo>
                  <a:lnTo>
                    <a:pt x="16" y="8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60" name="Freeform 610"/>
            <p:cNvSpPr>
              <a:spLocks/>
            </p:cNvSpPr>
            <p:nvPr/>
          </p:nvSpPr>
          <p:spPr bwMode="auto">
            <a:xfrm>
              <a:off x="3183761" y="3008765"/>
              <a:ext cx="67574" cy="59777"/>
            </a:xfrm>
            <a:custGeom>
              <a:avLst/>
              <a:gdLst>
                <a:gd name="T0" fmla="*/ 2147483647 w 64"/>
                <a:gd name="T1" fmla="*/ 2147483647 h 56"/>
                <a:gd name="T2" fmla="*/ 2147483647 w 64"/>
                <a:gd name="T3" fmla="*/ 0 h 56"/>
                <a:gd name="T4" fmla="*/ 2147483647 w 64"/>
                <a:gd name="T5" fmla="*/ 0 h 56"/>
                <a:gd name="T6" fmla="*/ 2147483647 w 64"/>
                <a:gd name="T7" fmla="*/ 2147483647 h 56"/>
                <a:gd name="T8" fmla="*/ 2147483647 w 64"/>
                <a:gd name="T9" fmla="*/ 2147483647 h 56"/>
                <a:gd name="T10" fmla="*/ 2147483647 w 64"/>
                <a:gd name="T11" fmla="*/ 2147483647 h 56"/>
                <a:gd name="T12" fmla="*/ 2147483647 w 64"/>
                <a:gd name="T13" fmla="*/ 2147483647 h 56"/>
                <a:gd name="T14" fmla="*/ 0 w 64"/>
                <a:gd name="T15" fmla="*/ 2147483647 h 56"/>
                <a:gd name="T16" fmla="*/ 2147483647 w 64"/>
                <a:gd name="T17" fmla="*/ 2147483647 h 56"/>
                <a:gd name="T18" fmla="*/ 2147483647 w 64"/>
                <a:gd name="T19" fmla="*/ 2147483647 h 56"/>
                <a:gd name="T20" fmla="*/ 2147483647 w 64"/>
                <a:gd name="T21" fmla="*/ 2147483647 h 56"/>
                <a:gd name="T22" fmla="*/ 2147483647 w 64"/>
                <a:gd name="T23" fmla="*/ 2147483647 h 56"/>
                <a:gd name="T24" fmla="*/ 2147483647 w 64"/>
                <a:gd name="T25" fmla="*/ 2147483647 h 56"/>
                <a:gd name="T26" fmla="*/ 2147483647 w 64"/>
                <a:gd name="T27" fmla="*/ 2147483647 h 56"/>
                <a:gd name="T28" fmla="*/ 2147483647 w 64"/>
                <a:gd name="T29" fmla="*/ 2147483647 h 56"/>
                <a:gd name="T30" fmla="*/ 2147483647 w 64"/>
                <a:gd name="T31" fmla="*/ 2147483647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4"/>
                <a:gd name="T49" fmla="*/ 0 h 56"/>
                <a:gd name="T50" fmla="*/ 64 w 64"/>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4" h="56">
                  <a:moveTo>
                    <a:pt x="64" y="16"/>
                  </a:moveTo>
                  <a:lnTo>
                    <a:pt x="64" y="0"/>
                  </a:lnTo>
                  <a:lnTo>
                    <a:pt x="56" y="0"/>
                  </a:lnTo>
                  <a:lnTo>
                    <a:pt x="32" y="16"/>
                  </a:lnTo>
                  <a:lnTo>
                    <a:pt x="24" y="8"/>
                  </a:lnTo>
                  <a:lnTo>
                    <a:pt x="16" y="8"/>
                  </a:lnTo>
                  <a:lnTo>
                    <a:pt x="8" y="8"/>
                  </a:lnTo>
                  <a:lnTo>
                    <a:pt x="0" y="24"/>
                  </a:lnTo>
                  <a:lnTo>
                    <a:pt x="16" y="56"/>
                  </a:lnTo>
                  <a:lnTo>
                    <a:pt x="24" y="56"/>
                  </a:lnTo>
                  <a:lnTo>
                    <a:pt x="32" y="48"/>
                  </a:lnTo>
                  <a:lnTo>
                    <a:pt x="48" y="48"/>
                  </a:lnTo>
                  <a:lnTo>
                    <a:pt x="48" y="40"/>
                  </a:lnTo>
                  <a:lnTo>
                    <a:pt x="40" y="24"/>
                  </a:lnTo>
                  <a:lnTo>
                    <a:pt x="56" y="16"/>
                  </a:lnTo>
                  <a:lnTo>
                    <a:pt x="64"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61" name="Freeform 611"/>
            <p:cNvSpPr>
              <a:spLocks/>
            </p:cNvSpPr>
            <p:nvPr/>
          </p:nvSpPr>
          <p:spPr bwMode="auto">
            <a:xfrm>
              <a:off x="3200221" y="2941191"/>
              <a:ext cx="93564" cy="84900"/>
            </a:xfrm>
            <a:custGeom>
              <a:avLst/>
              <a:gdLst>
                <a:gd name="T0" fmla="*/ 2147483647 w 88"/>
                <a:gd name="T1" fmla="*/ 2147483647 h 80"/>
                <a:gd name="T2" fmla="*/ 2147483647 w 88"/>
                <a:gd name="T3" fmla="*/ 2147483647 h 80"/>
                <a:gd name="T4" fmla="*/ 2147483647 w 88"/>
                <a:gd name="T5" fmla="*/ 2147483647 h 80"/>
                <a:gd name="T6" fmla="*/ 2147483647 w 88"/>
                <a:gd name="T7" fmla="*/ 2147483647 h 80"/>
                <a:gd name="T8" fmla="*/ 2147483647 w 88"/>
                <a:gd name="T9" fmla="*/ 2147483647 h 80"/>
                <a:gd name="T10" fmla="*/ 2147483647 w 88"/>
                <a:gd name="T11" fmla="*/ 2147483647 h 80"/>
                <a:gd name="T12" fmla="*/ 2147483647 w 88"/>
                <a:gd name="T13" fmla="*/ 0 h 80"/>
                <a:gd name="T14" fmla="*/ 2147483647 w 88"/>
                <a:gd name="T15" fmla="*/ 2147483647 h 80"/>
                <a:gd name="T16" fmla="*/ 2147483647 w 88"/>
                <a:gd name="T17" fmla="*/ 2147483647 h 80"/>
                <a:gd name="T18" fmla="*/ 2147483647 w 88"/>
                <a:gd name="T19" fmla="*/ 2147483647 h 80"/>
                <a:gd name="T20" fmla="*/ 2147483647 w 88"/>
                <a:gd name="T21" fmla="*/ 2147483647 h 80"/>
                <a:gd name="T22" fmla="*/ 2147483647 w 88"/>
                <a:gd name="T23" fmla="*/ 2147483647 h 80"/>
                <a:gd name="T24" fmla="*/ 2147483647 w 88"/>
                <a:gd name="T25" fmla="*/ 2147483647 h 80"/>
                <a:gd name="T26" fmla="*/ 0 w 88"/>
                <a:gd name="T27" fmla="*/ 2147483647 h 80"/>
                <a:gd name="T28" fmla="*/ 2147483647 w 88"/>
                <a:gd name="T29" fmla="*/ 2147483647 h 80"/>
                <a:gd name="T30" fmla="*/ 2147483647 w 88"/>
                <a:gd name="T31" fmla="*/ 2147483647 h 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8"/>
                <a:gd name="T49" fmla="*/ 0 h 80"/>
                <a:gd name="T50" fmla="*/ 88 w 88"/>
                <a:gd name="T51" fmla="*/ 80 h 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8" h="80">
                  <a:moveTo>
                    <a:pt x="16" y="80"/>
                  </a:moveTo>
                  <a:lnTo>
                    <a:pt x="40" y="64"/>
                  </a:lnTo>
                  <a:lnTo>
                    <a:pt x="48" y="64"/>
                  </a:lnTo>
                  <a:lnTo>
                    <a:pt x="72" y="48"/>
                  </a:lnTo>
                  <a:lnTo>
                    <a:pt x="80" y="16"/>
                  </a:lnTo>
                  <a:lnTo>
                    <a:pt x="88" y="8"/>
                  </a:lnTo>
                  <a:lnTo>
                    <a:pt x="88" y="0"/>
                  </a:lnTo>
                  <a:lnTo>
                    <a:pt x="72" y="8"/>
                  </a:lnTo>
                  <a:lnTo>
                    <a:pt x="32" y="8"/>
                  </a:lnTo>
                  <a:lnTo>
                    <a:pt x="24" y="8"/>
                  </a:lnTo>
                  <a:lnTo>
                    <a:pt x="8" y="16"/>
                  </a:lnTo>
                  <a:lnTo>
                    <a:pt x="16" y="32"/>
                  </a:lnTo>
                  <a:lnTo>
                    <a:pt x="0" y="72"/>
                  </a:lnTo>
                  <a:lnTo>
                    <a:pt x="8" y="72"/>
                  </a:lnTo>
                  <a:lnTo>
                    <a:pt x="16" y="8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62" name="Freeform 612"/>
            <p:cNvSpPr>
              <a:spLocks/>
            </p:cNvSpPr>
            <p:nvPr/>
          </p:nvSpPr>
          <p:spPr bwMode="auto">
            <a:xfrm>
              <a:off x="3183761" y="3008765"/>
              <a:ext cx="67574" cy="59777"/>
            </a:xfrm>
            <a:custGeom>
              <a:avLst/>
              <a:gdLst>
                <a:gd name="T0" fmla="*/ 2147483647 w 64"/>
                <a:gd name="T1" fmla="*/ 2147483647 h 56"/>
                <a:gd name="T2" fmla="*/ 2147483647 w 64"/>
                <a:gd name="T3" fmla="*/ 0 h 56"/>
                <a:gd name="T4" fmla="*/ 2147483647 w 64"/>
                <a:gd name="T5" fmla="*/ 0 h 56"/>
                <a:gd name="T6" fmla="*/ 2147483647 w 64"/>
                <a:gd name="T7" fmla="*/ 2147483647 h 56"/>
                <a:gd name="T8" fmla="*/ 2147483647 w 64"/>
                <a:gd name="T9" fmla="*/ 2147483647 h 56"/>
                <a:gd name="T10" fmla="*/ 2147483647 w 64"/>
                <a:gd name="T11" fmla="*/ 2147483647 h 56"/>
                <a:gd name="T12" fmla="*/ 2147483647 w 64"/>
                <a:gd name="T13" fmla="*/ 2147483647 h 56"/>
                <a:gd name="T14" fmla="*/ 0 w 64"/>
                <a:gd name="T15" fmla="*/ 2147483647 h 56"/>
                <a:gd name="T16" fmla="*/ 2147483647 w 64"/>
                <a:gd name="T17" fmla="*/ 2147483647 h 56"/>
                <a:gd name="T18" fmla="*/ 2147483647 w 64"/>
                <a:gd name="T19" fmla="*/ 2147483647 h 56"/>
                <a:gd name="T20" fmla="*/ 2147483647 w 64"/>
                <a:gd name="T21" fmla="*/ 2147483647 h 56"/>
                <a:gd name="T22" fmla="*/ 2147483647 w 64"/>
                <a:gd name="T23" fmla="*/ 2147483647 h 56"/>
                <a:gd name="T24" fmla="*/ 2147483647 w 64"/>
                <a:gd name="T25" fmla="*/ 2147483647 h 56"/>
                <a:gd name="T26" fmla="*/ 2147483647 w 64"/>
                <a:gd name="T27" fmla="*/ 2147483647 h 56"/>
                <a:gd name="T28" fmla="*/ 2147483647 w 64"/>
                <a:gd name="T29" fmla="*/ 2147483647 h 56"/>
                <a:gd name="T30" fmla="*/ 2147483647 w 64"/>
                <a:gd name="T31" fmla="*/ 2147483647 h 56"/>
                <a:gd name="T32" fmla="*/ 2147483647 w 64"/>
                <a:gd name="T33" fmla="*/ 2147483647 h 56"/>
                <a:gd name="T34" fmla="*/ 2147483647 w 64"/>
                <a:gd name="T35" fmla="*/ 2147483647 h 56"/>
                <a:gd name="T36" fmla="*/ 2147483647 w 64"/>
                <a:gd name="T37" fmla="*/ 2147483647 h 56"/>
                <a:gd name="T38" fmla="*/ 2147483647 w 64"/>
                <a:gd name="T39" fmla="*/ 2147483647 h 56"/>
                <a:gd name="T40" fmla="*/ 2147483647 w 64"/>
                <a:gd name="T41" fmla="*/ 0 h 56"/>
                <a:gd name="T42" fmla="*/ 2147483647 w 64"/>
                <a:gd name="T43" fmla="*/ 0 h 56"/>
                <a:gd name="T44" fmla="*/ 2147483647 w 64"/>
                <a:gd name="T45" fmla="*/ 2147483647 h 56"/>
                <a:gd name="T46" fmla="*/ 2147483647 w 64"/>
                <a:gd name="T47" fmla="*/ 2147483647 h 56"/>
                <a:gd name="T48" fmla="*/ 2147483647 w 64"/>
                <a:gd name="T49" fmla="*/ 2147483647 h 56"/>
                <a:gd name="T50" fmla="*/ 2147483647 w 64"/>
                <a:gd name="T51" fmla="*/ 2147483647 h 56"/>
                <a:gd name="T52" fmla="*/ 0 w 64"/>
                <a:gd name="T53" fmla="*/ 2147483647 h 56"/>
                <a:gd name="T54" fmla="*/ 2147483647 w 64"/>
                <a:gd name="T55" fmla="*/ 2147483647 h 56"/>
                <a:gd name="T56" fmla="*/ 2147483647 w 64"/>
                <a:gd name="T57" fmla="*/ 2147483647 h 56"/>
                <a:gd name="T58" fmla="*/ 2147483647 w 64"/>
                <a:gd name="T59" fmla="*/ 2147483647 h 56"/>
                <a:gd name="T60" fmla="*/ 2147483647 w 64"/>
                <a:gd name="T61" fmla="*/ 2147483647 h 56"/>
                <a:gd name="T62" fmla="*/ 2147483647 w 64"/>
                <a:gd name="T63" fmla="*/ 2147483647 h 56"/>
                <a:gd name="T64" fmla="*/ 2147483647 w 64"/>
                <a:gd name="T65" fmla="*/ 2147483647 h 56"/>
                <a:gd name="T66" fmla="*/ 2147483647 w 64"/>
                <a:gd name="T67" fmla="*/ 2147483647 h 56"/>
                <a:gd name="T68" fmla="*/ 2147483647 w 64"/>
                <a:gd name="T69" fmla="*/ 2147483647 h 56"/>
                <a:gd name="T70" fmla="*/ 2147483647 w 64"/>
                <a:gd name="T71" fmla="*/ 2147483647 h 56"/>
                <a:gd name="T72" fmla="*/ 2147483647 w 64"/>
                <a:gd name="T73" fmla="*/ 2147483647 h 56"/>
                <a:gd name="T74" fmla="*/ 2147483647 w 64"/>
                <a:gd name="T75" fmla="*/ 2147483647 h 56"/>
                <a:gd name="T76" fmla="*/ 2147483647 w 64"/>
                <a:gd name="T77" fmla="*/ 2147483647 h 5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4"/>
                <a:gd name="T118" fmla="*/ 0 h 56"/>
                <a:gd name="T119" fmla="*/ 64 w 64"/>
                <a:gd name="T120" fmla="*/ 56 h 5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4" h="56">
                  <a:moveTo>
                    <a:pt x="64" y="16"/>
                  </a:moveTo>
                  <a:lnTo>
                    <a:pt x="64" y="0"/>
                  </a:lnTo>
                  <a:lnTo>
                    <a:pt x="56" y="0"/>
                  </a:lnTo>
                  <a:lnTo>
                    <a:pt x="32" y="16"/>
                  </a:lnTo>
                  <a:lnTo>
                    <a:pt x="24" y="8"/>
                  </a:lnTo>
                  <a:lnTo>
                    <a:pt x="16" y="8"/>
                  </a:lnTo>
                  <a:lnTo>
                    <a:pt x="8" y="8"/>
                  </a:lnTo>
                  <a:lnTo>
                    <a:pt x="0" y="24"/>
                  </a:lnTo>
                  <a:lnTo>
                    <a:pt x="16" y="56"/>
                  </a:lnTo>
                  <a:lnTo>
                    <a:pt x="24" y="56"/>
                  </a:lnTo>
                  <a:lnTo>
                    <a:pt x="32" y="48"/>
                  </a:lnTo>
                  <a:lnTo>
                    <a:pt x="48" y="48"/>
                  </a:lnTo>
                  <a:lnTo>
                    <a:pt x="48" y="40"/>
                  </a:lnTo>
                  <a:lnTo>
                    <a:pt x="40" y="24"/>
                  </a:lnTo>
                  <a:lnTo>
                    <a:pt x="56" y="16"/>
                  </a:lnTo>
                  <a:lnTo>
                    <a:pt x="64" y="16"/>
                  </a:lnTo>
                  <a:lnTo>
                    <a:pt x="64" y="0"/>
                  </a:lnTo>
                  <a:lnTo>
                    <a:pt x="56" y="0"/>
                  </a:lnTo>
                  <a:lnTo>
                    <a:pt x="32" y="16"/>
                  </a:lnTo>
                  <a:lnTo>
                    <a:pt x="24" y="8"/>
                  </a:lnTo>
                  <a:lnTo>
                    <a:pt x="16" y="8"/>
                  </a:lnTo>
                  <a:lnTo>
                    <a:pt x="8" y="8"/>
                  </a:lnTo>
                  <a:lnTo>
                    <a:pt x="0" y="24"/>
                  </a:lnTo>
                  <a:lnTo>
                    <a:pt x="16" y="56"/>
                  </a:lnTo>
                  <a:lnTo>
                    <a:pt x="24" y="56"/>
                  </a:lnTo>
                  <a:lnTo>
                    <a:pt x="32" y="48"/>
                  </a:lnTo>
                  <a:lnTo>
                    <a:pt x="48" y="48"/>
                  </a:lnTo>
                  <a:lnTo>
                    <a:pt x="48" y="40"/>
                  </a:lnTo>
                  <a:lnTo>
                    <a:pt x="40" y="24"/>
                  </a:lnTo>
                  <a:lnTo>
                    <a:pt x="56" y="16"/>
                  </a:lnTo>
                  <a:lnTo>
                    <a:pt x="64"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63" name="Freeform 613"/>
            <p:cNvSpPr>
              <a:spLocks/>
            </p:cNvSpPr>
            <p:nvPr/>
          </p:nvSpPr>
          <p:spPr bwMode="auto">
            <a:xfrm>
              <a:off x="3421136" y="3127452"/>
              <a:ext cx="67574" cy="42450"/>
            </a:xfrm>
            <a:custGeom>
              <a:avLst/>
              <a:gdLst>
                <a:gd name="T0" fmla="*/ 2147483647 w 64"/>
                <a:gd name="T1" fmla="*/ 2147483647 h 40"/>
                <a:gd name="T2" fmla="*/ 2147483647 w 64"/>
                <a:gd name="T3" fmla="*/ 2147483647 h 40"/>
                <a:gd name="T4" fmla="*/ 2147483647 w 64"/>
                <a:gd name="T5" fmla="*/ 2147483647 h 40"/>
                <a:gd name="T6" fmla="*/ 2147483647 w 64"/>
                <a:gd name="T7" fmla="*/ 2147483647 h 40"/>
                <a:gd name="T8" fmla="*/ 2147483647 w 64"/>
                <a:gd name="T9" fmla="*/ 0 h 40"/>
                <a:gd name="T10" fmla="*/ 2147483647 w 64"/>
                <a:gd name="T11" fmla="*/ 2147483647 h 40"/>
                <a:gd name="T12" fmla="*/ 2147483647 w 64"/>
                <a:gd name="T13" fmla="*/ 0 h 40"/>
                <a:gd name="T14" fmla="*/ 0 w 64"/>
                <a:gd name="T15" fmla="*/ 2147483647 h 40"/>
                <a:gd name="T16" fmla="*/ 2147483647 w 64"/>
                <a:gd name="T17" fmla="*/ 2147483647 h 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4"/>
                <a:gd name="T28" fmla="*/ 0 h 40"/>
                <a:gd name="T29" fmla="*/ 64 w 64"/>
                <a:gd name="T30" fmla="*/ 40 h 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 h="40">
                  <a:moveTo>
                    <a:pt x="16" y="32"/>
                  </a:moveTo>
                  <a:lnTo>
                    <a:pt x="48" y="40"/>
                  </a:lnTo>
                  <a:lnTo>
                    <a:pt x="56" y="16"/>
                  </a:lnTo>
                  <a:lnTo>
                    <a:pt x="64" y="16"/>
                  </a:lnTo>
                  <a:lnTo>
                    <a:pt x="56" y="0"/>
                  </a:lnTo>
                  <a:lnTo>
                    <a:pt x="24" y="8"/>
                  </a:lnTo>
                  <a:lnTo>
                    <a:pt x="8" y="0"/>
                  </a:lnTo>
                  <a:lnTo>
                    <a:pt x="0" y="16"/>
                  </a:lnTo>
                  <a:lnTo>
                    <a:pt x="16"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64" name="Freeform 614"/>
            <p:cNvSpPr>
              <a:spLocks/>
            </p:cNvSpPr>
            <p:nvPr/>
          </p:nvSpPr>
          <p:spPr bwMode="auto">
            <a:xfrm>
              <a:off x="3429799" y="3144779"/>
              <a:ext cx="101360" cy="118687"/>
            </a:xfrm>
            <a:custGeom>
              <a:avLst/>
              <a:gdLst>
                <a:gd name="T0" fmla="*/ 2147483647 w 96"/>
                <a:gd name="T1" fmla="*/ 2147483647 h 112"/>
                <a:gd name="T2" fmla="*/ 2147483647 w 96"/>
                <a:gd name="T3" fmla="*/ 2147483647 h 112"/>
                <a:gd name="T4" fmla="*/ 2147483647 w 96"/>
                <a:gd name="T5" fmla="*/ 2147483647 h 112"/>
                <a:gd name="T6" fmla="*/ 0 w 96"/>
                <a:gd name="T7" fmla="*/ 2147483647 h 112"/>
                <a:gd name="T8" fmla="*/ 2147483647 w 96"/>
                <a:gd name="T9" fmla="*/ 2147483647 h 112"/>
                <a:gd name="T10" fmla="*/ 2147483647 w 96"/>
                <a:gd name="T11" fmla="*/ 2147483647 h 112"/>
                <a:gd name="T12" fmla="*/ 2147483647 w 96"/>
                <a:gd name="T13" fmla="*/ 2147483647 h 112"/>
                <a:gd name="T14" fmla="*/ 2147483647 w 96"/>
                <a:gd name="T15" fmla="*/ 2147483647 h 112"/>
                <a:gd name="T16" fmla="*/ 2147483647 w 96"/>
                <a:gd name="T17" fmla="*/ 2147483647 h 112"/>
                <a:gd name="T18" fmla="*/ 2147483647 w 96"/>
                <a:gd name="T19" fmla="*/ 2147483647 h 112"/>
                <a:gd name="T20" fmla="*/ 2147483647 w 96"/>
                <a:gd name="T21" fmla="*/ 0 h 112"/>
                <a:gd name="T22" fmla="*/ 2147483647 w 96"/>
                <a:gd name="T23" fmla="*/ 0 h 112"/>
                <a:gd name="T24" fmla="*/ 2147483647 w 96"/>
                <a:gd name="T25" fmla="*/ 0 h 112"/>
                <a:gd name="T26" fmla="*/ 2147483647 w 96"/>
                <a:gd name="T27" fmla="*/ 2147483647 h 1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6"/>
                <a:gd name="T43" fmla="*/ 0 h 112"/>
                <a:gd name="T44" fmla="*/ 96 w 96"/>
                <a:gd name="T45" fmla="*/ 112 h 1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6" h="112">
                  <a:moveTo>
                    <a:pt x="40" y="24"/>
                  </a:moveTo>
                  <a:lnTo>
                    <a:pt x="40" y="48"/>
                  </a:lnTo>
                  <a:lnTo>
                    <a:pt x="16" y="64"/>
                  </a:lnTo>
                  <a:lnTo>
                    <a:pt x="0" y="72"/>
                  </a:lnTo>
                  <a:lnTo>
                    <a:pt x="8" y="80"/>
                  </a:lnTo>
                  <a:lnTo>
                    <a:pt x="16" y="112"/>
                  </a:lnTo>
                  <a:lnTo>
                    <a:pt x="48" y="88"/>
                  </a:lnTo>
                  <a:lnTo>
                    <a:pt x="72" y="56"/>
                  </a:lnTo>
                  <a:lnTo>
                    <a:pt x="80" y="40"/>
                  </a:lnTo>
                  <a:lnTo>
                    <a:pt x="96" y="24"/>
                  </a:lnTo>
                  <a:lnTo>
                    <a:pt x="64" y="0"/>
                  </a:lnTo>
                  <a:lnTo>
                    <a:pt x="56" y="0"/>
                  </a:lnTo>
                  <a:lnTo>
                    <a:pt x="48" y="0"/>
                  </a:lnTo>
                  <a:lnTo>
                    <a:pt x="40"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65" name="Freeform 615"/>
            <p:cNvSpPr>
              <a:spLocks/>
            </p:cNvSpPr>
            <p:nvPr/>
          </p:nvSpPr>
          <p:spPr bwMode="auto">
            <a:xfrm>
              <a:off x="3302448" y="3221016"/>
              <a:ext cx="143811" cy="84900"/>
            </a:xfrm>
            <a:custGeom>
              <a:avLst/>
              <a:gdLst>
                <a:gd name="T0" fmla="*/ 2147483647 w 136"/>
                <a:gd name="T1" fmla="*/ 0 h 80"/>
                <a:gd name="T2" fmla="*/ 2147483647 w 136"/>
                <a:gd name="T3" fmla="*/ 2147483647 h 80"/>
                <a:gd name="T4" fmla="*/ 2147483647 w 136"/>
                <a:gd name="T5" fmla="*/ 2147483647 h 80"/>
                <a:gd name="T6" fmla="*/ 2147483647 w 136"/>
                <a:gd name="T7" fmla="*/ 2147483647 h 80"/>
                <a:gd name="T8" fmla="*/ 0 w 136"/>
                <a:gd name="T9" fmla="*/ 2147483647 h 80"/>
                <a:gd name="T10" fmla="*/ 2147483647 w 136"/>
                <a:gd name="T11" fmla="*/ 2147483647 h 80"/>
                <a:gd name="T12" fmla="*/ 2147483647 w 136"/>
                <a:gd name="T13" fmla="*/ 2147483647 h 80"/>
                <a:gd name="T14" fmla="*/ 2147483647 w 136"/>
                <a:gd name="T15" fmla="*/ 2147483647 h 80"/>
                <a:gd name="T16" fmla="*/ 2147483647 w 136"/>
                <a:gd name="T17" fmla="*/ 2147483647 h 80"/>
                <a:gd name="T18" fmla="*/ 2147483647 w 136"/>
                <a:gd name="T19" fmla="*/ 2147483647 h 80"/>
                <a:gd name="T20" fmla="*/ 2147483647 w 136"/>
                <a:gd name="T21" fmla="*/ 2147483647 h 80"/>
                <a:gd name="T22" fmla="*/ 2147483647 w 136"/>
                <a:gd name="T23" fmla="*/ 2147483647 h 80"/>
                <a:gd name="T24" fmla="*/ 2147483647 w 136"/>
                <a:gd name="T25" fmla="*/ 2147483647 h 80"/>
                <a:gd name="T26" fmla="*/ 2147483647 w 136"/>
                <a:gd name="T27" fmla="*/ 0 h 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80"/>
                <a:gd name="T44" fmla="*/ 136 w 136"/>
                <a:gd name="T45" fmla="*/ 80 h 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80">
                  <a:moveTo>
                    <a:pt x="120" y="0"/>
                  </a:moveTo>
                  <a:lnTo>
                    <a:pt x="72" y="16"/>
                  </a:lnTo>
                  <a:lnTo>
                    <a:pt x="56" y="24"/>
                  </a:lnTo>
                  <a:lnTo>
                    <a:pt x="16" y="24"/>
                  </a:lnTo>
                  <a:lnTo>
                    <a:pt x="0" y="32"/>
                  </a:lnTo>
                  <a:lnTo>
                    <a:pt x="8" y="48"/>
                  </a:lnTo>
                  <a:lnTo>
                    <a:pt x="24" y="80"/>
                  </a:lnTo>
                  <a:lnTo>
                    <a:pt x="48" y="72"/>
                  </a:lnTo>
                  <a:lnTo>
                    <a:pt x="64" y="72"/>
                  </a:lnTo>
                  <a:lnTo>
                    <a:pt x="80" y="56"/>
                  </a:lnTo>
                  <a:lnTo>
                    <a:pt x="104" y="48"/>
                  </a:lnTo>
                  <a:lnTo>
                    <a:pt x="136" y="40"/>
                  </a:lnTo>
                  <a:lnTo>
                    <a:pt x="128" y="8"/>
                  </a:lnTo>
                  <a:lnTo>
                    <a:pt x="12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66" name="Freeform 616"/>
            <p:cNvSpPr>
              <a:spLocks/>
            </p:cNvSpPr>
            <p:nvPr/>
          </p:nvSpPr>
          <p:spPr bwMode="auto">
            <a:xfrm>
              <a:off x="3200221" y="3026091"/>
              <a:ext cx="272028" cy="228711"/>
            </a:xfrm>
            <a:custGeom>
              <a:avLst/>
              <a:gdLst>
                <a:gd name="T0" fmla="*/ 2147483647 w 256"/>
                <a:gd name="T1" fmla="*/ 2147483647 h 216"/>
                <a:gd name="T2" fmla="*/ 2147483647 w 256"/>
                <a:gd name="T3" fmla="*/ 2147483647 h 216"/>
                <a:gd name="T4" fmla="*/ 2147483647 w 256"/>
                <a:gd name="T5" fmla="*/ 2147483647 h 216"/>
                <a:gd name="T6" fmla="*/ 2147483647 w 256"/>
                <a:gd name="T7" fmla="*/ 2147483647 h 216"/>
                <a:gd name="T8" fmla="*/ 2147483647 w 256"/>
                <a:gd name="T9" fmla="*/ 2147483647 h 216"/>
                <a:gd name="T10" fmla="*/ 2147483647 w 256"/>
                <a:gd name="T11" fmla="*/ 2147483647 h 216"/>
                <a:gd name="T12" fmla="*/ 2147483647 w 256"/>
                <a:gd name="T13" fmla="*/ 2147483647 h 216"/>
                <a:gd name="T14" fmla="*/ 2147483647 w 256"/>
                <a:gd name="T15" fmla="*/ 2147483647 h 216"/>
                <a:gd name="T16" fmla="*/ 2147483647 w 256"/>
                <a:gd name="T17" fmla="*/ 2147483647 h 216"/>
                <a:gd name="T18" fmla="*/ 2147483647 w 256"/>
                <a:gd name="T19" fmla="*/ 2147483647 h 216"/>
                <a:gd name="T20" fmla="*/ 2147483647 w 256"/>
                <a:gd name="T21" fmla="*/ 2147483647 h 216"/>
                <a:gd name="T22" fmla="*/ 2147483647 w 256"/>
                <a:gd name="T23" fmla="*/ 2147483647 h 216"/>
                <a:gd name="T24" fmla="*/ 2147483647 w 256"/>
                <a:gd name="T25" fmla="*/ 0 h 216"/>
                <a:gd name="T26" fmla="*/ 2147483647 w 256"/>
                <a:gd name="T27" fmla="*/ 0 h 216"/>
                <a:gd name="T28" fmla="*/ 2147483647 w 256"/>
                <a:gd name="T29" fmla="*/ 0 h 216"/>
                <a:gd name="T30" fmla="*/ 2147483647 w 256"/>
                <a:gd name="T31" fmla="*/ 2147483647 h 216"/>
                <a:gd name="T32" fmla="*/ 2147483647 w 256"/>
                <a:gd name="T33" fmla="*/ 2147483647 h 216"/>
                <a:gd name="T34" fmla="*/ 2147483647 w 256"/>
                <a:gd name="T35" fmla="*/ 2147483647 h 216"/>
                <a:gd name="T36" fmla="*/ 2147483647 w 256"/>
                <a:gd name="T37" fmla="*/ 2147483647 h 216"/>
                <a:gd name="T38" fmla="*/ 2147483647 w 256"/>
                <a:gd name="T39" fmla="*/ 2147483647 h 216"/>
                <a:gd name="T40" fmla="*/ 0 w 256"/>
                <a:gd name="T41" fmla="*/ 2147483647 h 216"/>
                <a:gd name="T42" fmla="*/ 2147483647 w 256"/>
                <a:gd name="T43" fmla="*/ 2147483647 h 216"/>
                <a:gd name="T44" fmla="*/ 2147483647 w 256"/>
                <a:gd name="T45" fmla="*/ 2147483647 h 216"/>
                <a:gd name="T46" fmla="*/ 2147483647 w 256"/>
                <a:gd name="T47" fmla="*/ 2147483647 h 216"/>
                <a:gd name="T48" fmla="*/ 2147483647 w 256"/>
                <a:gd name="T49" fmla="*/ 2147483647 h 216"/>
                <a:gd name="T50" fmla="*/ 2147483647 w 256"/>
                <a:gd name="T51" fmla="*/ 2147483647 h 216"/>
                <a:gd name="T52" fmla="*/ 2147483647 w 256"/>
                <a:gd name="T53" fmla="*/ 2147483647 h 216"/>
                <a:gd name="T54" fmla="*/ 2147483647 w 256"/>
                <a:gd name="T55" fmla="*/ 2147483647 h 216"/>
                <a:gd name="T56" fmla="*/ 2147483647 w 256"/>
                <a:gd name="T57" fmla="*/ 2147483647 h 216"/>
                <a:gd name="T58" fmla="*/ 2147483647 w 256"/>
                <a:gd name="T59" fmla="*/ 2147483647 h 216"/>
                <a:gd name="T60" fmla="*/ 2147483647 w 256"/>
                <a:gd name="T61" fmla="*/ 2147483647 h 216"/>
                <a:gd name="T62" fmla="*/ 2147483647 w 256"/>
                <a:gd name="T63" fmla="*/ 2147483647 h 216"/>
                <a:gd name="T64" fmla="*/ 2147483647 w 256"/>
                <a:gd name="T65" fmla="*/ 2147483647 h 21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6"/>
                <a:gd name="T100" fmla="*/ 0 h 216"/>
                <a:gd name="T101" fmla="*/ 256 w 256"/>
                <a:gd name="T102" fmla="*/ 216 h 21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6" h="216">
                  <a:moveTo>
                    <a:pt x="256" y="136"/>
                  </a:moveTo>
                  <a:lnTo>
                    <a:pt x="224" y="128"/>
                  </a:lnTo>
                  <a:lnTo>
                    <a:pt x="208" y="112"/>
                  </a:lnTo>
                  <a:lnTo>
                    <a:pt x="216" y="96"/>
                  </a:lnTo>
                  <a:lnTo>
                    <a:pt x="208" y="96"/>
                  </a:lnTo>
                  <a:lnTo>
                    <a:pt x="192" y="88"/>
                  </a:lnTo>
                  <a:lnTo>
                    <a:pt x="184" y="64"/>
                  </a:lnTo>
                  <a:lnTo>
                    <a:pt x="168" y="48"/>
                  </a:lnTo>
                  <a:lnTo>
                    <a:pt x="160" y="48"/>
                  </a:lnTo>
                  <a:lnTo>
                    <a:pt x="144" y="40"/>
                  </a:lnTo>
                  <a:lnTo>
                    <a:pt x="112" y="32"/>
                  </a:lnTo>
                  <a:lnTo>
                    <a:pt x="104" y="24"/>
                  </a:lnTo>
                  <a:lnTo>
                    <a:pt x="64" y="0"/>
                  </a:lnTo>
                  <a:lnTo>
                    <a:pt x="48" y="0"/>
                  </a:lnTo>
                  <a:lnTo>
                    <a:pt x="40" y="0"/>
                  </a:lnTo>
                  <a:lnTo>
                    <a:pt x="24" y="8"/>
                  </a:lnTo>
                  <a:lnTo>
                    <a:pt x="32" y="24"/>
                  </a:lnTo>
                  <a:lnTo>
                    <a:pt x="32" y="32"/>
                  </a:lnTo>
                  <a:lnTo>
                    <a:pt x="16" y="32"/>
                  </a:lnTo>
                  <a:lnTo>
                    <a:pt x="8" y="40"/>
                  </a:lnTo>
                  <a:lnTo>
                    <a:pt x="0" y="40"/>
                  </a:lnTo>
                  <a:lnTo>
                    <a:pt x="8" y="56"/>
                  </a:lnTo>
                  <a:lnTo>
                    <a:pt x="40" y="112"/>
                  </a:lnTo>
                  <a:lnTo>
                    <a:pt x="56" y="128"/>
                  </a:lnTo>
                  <a:lnTo>
                    <a:pt x="64" y="152"/>
                  </a:lnTo>
                  <a:lnTo>
                    <a:pt x="72" y="184"/>
                  </a:lnTo>
                  <a:lnTo>
                    <a:pt x="96" y="208"/>
                  </a:lnTo>
                  <a:lnTo>
                    <a:pt x="96" y="216"/>
                  </a:lnTo>
                  <a:lnTo>
                    <a:pt x="112" y="208"/>
                  </a:lnTo>
                  <a:lnTo>
                    <a:pt x="152" y="208"/>
                  </a:lnTo>
                  <a:lnTo>
                    <a:pt x="168" y="200"/>
                  </a:lnTo>
                  <a:lnTo>
                    <a:pt x="216" y="184"/>
                  </a:lnTo>
                  <a:lnTo>
                    <a:pt x="256" y="13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67" name="Freeform 617"/>
            <p:cNvSpPr>
              <a:spLocks/>
            </p:cNvSpPr>
            <p:nvPr/>
          </p:nvSpPr>
          <p:spPr bwMode="auto">
            <a:xfrm>
              <a:off x="3429799" y="3169902"/>
              <a:ext cx="42450" cy="51114"/>
            </a:xfrm>
            <a:custGeom>
              <a:avLst/>
              <a:gdLst>
                <a:gd name="T0" fmla="*/ 0 w 40"/>
                <a:gd name="T1" fmla="*/ 2147483647 h 48"/>
                <a:gd name="T2" fmla="*/ 2147483647 w 40"/>
                <a:gd name="T3" fmla="*/ 2147483647 h 48"/>
                <a:gd name="T4" fmla="*/ 2147483647 w 40"/>
                <a:gd name="T5" fmla="*/ 2147483647 h 48"/>
                <a:gd name="T6" fmla="*/ 2147483647 w 40"/>
                <a:gd name="T7" fmla="*/ 0 h 48"/>
                <a:gd name="T8" fmla="*/ 0 w 40"/>
                <a:gd name="T9" fmla="*/ 2147483647 h 48"/>
                <a:gd name="T10" fmla="*/ 0 60000 65536"/>
                <a:gd name="T11" fmla="*/ 0 60000 65536"/>
                <a:gd name="T12" fmla="*/ 0 60000 65536"/>
                <a:gd name="T13" fmla="*/ 0 60000 65536"/>
                <a:gd name="T14" fmla="*/ 0 60000 65536"/>
                <a:gd name="T15" fmla="*/ 0 w 40"/>
                <a:gd name="T16" fmla="*/ 0 h 48"/>
                <a:gd name="T17" fmla="*/ 40 w 40"/>
                <a:gd name="T18" fmla="*/ 48 h 48"/>
              </a:gdLst>
              <a:ahLst/>
              <a:cxnLst>
                <a:cxn ang="T10">
                  <a:pos x="T0" y="T1"/>
                </a:cxn>
                <a:cxn ang="T11">
                  <a:pos x="T2" y="T3"/>
                </a:cxn>
                <a:cxn ang="T12">
                  <a:pos x="T4" y="T5"/>
                </a:cxn>
                <a:cxn ang="T13">
                  <a:pos x="T6" y="T7"/>
                </a:cxn>
                <a:cxn ang="T14">
                  <a:pos x="T8" y="T9"/>
                </a:cxn>
              </a:cxnLst>
              <a:rect l="T15" t="T16" r="T17" b="T18"/>
              <a:pathLst>
                <a:path w="40" h="48">
                  <a:moveTo>
                    <a:pt x="0" y="48"/>
                  </a:moveTo>
                  <a:lnTo>
                    <a:pt x="16" y="40"/>
                  </a:lnTo>
                  <a:lnTo>
                    <a:pt x="40" y="24"/>
                  </a:lnTo>
                  <a:lnTo>
                    <a:pt x="40" y="0"/>
                  </a:lnTo>
                  <a:lnTo>
                    <a:pt x="0" y="4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68" name="Freeform 618"/>
            <p:cNvSpPr>
              <a:spLocks/>
            </p:cNvSpPr>
            <p:nvPr/>
          </p:nvSpPr>
          <p:spPr bwMode="auto">
            <a:xfrm>
              <a:off x="3251335" y="2941191"/>
              <a:ext cx="136013" cy="135147"/>
            </a:xfrm>
            <a:custGeom>
              <a:avLst/>
              <a:gdLst>
                <a:gd name="T0" fmla="*/ 2147483647 w 128"/>
                <a:gd name="T1" fmla="*/ 2147483647 h 128"/>
                <a:gd name="T2" fmla="*/ 2147483647 w 128"/>
                <a:gd name="T3" fmla="*/ 2147483647 h 128"/>
                <a:gd name="T4" fmla="*/ 2147483647 w 128"/>
                <a:gd name="T5" fmla="*/ 2147483647 h 128"/>
                <a:gd name="T6" fmla="*/ 2147483647 w 128"/>
                <a:gd name="T7" fmla="*/ 2147483647 h 128"/>
                <a:gd name="T8" fmla="*/ 2147483647 w 128"/>
                <a:gd name="T9" fmla="*/ 0 h 128"/>
                <a:gd name="T10" fmla="*/ 2147483647 w 128"/>
                <a:gd name="T11" fmla="*/ 0 h 128"/>
                <a:gd name="T12" fmla="*/ 2147483647 w 128"/>
                <a:gd name="T13" fmla="*/ 0 h 128"/>
                <a:gd name="T14" fmla="*/ 2147483647 w 128"/>
                <a:gd name="T15" fmla="*/ 0 h 128"/>
                <a:gd name="T16" fmla="*/ 2147483647 w 128"/>
                <a:gd name="T17" fmla="*/ 2147483647 h 128"/>
                <a:gd name="T18" fmla="*/ 2147483647 w 128"/>
                <a:gd name="T19" fmla="*/ 2147483647 h 128"/>
                <a:gd name="T20" fmla="*/ 2147483647 w 128"/>
                <a:gd name="T21" fmla="*/ 2147483647 h 128"/>
                <a:gd name="T22" fmla="*/ 0 w 128"/>
                <a:gd name="T23" fmla="*/ 2147483647 h 128"/>
                <a:gd name="T24" fmla="*/ 0 w 128"/>
                <a:gd name="T25" fmla="*/ 2147483647 h 128"/>
                <a:gd name="T26" fmla="*/ 2147483647 w 128"/>
                <a:gd name="T27" fmla="*/ 2147483647 h 128"/>
                <a:gd name="T28" fmla="*/ 2147483647 w 128"/>
                <a:gd name="T29" fmla="*/ 2147483647 h 128"/>
                <a:gd name="T30" fmla="*/ 2147483647 w 128"/>
                <a:gd name="T31" fmla="*/ 2147483647 h 128"/>
                <a:gd name="T32" fmla="*/ 2147483647 w 128"/>
                <a:gd name="T33" fmla="*/ 2147483647 h 128"/>
                <a:gd name="T34" fmla="*/ 2147483647 w 128"/>
                <a:gd name="T35" fmla="*/ 2147483647 h 128"/>
                <a:gd name="T36" fmla="*/ 2147483647 w 128"/>
                <a:gd name="T37" fmla="*/ 2147483647 h 128"/>
                <a:gd name="T38" fmla="*/ 2147483647 w 128"/>
                <a:gd name="T39" fmla="*/ 2147483647 h 128"/>
                <a:gd name="T40" fmla="*/ 2147483647 w 128"/>
                <a:gd name="T41" fmla="*/ 2147483647 h 128"/>
                <a:gd name="T42" fmla="*/ 2147483647 w 128"/>
                <a:gd name="T43" fmla="*/ 2147483647 h 128"/>
                <a:gd name="T44" fmla="*/ 2147483647 w 128"/>
                <a:gd name="T45" fmla="*/ 2147483647 h 12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8"/>
                <a:gd name="T70" fmla="*/ 0 h 128"/>
                <a:gd name="T71" fmla="*/ 128 w 128"/>
                <a:gd name="T72" fmla="*/ 128 h 12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8" h="128">
                  <a:moveTo>
                    <a:pt x="112" y="80"/>
                  </a:moveTo>
                  <a:lnTo>
                    <a:pt x="88" y="56"/>
                  </a:lnTo>
                  <a:lnTo>
                    <a:pt x="88" y="40"/>
                  </a:lnTo>
                  <a:lnTo>
                    <a:pt x="88" y="24"/>
                  </a:lnTo>
                  <a:lnTo>
                    <a:pt x="72" y="0"/>
                  </a:lnTo>
                  <a:lnTo>
                    <a:pt x="64" y="0"/>
                  </a:lnTo>
                  <a:lnTo>
                    <a:pt x="48" y="0"/>
                  </a:lnTo>
                  <a:lnTo>
                    <a:pt x="40" y="0"/>
                  </a:lnTo>
                  <a:lnTo>
                    <a:pt x="40" y="8"/>
                  </a:lnTo>
                  <a:lnTo>
                    <a:pt x="32" y="16"/>
                  </a:lnTo>
                  <a:lnTo>
                    <a:pt x="24" y="48"/>
                  </a:lnTo>
                  <a:lnTo>
                    <a:pt x="0" y="64"/>
                  </a:lnTo>
                  <a:lnTo>
                    <a:pt x="0" y="80"/>
                  </a:lnTo>
                  <a:lnTo>
                    <a:pt x="16" y="80"/>
                  </a:lnTo>
                  <a:lnTo>
                    <a:pt x="56" y="104"/>
                  </a:lnTo>
                  <a:lnTo>
                    <a:pt x="64" y="112"/>
                  </a:lnTo>
                  <a:lnTo>
                    <a:pt x="96" y="120"/>
                  </a:lnTo>
                  <a:lnTo>
                    <a:pt x="112" y="128"/>
                  </a:lnTo>
                  <a:lnTo>
                    <a:pt x="120" y="128"/>
                  </a:lnTo>
                  <a:lnTo>
                    <a:pt x="120" y="120"/>
                  </a:lnTo>
                  <a:lnTo>
                    <a:pt x="128" y="112"/>
                  </a:lnTo>
                  <a:lnTo>
                    <a:pt x="120" y="96"/>
                  </a:lnTo>
                  <a:lnTo>
                    <a:pt x="112" y="8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69" name="Freeform 619"/>
            <p:cNvSpPr>
              <a:spLocks/>
            </p:cNvSpPr>
            <p:nvPr/>
          </p:nvSpPr>
          <p:spPr bwMode="auto">
            <a:xfrm>
              <a:off x="3421136" y="3127452"/>
              <a:ext cx="67574" cy="42450"/>
            </a:xfrm>
            <a:custGeom>
              <a:avLst/>
              <a:gdLst>
                <a:gd name="T0" fmla="*/ 2147483647 w 64"/>
                <a:gd name="T1" fmla="*/ 2147483647 h 40"/>
                <a:gd name="T2" fmla="*/ 2147483647 w 64"/>
                <a:gd name="T3" fmla="*/ 2147483647 h 40"/>
                <a:gd name="T4" fmla="*/ 2147483647 w 64"/>
                <a:gd name="T5" fmla="*/ 2147483647 h 40"/>
                <a:gd name="T6" fmla="*/ 2147483647 w 64"/>
                <a:gd name="T7" fmla="*/ 2147483647 h 40"/>
                <a:gd name="T8" fmla="*/ 2147483647 w 64"/>
                <a:gd name="T9" fmla="*/ 0 h 40"/>
                <a:gd name="T10" fmla="*/ 2147483647 w 64"/>
                <a:gd name="T11" fmla="*/ 2147483647 h 40"/>
                <a:gd name="T12" fmla="*/ 2147483647 w 64"/>
                <a:gd name="T13" fmla="*/ 0 h 40"/>
                <a:gd name="T14" fmla="*/ 0 w 64"/>
                <a:gd name="T15" fmla="*/ 2147483647 h 40"/>
                <a:gd name="T16" fmla="*/ 2147483647 w 64"/>
                <a:gd name="T17" fmla="*/ 2147483647 h 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4"/>
                <a:gd name="T28" fmla="*/ 0 h 40"/>
                <a:gd name="T29" fmla="*/ 64 w 64"/>
                <a:gd name="T30" fmla="*/ 40 h 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 h="40">
                  <a:moveTo>
                    <a:pt x="16" y="32"/>
                  </a:moveTo>
                  <a:lnTo>
                    <a:pt x="48" y="40"/>
                  </a:lnTo>
                  <a:lnTo>
                    <a:pt x="56" y="16"/>
                  </a:lnTo>
                  <a:lnTo>
                    <a:pt x="64" y="16"/>
                  </a:lnTo>
                  <a:lnTo>
                    <a:pt x="56" y="0"/>
                  </a:lnTo>
                  <a:lnTo>
                    <a:pt x="24" y="8"/>
                  </a:lnTo>
                  <a:lnTo>
                    <a:pt x="8" y="0"/>
                  </a:lnTo>
                  <a:lnTo>
                    <a:pt x="0" y="16"/>
                  </a:lnTo>
                  <a:lnTo>
                    <a:pt x="16"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70" name="Freeform 620"/>
            <p:cNvSpPr>
              <a:spLocks/>
            </p:cNvSpPr>
            <p:nvPr/>
          </p:nvSpPr>
          <p:spPr bwMode="auto">
            <a:xfrm>
              <a:off x="3251335" y="2941191"/>
              <a:ext cx="136013" cy="135147"/>
            </a:xfrm>
            <a:custGeom>
              <a:avLst/>
              <a:gdLst>
                <a:gd name="T0" fmla="*/ 2147483647 w 128"/>
                <a:gd name="T1" fmla="*/ 2147483647 h 128"/>
                <a:gd name="T2" fmla="*/ 2147483647 w 128"/>
                <a:gd name="T3" fmla="*/ 2147483647 h 128"/>
                <a:gd name="T4" fmla="*/ 2147483647 w 128"/>
                <a:gd name="T5" fmla="*/ 2147483647 h 128"/>
                <a:gd name="T6" fmla="*/ 2147483647 w 128"/>
                <a:gd name="T7" fmla="*/ 2147483647 h 128"/>
                <a:gd name="T8" fmla="*/ 2147483647 w 128"/>
                <a:gd name="T9" fmla="*/ 0 h 128"/>
                <a:gd name="T10" fmla="*/ 2147483647 w 128"/>
                <a:gd name="T11" fmla="*/ 0 h 128"/>
                <a:gd name="T12" fmla="*/ 2147483647 w 128"/>
                <a:gd name="T13" fmla="*/ 0 h 128"/>
                <a:gd name="T14" fmla="*/ 2147483647 w 128"/>
                <a:gd name="T15" fmla="*/ 0 h 128"/>
                <a:gd name="T16" fmla="*/ 2147483647 w 128"/>
                <a:gd name="T17" fmla="*/ 2147483647 h 128"/>
                <a:gd name="T18" fmla="*/ 2147483647 w 128"/>
                <a:gd name="T19" fmla="*/ 2147483647 h 128"/>
                <a:gd name="T20" fmla="*/ 2147483647 w 128"/>
                <a:gd name="T21" fmla="*/ 2147483647 h 128"/>
                <a:gd name="T22" fmla="*/ 0 w 128"/>
                <a:gd name="T23" fmla="*/ 2147483647 h 128"/>
                <a:gd name="T24" fmla="*/ 0 w 128"/>
                <a:gd name="T25" fmla="*/ 2147483647 h 128"/>
                <a:gd name="T26" fmla="*/ 2147483647 w 128"/>
                <a:gd name="T27" fmla="*/ 2147483647 h 128"/>
                <a:gd name="T28" fmla="*/ 2147483647 w 128"/>
                <a:gd name="T29" fmla="*/ 2147483647 h 128"/>
                <a:gd name="T30" fmla="*/ 2147483647 w 128"/>
                <a:gd name="T31" fmla="*/ 2147483647 h 128"/>
                <a:gd name="T32" fmla="*/ 2147483647 w 128"/>
                <a:gd name="T33" fmla="*/ 2147483647 h 128"/>
                <a:gd name="T34" fmla="*/ 2147483647 w 128"/>
                <a:gd name="T35" fmla="*/ 2147483647 h 128"/>
                <a:gd name="T36" fmla="*/ 2147483647 w 128"/>
                <a:gd name="T37" fmla="*/ 2147483647 h 128"/>
                <a:gd name="T38" fmla="*/ 2147483647 w 128"/>
                <a:gd name="T39" fmla="*/ 2147483647 h 128"/>
                <a:gd name="T40" fmla="*/ 2147483647 w 128"/>
                <a:gd name="T41" fmla="*/ 2147483647 h 128"/>
                <a:gd name="T42" fmla="*/ 2147483647 w 128"/>
                <a:gd name="T43" fmla="*/ 2147483647 h 128"/>
                <a:gd name="T44" fmla="*/ 2147483647 w 128"/>
                <a:gd name="T45" fmla="*/ 2147483647 h 12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8"/>
                <a:gd name="T70" fmla="*/ 0 h 128"/>
                <a:gd name="T71" fmla="*/ 128 w 128"/>
                <a:gd name="T72" fmla="*/ 128 h 12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8" h="128">
                  <a:moveTo>
                    <a:pt x="112" y="80"/>
                  </a:moveTo>
                  <a:lnTo>
                    <a:pt x="88" y="56"/>
                  </a:lnTo>
                  <a:lnTo>
                    <a:pt x="88" y="40"/>
                  </a:lnTo>
                  <a:lnTo>
                    <a:pt x="88" y="24"/>
                  </a:lnTo>
                  <a:lnTo>
                    <a:pt x="72" y="0"/>
                  </a:lnTo>
                  <a:lnTo>
                    <a:pt x="64" y="0"/>
                  </a:lnTo>
                  <a:lnTo>
                    <a:pt x="48" y="0"/>
                  </a:lnTo>
                  <a:lnTo>
                    <a:pt x="40" y="0"/>
                  </a:lnTo>
                  <a:lnTo>
                    <a:pt x="40" y="8"/>
                  </a:lnTo>
                  <a:lnTo>
                    <a:pt x="32" y="16"/>
                  </a:lnTo>
                  <a:lnTo>
                    <a:pt x="24" y="48"/>
                  </a:lnTo>
                  <a:lnTo>
                    <a:pt x="0" y="64"/>
                  </a:lnTo>
                  <a:lnTo>
                    <a:pt x="0" y="80"/>
                  </a:lnTo>
                  <a:lnTo>
                    <a:pt x="16" y="80"/>
                  </a:lnTo>
                  <a:lnTo>
                    <a:pt x="56" y="104"/>
                  </a:lnTo>
                  <a:lnTo>
                    <a:pt x="64" y="112"/>
                  </a:lnTo>
                  <a:lnTo>
                    <a:pt x="96" y="120"/>
                  </a:lnTo>
                  <a:lnTo>
                    <a:pt x="112" y="128"/>
                  </a:lnTo>
                  <a:lnTo>
                    <a:pt x="120" y="128"/>
                  </a:lnTo>
                  <a:lnTo>
                    <a:pt x="120" y="120"/>
                  </a:lnTo>
                  <a:lnTo>
                    <a:pt x="128" y="112"/>
                  </a:lnTo>
                  <a:lnTo>
                    <a:pt x="120" y="96"/>
                  </a:lnTo>
                  <a:lnTo>
                    <a:pt x="112" y="8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71" name="Freeform 621"/>
            <p:cNvSpPr>
              <a:spLocks/>
            </p:cNvSpPr>
            <p:nvPr/>
          </p:nvSpPr>
          <p:spPr bwMode="auto">
            <a:xfrm>
              <a:off x="3327572" y="2898741"/>
              <a:ext cx="254701" cy="237374"/>
            </a:xfrm>
            <a:custGeom>
              <a:avLst/>
              <a:gdLst>
                <a:gd name="T0" fmla="*/ 2147483647 w 240"/>
                <a:gd name="T1" fmla="*/ 2147483647 h 224"/>
                <a:gd name="T2" fmla="*/ 2147483647 w 240"/>
                <a:gd name="T3" fmla="*/ 2147483647 h 224"/>
                <a:gd name="T4" fmla="*/ 2147483647 w 240"/>
                <a:gd name="T5" fmla="*/ 2147483647 h 224"/>
                <a:gd name="T6" fmla="*/ 2147483647 w 240"/>
                <a:gd name="T7" fmla="*/ 2147483647 h 224"/>
                <a:gd name="T8" fmla="*/ 2147483647 w 240"/>
                <a:gd name="T9" fmla="*/ 2147483647 h 224"/>
                <a:gd name="T10" fmla="*/ 2147483647 w 240"/>
                <a:gd name="T11" fmla="*/ 2147483647 h 224"/>
                <a:gd name="T12" fmla="*/ 2147483647 w 240"/>
                <a:gd name="T13" fmla="*/ 2147483647 h 224"/>
                <a:gd name="T14" fmla="*/ 2147483647 w 240"/>
                <a:gd name="T15" fmla="*/ 2147483647 h 224"/>
                <a:gd name="T16" fmla="*/ 2147483647 w 240"/>
                <a:gd name="T17" fmla="*/ 2147483647 h 224"/>
                <a:gd name="T18" fmla="*/ 2147483647 w 240"/>
                <a:gd name="T19" fmla="*/ 2147483647 h 224"/>
                <a:gd name="T20" fmla="*/ 2147483647 w 240"/>
                <a:gd name="T21" fmla="*/ 2147483647 h 224"/>
                <a:gd name="T22" fmla="*/ 2147483647 w 240"/>
                <a:gd name="T23" fmla="*/ 2147483647 h 224"/>
                <a:gd name="T24" fmla="*/ 2147483647 w 240"/>
                <a:gd name="T25" fmla="*/ 2147483647 h 224"/>
                <a:gd name="T26" fmla="*/ 2147483647 w 240"/>
                <a:gd name="T27" fmla="*/ 2147483647 h 224"/>
                <a:gd name="T28" fmla="*/ 2147483647 w 240"/>
                <a:gd name="T29" fmla="*/ 2147483647 h 224"/>
                <a:gd name="T30" fmla="*/ 2147483647 w 240"/>
                <a:gd name="T31" fmla="*/ 2147483647 h 224"/>
                <a:gd name="T32" fmla="*/ 2147483647 w 240"/>
                <a:gd name="T33" fmla="*/ 2147483647 h 224"/>
                <a:gd name="T34" fmla="*/ 2147483647 w 240"/>
                <a:gd name="T35" fmla="*/ 2147483647 h 224"/>
                <a:gd name="T36" fmla="*/ 2147483647 w 240"/>
                <a:gd name="T37" fmla="*/ 2147483647 h 224"/>
                <a:gd name="T38" fmla="*/ 2147483647 w 240"/>
                <a:gd name="T39" fmla="*/ 0 h 224"/>
                <a:gd name="T40" fmla="*/ 2147483647 w 240"/>
                <a:gd name="T41" fmla="*/ 2147483647 h 224"/>
                <a:gd name="T42" fmla="*/ 2147483647 w 240"/>
                <a:gd name="T43" fmla="*/ 2147483647 h 224"/>
                <a:gd name="T44" fmla="*/ 0 w 240"/>
                <a:gd name="T45" fmla="*/ 0 h 224"/>
                <a:gd name="T46" fmla="*/ 0 w 240"/>
                <a:gd name="T47" fmla="*/ 2147483647 h 224"/>
                <a:gd name="T48" fmla="*/ 0 w 240"/>
                <a:gd name="T49" fmla="*/ 2147483647 h 224"/>
                <a:gd name="T50" fmla="*/ 2147483647 w 240"/>
                <a:gd name="T51" fmla="*/ 2147483647 h 224"/>
                <a:gd name="T52" fmla="*/ 2147483647 w 240"/>
                <a:gd name="T53" fmla="*/ 2147483647 h 224"/>
                <a:gd name="T54" fmla="*/ 2147483647 w 240"/>
                <a:gd name="T55" fmla="*/ 2147483647 h 224"/>
                <a:gd name="T56" fmla="*/ 2147483647 w 240"/>
                <a:gd name="T57" fmla="*/ 2147483647 h 224"/>
                <a:gd name="T58" fmla="*/ 2147483647 w 240"/>
                <a:gd name="T59" fmla="*/ 2147483647 h 224"/>
                <a:gd name="T60" fmla="*/ 2147483647 w 240"/>
                <a:gd name="T61" fmla="*/ 2147483647 h 224"/>
                <a:gd name="T62" fmla="*/ 2147483647 w 240"/>
                <a:gd name="T63" fmla="*/ 2147483647 h 224"/>
                <a:gd name="T64" fmla="*/ 2147483647 w 240"/>
                <a:gd name="T65" fmla="*/ 2147483647 h 224"/>
                <a:gd name="T66" fmla="*/ 2147483647 w 240"/>
                <a:gd name="T67" fmla="*/ 2147483647 h 224"/>
                <a:gd name="T68" fmla="*/ 2147483647 w 240"/>
                <a:gd name="T69" fmla="*/ 2147483647 h 224"/>
                <a:gd name="T70" fmla="*/ 2147483647 w 240"/>
                <a:gd name="T71" fmla="*/ 2147483647 h 224"/>
                <a:gd name="T72" fmla="*/ 2147483647 w 240"/>
                <a:gd name="T73" fmla="*/ 2147483647 h 224"/>
                <a:gd name="T74" fmla="*/ 2147483647 w 240"/>
                <a:gd name="T75" fmla="*/ 2147483647 h 224"/>
                <a:gd name="T76" fmla="*/ 2147483647 w 240"/>
                <a:gd name="T77" fmla="*/ 2147483647 h 224"/>
                <a:gd name="T78" fmla="*/ 2147483647 w 240"/>
                <a:gd name="T79" fmla="*/ 2147483647 h 224"/>
                <a:gd name="T80" fmla="*/ 2147483647 w 240"/>
                <a:gd name="T81" fmla="*/ 2147483647 h 224"/>
                <a:gd name="T82" fmla="*/ 2147483647 w 240"/>
                <a:gd name="T83" fmla="*/ 2147483647 h 224"/>
                <a:gd name="T84" fmla="*/ 2147483647 w 240"/>
                <a:gd name="T85" fmla="*/ 2147483647 h 224"/>
                <a:gd name="T86" fmla="*/ 2147483647 w 240"/>
                <a:gd name="T87" fmla="*/ 2147483647 h 224"/>
                <a:gd name="T88" fmla="*/ 2147483647 w 240"/>
                <a:gd name="T89" fmla="*/ 2147483647 h 224"/>
                <a:gd name="T90" fmla="*/ 2147483647 w 240"/>
                <a:gd name="T91" fmla="*/ 2147483647 h 2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40"/>
                <a:gd name="T139" fmla="*/ 0 h 224"/>
                <a:gd name="T140" fmla="*/ 240 w 240"/>
                <a:gd name="T141" fmla="*/ 224 h 2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40" h="224">
                  <a:moveTo>
                    <a:pt x="208" y="152"/>
                  </a:moveTo>
                  <a:lnTo>
                    <a:pt x="216" y="128"/>
                  </a:lnTo>
                  <a:lnTo>
                    <a:pt x="200" y="120"/>
                  </a:lnTo>
                  <a:lnTo>
                    <a:pt x="200" y="104"/>
                  </a:lnTo>
                  <a:lnTo>
                    <a:pt x="208" y="88"/>
                  </a:lnTo>
                  <a:lnTo>
                    <a:pt x="208" y="48"/>
                  </a:lnTo>
                  <a:lnTo>
                    <a:pt x="192" y="48"/>
                  </a:lnTo>
                  <a:lnTo>
                    <a:pt x="176" y="32"/>
                  </a:lnTo>
                  <a:lnTo>
                    <a:pt x="160" y="24"/>
                  </a:lnTo>
                  <a:lnTo>
                    <a:pt x="144" y="24"/>
                  </a:lnTo>
                  <a:lnTo>
                    <a:pt x="120" y="32"/>
                  </a:lnTo>
                  <a:lnTo>
                    <a:pt x="120" y="40"/>
                  </a:lnTo>
                  <a:lnTo>
                    <a:pt x="104" y="48"/>
                  </a:lnTo>
                  <a:lnTo>
                    <a:pt x="88" y="48"/>
                  </a:lnTo>
                  <a:lnTo>
                    <a:pt x="72" y="40"/>
                  </a:lnTo>
                  <a:lnTo>
                    <a:pt x="56" y="40"/>
                  </a:lnTo>
                  <a:lnTo>
                    <a:pt x="56" y="24"/>
                  </a:lnTo>
                  <a:lnTo>
                    <a:pt x="48" y="16"/>
                  </a:lnTo>
                  <a:lnTo>
                    <a:pt x="48" y="8"/>
                  </a:lnTo>
                  <a:lnTo>
                    <a:pt x="40" y="0"/>
                  </a:lnTo>
                  <a:lnTo>
                    <a:pt x="24" y="16"/>
                  </a:lnTo>
                  <a:lnTo>
                    <a:pt x="8" y="8"/>
                  </a:lnTo>
                  <a:lnTo>
                    <a:pt x="0" y="0"/>
                  </a:lnTo>
                  <a:lnTo>
                    <a:pt x="0" y="32"/>
                  </a:lnTo>
                  <a:lnTo>
                    <a:pt x="0" y="40"/>
                  </a:lnTo>
                  <a:lnTo>
                    <a:pt x="16" y="64"/>
                  </a:lnTo>
                  <a:lnTo>
                    <a:pt x="16" y="80"/>
                  </a:lnTo>
                  <a:lnTo>
                    <a:pt x="16" y="96"/>
                  </a:lnTo>
                  <a:lnTo>
                    <a:pt x="40" y="120"/>
                  </a:lnTo>
                  <a:lnTo>
                    <a:pt x="48" y="136"/>
                  </a:lnTo>
                  <a:lnTo>
                    <a:pt x="56" y="152"/>
                  </a:lnTo>
                  <a:lnTo>
                    <a:pt x="56" y="144"/>
                  </a:lnTo>
                  <a:lnTo>
                    <a:pt x="72" y="160"/>
                  </a:lnTo>
                  <a:lnTo>
                    <a:pt x="88" y="176"/>
                  </a:lnTo>
                  <a:lnTo>
                    <a:pt x="112" y="192"/>
                  </a:lnTo>
                  <a:lnTo>
                    <a:pt x="136" y="200"/>
                  </a:lnTo>
                  <a:lnTo>
                    <a:pt x="152" y="192"/>
                  </a:lnTo>
                  <a:lnTo>
                    <a:pt x="168" y="208"/>
                  </a:lnTo>
                  <a:lnTo>
                    <a:pt x="208" y="224"/>
                  </a:lnTo>
                  <a:lnTo>
                    <a:pt x="216" y="224"/>
                  </a:lnTo>
                  <a:lnTo>
                    <a:pt x="216" y="208"/>
                  </a:lnTo>
                  <a:lnTo>
                    <a:pt x="240" y="200"/>
                  </a:lnTo>
                  <a:lnTo>
                    <a:pt x="232" y="184"/>
                  </a:lnTo>
                  <a:lnTo>
                    <a:pt x="232" y="176"/>
                  </a:lnTo>
                  <a:lnTo>
                    <a:pt x="216" y="160"/>
                  </a:lnTo>
                  <a:lnTo>
                    <a:pt x="208" y="15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72" name="Freeform 622"/>
            <p:cNvSpPr>
              <a:spLocks/>
            </p:cNvSpPr>
            <p:nvPr/>
          </p:nvSpPr>
          <p:spPr bwMode="auto">
            <a:xfrm>
              <a:off x="3548486" y="2949854"/>
              <a:ext cx="220048" cy="202721"/>
            </a:xfrm>
            <a:custGeom>
              <a:avLst/>
              <a:gdLst>
                <a:gd name="T0" fmla="*/ 2147483647 w 208"/>
                <a:gd name="T1" fmla="*/ 2147483647 h 192"/>
                <a:gd name="T2" fmla="*/ 2147483647 w 208"/>
                <a:gd name="T3" fmla="*/ 2147483647 h 192"/>
                <a:gd name="T4" fmla="*/ 2147483647 w 208"/>
                <a:gd name="T5" fmla="*/ 2147483647 h 192"/>
                <a:gd name="T6" fmla="*/ 2147483647 w 208"/>
                <a:gd name="T7" fmla="*/ 2147483647 h 192"/>
                <a:gd name="T8" fmla="*/ 2147483647 w 208"/>
                <a:gd name="T9" fmla="*/ 2147483647 h 192"/>
                <a:gd name="T10" fmla="*/ 2147483647 w 208"/>
                <a:gd name="T11" fmla="*/ 2147483647 h 192"/>
                <a:gd name="T12" fmla="*/ 2147483647 w 208"/>
                <a:gd name="T13" fmla="*/ 2147483647 h 192"/>
                <a:gd name="T14" fmla="*/ 2147483647 w 208"/>
                <a:gd name="T15" fmla="*/ 2147483647 h 192"/>
                <a:gd name="T16" fmla="*/ 2147483647 w 208"/>
                <a:gd name="T17" fmla="*/ 2147483647 h 192"/>
                <a:gd name="T18" fmla="*/ 2147483647 w 208"/>
                <a:gd name="T19" fmla="*/ 2147483647 h 192"/>
                <a:gd name="T20" fmla="*/ 2147483647 w 208"/>
                <a:gd name="T21" fmla="*/ 2147483647 h 192"/>
                <a:gd name="T22" fmla="*/ 2147483647 w 208"/>
                <a:gd name="T23" fmla="*/ 2147483647 h 192"/>
                <a:gd name="T24" fmla="*/ 2147483647 w 208"/>
                <a:gd name="T25" fmla="*/ 0 h 192"/>
                <a:gd name="T26" fmla="*/ 2147483647 w 208"/>
                <a:gd name="T27" fmla="*/ 0 h 192"/>
                <a:gd name="T28" fmla="*/ 2147483647 w 208"/>
                <a:gd name="T29" fmla="*/ 0 h 192"/>
                <a:gd name="T30" fmla="*/ 2147483647 w 208"/>
                <a:gd name="T31" fmla="*/ 2147483647 h 192"/>
                <a:gd name="T32" fmla="*/ 2147483647 w 208"/>
                <a:gd name="T33" fmla="*/ 2147483647 h 192"/>
                <a:gd name="T34" fmla="*/ 2147483647 w 208"/>
                <a:gd name="T35" fmla="*/ 2147483647 h 192"/>
                <a:gd name="T36" fmla="*/ 2147483647 w 208"/>
                <a:gd name="T37" fmla="*/ 2147483647 h 192"/>
                <a:gd name="T38" fmla="*/ 2147483647 w 208"/>
                <a:gd name="T39" fmla="*/ 2147483647 h 192"/>
                <a:gd name="T40" fmla="*/ 2147483647 w 208"/>
                <a:gd name="T41" fmla="*/ 2147483647 h 192"/>
                <a:gd name="T42" fmla="*/ 2147483647 w 208"/>
                <a:gd name="T43" fmla="*/ 2147483647 h 192"/>
                <a:gd name="T44" fmla="*/ 2147483647 w 208"/>
                <a:gd name="T45" fmla="*/ 2147483647 h 192"/>
                <a:gd name="T46" fmla="*/ 2147483647 w 208"/>
                <a:gd name="T47" fmla="*/ 2147483647 h 192"/>
                <a:gd name="T48" fmla="*/ 2147483647 w 208"/>
                <a:gd name="T49" fmla="*/ 2147483647 h 192"/>
                <a:gd name="T50" fmla="*/ 2147483647 w 208"/>
                <a:gd name="T51" fmla="*/ 2147483647 h 192"/>
                <a:gd name="T52" fmla="*/ 0 w 208"/>
                <a:gd name="T53" fmla="*/ 2147483647 h 192"/>
                <a:gd name="T54" fmla="*/ 2147483647 w 208"/>
                <a:gd name="T55" fmla="*/ 2147483647 h 192"/>
                <a:gd name="T56" fmla="*/ 2147483647 w 208"/>
                <a:gd name="T57" fmla="*/ 2147483647 h 192"/>
                <a:gd name="T58" fmla="*/ 2147483647 w 208"/>
                <a:gd name="T59" fmla="*/ 2147483647 h 192"/>
                <a:gd name="T60" fmla="*/ 2147483647 w 208"/>
                <a:gd name="T61" fmla="*/ 2147483647 h 192"/>
                <a:gd name="T62" fmla="*/ 2147483647 w 208"/>
                <a:gd name="T63" fmla="*/ 2147483647 h 192"/>
                <a:gd name="T64" fmla="*/ 2147483647 w 208"/>
                <a:gd name="T65" fmla="*/ 2147483647 h 192"/>
                <a:gd name="T66" fmla="*/ 2147483647 w 208"/>
                <a:gd name="T67" fmla="*/ 2147483647 h 192"/>
                <a:gd name="T68" fmla="*/ 2147483647 w 208"/>
                <a:gd name="T69" fmla="*/ 2147483647 h 192"/>
                <a:gd name="T70" fmla="*/ 2147483647 w 208"/>
                <a:gd name="T71" fmla="*/ 2147483647 h 192"/>
                <a:gd name="T72" fmla="*/ 2147483647 w 208"/>
                <a:gd name="T73" fmla="*/ 2147483647 h 192"/>
                <a:gd name="T74" fmla="*/ 2147483647 w 208"/>
                <a:gd name="T75" fmla="*/ 2147483647 h 19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8"/>
                <a:gd name="T115" fmla="*/ 0 h 192"/>
                <a:gd name="T116" fmla="*/ 208 w 208"/>
                <a:gd name="T117" fmla="*/ 192 h 19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8" h="192">
                  <a:moveTo>
                    <a:pt x="112" y="184"/>
                  </a:moveTo>
                  <a:lnTo>
                    <a:pt x="128" y="176"/>
                  </a:lnTo>
                  <a:lnTo>
                    <a:pt x="120" y="160"/>
                  </a:lnTo>
                  <a:lnTo>
                    <a:pt x="112" y="144"/>
                  </a:lnTo>
                  <a:lnTo>
                    <a:pt x="120" y="136"/>
                  </a:lnTo>
                  <a:lnTo>
                    <a:pt x="136" y="136"/>
                  </a:lnTo>
                  <a:lnTo>
                    <a:pt x="160" y="96"/>
                  </a:lnTo>
                  <a:lnTo>
                    <a:pt x="168" y="80"/>
                  </a:lnTo>
                  <a:lnTo>
                    <a:pt x="176" y="64"/>
                  </a:lnTo>
                  <a:lnTo>
                    <a:pt x="168" y="56"/>
                  </a:lnTo>
                  <a:lnTo>
                    <a:pt x="168" y="32"/>
                  </a:lnTo>
                  <a:lnTo>
                    <a:pt x="208" y="24"/>
                  </a:lnTo>
                  <a:lnTo>
                    <a:pt x="192" y="0"/>
                  </a:lnTo>
                  <a:lnTo>
                    <a:pt x="176" y="0"/>
                  </a:lnTo>
                  <a:lnTo>
                    <a:pt x="152" y="0"/>
                  </a:lnTo>
                  <a:lnTo>
                    <a:pt x="128" y="8"/>
                  </a:lnTo>
                  <a:lnTo>
                    <a:pt x="128" y="24"/>
                  </a:lnTo>
                  <a:lnTo>
                    <a:pt x="120" y="40"/>
                  </a:lnTo>
                  <a:lnTo>
                    <a:pt x="112" y="48"/>
                  </a:lnTo>
                  <a:lnTo>
                    <a:pt x="112" y="56"/>
                  </a:lnTo>
                  <a:lnTo>
                    <a:pt x="104" y="72"/>
                  </a:lnTo>
                  <a:lnTo>
                    <a:pt x="80" y="80"/>
                  </a:lnTo>
                  <a:lnTo>
                    <a:pt x="72" y="88"/>
                  </a:lnTo>
                  <a:lnTo>
                    <a:pt x="56" y="112"/>
                  </a:lnTo>
                  <a:lnTo>
                    <a:pt x="32" y="112"/>
                  </a:lnTo>
                  <a:lnTo>
                    <a:pt x="16" y="104"/>
                  </a:lnTo>
                  <a:lnTo>
                    <a:pt x="0" y="104"/>
                  </a:lnTo>
                  <a:lnTo>
                    <a:pt x="8" y="112"/>
                  </a:lnTo>
                  <a:lnTo>
                    <a:pt x="24" y="128"/>
                  </a:lnTo>
                  <a:lnTo>
                    <a:pt x="24" y="136"/>
                  </a:lnTo>
                  <a:lnTo>
                    <a:pt x="32" y="152"/>
                  </a:lnTo>
                  <a:lnTo>
                    <a:pt x="8" y="160"/>
                  </a:lnTo>
                  <a:lnTo>
                    <a:pt x="8" y="176"/>
                  </a:lnTo>
                  <a:lnTo>
                    <a:pt x="32" y="168"/>
                  </a:lnTo>
                  <a:lnTo>
                    <a:pt x="72" y="168"/>
                  </a:lnTo>
                  <a:lnTo>
                    <a:pt x="88" y="192"/>
                  </a:lnTo>
                  <a:lnTo>
                    <a:pt x="96" y="192"/>
                  </a:lnTo>
                  <a:lnTo>
                    <a:pt x="112" y="18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73" name="Freeform 623"/>
            <p:cNvSpPr>
              <a:spLocks/>
            </p:cNvSpPr>
            <p:nvPr/>
          </p:nvSpPr>
          <p:spPr bwMode="auto">
            <a:xfrm>
              <a:off x="3642050" y="2966315"/>
              <a:ext cx="389848" cy="407175"/>
            </a:xfrm>
            <a:custGeom>
              <a:avLst/>
              <a:gdLst>
                <a:gd name="T0" fmla="*/ 2147483647 w 368"/>
                <a:gd name="T1" fmla="*/ 2147483647 h 384"/>
                <a:gd name="T2" fmla="*/ 2147483647 w 368"/>
                <a:gd name="T3" fmla="*/ 2147483647 h 384"/>
                <a:gd name="T4" fmla="*/ 2147483647 w 368"/>
                <a:gd name="T5" fmla="*/ 2147483647 h 384"/>
                <a:gd name="T6" fmla="*/ 2147483647 w 368"/>
                <a:gd name="T7" fmla="*/ 2147483647 h 384"/>
                <a:gd name="T8" fmla="*/ 2147483647 w 368"/>
                <a:gd name="T9" fmla="*/ 2147483647 h 384"/>
                <a:gd name="T10" fmla="*/ 2147483647 w 368"/>
                <a:gd name="T11" fmla="*/ 2147483647 h 384"/>
                <a:gd name="T12" fmla="*/ 2147483647 w 368"/>
                <a:gd name="T13" fmla="*/ 2147483647 h 384"/>
                <a:gd name="T14" fmla="*/ 2147483647 w 368"/>
                <a:gd name="T15" fmla="*/ 2147483647 h 384"/>
                <a:gd name="T16" fmla="*/ 2147483647 w 368"/>
                <a:gd name="T17" fmla="*/ 2147483647 h 384"/>
                <a:gd name="T18" fmla="*/ 2147483647 w 368"/>
                <a:gd name="T19" fmla="*/ 2147483647 h 384"/>
                <a:gd name="T20" fmla="*/ 2147483647 w 368"/>
                <a:gd name="T21" fmla="*/ 2147483647 h 384"/>
                <a:gd name="T22" fmla="*/ 2147483647 w 368"/>
                <a:gd name="T23" fmla="*/ 2147483647 h 384"/>
                <a:gd name="T24" fmla="*/ 2147483647 w 368"/>
                <a:gd name="T25" fmla="*/ 0 h 384"/>
                <a:gd name="T26" fmla="*/ 2147483647 w 368"/>
                <a:gd name="T27" fmla="*/ 2147483647 h 384"/>
                <a:gd name="T28" fmla="*/ 2147483647 w 368"/>
                <a:gd name="T29" fmla="*/ 2147483647 h 384"/>
                <a:gd name="T30" fmla="*/ 2147483647 w 368"/>
                <a:gd name="T31" fmla="*/ 2147483647 h 384"/>
                <a:gd name="T32" fmla="*/ 2147483647 w 368"/>
                <a:gd name="T33" fmla="*/ 2147483647 h 384"/>
                <a:gd name="T34" fmla="*/ 2147483647 w 368"/>
                <a:gd name="T35" fmla="*/ 2147483647 h 384"/>
                <a:gd name="T36" fmla="*/ 2147483647 w 368"/>
                <a:gd name="T37" fmla="*/ 2147483647 h 384"/>
                <a:gd name="T38" fmla="*/ 2147483647 w 368"/>
                <a:gd name="T39" fmla="*/ 2147483647 h 384"/>
                <a:gd name="T40" fmla="*/ 2147483647 w 368"/>
                <a:gd name="T41" fmla="*/ 2147483647 h 384"/>
                <a:gd name="T42" fmla="*/ 2147483647 w 368"/>
                <a:gd name="T43" fmla="*/ 2147483647 h 384"/>
                <a:gd name="T44" fmla="*/ 2147483647 w 368"/>
                <a:gd name="T45" fmla="*/ 2147483647 h 384"/>
                <a:gd name="T46" fmla="*/ 2147483647 w 368"/>
                <a:gd name="T47" fmla="*/ 2147483647 h 384"/>
                <a:gd name="T48" fmla="*/ 2147483647 w 368"/>
                <a:gd name="T49" fmla="*/ 2147483647 h 384"/>
                <a:gd name="T50" fmla="*/ 2147483647 w 368"/>
                <a:gd name="T51" fmla="*/ 2147483647 h 384"/>
                <a:gd name="T52" fmla="*/ 2147483647 w 368"/>
                <a:gd name="T53" fmla="*/ 2147483647 h 384"/>
                <a:gd name="T54" fmla="*/ 2147483647 w 368"/>
                <a:gd name="T55" fmla="*/ 2147483647 h 384"/>
                <a:gd name="T56" fmla="*/ 2147483647 w 368"/>
                <a:gd name="T57" fmla="*/ 2147483647 h 384"/>
                <a:gd name="T58" fmla="*/ 2147483647 w 368"/>
                <a:gd name="T59" fmla="*/ 2147483647 h 384"/>
                <a:gd name="T60" fmla="*/ 2147483647 w 368"/>
                <a:gd name="T61" fmla="*/ 2147483647 h 384"/>
                <a:gd name="T62" fmla="*/ 2147483647 w 368"/>
                <a:gd name="T63" fmla="*/ 2147483647 h 384"/>
                <a:gd name="T64" fmla="*/ 2147483647 w 368"/>
                <a:gd name="T65" fmla="*/ 2147483647 h 384"/>
                <a:gd name="T66" fmla="*/ 2147483647 w 368"/>
                <a:gd name="T67" fmla="*/ 2147483647 h 384"/>
                <a:gd name="T68" fmla="*/ 2147483647 w 368"/>
                <a:gd name="T69" fmla="*/ 2147483647 h 384"/>
                <a:gd name="T70" fmla="*/ 2147483647 w 368"/>
                <a:gd name="T71" fmla="*/ 2147483647 h 38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68"/>
                <a:gd name="T109" fmla="*/ 0 h 384"/>
                <a:gd name="T110" fmla="*/ 368 w 368"/>
                <a:gd name="T111" fmla="*/ 384 h 38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68" h="384">
                  <a:moveTo>
                    <a:pt x="328" y="168"/>
                  </a:moveTo>
                  <a:lnTo>
                    <a:pt x="344" y="160"/>
                  </a:lnTo>
                  <a:lnTo>
                    <a:pt x="352" y="136"/>
                  </a:lnTo>
                  <a:lnTo>
                    <a:pt x="368" y="120"/>
                  </a:lnTo>
                  <a:lnTo>
                    <a:pt x="368" y="112"/>
                  </a:lnTo>
                  <a:lnTo>
                    <a:pt x="352" y="104"/>
                  </a:lnTo>
                  <a:lnTo>
                    <a:pt x="336" y="104"/>
                  </a:lnTo>
                  <a:lnTo>
                    <a:pt x="320" y="112"/>
                  </a:lnTo>
                  <a:lnTo>
                    <a:pt x="304" y="128"/>
                  </a:lnTo>
                  <a:lnTo>
                    <a:pt x="288" y="128"/>
                  </a:lnTo>
                  <a:lnTo>
                    <a:pt x="272" y="128"/>
                  </a:lnTo>
                  <a:lnTo>
                    <a:pt x="264" y="120"/>
                  </a:lnTo>
                  <a:lnTo>
                    <a:pt x="256" y="120"/>
                  </a:lnTo>
                  <a:lnTo>
                    <a:pt x="248" y="136"/>
                  </a:lnTo>
                  <a:lnTo>
                    <a:pt x="240" y="136"/>
                  </a:lnTo>
                  <a:lnTo>
                    <a:pt x="224" y="128"/>
                  </a:lnTo>
                  <a:lnTo>
                    <a:pt x="192" y="128"/>
                  </a:lnTo>
                  <a:lnTo>
                    <a:pt x="152" y="104"/>
                  </a:lnTo>
                  <a:lnTo>
                    <a:pt x="168" y="80"/>
                  </a:lnTo>
                  <a:lnTo>
                    <a:pt x="144" y="72"/>
                  </a:lnTo>
                  <a:lnTo>
                    <a:pt x="136" y="56"/>
                  </a:lnTo>
                  <a:lnTo>
                    <a:pt x="144" y="48"/>
                  </a:lnTo>
                  <a:lnTo>
                    <a:pt x="144" y="32"/>
                  </a:lnTo>
                  <a:lnTo>
                    <a:pt x="160" y="8"/>
                  </a:lnTo>
                  <a:lnTo>
                    <a:pt x="152" y="0"/>
                  </a:lnTo>
                  <a:lnTo>
                    <a:pt x="128" y="0"/>
                  </a:lnTo>
                  <a:lnTo>
                    <a:pt x="112" y="0"/>
                  </a:lnTo>
                  <a:lnTo>
                    <a:pt x="120" y="8"/>
                  </a:lnTo>
                  <a:lnTo>
                    <a:pt x="80" y="16"/>
                  </a:lnTo>
                  <a:lnTo>
                    <a:pt x="80" y="40"/>
                  </a:lnTo>
                  <a:lnTo>
                    <a:pt x="88" y="48"/>
                  </a:lnTo>
                  <a:lnTo>
                    <a:pt x="80" y="64"/>
                  </a:lnTo>
                  <a:lnTo>
                    <a:pt x="72" y="80"/>
                  </a:lnTo>
                  <a:lnTo>
                    <a:pt x="48" y="120"/>
                  </a:lnTo>
                  <a:lnTo>
                    <a:pt x="32" y="120"/>
                  </a:lnTo>
                  <a:lnTo>
                    <a:pt x="24" y="128"/>
                  </a:lnTo>
                  <a:lnTo>
                    <a:pt x="32" y="144"/>
                  </a:lnTo>
                  <a:lnTo>
                    <a:pt x="40" y="160"/>
                  </a:lnTo>
                  <a:lnTo>
                    <a:pt x="24" y="168"/>
                  </a:lnTo>
                  <a:lnTo>
                    <a:pt x="8" y="176"/>
                  </a:lnTo>
                  <a:lnTo>
                    <a:pt x="0" y="176"/>
                  </a:lnTo>
                  <a:lnTo>
                    <a:pt x="16" y="200"/>
                  </a:lnTo>
                  <a:lnTo>
                    <a:pt x="32" y="216"/>
                  </a:lnTo>
                  <a:lnTo>
                    <a:pt x="56" y="200"/>
                  </a:lnTo>
                  <a:lnTo>
                    <a:pt x="64" y="272"/>
                  </a:lnTo>
                  <a:lnTo>
                    <a:pt x="72" y="304"/>
                  </a:lnTo>
                  <a:lnTo>
                    <a:pt x="96" y="344"/>
                  </a:lnTo>
                  <a:lnTo>
                    <a:pt x="104" y="360"/>
                  </a:lnTo>
                  <a:lnTo>
                    <a:pt x="120" y="384"/>
                  </a:lnTo>
                  <a:lnTo>
                    <a:pt x="128" y="368"/>
                  </a:lnTo>
                  <a:lnTo>
                    <a:pt x="144" y="352"/>
                  </a:lnTo>
                  <a:lnTo>
                    <a:pt x="152" y="336"/>
                  </a:lnTo>
                  <a:lnTo>
                    <a:pt x="152" y="304"/>
                  </a:lnTo>
                  <a:lnTo>
                    <a:pt x="160" y="280"/>
                  </a:lnTo>
                  <a:lnTo>
                    <a:pt x="184" y="256"/>
                  </a:lnTo>
                  <a:lnTo>
                    <a:pt x="216" y="240"/>
                  </a:lnTo>
                  <a:lnTo>
                    <a:pt x="232" y="224"/>
                  </a:lnTo>
                  <a:lnTo>
                    <a:pt x="240" y="200"/>
                  </a:lnTo>
                  <a:lnTo>
                    <a:pt x="264" y="200"/>
                  </a:lnTo>
                  <a:lnTo>
                    <a:pt x="256" y="168"/>
                  </a:lnTo>
                  <a:lnTo>
                    <a:pt x="248" y="160"/>
                  </a:lnTo>
                  <a:lnTo>
                    <a:pt x="256" y="152"/>
                  </a:lnTo>
                  <a:lnTo>
                    <a:pt x="256" y="144"/>
                  </a:lnTo>
                  <a:lnTo>
                    <a:pt x="272" y="144"/>
                  </a:lnTo>
                  <a:lnTo>
                    <a:pt x="280" y="152"/>
                  </a:lnTo>
                  <a:lnTo>
                    <a:pt x="304" y="160"/>
                  </a:lnTo>
                  <a:lnTo>
                    <a:pt x="304" y="168"/>
                  </a:lnTo>
                  <a:lnTo>
                    <a:pt x="296" y="176"/>
                  </a:lnTo>
                  <a:lnTo>
                    <a:pt x="312" y="176"/>
                  </a:lnTo>
                  <a:lnTo>
                    <a:pt x="304" y="192"/>
                  </a:lnTo>
                  <a:lnTo>
                    <a:pt x="312" y="208"/>
                  </a:lnTo>
                  <a:lnTo>
                    <a:pt x="320" y="192"/>
                  </a:lnTo>
                  <a:lnTo>
                    <a:pt x="328" y="16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74" name="Freeform 624"/>
            <p:cNvSpPr>
              <a:spLocks/>
            </p:cNvSpPr>
            <p:nvPr/>
          </p:nvSpPr>
          <p:spPr bwMode="auto">
            <a:xfrm>
              <a:off x="3539823" y="2923864"/>
              <a:ext cx="194924" cy="144677"/>
            </a:xfrm>
            <a:custGeom>
              <a:avLst/>
              <a:gdLst>
                <a:gd name="T0" fmla="*/ 2147483647 w 184"/>
                <a:gd name="T1" fmla="*/ 2147483647 h 136"/>
                <a:gd name="T2" fmla="*/ 2147483647 w 184"/>
                <a:gd name="T3" fmla="*/ 2147483647 h 136"/>
                <a:gd name="T4" fmla="*/ 2147483647 w 184"/>
                <a:gd name="T5" fmla="*/ 2147483647 h 136"/>
                <a:gd name="T6" fmla="*/ 2147483647 w 184"/>
                <a:gd name="T7" fmla="*/ 0 h 136"/>
                <a:gd name="T8" fmla="*/ 2147483647 w 184"/>
                <a:gd name="T9" fmla="*/ 2147483647 h 136"/>
                <a:gd name="T10" fmla="*/ 2147483647 w 184"/>
                <a:gd name="T11" fmla="*/ 2147483647 h 136"/>
                <a:gd name="T12" fmla="*/ 2147483647 w 184"/>
                <a:gd name="T13" fmla="*/ 2147483647 h 136"/>
                <a:gd name="T14" fmla="*/ 2147483647 w 184"/>
                <a:gd name="T15" fmla="*/ 2147483647 h 136"/>
                <a:gd name="T16" fmla="*/ 2147483647 w 184"/>
                <a:gd name="T17" fmla="*/ 2147483647 h 136"/>
                <a:gd name="T18" fmla="*/ 2147483647 w 184"/>
                <a:gd name="T19" fmla="*/ 2147483647 h 136"/>
                <a:gd name="T20" fmla="*/ 2147483647 w 184"/>
                <a:gd name="T21" fmla="*/ 2147483647 h 136"/>
                <a:gd name="T22" fmla="*/ 2147483647 w 184"/>
                <a:gd name="T23" fmla="*/ 2147483647 h 136"/>
                <a:gd name="T24" fmla="*/ 2147483647 w 184"/>
                <a:gd name="T25" fmla="*/ 2147483647 h 136"/>
                <a:gd name="T26" fmla="*/ 2147483647 w 184"/>
                <a:gd name="T27" fmla="*/ 2147483647 h 136"/>
                <a:gd name="T28" fmla="*/ 2147483647 w 184"/>
                <a:gd name="T29" fmla="*/ 2147483647 h 136"/>
                <a:gd name="T30" fmla="*/ 2147483647 w 184"/>
                <a:gd name="T31" fmla="*/ 2147483647 h 136"/>
                <a:gd name="T32" fmla="*/ 0 w 184"/>
                <a:gd name="T33" fmla="*/ 2147483647 h 136"/>
                <a:gd name="T34" fmla="*/ 0 w 184"/>
                <a:gd name="T35" fmla="*/ 2147483647 h 136"/>
                <a:gd name="T36" fmla="*/ 2147483647 w 184"/>
                <a:gd name="T37" fmla="*/ 2147483647 h 136"/>
                <a:gd name="T38" fmla="*/ 2147483647 w 184"/>
                <a:gd name="T39" fmla="*/ 2147483647 h 136"/>
                <a:gd name="T40" fmla="*/ 2147483647 w 184"/>
                <a:gd name="T41" fmla="*/ 2147483647 h 136"/>
                <a:gd name="T42" fmla="*/ 2147483647 w 184"/>
                <a:gd name="T43" fmla="*/ 2147483647 h 136"/>
                <a:gd name="T44" fmla="*/ 2147483647 w 184"/>
                <a:gd name="T45" fmla="*/ 2147483647 h 136"/>
                <a:gd name="T46" fmla="*/ 2147483647 w 184"/>
                <a:gd name="T47" fmla="*/ 2147483647 h 136"/>
                <a:gd name="T48" fmla="*/ 2147483647 w 184"/>
                <a:gd name="T49" fmla="*/ 2147483647 h 136"/>
                <a:gd name="T50" fmla="*/ 2147483647 w 184"/>
                <a:gd name="T51" fmla="*/ 2147483647 h 136"/>
                <a:gd name="T52" fmla="*/ 2147483647 w 184"/>
                <a:gd name="T53" fmla="*/ 2147483647 h 136"/>
                <a:gd name="T54" fmla="*/ 2147483647 w 184"/>
                <a:gd name="T55" fmla="*/ 2147483647 h 136"/>
                <a:gd name="T56" fmla="*/ 2147483647 w 184"/>
                <a:gd name="T57" fmla="*/ 2147483647 h 136"/>
                <a:gd name="T58" fmla="*/ 2147483647 w 184"/>
                <a:gd name="T59" fmla="*/ 2147483647 h 136"/>
                <a:gd name="T60" fmla="*/ 2147483647 w 184"/>
                <a:gd name="T61" fmla="*/ 2147483647 h 136"/>
                <a:gd name="T62" fmla="*/ 2147483647 w 184"/>
                <a:gd name="T63" fmla="*/ 2147483647 h 136"/>
                <a:gd name="T64" fmla="*/ 2147483647 w 184"/>
                <a:gd name="T65" fmla="*/ 2147483647 h 136"/>
                <a:gd name="T66" fmla="*/ 2147483647 w 184"/>
                <a:gd name="T67" fmla="*/ 2147483647 h 136"/>
                <a:gd name="T68" fmla="*/ 2147483647 w 184"/>
                <a:gd name="T69" fmla="*/ 2147483647 h 1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4"/>
                <a:gd name="T106" fmla="*/ 0 h 136"/>
                <a:gd name="T107" fmla="*/ 184 w 184"/>
                <a:gd name="T108" fmla="*/ 136 h 1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4" h="136">
                  <a:moveTo>
                    <a:pt x="168" y="8"/>
                  </a:moveTo>
                  <a:lnTo>
                    <a:pt x="152" y="16"/>
                  </a:lnTo>
                  <a:lnTo>
                    <a:pt x="144" y="16"/>
                  </a:lnTo>
                  <a:lnTo>
                    <a:pt x="136" y="0"/>
                  </a:lnTo>
                  <a:lnTo>
                    <a:pt x="120" y="8"/>
                  </a:lnTo>
                  <a:lnTo>
                    <a:pt x="112" y="16"/>
                  </a:lnTo>
                  <a:lnTo>
                    <a:pt x="96" y="24"/>
                  </a:lnTo>
                  <a:lnTo>
                    <a:pt x="88" y="16"/>
                  </a:lnTo>
                  <a:lnTo>
                    <a:pt x="80" y="16"/>
                  </a:lnTo>
                  <a:lnTo>
                    <a:pt x="64" y="8"/>
                  </a:lnTo>
                  <a:lnTo>
                    <a:pt x="56" y="32"/>
                  </a:lnTo>
                  <a:lnTo>
                    <a:pt x="40" y="40"/>
                  </a:lnTo>
                  <a:lnTo>
                    <a:pt x="32" y="48"/>
                  </a:lnTo>
                  <a:lnTo>
                    <a:pt x="16" y="40"/>
                  </a:lnTo>
                  <a:lnTo>
                    <a:pt x="8" y="40"/>
                  </a:lnTo>
                  <a:lnTo>
                    <a:pt x="8" y="64"/>
                  </a:lnTo>
                  <a:lnTo>
                    <a:pt x="0" y="80"/>
                  </a:lnTo>
                  <a:lnTo>
                    <a:pt x="0" y="96"/>
                  </a:lnTo>
                  <a:lnTo>
                    <a:pt x="16" y="104"/>
                  </a:lnTo>
                  <a:lnTo>
                    <a:pt x="8" y="128"/>
                  </a:lnTo>
                  <a:lnTo>
                    <a:pt x="24" y="128"/>
                  </a:lnTo>
                  <a:lnTo>
                    <a:pt x="40" y="136"/>
                  </a:lnTo>
                  <a:lnTo>
                    <a:pt x="64" y="136"/>
                  </a:lnTo>
                  <a:lnTo>
                    <a:pt x="80" y="112"/>
                  </a:lnTo>
                  <a:lnTo>
                    <a:pt x="88" y="104"/>
                  </a:lnTo>
                  <a:lnTo>
                    <a:pt x="112" y="96"/>
                  </a:lnTo>
                  <a:lnTo>
                    <a:pt x="120" y="80"/>
                  </a:lnTo>
                  <a:lnTo>
                    <a:pt x="120" y="72"/>
                  </a:lnTo>
                  <a:lnTo>
                    <a:pt x="128" y="64"/>
                  </a:lnTo>
                  <a:lnTo>
                    <a:pt x="136" y="48"/>
                  </a:lnTo>
                  <a:lnTo>
                    <a:pt x="136" y="32"/>
                  </a:lnTo>
                  <a:lnTo>
                    <a:pt x="160" y="24"/>
                  </a:lnTo>
                  <a:lnTo>
                    <a:pt x="184" y="24"/>
                  </a:lnTo>
                  <a:lnTo>
                    <a:pt x="176" y="8"/>
                  </a:lnTo>
                  <a:lnTo>
                    <a:pt x="168"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75" name="Freeform 625"/>
            <p:cNvSpPr>
              <a:spLocks/>
            </p:cNvSpPr>
            <p:nvPr/>
          </p:nvSpPr>
          <p:spPr bwMode="auto">
            <a:xfrm>
              <a:off x="3972121" y="3085002"/>
              <a:ext cx="161137" cy="373388"/>
            </a:xfrm>
            <a:custGeom>
              <a:avLst/>
              <a:gdLst>
                <a:gd name="T0" fmla="*/ 2147483647 w 152"/>
                <a:gd name="T1" fmla="*/ 2147483647 h 352"/>
                <a:gd name="T2" fmla="*/ 2147483647 w 152"/>
                <a:gd name="T3" fmla="*/ 2147483647 h 352"/>
                <a:gd name="T4" fmla="*/ 2147483647 w 152"/>
                <a:gd name="T5" fmla="*/ 2147483647 h 352"/>
                <a:gd name="T6" fmla="*/ 2147483647 w 152"/>
                <a:gd name="T7" fmla="*/ 2147483647 h 352"/>
                <a:gd name="T8" fmla="*/ 2147483647 w 152"/>
                <a:gd name="T9" fmla="*/ 2147483647 h 352"/>
                <a:gd name="T10" fmla="*/ 2147483647 w 152"/>
                <a:gd name="T11" fmla="*/ 2147483647 h 352"/>
                <a:gd name="T12" fmla="*/ 2147483647 w 152"/>
                <a:gd name="T13" fmla="*/ 2147483647 h 352"/>
                <a:gd name="T14" fmla="*/ 2147483647 w 152"/>
                <a:gd name="T15" fmla="*/ 2147483647 h 352"/>
                <a:gd name="T16" fmla="*/ 2147483647 w 152"/>
                <a:gd name="T17" fmla="*/ 2147483647 h 352"/>
                <a:gd name="T18" fmla="*/ 2147483647 w 152"/>
                <a:gd name="T19" fmla="*/ 0 h 352"/>
                <a:gd name="T20" fmla="*/ 2147483647 w 152"/>
                <a:gd name="T21" fmla="*/ 0 h 352"/>
                <a:gd name="T22" fmla="*/ 2147483647 w 152"/>
                <a:gd name="T23" fmla="*/ 2147483647 h 352"/>
                <a:gd name="T24" fmla="*/ 2147483647 w 152"/>
                <a:gd name="T25" fmla="*/ 2147483647 h 352"/>
                <a:gd name="T26" fmla="*/ 2147483647 w 152"/>
                <a:gd name="T27" fmla="*/ 2147483647 h 352"/>
                <a:gd name="T28" fmla="*/ 2147483647 w 152"/>
                <a:gd name="T29" fmla="*/ 2147483647 h 352"/>
                <a:gd name="T30" fmla="*/ 2147483647 w 152"/>
                <a:gd name="T31" fmla="*/ 2147483647 h 352"/>
                <a:gd name="T32" fmla="*/ 0 w 152"/>
                <a:gd name="T33" fmla="*/ 2147483647 h 352"/>
                <a:gd name="T34" fmla="*/ 2147483647 w 152"/>
                <a:gd name="T35" fmla="*/ 2147483647 h 352"/>
                <a:gd name="T36" fmla="*/ 2147483647 w 152"/>
                <a:gd name="T37" fmla="*/ 2147483647 h 352"/>
                <a:gd name="T38" fmla="*/ 2147483647 w 152"/>
                <a:gd name="T39" fmla="*/ 2147483647 h 352"/>
                <a:gd name="T40" fmla="*/ 2147483647 w 152"/>
                <a:gd name="T41" fmla="*/ 2147483647 h 352"/>
                <a:gd name="T42" fmla="*/ 2147483647 w 152"/>
                <a:gd name="T43" fmla="*/ 2147483647 h 352"/>
                <a:gd name="T44" fmla="*/ 2147483647 w 152"/>
                <a:gd name="T45" fmla="*/ 2147483647 h 352"/>
                <a:gd name="T46" fmla="*/ 2147483647 w 152"/>
                <a:gd name="T47" fmla="*/ 2147483647 h 352"/>
                <a:gd name="T48" fmla="*/ 2147483647 w 152"/>
                <a:gd name="T49" fmla="*/ 2147483647 h 352"/>
                <a:gd name="T50" fmla="*/ 2147483647 w 152"/>
                <a:gd name="T51" fmla="*/ 2147483647 h 352"/>
                <a:gd name="T52" fmla="*/ 2147483647 w 152"/>
                <a:gd name="T53" fmla="*/ 2147483647 h 352"/>
                <a:gd name="T54" fmla="*/ 2147483647 w 152"/>
                <a:gd name="T55" fmla="*/ 2147483647 h 352"/>
                <a:gd name="T56" fmla="*/ 2147483647 w 152"/>
                <a:gd name="T57" fmla="*/ 2147483647 h 352"/>
                <a:gd name="T58" fmla="*/ 2147483647 w 152"/>
                <a:gd name="T59" fmla="*/ 2147483647 h 352"/>
                <a:gd name="T60" fmla="*/ 2147483647 w 152"/>
                <a:gd name="T61" fmla="*/ 2147483647 h 352"/>
                <a:gd name="T62" fmla="*/ 2147483647 w 152"/>
                <a:gd name="T63" fmla="*/ 2147483647 h 352"/>
                <a:gd name="T64" fmla="*/ 2147483647 w 152"/>
                <a:gd name="T65" fmla="*/ 2147483647 h 352"/>
                <a:gd name="T66" fmla="*/ 2147483647 w 152"/>
                <a:gd name="T67" fmla="*/ 2147483647 h 352"/>
                <a:gd name="T68" fmla="*/ 2147483647 w 152"/>
                <a:gd name="T69" fmla="*/ 2147483647 h 352"/>
                <a:gd name="T70" fmla="*/ 2147483647 w 152"/>
                <a:gd name="T71" fmla="*/ 2147483647 h 352"/>
                <a:gd name="T72" fmla="*/ 2147483647 w 152"/>
                <a:gd name="T73" fmla="*/ 2147483647 h 352"/>
                <a:gd name="T74" fmla="*/ 2147483647 w 152"/>
                <a:gd name="T75" fmla="*/ 2147483647 h 352"/>
                <a:gd name="T76" fmla="*/ 2147483647 w 152"/>
                <a:gd name="T77" fmla="*/ 2147483647 h 352"/>
                <a:gd name="T78" fmla="*/ 2147483647 w 152"/>
                <a:gd name="T79" fmla="*/ 2147483647 h 352"/>
                <a:gd name="T80" fmla="*/ 2147483647 w 152"/>
                <a:gd name="T81" fmla="*/ 2147483647 h 352"/>
                <a:gd name="T82" fmla="*/ 2147483647 w 152"/>
                <a:gd name="T83" fmla="*/ 2147483647 h 352"/>
                <a:gd name="T84" fmla="*/ 2147483647 w 152"/>
                <a:gd name="T85" fmla="*/ 2147483647 h 352"/>
                <a:gd name="T86" fmla="*/ 2147483647 w 152"/>
                <a:gd name="T87" fmla="*/ 2147483647 h 352"/>
                <a:gd name="T88" fmla="*/ 2147483647 w 152"/>
                <a:gd name="T89" fmla="*/ 2147483647 h 352"/>
                <a:gd name="T90" fmla="*/ 2147483647 w 152"/>
                <a:gd name="T91" fmla="*/ 2147483647 h 35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2"/>
                <a:gd name="T139" fmla="*/ 0 h 352"/>
                <a:gd name="T140" fmla="*/ 152 w 152"/>
                <a:gd name="T141" fmla="*/ 352 h 35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2" h="352">
                  <a:moveTo>
                    <a:pt x="96" y="104"/>
                  </a:moveTo>
                  <a:lnTo>
                    <a:pt x="112" y="88"/>
                  </a:lnTo>
                  <a:lnTo>
                    <a:pt x="88" y="80"/>
                  </a:lnTo>
                  <a:lnTo>
                    <a:pt x="88" y="72"/>
                  </a:lnTo>
                  <a:lnTo>
                    <a:pt x="80" y="64"/>
                  </a:lnTo>
                  <a:lnTo>
                    <a:pt x="72" y="56"/>
                  </a:lnTo>
                  <a:lnTo>
                    <a:pt x="72" y="48"/>
                  </a:lnTo>
                  <a:lnTo>
                    <a:pt x="80" y="24"/>
                  </a:lnTo>
                  <a:lnTo>
                    <a:pt x="72" y="8"/>
                  </a:lnTo>
                  <a:lnTo>
                    <a:pt x="64" y="0"/>
                  </a:lnTo>
                  <a:lnTo>
                    <a:pt x="56" y="0"/>
                  </a:lnTo>
                  <a:lnTo>
                    <a:pt x="56" y="8"/>
                  </a:lnTo>
                  <a:lnTo>
                    <a:pt x="40" y="24"/>
                  </a:lnTo>
                  <a:lnTo>
                    <a:pt x="32" y="48"/>
                  </a:lnTo>
                  <a:lnTo>
                    <a:pt x="16" y="56"/>
                  </a:lnTo>
                  <a:lnTo>
                    <a:pt x="8" y="80"/>
                  </a:lnTo>
                  <a:lnTo>
                    <a:pt x="0" y="96"/>
                  </a:lnTo>
                  <a:lnTo>
                    <a:pt x="8" y="112"/>
                  </a:lnTo>
                  <a:lnTo>
                    <a:pt x="24" y="160"/>
                  </a:lnTo>
                  <a:lnTo>
                    <a:pt x="40" y="168"/>
                  </a:lnTo>
                  <a:lnTo>
                    <a:pt x="56" y="160"/>
                  </a:lnTo>
                  <a:lnTo>
                    <a:pt x="64" y="168"/>
                  </a:lnTo>
                  <a:lnTo>
                    <a:pt x="72" y="192"/>
                  </a:lnTo>
                  <a:lnTo>
                    <a:pt x="72" y="224"/>
                  </a:lnTo>
                  <a:lnTo>
                    <a:pt x="72" y="264"/>
                  </a:lnTo>
                  <a:lnTo>
                    <a:pt x="88" y="280"/>
                  </a:lnTo>
                  <a:lnTo>
                    <a:pt x="96" y="296"/>
                  </a:lnTo>
                  <a:lnTo>
                    <a:pt x="104" y="312"/>
                  </a:lnTo>
                  <a:lnTo>
                    <a:pt x="120" y="328"/>
                  </a:lnTo>
                  <a:lnTo>
                    <a:pt x="144" y="352"/>
                  </a:lnTo>
                  <a:lnTo>
                    <a:pt x="152" y="344"/>
                  </a:lnTo>
                  <a:lnTo>
                    <a:pt x="144" y="320"/>
                  </a:lnTo>
                  <a:lnTo>
                    <a:pt x="136" y="304"/>
                  </a:lnTo>
                  <a:lnTo>
                    <a:pt x="120" y="288"/>
                  </a:lnTo>
                  <a:lnTo>
                    <a:pt x="104" y="280"/>
                  </a:lnTo>
                  <a:lnTo>
                    <a:pt x="96" y="272"/>
                  </a:lnTo>
                  <a:lnTo>
                    <a:pt x="88" y="240"/>
                  </a:lnTo>
                  <a:lnTo>
                    <a:pt x="88" y="224"/>
                  </a:lnTo>
                  <a:lnTo>
                    <a:pt x="96" y="216"/>
                  </a:lnTo>
                  <a:lnTo>
                    <a:pt x="80" y="192"/>
                  </a:lnTo>
                  <a:lnTo>
                    <a:pt x="80" y="176"/>
                  </a:lnTo>
                  <a:lnTo>
                    <a:pt x="80" y="168"/>
                  </a:lnTo>
                  <a:lnTo>
                    <a:pt x="80" y="152"/>
                  </a:lnTo>
                  <a:lnTo>
                    <a:pt x="72" y="128"/>
                  </a:lnTo>
                  <a:lnTo>
                    <a:pt x="88" y="112"/>
                  </a:lnTo>
                  <a:lnTo>
                    <a:pt x="96" y="10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76" name="Freeform 626"/>
            <p:cNvSpPr>
              <a:spLocks/>
            </p:cNvSpPr>
            <p:nvPr/>
          </p:nvSpPr>
          <p:spPr bwMode="auto">
            <a:xfrm>
              <a:off x="3642050" y="2966315"/>
              <a:ext cx="389848" cy="407175"/>
            </a:xfrm>
            <a:custGeom>
              <a:avLst/>
              <a:gdLst>
                <a:gd name="T0" fmla="*/ 2147483647 w 368"/>
                <a:gd name="T1" fmla="*/ 2147483647 h 384"/>
                <a:gd name="T2" fmla="*/ 2147483647 w 368"/>
                <a:gd name="T3" fmla="*/ 2147483647 h 384"/>
                <a:gd name="T4" fmla="*/ 2147483647 w 368"/>
                <a:gd name="T5" fmla="*/ 2147483647 h 384"/>
                <a:gd name="T6" fmla="*/ 2147483647 w 368"/>
                <a:gd name="T7" fmla="*/ 2147483647 h 384"/>
                <a:gd name="T8" fmla="*/ 2147483647 w 368"/>
                <a:gd name="T9" fmla="*/ 2147483647 h 384"/>
                <a:gd name="T10" fmla="*/ 2147483647 w 368"/>
                <a:gd name="T11" fmla="*/ 2147483647 h 384"/>
                <a:gd name="T12" fmla="*/ 2147483647 w 368"/>
                <a:gd name="T13" fmla="*/ 2147483647 h 384"/>
                <a:gd name="T14" fmla="*/ 2147483647 w 368"/>
                <a:gd name="T15" fmla="*/ 2147483647 h 384"/>
                <a:gd name="T16" fmla="*/ 2147483647 w 368"/>
                <a:gd name="T17" fmla="*/ 2147483647 h 384"/>
                <a:gd name="T18" fmla="*/ 2147483647 w 368"/>
                <a:gd name="T19" fmla="*/ 2147483647 h 384"/>
                <a:gd name="T20" fmla="*/ 2147483647 w 368"/>
                <a:gd name="T21" fmla="*/ 2147483647 h 384"/>
                <a:gd name="T22" fmla="*/ 2147483647 w 368"/>
                <a:gd name="T23" fmla="*/ 2147483647 h 384"/>
                <a:gd name="T24" fmla="*/ 2147483647 w 368"/>
                <a:gd name="T25" fmla="*/ 0 h 384"/>
                <a:gd name="T26" fmla="*/ 2147483647 w 368"/>
                <a:gd name="T27" fmla="*/ 0 h 384"/>
                <a:gd name="T28" fmla="*/ 2147483647 w 368"/>
                <a:gd name="T29" fmla="*/ 2147483647 h 384"/>
                <a:gd name="T30" fmla="*/ 2147483647 w 368"/>
                <a:gd name="T31" fmla="*/ 2147483647 h 384"/>
                <a:gd name="T32" fmla="*/ 2147483647 w 368"/>
                <a:gd name="T33" fmla="*/ 2147483647 h 384"/>
                <a:gd name="T34" fmla="*/ 2147483647 w 368"/>
                <a:gd name="T35" fmla="*/ 2147483647 h 384"/>
                <a:gd name="T36" fmla="*/ 2147483647 w 368"/>
                <a:gd name="T37" fmla="*/ 2147483647 h 384"/>
                <a:gd name="T38" fmla="*/ 2147483647 w 368"/>
                <a:gd name="T39" fmla="*/ 2147483647 h 384"/>
                <a:gd name="T40" fmla="*/ 2147483647 w 368"/>
                <a:gd name="T41" fmla="*/ 2147483647 h 384"/>
                <a:gd name="T42" fmla="*/ 0 w 368"/>
                <a:gd name="T43" fmla="*/ 2147483647 h 384"/>
                <a:gd name="T44" fmla="*/ 2147483647 w 368"/>
                <a:gd name="T45" fmla="*/ 2147483647 h 384"/>
                <a:gd name="T46" fmla="*/ 2147483647 w 368"/>
                <a:gd name="T47" fmla="*/ 2147483647 h 384"/>
                <a:gd name="T48" fmla="*/ 2147483647 w 368"/>
                <a:gd name="T49" fmla="*/ 2147483647 h 384"/>
                <a:gd name="T50" fmla="*/ 2147483647 w 368"/>
                <a:gd name="T51" fmla="*/ 2147483647 h 384"/>
                <a:gd name="T52" fmla="*/ 2147483647 w 368"/>
                <a:gd name="T53" fmla="*/ 2147483647 h 384"/>
                <a:gd name="T54" fmla="*/ 2147483647 w 368"/>
                <a:gd name="T55" fmla="*/ 2147483647 h 384"/>
                <a:gd name="T56" fmla="*/ 2147483647 w 368"/>
                <a:gd name="T57" fmla="*/ 2147483647 h 384"/>
                <a:gd name="T58" fmla="*/ 2147483647 w 368"/>
                <a:gd name="T59" fmla="*/ 2147483647 h 384"/>
                <a:gd name="T60" fmla="*/ 2147483647 w 368"/>
                <a:gd name="T61" fmla="*/ 2147483647 h 384"/>
                <a:gd name="T62" fmla="*/ 2147483647 w 368"/>
                <a:gd name="T63" fmla="*/ 2147483647 h 384"/>
                <a:gd name="T64" fmla="*/ 2147483647 w 368"/>
                <a:gd name="T65" fmla="*/ 2147483647 h 384"/>
                <a:gd name="T66" fmla="*/ 2147483647 w 368"/>
                <a:gd name="T67" fmla="*/ 2147483647 h 384"/>
                <a:gd name="T68" fmla="*/ 2147483647 w 368"/>
                <a:gd name="T69" fmla="*/ 2147483647 h 384"/>
                <a:gd name="T70" fmla="*/ 2147483647 w 368"/>
                <a:gd name="T71" fmla="*/ 2147483647 h 384"/>
                <a:gd name="T72" fmla="*/ 2147483647 w 368"/>
                <a:gd name="T73" fmla="*/ 2147483647 h 384"/>
                <a:gd name="T74" fmla="*/ 2147483647 w 368"/>
                <a:gd name="T75" fmla="*/ 2147483647 h 38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68"/>
                <a:gd name="T115" fmla="*/ 0 h 384"/>
                <a:gd name="T116" fmla="*/ 368 w 368"/>
                <a:gd name="T117" fmla="*/ 384 h 38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68" h="384">
                  <a:moveTo>
                    <a:pt x="328" y="168"/>
                  </a:moveTo>
                  <a:lnTo>
                    <a:pt x="344" y="160"/>
                  </a:lnTo>
                  <a:lnTo>
                    <a:pt x="352" y="136"/>
                  </a:lnTo>
                  <a:lnTo>
                    <a:pt x="368" y="120"/>
                  </a:lnTo>
                  <a:lnTo>
                    <a:pt x="368" y="112"/>
                  </a:lnTo>
                  <a:lnTo>
                    <a:pt x="352" y="104"/>
                  </a:lnTo>
                  <a:lnTo>
                    <a:pt x="336" y="104"/>
                  </a:lnTo>
                  <a:lnTo>
                    <a:pt x="320" y="112"/>
                  </a:lnTo>
                  <a:lnTo>
                    <a:pt x="304" y="128"/>
                  </a:lnTo>
                  <a:lnTo>
                    <a:pt x="288" y="128"/>
                  </a:lnTo>
                  <a:lnTo>
                    <a:pt x="272" y="128"/>
                  </a:lnTo>
                  <a:lnTo>
                    <a:pt x="264" y="120"/>
                  </a:lnTo>
                  <a:lnTo>
                    <a:pt x="256" y="120"/>
                  </a:lnTo>
                  <a:lnTo>
                    <a:pt x="248" y="136"/>
                  </a:lnTo>
                  <a:lnTo>
                    <a:pt x="240" y="136"/>
                  </a:lnTo>
                  <a:lnTo>
                    <a:pt x="224" y="128"/>
                  </a:lnTo>
                  <a:lnTo>
                    <a:pt x="192" y="128"/>
                  </a:lnTo>
                  <a:lnTo>
                    <a:pt x="152" y="104"/>
                  </a:lnTo>
                  <a:lnTo>
                    <a:pt x="168" y="80"/>
                  </a:lnTo>
                  <a:lnTo>
                    <a:pt x="144" y="72"/>
                  </a:lnTo>
                  <a:lnTo>
                    <a:pt x="136" y="56"/>
                  </a:lnTo>
                  <a:lnTo>
                    <a:pt x="144" y="48"/>
                  </a:lnTo>
                  <a:lnTo>
                    <a:pt x="144" y="32"/>
                  </a:lnTo>
                  <a:lnTo>
                    <a:pt x="160" y="8"/>
                  </a:lnTo>
                  <a:lnTo>
                    <a:pt x="152" y="0"/>
                  </a:lnTo>
                  <a:lnTo>
                    <a:pt x="128" y="0"/>
                  </a:lnTo>
                  <a:lnTo>
                    <a:pt x="112" y="0"/>
                  </a:lnTo>
                  <a:lnTo>
                    <a:pt x="120" y="8"/>
                  </a:lnTo>
                  <a:lnTo>
                    <a:pt x="80" y="16"/>
                  </a:lnTo>
                  <a:lnTo>
                    <a:pt x="80" y="40"/>
                  </a:lnTo>
                  <a:lnTo>
                    <a:pt x="88" y="48"/>
                  </a:lnTo>
                  <a:lnTo>
                    <a:pt x="80" y="64"/>
                  </a:lnTo>
                  <a:lnTo>
                    <a:pt x="72" y="80"/>
                  </a:lnTo>
                  <a:lnTo>
                    <a:pt x="48" y="120"/>
                  </a:lnTo>
                  <a:lnTo>
                    <a:pt x="32" y="120"/>
                  </a:lnTo>
                  <a:lnTo>
                    <a:pt x="24" y="128"/>
                  </a:lnTo>
                  <a:lnTo>
                    <a:pt x="32" y="144"/>
                  </a:lnTo>
                  <a:lnTo>
                    <a:pt x="40" y="160"/>
                  </a:lnTo>
                  <a:lnTo>
                    <a:pt x="24" y="168"/>
                  </a:lnTo>
                  <a:lnTo>
                    <a:pt x="8" y="176"/>
                  </a:lnTo>
                  <a:lnTo>
                    <a:pt x="0" y="176"/>
                  </a:lnTo>
                  <a:lnTo>
                    <a:pt x="16" y="200"/>
                  </a:lnTo>
                  <a:lnTo>
                    <a:pt x="32" y="216"/>
                  </a:lnTo>
                  <a:lnTo>
                    <a:pt x="56" y="200"/>
                  </a:lnTo>
                  <a:lnTo>
                    <a:pt x="64" y="272"/>
                  </a:lnTo>
                  <a:lnTo>
                    <a:pt x="72" y="304"/>
                  </a:lnTo>
                  <a:lnTo>
                    <a:pt x="96" y="344"/>
                  </a:lnTo>
                  <a:lnTo>
                    <a:pt x="104" y="360"/>
                  </a:lnTo>
                  <a:lnTo>
                    <a:pt x="120" y="384"/>
                  </a:lnTo>
                  <a:lnTo>
                    <a:pt x="128" y="368"/>
                  </a:lnTo>
                  <a:lnTo>
                    <a:pt x="144" y="352"/>
                  </a:lnTo>
                  <a:lnTo>
                    <a:pt x="152" y="336"/>
                  </a:lnTo>
                  <a:lnTo>
                    <a:pt x="152" y="304"/>
                  </a:lnTo>
                  <a:lnTo>
                    <a:pt x="160" y="280"/>
                  </a:lnTo>
                  <a:lnTo>
                    <a:pt x="184" y="256"/>
                  </a:lnTo>
                  <a:lnTo>
                    <a:pt x="216" y="240"/>
                  </a:lnTo>
                  <a:lnTo>
                    <a:pt x="232" y="224"/>
                  </a:lnTo>
                  <a:lnTo>
                    <a:pt x="240" y="200"/>
                  </a:lnTo>
                  <a:lnTo>
                    <a:pt x="264" y="200"/>
                  </a:lnTo>
                  <a:lnTo>
                    <a:pt x="256" y="168"/>
                  </a:lnTo>
                  <a:lnTo>
                    <a:pt x="248" y="160"/>
                  </a:lnTo>
                  <a:lnTo>
                    <a:pt x="256" y="152"/>
                  </a:lnTo>
                  <a:lnTo>
                    <a:pt x="256" y="144"/>
                  </a:lnTo>
                  <a:lnTo>
                    <a:pt x="272" y="144"/>
                  </a:lnTo>
                  <a:lnTo>
                    <a:pt x="280" y="152"/>
                  </a:lnTo>
                  <a:lnTo>
                    <a:pt x="304" y="160"/>
                  </a:lnTo>
                  <a:lnTo>
                    <a:pt x="304" y="168"/>
                  </a:lnTo>
                  <a:lnTo>
                    <a:pt x="296" y="176"/>
                  </a:lnTo>
                  <a:lnTo>
                    <a:pt x="312" y="176"/>
                  </a:lnTo>
                  <a:lnTo>
                    <a:pt x="304" y="192"/>
                  </a:lnTo>
                  <a:lnTo>
                    <a:pt x="312" y="208"/>
                  </a:lnTo>
                  <a:lnTo>
                    <a:pt x="320" y="192"/>
                  </a:lnTo>
                  <a:lnTo>
                    <a:pt x="328" y="16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77" name="Freeform 627"/>
            <p:cNvSpPr>
              <a:spLocks/>
            </p:cNvSpPr>
            <p:nvPr/>
          </p:nvSpPr>
          <p:spPr bwMode="auto">
            <a:xfrm>
              <a:off x="3972121" y="3085002"/>
              <a:ext cx="161137" cy="373388"/>
            </a:xfrm>
            <a:custGeom>
              <a:avLst/>
              <a:gdLst>
                <a:gd name="T0" fmla="*/ 2147483647 w 152"/>
                <a:gd name="T1" fmla="*/ 2147483647 h 352"/>
                <a:gd name="T2" fmla="*/ 2147483647 w 152"/>
                <a:gd name="T3" fmla="*/ 2147483647 h 352"/>
                <a:gd name="T4" fmla="*/ 2147483647 w 152"/>
                <a:gd name="T5" fmla="*/ 2147483647 h 352"/>
                <a:gd name="T6" fmla="*/ 2147483647 w 152"/>
                <a:gd name="T7" fmla="*/ 2147483647 h 352"/>
                <a:gd name="T8" fmla="*/ 2147483647 w 152"/>
                <a:gd name="T9" fmla="*/ 2147483647 h 352"/>
                <a:gd name="T10" fmla="*/ 2147483647 w 152"/>
                <a:gd name="T11" fmla="*/ 0 h 352"/>
                <a:gd name="T12" fmla="*/ 2147483647 w 152"/>
                <a:gd name="T13" fmla="*/ 2147483647 h 352"/>
                <a:gd name="T14" fmla="*/ 2147483647 w 152"/>
                <a:gd name="T15" fmla="*/ 2147483647 h 352"/>
                <a:gd name="T16" fmla="*/ 0 w 152"/>
                <a:gd name="T17" fmla="*/ 2147483647 h 352"/>
                <a:gd name="T18" fmla="*/ 2147483647 w 152"/>
                <a:gd name="T19" fmla="*/ 2147483647 h 352"/>
                <a:gd name="T20" fmla="*/ 2147483647 w 152"/>
                <a:gd name="T21" fmla="*/ 2147483647 h 352"/>
                <a:gd name="T22" fmla="*/ 2147483647 w 152"/>
                <a:gd name="T23" fmla="*/ 2147483647 h 352"/>
                <a:gd name="T24" fmla="*/ 2147483647 w 152"/>
                <a:gd name="T25" fmla="*/ 2147483647 h 352"/>
                <a:gd name="T26" fmla="*/ 2147483647 w 152"/>
                <a:gd name="T27" fmla="*/ 2147483647 h 352"/>
                <a:gd name="T28" fmla="*/ 2147483647 w 152"/>
                <a:gd name="T29" fmla="*/ 2147483647 h 352"/>
                <a:gd name="T30" fmla="*/ 2147483647 w 152"/>
                <a:gd name="T31" fmla="*/ 2147483647 h 352"/>
                <a:gd name="T32" fmla="*/ 2147483647 w 152"/>
                <a:gd name="T33" fmla="*/ 2147483647 h 352"/>
                <a:gd name="T34" fmla="*/ 2147483647 w 152"/>
                <a:gd name="T35" fmla="*/ 2147483647 h 352"/>
                <a:gd name="T36" fmla="*/ 2147483647 w 152"/>
                <a:gd name="T37" fmla="*/ 2147483647 h 352"/>
                <a:gd name="T38" fmla="*/ 2147483647 w 152"/>
                <a:gd name="T39" fmla="*/ 2147483647 h 352"/>
                <a:gd name="T40" fmla="*/ 2147483647 w 152"/>
                <a:gd name="T41" fmla="*/ 2147483647 h 352"/>
                <a:gd name="T42" fmla="*/ 2147483647 w 152"/>
                <a:gd name="T43" fmla="*/ 2147483647 h 352"/>
                <a:gd name="T44" fmla="*/ 2147483647 w 152"/>
                <a:gd name="T45" fmla="*/ 2147483647 h 352"/>
                <a:gd name="T46" fmla="*/ 2147483647 w 152"/>
                <a:gd name="T47" fmla="*/ 2147483647 h 352"/>
                <a:gd name="T48" fmla="*/ 2147483647 w 152"/>
                <a:gd name="T49" fmla="*/ 2147483647 h 352"/>
                <a:gd name="T50" fmla="*/ 2147483647 w 152"/>
                <a:gd name="T51" fmla="*/ 2147483647 h 352"/>
                <a:gd name="T52" fmla="*/ 2147483647 w 152"/>
                <a:gd name="T53" fmla="*/ 2147483647 h 352"/>
                <a:gd name="T54" fmla="*/ 2147483647 w 152"/>
                <a:gd name="T55" fmla="*/ 2147483647 h 352"/>
                <a:gd name="T56" fmla="*/ 2147483647 w 152"/>
                <a:gd name="T57" fmla="*/ 0 h 352"/>
                <a:gd name="T58" fmla="*/ 2147483647 w 152"/>
                <a:gd name="T59" fmla="*/ 2147483647 h 352"/>
                <a:gd name="T60" fmla="*/ 2147483647 w 152"/>
                <a:gd name="T61" fmla="*/ 2147483647 h 352"/>
                <a:gd name="T62" fmla="*/ 0 w 152"/>
                <a:gd name="T63" fmla="*/ 2147483647 h 352"/>
                <a:gd name="T64" fmla="*/ 2147483647 w 152"/>
                <a:gd name="T65" fmla="*/ 2147483647 h 352"/>
                <a:gd name="T66" fmla="*/ 2147483647 w 152"/>
                <a:gd name="T67" fmla="*/ 2147483647 h 352"/>
                <a:gd name="T68" fmla="*/ 2147483647 w 152"/>
                <a:gd name="T69" fmla="*/ 2147483647 h 352"/>
                <a:gd name="T70" fmla="*/ 2147483647 w 152"/>
                <a:gd name="T71" fmla="*/ 2147483647 h 352"/>
                <a:gd name="T72" fmla="*/ 2147483647 w 152"/>
                <a:gd name="T73" fmla="*/ 2147483647 h 352"/>
                <a:gd name="T74" fmla="*/ 2147483647 w 152"/>
                <a:gd name="T75" fmla="*/ 2147483647 h 352"/>
                <a:gd name="T76" fmla="*/ 2147483647 w 152"/>
                <a:gd name="T77" fmla="*/ 2147483647 h 352"/>
                <a:gd name="T78" fmla="*/ 2147483647 w 152"/>
                <a:gd name="T79" fmla="*/ 2147483647 h 352"/>
                <a:gd name="T80" fmla="*/ 2147483647 w 152"/>
                <a:gd name="T81" fmla="*/ 2147483647 h 352"/>
                <a:gd name="T82" fmla="*/ 2147483647 w 152"/>
                <a:gd name="T83" fmla="*/ 2147483647 h 352"/>
                <a:gd name="T84" fmla="*/ 2147483647 w 152"/>
                <a:gd name="T85" fmla="*/ 2147483647 h 352"/>
                <a:gd name="T86" fmla="*/ 2147483647 w 152"/>
                <a:gd name="T87" fmla="*/ 2147483647 h 352"/>
                <a:gd name="T88" fmla="*/ 2147483647 w 152"/>
                <a:gd name="T89" fmla="*/ 2147483647 h 352"/>
                <a:gd name="T90" fmla="*/ 2147483647 w 152"/>
                <a:gd name="T91" fmla="*/ 2147483647 h 35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2"/>
                <a:gd name="T139" fmla="*/ 0 h 352"/>
                <a:gd name="T140" fmla="*/ 152 w 152"/>
                <a:gd name="T141" fmla="*/ 352 h 35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2" h="352">
                  <a:moveTo>
                    <a:pt x="96" y="104"/>
                  </a:moveTo>
                  <a:lnTo>
                    <a:pt x="96" y="104"/>
                  </a:lnTo>
                  <a:lnTo>
                    <a:pt x="112" y="88"/>
                  </a:lnTo>
                  <a:lnTo>
                    <a:pt x="88" y="80"/>
                  </a:lnTo>
                  <a:lnTo>
                    <a:pt x="88" y="72"/>
                  </a:lnTo>
                  <a:lnTo>
                    <a:pt x="80" y="64"/>
                  </a:lnTo>
                  <a:lnTo>
                    <a:pt x="72" y="56"/>
                  </a:lnTo>
                  <a:lnTo>
                    <a:pt x="72" y="48"/>
                  </a:lnTo>
                  <a:lnTo>
                    <a:pt x="80" y="24"/>
                  </a:lnTo>
                  <a:lnTo>
                    <a:pt x="72" y="8"/>
                  </a:lnTo>
                  <a:lnTo>
                    <a:pt x="64" y="0"/>
                  </a:lnTo>
                  <a:lnTo>
                    <a:pt x="56" y="0"/>
                  </a:lnTo>
                  <a:lnTo>
                    <a:pt x="56" y="8"/>
                  </a:lnTo>
                  <a:lnTo>
                    <a:pt x="40" y="24"/>
                  </a:lnTo>
                  <a:lnTo>
                    <a:pt x="32" y="48"/>
                  </a:lnTo>
                  <a:lnTo>
                    <a:pt x="16" y="56"/>
                  </a:lnTo>
                  <a:lnTo>
                    <a:pt x="8" y="80"/>
                  </a:lnTo>
                  <a:lnTo>
                    <a:pt x="0" y="96"/>
                  </a:lnTo>
                  <a:lnTo>
                    <a:pt x="8" y="112"/>
                  </a:lnTo>
                  <a:lnTo>
                    <a:pt x="24" y="160"/>
                  </a:lnTo>
                  <a:lnTo>
                    <a:pt x="40" y="168"/>
                  </a:lnTo>
                  <a:lnTo>
                    <a:pt x="56" y="160"/>
                  </a:lnTo>
                  <a:lnTo>
                    <a:pt x="64" y="168"/>
                  </a:lnTo>
                  <a:lnTo>
                    <a:pt x="72" y="192"/>
                  </a:lnTo>
                  <a:lnTo>
                    <a:pt x="72" y="224"/>
                  </a:lnTo>
                  <a:lnTo>
                    <a:pt x="72" y="264"/>
                  </a:lnTo>
                  <a:lnTo>
                    <a:pt x="88" y="280"/>
                  </a:lnTo>
                  <a:lnTo>
                    <a:pt x="96" y="296"/>
                  </a:lnTo>
                  <a:lnTo>
                    <a:pt x="104" y="312"/>
                  </a:lnTo>
                  <a:lnTo>
                    <a:pt x="120" y="328"/>
                  </a:lnTo>
                  <a:lnTo>
                    <a:pt x="144" y="352"/>
                  </a:lnTo>
                  <a:lnTo>
                    <a:pt x="152" y="344"/>
                  </a:lnTo>
                  <a:lnTo>
                    <a:pt x="144" y="320"/>
                  </a:lnTo>
                  <a:lnTo>
                    <a:pt x="136" y="304"/>
                  </a:lnTo>
                  <a:lnTo>
                    <a:pt x="120" y="288"/>
                  </a:lnTo>
                  <a:lnTo>
                    <a:pt x="104" y="280"/>
                  </a:lnTo>
                  <a:lnTo>
                    <a:pt x="96" y="272"/>
                  </a:lnTo>
                  <a:lnTo>
                    <a:pt x="88" y="240"/>
                  </a:lnTo>
                  <a:lnTo>
                    <a:pt x="88" y="224"/>
                  </a:lnTo>
                  <a:lnTo>
                    <a:pt x="96" y="216"/>
                  </a:lnTo>
                  <a:lnTo>
                    <a:pt x="80" y="192"/>
                  </a:lnTo>
                  <a:lnTo>
                    <a:pt x="80" y="176"/>
                  </a:lnTo>
                  <a:lnTo>
                    <a:pt x="80" y="168"/>
                  </a:lnTo>
                  <a:lnTo>
                    <a:pt x="80" y="152"/>
                  </a:lnTo>
                  <a:lnTo>
                    <a:pt x="72" y="128"/>
                  </a:lnTo>
                  <a:lnTo>
                    <a:pt x="88" y="112"/>
                  </a:lnTo>
                  <a:lnTo>
                    <a:pt x="96" y="104"/>
                  </a:lnTo>
                  <a:lnTo>
                    <a:pt x="112" y="88"/>
                  </a:lnTo>
                  <a:lnTo>
                    <a:pt x="88" y="80"/>
                  </a:lnTo>
                  <a:lnTo>
                    <a:pt x="88" y="72"/>
                  </a:lnTo>
                  <a:lnTo>
                    <a:pt x="80" y="64"/>
                  </a:lnTo>
                  <a:lnTo>
                    <a:pt x="72" y="56"/>
                  </a:lnTo>
                  <a:lnTo>
                    <a:pt x="72" y="48"/>
                  </a:lnTo>
                  <a:lnTo>
                    <a:pt x="80" y="24"/>
                  </a:lnTo>
                  <a:lnTo>
                    <a:pt x="72" y="8"/>
                  </a:lnTo>
                  <a:lnTo>
                    <a:pt x="64" y="0"/>
                  </a:lnTo>
                  <a:lnTo>
                    <a:pt x="56" y="0"/>
                  </a:lnTo>
                  <a:lnTo>
                    <a:pt x="56" y="8"/>
                  </a:lnTo>
                  <a:lnTo>
                    <a:pt x="40" y="24"/>
                  </a:lnTo>
                  <a:lnTo>
                    <a:pt x="32" y="48"/>
                  </a:lnTo>
                  <a:lnTo>
                    <a:pt x="16" y="56"/>
                  </a:lnTo>
                  <a:lnTo>
                    <a:pt x="8" y="80"/>
                  </a:lnTo>
                  <a:lnTo>
                    <a:pt x="0" y="96"/>
                  </a:lnTo>
                  <a:lnTo>
                    <a:pt x="8" y="112"/>
                  </a:lnTo>
                  <a:lnTo>
                    <a:pt x="24" y="160"/>
                  </a:lnTo>
                  <a:lnTo>
                    <a:pt x="40" y="168"/>
                  </a:lnTo>
                  <a:lnTo>
                    <a:pt x="56" y="160"/>
                  </a:lnTo>
                  <a:lnTo>
                    <a:pt x="64" y="168"/>
                  </a:lnTo>
                  <a:lnTo>
                    <a:pt x="72" y="192"/>
                  </a:lnTo>
                  <a:lnTo>
                    <a:pt x="72" y="224"/>
                  </a:lnTo>
                  <a:lnTo>
                    <a:pt x="72" y="264"/>
                  </a:lnTo>
                  <a:lnTo>
                    <a:pt x="88" y="280"/>
                  </a:lnTo>
                  <a:lnTo>
                    <a:pt x="96" y="296"/>
                  </a:lnTo>
                  <a:lnTo>
                    <a:pt x="104" y="312"/>
                  </a:lnTo>
                  <a:lnTo>
                    <a:pt x="120" y="328"/>
                  </a:lnTo>
                  <a:lnTo>
                    <a:pt x="144" y="352"/>
                  </a:lnTo>
                  <a:lnTo>
                    <a:pt x="152" y="344"/>
                  </a:lnTo>
                  <a:lnTo>
                    <a:pt x="144" y="320"/>
                  </a:lnTo>
                  <a:lnTo>
                    <a:pt x="136" y="304"/>
                  </a:lnTo>
                  <a:lnTo>
                    <a:pt x="120" y="288"/>
                  </a:lnTo>
                  <a:lnTo>
                    <a:pt x="104" y="280"/>
                  </a:lnTo>
                  <a:lnTo>
                    <a:pt x="96" y="272"/>
                  </a:lnTo>
                  <a:lnTo>
                    <a:pt x="88" y="240"/>
                  </a:lnTo>
                  <a:lnTo>
                    <a:pt x="88" y="224"/>
                  </a:lnTo>
                  <a:lnTo>
                    <a:pt x="96" y="216"/>
                  </a:lnTo>
                  <a:lnTo>
                    <a:pt x="80" y="192"/>
                  </a:lnTo>
                  <a:lnTo>
                    <a:pt x="80" y="176"/>
                  </a:lnTo>
                  <a:lnTo>
                    <a:pt x="80" y="168"/>
                  </a:lnTo>
                  <a:lnTo>
                    <a:pt x="80" y="152"/>
                  </a:lnTo>
                  <a:lnTo>
                    <a:pt x="72" y="128"/>
                  </a:lnTo>
                  <a:lnTo>
                    <a:pt x="88" y="112"/>
                  </a:lnTo>
                  <a:lnTo>
                    <a:pt x="96" y="10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78" name="Freeform 628"/>
            <p:cNvSpPr>
              <a:spLocks/>
            </p:cNvSpPr>
            <p:nvPr/>
          </p:nvSpPr>
          <p:spPr bwMode="auto">
            <a:xfrm>
              <a:off x="4048359" y="3195026"/>
              <a:ext cx="102227" cy="118687"/>
            </a:xfrm>
            <a:custGeom>
              <a:avLst/>
              <a:gdLst>
                <a:gd name="T0" fmla="*/ 2147483647 w 96"/>
                <a:gd name="T1" fmla="*/ 2147483647 h 112"/>
                <a:gd name="T2" fmla="*/ 2147483647 w 96"/>
                <a:gd name="T3" fmla="*/ 2147483647 h 112"/>
                <a:gd name="T4" fmla="*/ 2147483647 w 96"/>
                <a:gd name="T5" fmla="*/ 2147483647 h 112"/>
                <a:gd name="T6" fmla="*/ 2147483647 w 96"/>
                <a:gd name="T7" fmla="*/ 2147483647 h 112"/>
                <a:gd name="T8" fmla="*/ 2147483647 w 96"/>
                <a:gd name="T9" fmla="*/ 2147483647 h 112"/>
                <a:gd name="T10" fmla="*/ 2147483647 w 96"/>
                <a:gd name="T11" fmla="*/ 2147483647 h 112"/>
                <a:gd name="T12" fmla="*/ 2147483647 w 96"/>
                <a:gd name="T13" fmla="*/ 2147483647 h 112"/>
                <a:gd name="T14" fmla="*/ 2147483647 w 96"/>
                <a:gd name="T15" fmla="*/ 0 h 112"/>
                <a:gd name="T16" fmla="*/ 2147483647 w 96"/>
                <a:gd name="T17" fmla="*/ 2147483647 h 112"/>
                <a:gd name="T18" fmla="*/ 0 w 96"/>
                <a:gd name="T19" fmla="*/ 2147483647 h 112"/>
                <a:gd name="T20" fmla="*/ 2147483647 w 96"/>
                <a:gd name="T21" fmla="*/ 2147483647 h 112"/>
                <a:gd name="T22" fmla="*/ 2147483647 w 96"/>
                <a:gd name="T23" fmla="*/ 2147483647 h 112"/>
                <a:gd name="T24" fmla="*/ 2147483647 w 96"/>
                <a:gd name="T25" fmla="*/ 2147483647 h 112"/>
                <a:gd name="T26" fmla="*/ 2147483647 w 96"/>
                <a:gd name="T27" fmla="*/ 2147483647 h 112"/>
                <a:gd name="T28" fmla="*/ 2147483647 w 96"/>
                <a:gd name="T29" fmla="*/ 2147483647 h 112"/>
                <a:gd name="T30" fmla="*/ 2147483647 w 96"/>
                <a:gd name="T31" fmla="*/ 2147483647 h 112"/>
                <a:gd name="T32" fmla="*/ 2147483647 w 96"/>
                <a:gd name="T33" fmla="*/ 2147483647 h 112"/>
                <a:gd name="T34" fmla="*/ 2147483647 w 96"/>
                <a:gd name="T35" fmla="*/ 2147483647 h 112"/>
                <a:gd name="T36" fmla="*/ 2147483647 w 96"/>
                <a:gd name="T37" fmla="*/ 2147483647 h 112"/>
                <a:gd name="T38" fmla="*/ 2147483647 w 96"/>
                <a:gd name="T39" fmla="*/ 2147483647 h 11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6"/>
                <a:gd name="T61" fmla="*/ 0 h 112"/>
                <a:gd name="T62" fmla="*/ 96 w 96"/>
                <a:gd name="T63" fmla="*/ 112 h 11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6" h="112">
                  <a:moveTo>
                    <a:pt x="64" y="88"/>
                  </a:moveTo>
                  <a:lnTo>
                    <a:pt x="88" y="80"/>
                  </a:lnTo>
                  <a:lnTo>
                    <a:pt x="96" y="72"/>
                  </a:lnTo>
                  <a:lnTo>
                    <a:pt x="72" y="40"/>
                  </a:lnTo>
                  <a:lnTo>
                    <a:pt x="64" y="32"/>
                  </a:lnTo>
                  <a:lnTo>
                    <a:pt x="32" y="32"/>
                  </a:lnTo>
                  <a:lnTo>
                    <a:pt x="32" y="8"/>
                  </a:lnTo>
                  <a:lnTo>
                    <a:pt x="24" y="0"/>
                  </a:lnTo>
                  <a:lnTo>
                    <a:pt x="16" y="8"/>
                  </a:lnTo>
                  <a:lnTo>
                    <a:pt x="0" y="24"/>
                  </a:lnTo>
                  <a:lnTo>
                    <a:pt x="8" y="48"/>
                  </a:lnTo>
                  <a:lnTo>
                    <a:pt x="8" y="64"/>
                  </a:lnTo>
                  <a:lnTo>
                    <a:pt x="8" y="72"/>
                  </a:lnTo>
                  <a:lnTo>
                    <a:pt x="8" y="88"/>
                  </a:lnTo>
                  <a:lnTo>
                    <a:pt x="24" y="112"/>
                  </a:lnTo>
                  <a:lnTo>
                    <a:pt x="24" y="96"/>
                  </a:lnTo>
                  <a:lnTo>
                    <a:pt x="48" y="104"/>
                  </a:lnTo>
                  <a:lnTo>
                    <a:pt x="56" y="112"/>
                  </a:lnTo>
                  <a:lnTo>
                    <a:pt x="56" y="96"/>
                  </a:lnTo>
                  <a:lnTo>
                    <a:pt x="64" y="8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79" name="Freeform 629"/>
            <p:cNvSpPr>
              <a:spLocks/>
            </p:cNvSpPr>
            <p:nvPr/>
          </p:nvSpPr>
          <p:spPr bwMode="auto">
            <a:xfrm>
              <a:off x="3904548" y="3118789"/>
              <a:ext cx="67574" cy="59776"/>
            </a:xfrm>
            <a:custGeom>
              <a:avLst/>
              <a:gdLst>
                <a:gd name="T0" fmla="*/ 2147483647 w 64"/>
                <a:gd name="T1" fmla="*/ 2147483647 h 56"/>
                <a:gd name="T2" fmla="*/ 2147483647 w 64"/>
                <a:gd name="T3" fmla="*/ 2147483647 h 56"/>
                <a:gd name="T4" fmla="*/ 2147483647 w 64"/>
                <a:gd name="T5" fmla="*/ 2147483647 h 56"/>
                <a:gd name="T6" fmla="*/ 2147483647 w 64"/>
                <a:gd name="T7" fmla="*/ 2147483647 h 56"/>
                <a:gd name="T8" fmla="*/ 2147483647 w 64"/>
                <a:gd name="T9" fmla="*/ 0 h 56"/>
                <a:gd name="T10" fmla="*/ 2147483647 w 64"/>
                <a:gd name="T11" fmla="*/ 0 h 56"/>
                <a:gd name="T12" fmla="*/ 2147483647 w 64"/>
                <a:gd name="T13" fmla="*/ 2147483647 h 56"/>
                <a:gd name="T14" fmla="*/ 0 w 64"/>
                <a:gd name="T15" fmla="*/ 2147483647 h 56"/>
                <a:gd name="T16" fmla="*/ 2147483647 w 64"/>
                <a:gd name="T17" fmla="*/ 2147483647 h 56"/>
                <a:gd name="T18" fmla="*/ 2147483647 w 64"/>
                <a:gd name="T19" fmla="*/ 2147483647 h 56"/>
                <a:gd name="T20" fmla="*/ 2147483647 w 64"/>
                <a:gd name="T21" fmla="*/ 2147483647 h 56"/>
                <a:gd name="T22" fmla="*/ 2147483647 w 64"/>
                <a:gd name="T23" fmla="*/ 2147483647 h 56"/>
                <a:gd name="T24" fmla="*/ 2147483647 w 64"/>
                <a:gd name="T25" fmla="*/ 2147483647 h 56"/>
                <a:gd name="T26" fmla="*/ 2147483647 w 64"/>
                <a:gd name="T27" fmla="*/ 2147483647 h 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4"/>
                <a:gd name="T43" fmla="*/ 0 h 56"/>
                <a:gd name="T44" fmla="*/ 64 w 64"/>
                <a:gd name="T45" fmla="*/ 56 h 5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4" h="56">
                  <a:moveTo>
                    <a:pt x="48" y="32"/>
                  </a:moveTo>
                  <a:lnTo>
                    <a:pt x="56" y="24"/>
                  </a:lnTo>
                  <a:lnTo>
                    <a:pt x="56" y="16"/>
                  </a:lnTo>
                  <a:lnTo>
                    <a:pt x="32" y="8"/>
                  </a:lnTo>
                  <a:lnTo>
                    <a:pt x="24" y="0"/>
                  </a:lnTo>
                  <a:lnTo>
                    <a:pt x="8" y="0"/>
                  </a:lnTo>
                  <a:lnTo>
                    <a:pt x="8" y="8"/>
                  </a:lnTo>
                  <a:lnTo>
                    <a:pt x="0" y="16"/>
                  </a:lnTo>
                  <a:lnTo>
                    <a:pt x="8" y="24"/>
                  </a:lnTo>
                  <a:lnTo>
                    <a:pt x="16" y="56"/>
                  </a:lnTo>
                  <a:lnTo>
                    <a:pt x="40" y="48"/>
                  </a:lnTo>
                  <a:lnTo>
                    <a:pt x="56" y="48"/>
                  </a:lnTo>
                  <a:lnTo>
                    <a:pt x="64" y="32"/>
                  </a:lnTo>
                  <a:lnTo>
                    <a:pt x="48"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80" name="Freeform 630"/>
            <p:cNvSpPr>
              <a:spLocks/>
            </p:cNvSpPr>
            <p:nvPr/>
          </p:nvSpPr>
          <p:spPr bwMode="auto">
            <a:xfrm>
              <a:off x="4048359" y="3195026"/>
              <a:ext cx="102227" cy="118687"/>
            </a:xfrm>
            <a:custGeom>
              <a:avLst/>
              <a:gdLst>
                <a:gd name="T0" fmla="*/ 2147483647 w 96"/>
                <a:gd name="T1" fmla="*/ 2147483647 h 112"/>
                <a:gd name="T2" fmla="*/ 2147483647 w 96"/>
                <a:gd name="T3" fmla="*/ 2147483647 h 112"/>
                <a:gd name="T4" fmla="*/ 2147483647 w 96"/>
                <a:gd name="T5" fmla="*/ 2147483647 h 112"/>
                <a:gd name="T6" fmla="*/ 2147483647 w 96"/>
                <a:gd name="T7" fmla="*/ 2147483647 h 112"/>
                <a:gd name="T8" fmla="*/ 2147483647 w 96"/>
                <a:gd name="T9" fmla="*/ 2147483647 h 112"/>
                <a:gd name="T10" fmla="*/ 2147483647 w 96"/>
                <a:gd name="T11" fmla="*/ 2147483647 h 112"/>
                <a:gd name="T12" fmla="*/ 2147483647 w 96"/>
                <a:gd name="T13" fmla="*/ 2147483647 h 112"/>
                <a:gd name="T14" fmla="*/ 2147483647 w 96"/>
                <a:gd name="T15" fmla="*/ 0 h 112"/>
                <a:gd name="T16" fmla="*/ 2147483647 w 96"/>
                <a:gd name="T17" fmla="*/ 2147483647 h 112"/>
                <a:gd name="T18" fmla="*/ 0 w 96"/>
                <a:gd name="T19" fmla="*/ 2147483647 h 112"/>
                <a:gd name="T20" fmla="*/ 2147483647 w 96"/>
                <a:gd name="T21" fmla="*/ 2147483647 h 112"/>
                <a:gd name="T22" fmla="*/ 2147483647 w 96"/>
                <a:gd name="T23" fmla="*/ 2147483647 h 112"/>
                <a:gd name="T24" fmla="*/ 2147483647 w 96"/>
                <a:gd name="T25" fmla="*/ 2147483647 h 112"/>
                <a:gd name="T26" fmla="*/ 2147483647 w 96"/>
                <a:gd name="T27" fmla="*/ 2147483647 h 112"/>
                <a:gd name="T28" fmla="*/ 2147483647 w 96"/>
                <a:gd name="T29" fmla="*/ 2147483647 h 112"/>
                <a:gd name="T30" fmla="*/ 2147483647 w 96"/>
                <a:gd name="T31" fmla="*/ 2147483647 h 112"/>
                <a:gd name="T32" fmla="*/ 2147483647 w 96"/>
                <a:gd name="T33" fmla="*/ 2147483647 h 112"/>
                <a:gd name="T34" fmla="*/ 2147483647 w 96"/>
                <a:gd name="T35" fmla="*/ 2147483647 h 112"/>
                <a:gd name="T36" fmla="*/ 2147483647 w 96"/>
                <a:gd name="T37" fmla="*/ 2147483647 h 112"/>
                <a:gd name="T38" fmla="*/ 2147483647 w 96"/>
                <a:gd name="T39" fmla="*/ 2147483647 h 11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6"/>
                <a:gd name="T61" fmla="*/ 0 h 112"/>
                <a:gd name="T62" fmla="*/ 96 w 96"/>
                <a:gd name="T63" fmla="*/ 112 h 11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6" h="112">
                  <a:moveTo>
                    <a:pt x="64" y="88"/>
                  </a:moveTo>
                  <a:lnTo>
                    <a:pt x="88" y="80"/>
                  </a:lnTo>
                  <a:lnTo>
                    <a:pt x="96" y="72"/>
                  </a:lnTo>
                  <a:lnTo>
                    <a:pt x="72" y="40"/>
                  </a:lnTo>
                  <a:lnTo>
                    <a:pt x="64" y="32"/>
                  </a:lnTo>
                  <a:lnTo>
                    <a:pt x="32" y="32"/>
                  </a:lnTo>
                  <a:lnTo>
                    <a:pt x="32" y="8"/>
                  </a:lnTo>
                  <a:lnTo>
                    <a:pt x="24" y="0"/>
                  </a:lnTo>
                  <a:lnTo>
                    <a:pt x="16" y="8"/>
                  </a:lnTo>
                  <a:lnTo>
                    <a:pt x="0" y="24"/>
                  </a:lnTo>
                  <a:lnTo>
                    <a:pt x="8" y="48"/>
                  </a:lnTo>
                  <a:lnTo>
                    <a:pt x="8" y="64"/>
                  </a:lnTo>
                  <a:lnTo>
                    <a:pt x="8" y="72"/>
                  </a:lnTo>
                  <a:lnTo>
                    <a:pt x="8" y="88"/>
                  </a:lnTo>
                  <a:lnTo>
                    <a:pt x="24" y="112"/>
                  </a:lnTo>
                  <a:lnTo>
                    <a:pt x="24" y="96"/>
                  </a:lnTo>
                  <a:lnTo>
                    <a:pt x="48" y="104"/>
                  </a:lnTo>
                  <a:lnTo>
                    <a:pt x="56" y="112"/>
                  </a:lnTo>
                  <a:lnTo>
                    <a:pt x="56" y="96"/>
                  </a:lnTo>
                  <a:lnTo>
                    <a:pt x="64" y="8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81" name="Freeform 631"/>
            <p:cNvSpPr>
              <a:spLocks/>
            </p:cNvSpPr>
            <p:nvPr/>
          </p:nvSpPr>
          <p:spPr bwMode="auto">
            <a:xfrm>
              <a:off x="3904548" y="3118789"/>
              <a:ext cx="67574" cy="59776"/>
            </a:xfrm>
            <a:custGeom>
              <a:avLst/>
              <a:gdLst>
                <a:gd name="T0" fmla="*/ 2147483647 w 64"/>
                <a:gd name="T1" fmla="*/ 2147483647 h 56"/>
                <a:gd name="T2" fmla="*/ 2147483647 w 64"/>
                <a:gd name="T3" fmla="*/ 2147483647 h 56"/>
                <a:gd name="T4" fmla="*/ 2147483647 w 64"/>
                <a:gd name="T5" fmla="*/ 2147483647 h 56"/>
                <a:gd name="T6" fmla="*/ 2147483647 w 64"/>
                <a:gd name="T7" fmla="*/ 2147483647 h 56"/>
                <a:gd name="T8" fmla="*/ 2147483647 w 64"/>
                <a:gd name="T9" fmla="*/ 0 h 56"/>
                <a:gd name="T10" fmla="*/ 2147483647 w 64"/>
                <a:gd name="T11" fmla="*/ 0 h 56"/>
                <a:gd name="T12" fmla="*/ 2147483647 w 64"/>
                <a:gd name="T13" fmla="*/ 2147483647 h 56"/>
                <a:gd name="T14" fmla="*/ 0 w 64"/>
                <a:gd name="T15" fmla="*/ 2147483647 h 56"/>
                <a:gd name="T16" fmla="*/ 2147483647 w 64"/>
                <a:gd name="T17" fmla="*/ 2147483647 h 56"/>
                <a:gd name="T18" fmla="*/ 2147483647 w 64"/>
                <a:gd name="T19" fmla="*/ 2147483647 h 56"/>
                <a:gd name="T20" fmla="*/ 2147483647 w 64"/>
                <a:gd name="T21" fmla="*/ 2147483647 h 56"/>
                <a:gd name="T22" fmla="*/ 2147483647 w 64"/>
                <a:gd name="T23" fmla="*/ 2147483647 h 56"/>
                <a:gd name="T24" fmla="*/ 2147483647 w 64"/>
                <a:gd name="T25" fmla="*/ 2147483647 h 56"/>
                <a:gd name="T26" fmla="*/ 2147483647 w 64"/>
                <a:gd name="T27" fmla="*/ 2147483647 h 56"/>
                <a:gd name="T28" fmla="*/ 2147483647 w 64"/>
                <a:gd name="T29" fmla="*/ 2147483647 h 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4"/>
                <a:gd name="T46" fmla="*/ 0 h 56"/>
                <a:gd name="T47" fmla="*/ 64 w 64"/>
                <a:gd name="T48" fmla="*/ 56 h 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4" h="56">
                  <a:moveTo>
                    <a:pt x="48" y="32"/>
                  </a:moveTo>
                  <a:lnTo>
                    <a:pt x="56" y="24"/>
                  </a:lnTo>
                  <a:lnTo>
                    <a:pt x="56" y="16"/>
                  </a:lnTo>
                  <a:lnTo>
                    <a:pt x="32" y="8"/>
                  </a:lnTo>
                  <a:lnTo>
                    <a:pt x="24" y="0"/>
                  </a:lnTo>
                  <a:lnTo>
                    <a:pt x="8" y="0"/>
                  </a:lnTo>
                  <a:lnTo>
                    <a:pt x="8" y="8"/>
                  </a:lnTo>
                  <a:lnTo>
                    <a:pt x="0" y="16"/>
                  </a:lnTo>
                  <a:lnTo>
                    <a:pt x="8" y="24"/>
                  </a:lnTo>
                  <a:lnTo>
                    <a:pt x="16" y="56"/>
                  </a:lnTo>
                  <a:lnTo>
                    <a:pt x="40" y="48"/>
                  </a:lnTo>
                  <a:lnTo>
                    <a:pt x="56" y="48"/>
                  </a:lnTo>
                  <a:lnTo>
                    <a:pt x="64" y="32"/>
                  </a:lnTo>
                  <a:lnTo>
                    <a:pt x="48"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82" name="Freeform 632"/>
            <p:cNvSpPr>
              <a:spLocks/>
            </p:cNvSpPr>
            <p:nvPr/>
          </p:nvSpPr>
          <p:spPr bwMode="auto">
            <a:xfrm>
              <a:off x="3005297" y="2559140"/>
              <a:ext cx="84900" cy="59776"/>
            </a:xfrm>
            <a:custGeom>
              <a:avLst/>
              <a:gdLst>
                <a:gd name="T0" fmla="*/ 2147483647 w 80"/>
                <a:gd name="T1" fmla="*/ 2147483647 h 56"/>
                <a:gd name="T2" fmla="*/ 2147483647 w 80"/>
                <a:gd name="T3" fmla="*/ 2147483647 h 56"/>
                <a:gd name="T4" fmla="*/ 2147483647 w 80"/>
                <a:gd name="T5" fmla="*/ 0 h 56"/>
                <a:gd name="T6" fmla="*/ 2147483647 w 80"/>
                <a:gd name="T7" fmla="*/ 2147483647 h 56"/>
                <a:gd name="T8" fmla="*/ 2147483647 w 80"/>
                <a:gd name="T9" fmla="*/ 0 h 56"/>
                <a:gd name="T10" fmla="*/ 2147483647 w 80"/>
                <a:gd name="T11" fmla="*/ 0 h 56"/>
                <a:gd name="T12" fmla="*/ 2147483647 w 80"/>
                <a:gd name="T13" fmla="*/ 2147483647 h 56"/>
                <a:gd name="T14" fmla="*/ 2147483647 w 80"/>
                <a:gd name="T15" fmla="*/ 2147483647 h 56"/>
                <a:gd name="T16" fmla="*/ 0 w 80"/>
                <a:gd name="T17" fmla="*/ 2147483647 h 56"/>
                <a:gd name="T18" fmla="*/ 2147483647 w 80"/>
                <a:gd name="T19" fmla="*/ 2147483647 h 56"/>
                <a:gd name="T20" fmla="*/ 2147483647 w 80"/>
                <a:gd name="T21" fmla="*/ 2147483647 h 56"/>
                <a:gd name="T22" fmla="*/ 2147483647 w 80"/>
                <a:gd name="T23" fmla="*/ 2147483647 h 56"/>
                <a:gd name="T24" fmla="*/ 2147483647 w 80"/>
                <a:gd name="T25" fmla="*/ 2147483647 h 56"/>
                <a:gd name="T26" fmla="*/ 2147483647 w 80"/>
                <a:gd name="T27" fmla="*/ 2147483647 h 56"/>
                <a:gd name="T28" fmla="*/ 2147483647 w 80"/>
                <a:gd name="T29" fmla="*/ 2147483647 h 56"/>
                <a:gd name="T30" fmla="*/ 2147483647 w 80"/>
                <a:gd name="T31" fmla="*/ 2147483647 h 56"/>
                <a:gd name="T32" fmla="*/ 2147483647 w 80"/>
                <a:gd name="T33" fmla="*/ 2147483647 h 56"/>
                <a:gd name="T34" fmla="*/ 2147483647 w 80"/>
                <a:gd name="T35" fmla="*/ 2147483647 h 56"/>
                <a:gd name="T36" fmla="*/ 2147483647 w 80"/>
                <a:gd name="T37" fmla="*/ 2147483647 h 56"/>
                <a:gd name="T38" fmla="*/ 2147483647 w 80"/>
                <a:gd name="T39" fmla="*/ 2147483647 h 56"/>
                <a:gd name="T40" fmla="*/ 2147483647 w 80"/>
                <a:gd name="T41" fmla="*/ 2147483647 h 56"/>
                <a:gd name="T42" fmla="*/ 2147483647 w 80"/>
                <a:gd name="T43" fmla="*/ 214748364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0"/>
                <a:gd name="T67" fmla="*/ 0 h 56"/>
                <a:gd name="T68" fmla="*/ 80 w 80"/>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0" h="56">
                  <a:moveTo>
                    <a:pt x="80" y="16"/>
                  </a:moveTo>
                  <a:lnTo>
                    <a:pt x="72" y="8"/>
                  </a:lnTo>
                  <a:lnTo>
                    <a:pt x="64" y="0"/>
                  </a:lnTo>
                  <a:lnTo>
                    <a:pt x="56" y="8"/>
                  </a:lnTo>
                  <a:lnTo>
                    <a:pt x="40" y="0"/>
                  </a:lnTo>
                  <a:lnTo>
                    <a:pt x="24" y="0"/>
                  </a:lnTo>
                  <a:lnTo>
                    <a:pt x="8" y="8"/>
                  </a:lnTo>
                  <a:lnTo>
                    <a:pt x="8" y="24"/>
                  </a:lnTo>
                  <a:lnTo>
                    <a:pt x="0" y="24"/>
                  </a:lnTo>
                  <a:lnTo>
                    <a:pt x="8" y="24"/>
                  </a:lnTo>
                  <a:lnTo>
                    <a:pt x="16" y="32"/>
                  </a:lnTo>
                  <a:lnTo>
                    <a:pt x="24" y="32"/>
                  </a:lnTo>
                  <a:lnTo>
                    <a:pt x="32" y="40"/>
                  </a:lnTo>
                  <a:lnTo>
                    <a:pt x="24" y="48"/>
                  </a:lnTo>
                  <a:lnTo>
                    <a:pt x="32" y="48"/>
                  </a:lnTo>
                  <a:lnTo>
                    <a:pt x="40" y="56"/>
                  </a:lnTo>
                  <a:lnTo>
                    <a:pt x="48" y="56"/>
                  </a:lnTo>
                  <a:lnTo>
                    <a:pt x="56" y="48"/>
                  </a:lnTo>
                  <a:lnTo>
                    <a:pt x="64" y="48"/>
                  </a:lnTo>
                  <a:lnTo>
                    <a:pt x="64" y="40"/>
                  </a:lnTo>
                  <a:lnTo>
                    <a:pt x="72" y="32"/>
                  </a:lnTo>
                  <a:lnTo>
                    <a:pt x="80"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83" name="Freeform 633"/>
            <p:cNvSpPr>
              <a:spLocks/>
            </p:cNvSpPr>
            <p:nvPr/>
          </p:nvSpPr>
          <p:spPr bwMode="auto">
            <a:xfrm>
              <a:off x="3047747" y="2482903"/>
              <a:ext cx="59777" cy="51113"/>
            </a:xfrm>
            <a:custGeom>
              <a:avLst/>
              <a:gdLst>
                <a:gd name="T0" fmla="*/ 2147483647 w 56"/>
                <a:gd name="T1" fmla="*/ 2147483647 h 48"/>
                <a:gd name="T2" fmla="*/ 2147483647 w 56"/>
                <a:gd name="T3" fmla="*/ 2147483647 h 48"/>
                <a:gd name="T4" fmla="*/ 2147483647 w 56"/>
                <a:gd name="T5" fmla="*/ 2147483647 h 48"/>
                <a:gd name="T6" fmla="*/ 2147483647 w 56"/>
                <a:gd name="T7" fmla="*/ 2147483647 h 48"/>
                <a:gd name="T8" fmla="*/ 2147483647 w 56"/>
                <a:gd name="T9" fmla="*/ 0 h 48"/>
                <a:gd name="T10" fmla="*/ 2147483647 w 56"/>
                <a:gd name="T11" fmla="*/ 0 h 48"/>
                <a:gd name="T12" fmla="*/ 2147483647 w 56"/>
                <a:gd name="T13" fmla="*/ 0 h 48"/>
                <a:gd name="T14" fmla="*/ 0 w 56"/>
                <a:gd name="T15" fmla="*/ 2147483647 h 48"/>
                <a:gd name="T16" fmla="*/ 0 w 56"/>
                <a:gd name="T17" fmla="*/ 2147483647 h 48"/>
                <a:gd name="T18" fmla="*/ 0 w 56"/>
                <a:gd name="T19" fmla="*/ 2147483647 h 48"/>
                <a:gd name="T20" fmla="*/ 2147483647 w 56"/>
                <a:gd name="T21" fmla="*/ 2147483647 h 48"/>
                <a:gd name="T22" fmla="*/ 2147483647 w 56"/>
                <a:gd name="T23" fmla="*/ 2147483647 h 48"/>
                <a:gd name="T24" fmla="*/ 2147483647 w 56"/>
                <a:gd name="T25" fmla="*/ 2147483647 h 48"/>
                <a:gd name="T26" fmla="*/ 2147483647 w 56"/>
                <a:gd name="T27" fmla="*/ 2147483647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
                <a:gd name="T43" fmla="*/ 0 h 48"/>
                <a:gd name="T44" fmla="*/ 56 w 56"/>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 h="48">
                  <a:moveTo>
                    <a:pt x="32" y="40"/>
                  </a:moveTo>
                  <a:lnTo>
                    <a:pt x="48" y="48"/>
                  </a:lnTo>
                  <a:lnTo>
                    <a:pt x="56" y="24"/>
                  </a:lnTo>
                  <a:lnTo>
                    <a:pt x="56" y="16"/>
                  </a:lnTo>
                  <a:lnTo>
                    <a:pt x="56" y="0"/>
                  </a:lnTo>
                  <a:lnTo>
                    <a:pt x="48" y="0"/>
                  </a:lnTo>
                  <a:lnTo>
                    <a:pt x="24" y="0"/>
                  </a:lnTo>
                  <a:lnTo>
                    <a:pt x="0" y="8"/>
                  </a:lnTo>
                  <a:lnTo>
                    <a:pt x="0" y="16"/>
                  </a:lnTo>
                  <a:lnTo>
                    <a:pt x="0" y="24"/>
                  </a:lnTo>
                  <a:lnTo>
                    <a:pt x="8" y="32"/>
                  </a:lnTo>
                  <a:lnTo>
                    <a:pt x="8" y="40"/>
                  </a:lnTo>
                  <a:lnTo>
                    <a:pt x="24" y="32"/>
                  </a:lnTo>
                  <a:lnTo>
                    <a:pt x="32" y="4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84" name="Freeform 634"/>
            <p:cNvSpPr>
              <a:spLocks/>
            </p:cNvSpPr>
            <p:nvPr/>
          </p:nvSpPr>
          <p:spPr bwMode="auto">
            <a:xfrm>
              <a:off x="3039084" y="2567803"/>
              <a:ext cx="127351" cy="110024"/>
            </a:xfrm>
            <a:custGeom>
              <a:avLst/>
              <a:gdLst>
                <a:gd name="T0" fmla="*/ 2147483647 w 120"/>
                <a:gd name="T1" fmla="*/ 2147483647 h 104"/>
                <a:gd name="T2" fmla="*/ 2147483647 w 120"/>
                <a:gd name="T3" fmla="*/ 2147483647 h 104"/>
                <a:gd name="T4" fmla="*/ 2147483647 w 120"/>
                <a:gd name="T5" fmla="*/ 2147483647 h 104"/>
                <a:gd name="T6" fmla="*/ 2147483647 w 120"/>
                <a:gd name="T7" fmla="*/ 2147483647 h 104"/>
                <a:gd name="T8" fmla="*/ 2147483647 w 120"/>
                <a:gd name="T9" fmla="*/ 0 h 104"/>
                <a:gd name="T10" fmla="*/ 2147483647 w 120"/>
                <a:gd name="T11" fmla="*/ 2147483647 h 104"/>
                <a:gd name="T12" fmla="*/ 2147483647 w 120"/>
                <a:gd name="T13" fmla="*/ 2147483647 h 104"/>
                <a:gd name="T14" fmla="*/ 2147483647 w 120"/>
                <a:gd name="T15" fmla="*/ 2147483647 h 104"/>
                <a:gd name="T16" fmla="*/ 2147483647 w 120"/>
                <a:gd name="T17" fmla="*/ 2147483647 h 104"/>
                <a:gd name="T18" fmla="*/ 2147483647 w 120"/>
                <a:gd name="T19" fmla="*/ 2147483647 h 104"/>
                <a:gd name="T20" fmla="*/ 2147483647 w 120"/>
                <a:gd name="T21" fmla="*/ 2147483647 h 104"/>
                <a:gd name="T22" fmla="*/ 2147483647 w 120"/>
                <a:gd name="T23" fmla="*/ 2147483647 h 104"/>
                <a:gd name="T24" fmla="*/ 2147483647 w 120"/>
                <a:gd name="T25" fmla="*/ 2147483647 h 104"/>
                <a:gd name="T26" fmla="*/ 2147483647 w 120"/>
                <a:gd name="T27" fmla="*/ 2147483647 h 104"/>
                <a:gd name="T28" fmla="*/ 2147483647 w 120"/>
                <a:gd name="T29" fmla="*/ 2147483647 h 104"/>
                <a:gd name="T30" fmla="*/ 0 w 120"/>
                <a:gd name="T31" fmla="*/ 2147483647 h 104"/>
                <a:gd name="T32" fmla="*/ 2147483647 w 120"/>
                <a:gd name="T33" fmla="*/ 2147483647 h 104"/>
                <a:gd name="T34" fmla="*/ 2147483647 w 120"/>
                <a:gd name="T35" fmla="*/ 2147483647 h 104"/>
                <a:gd name="T36" fmla="*/ 2147483647 w 120"/>
                <a:gd name="T37" fmla="*/ 2147483647 h 104"/>
                <a:gd name="T38" fmla="*/ 2147483647 w 120"/>
                <a:gd name="T39" fmla="*/ 2147483647 h 104"/>
                <a:gd name="T40" fmla="*/ 2147483647 w 120"/>
                <a:gd name="T41" fmla="*/ 2147483647 h 104"/>
                <a:gd name="T42" fmla="*/ 2147483647 w 120"/>
                <a:gd name="T43" fmla="*/ 2147483647 h 104"/>
                <a:gd name="T44" fmla="*/ 2147483647 w 120"/>
                <a:gd name="T45" fmla="*/ 2147483647 h 104"/>
                <a:gd name="T46" fmla="*/ 2147483647 w 120"/>
                <a:gd name="T47" fmla="*/ 2147483647 h 104"/>
                <a:gd name="T48" fmla="*/ 2147483647 w 120"/>
                <a:gd name="T49" fmla="*/ 2147483647 h 104"/>
                <a:gd name="T50" fmla="*/ 2147483647 w 120"/>
                <a:gd name="T51" fmla="*/ 2147483647 h 104"/>
                <a:gd name="T52" fmla="*/ 2147483647 w 120"/>
                <a:gd name="T53" fmla="*/ 2147483647 h 104"/>
                <a:gd name="T54" fmla="*/ 2147483647 w 120"/>
                <a:gd name="T55" fmla="*/ 2147483647 h 10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
                <a:gd name="T85" fmla="*/ 0 h 104"/>
                <a:gd name="T86" fmla="*/ 120 w 120"/>
                <a:gd name="T87" fmla="*/ 104 h 10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 h="104">
                  <a:moveTo>
                    <a:pt x="120" y="56"/>
                  </a:moveTo>
                  <a:lnTo>
                    <a:pt x="112" y="40"/>
                  </a:lnTo>
                  <a:lnTo>
                    <a:pt x="96" y="8"/>
                  </a:lnTo>
                  <a:lnTo>
                    <a:pt x="80" y="8"/>
                  </a:lnTo>
                  <a:lnTo>
                    <a:pt x="72" y="0"/>
                  </a:lnTo>
                  <a:lnTo>
                    <a:pt x="56" y="8"/>
                  </a:lnTo>
                  <a:lnTo>
                    <a:pt x="48" y="8"/>
                  </a:lnTo>
                  <a:lnTo>
                    <a:pt x="40" y="24"/>
                  </a:lnTo>
                  <a:lnTo>
                    <a:pt x="32" y="32"/>
                  </a:lnTo>
                  <a:lnTo>
                    <a:pt x="32" y="40"/>
                  </a:lnTo>
                  <a:lnTo>
                    <a:pt x="24" y="40"/>
                  </a:lnTo>
                  <a:lnTo>
                    <a:pt x="16" y="48"/>
                  </a:lnTo>
                  <a:lnTo>
                    <a:pt x="8" y="48"/>
                  </a:lnTo>
                  <a:lnTo>
                    <a:pt x="8" y="56"/>
                  </a:lnTo>
                  <a:lnTo>
                    <a:pt x="8" y="72"/>
                  </a:lnTo>
                  <a:lnTo>
                    <a:pt x="0" y="80"/>
                  </a:lnTo>
                  <a:lnTo>
                    <a:pt x="8" y="88"/>
                  </a:lnTo>
                  <a:lnTo>
                    <a:pt x="8" y="96"/>
                  </a:lnTo>
                  <a:lnTo>
                    <a:pt x="16" y="96"/>
                  </a:lnTo>
                  <a:lnTo>
                    <a:pt x="32" y="96"/>
                  </a:lnTo>
                  <a:lnTo>
                    <a:pt x="56" y="104"/>
                  </a:lnTo>
                  <a:lnTo>
                    <a:pt x="80" y="104"/>
                  </a:lnTo>
                  <a:lnTo>
                    <a:pt x="96" y="104"/>
                  </a:lnTo>
                  <a:lnTo>
                    <a:pt x="104" y="80"/>
                  </a:lnTo>
                  <a:lnTo>
                    <a:pt x="112" y="80"/>
                  </a:lnTo>
                  <a:lnTo>
                    <a:pt x="104" y="64"/>
                  </a:lnTo>
                  <a:lnTo>
                    <a:pt x="120" y="64"/>
                  </a:lnTo>
                  <a:lnTo>
                    <a:pt x="120" y="5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85" name="Freeform 635"/>
            <p:cNvSpPr>
              <a:spLocks/>
            </p:cNvSpPr>
            <p:nvPr/>
          </p:nvSpPr>
          <p:spPr bwMode="auto">
            <a:xfrm>
              <a:off x="3013961" y="2516689"/>
              <a:ext cx="102227" cy="59777"/>
            </a:xfrm>
            <a:custGeom>
              <a:avLst/>
              <a:gdLst>
                <a:gd name="T0" fmla="*/ 2147483647 w 96"/>
                <a:gd name="T1" fmla="*/ 2147483647 h 56"/>
                <a:gd name="T2" fmla="*/ 2147483647 w 96"/>
                <a:gd name="T3" fmla="*/ 2147483647 h 56"/>
                <a:gd name="T4" fmla="*/ 2147483647 w 96"/>
                <a:gd name="T5" fmla="*/ 2147483647 h 56"/>
                <a:gd name="T6" fmla="*/ 2147483647 w 96"/>
                <a:gd name="T7" fmla="*/ 2147483647 h 56"/>
                <a:gd name="T8" fmla="*/ 2147483647 w 96"/>
                <a:gd name="T9" fmla="*/ 2147483647 h 56"/>
                <a:gd name="T10" fmla="*/ 2147483647 w 96"/>
                <a:gd name="T11" fmla="*/ 2147483647 h 56"/>
                <a:gd name="T12" fmla="*/ 2147483647 w 96"/>
                <a:gd name="T13" fmla="*/ 2147483647 h 56"/>
                <a:gd name="T14" fmla="*/ 2147483647 w 96"/>
                <a:gd name="T15" fmla="*/ 2147483647 h 56"/>
                <a:gd name="T16" fmla="*/ 2147483647 w 96"/>
                <a:gd name="T17" fmla="*/ 2147483647 h 56"/>
                <a:gd name="T18" fmla="*/ 2147483647 w 96"/>
                <a:gd name="T19" fmla="*/ 2147483647 h 56"/>
                <a:gd name="T20" fmla="*/ 2147483647 w 96"/>
                <a:gd name="T21" fmla="*/ 2147483647 h 56"/>
                <a:gd name="T22" fmla="*/ 2147483647 w 96"/>
                <a:gd name="T23" fmla="*/ 0 h 56"/>
                <a:gd name="T24" fmla="*/ 2147483647 w 96"/>
                <a:gd name="T25" fmla="*/ 2147483647 h 56"/>
                <a:gd name="T26" fmla="*/ 2147483647 w 96"/>
                <a:gd name="T27" fmla="*/ 2147483647 h 56"/>
                <a:gd name="T28" fmla="*/ 2147483647 w 96"/>
                <a:gd name="T29" fmla="*/ 2147483647 h 56"/>
                <a:gd name="T30" fmla="*/ 2147483647 w 96"/>
                <a:gd name="T31" fmla="*/ 2147483647 h 56"/>
                <a:gd name="T32" fmla="*/ 0 w 96"/>
                <a:gd name="T33" fmla="*/ 2147483647 h 56"/>
                <a:gd name="T34" fmla="*/ 0 w 96"/>
                <a:gd name="T35" fmla="*/ 2147483647 h 56"/>
                <a:gd name="T36" fmla="*/ 2147483647 w 96"/>
                <a:gd name="T37" fmla="*/ 2147483647 h 56"/>
                <a:gd name="T38" fmla="*/ 2147483647 w 96"/>
                <a:gd name="T39" fmla="*/ 214748364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6"/>
                <a:gd name="T61" fmla="*/ 0 h 56"/>
                <a:gd name="T62" fmla="*/ 96 w 96"/>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6" h="56">
                  <a:moveTo>
                    <a:pt x="32" y="40"/>
                  </a:moveTo>
                  <a:lnTo>
                    <a:pt x="48" y="48"/>
                  </a:lnTo>
                  <a:lnTo>
                    <a:pt x="56" y="40"/>
                  </a:lnTo>
                  <a:lnTo>
                    <a:pt x="64" y="48"/>
                  </a:lnTo>
                  <a:lnTo>
                    <a:pt x="72" y="56"/>
                  </a:lnTo>
                  <a:lnTo>
                    <a:pt x="80" y="56"/>
                  </a:lnTo>
                  <a:lnTo>
                    <a:pt x="96" y="48"/>
                  </a:lnTo>
                  <a:lnTo>
                    <a:pt x="88" y="40"/>
                  </a:lnTo>
                  <a:lnTo>
                    <a:pt x="80" y="24"/>
                  </a:lnTo>
                  <a:lnTo>
                    <a:pt x="80" y="16"/>
                  </a:lnTo>
                  <a:lnTo>
                    <a:pt x="64" y="8"/>
                  </a:lnTo>
                  <a:lnTo>
                    <a:pt x="56" y="0"/>
                  </a:lnTo>
                  <a:lnTo>
                    <a:pt x="40" y="8"/>
                  </a:lnTo>
                  <a:lnTo>
                    <a:pt x="32" y="24"/>
                  </a:lnTo>
                  <a:lnTo>
                    <a:pt x="16" y="16"/>
                  </a:lnTo>
                  <a:lnTo>
                    <a:pt x="8" y="16"/>
                  </a:lnTo>
                  <a:lnTo>
                    <a:pt x="0" y="32"/>
                  </a:lnTo>
                  <a:lnTo>
                    <a:pt x="0" y="48"/>
                  </a:lnTo>
                  <a:lnTo>
                    <a:pt x="16" y="40"/>
                  </a:lnTo>
                  <a:lnTo>
                    <a:pt x="32" y="4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86" name="Freeform 636"/>
            <p:cNvSpPr>
              <a:spLocks/>
            </p:cNvSpPr>
            <p:nvPr/>
          </p:nvSpPr>
          <p:spPr bwMode="auto">
            <a:xfrm>
              <a:off x="2521019" y="3305916"/>
              <a:ext cx="102227" cy="76237"/>
            </a:xfrm>
            <a:custGeom>
              <a:avLst/>
              <a:gdLst>
                <a:gd name="T0" fmla="*/ 2147483647 w 96"/>
                <a:gd name="T1" fmla="*/ 2147483647 h 72"/>
                <a:gd name="T2" fmla="*/ 2147483647 w 96"/>
                <a:gd name="T3" fmla="*/ 2147483647 h 72"/>
                <a:gd name="T4" fmla="*/ 2147483647 w 96"/>
                <a:gd name="T5" fmla="*/ 2147483647 h 72"/>
                <a:gd name="T6" fmla="*/ 2147483647 w 96"/>
                <a:gd name="T7" fmla="*/ 2147483647 h 72"/>
                <a:gd name="T8" fmla="*/ 2147483647 w 96"/>
                <a:gd name="T9" fmla="*/ 2147483647 h 72"/>
                <a:gd name="T10" fmla="*/ 2147483647 w 96"/>
                <a:gd name="T11" fmla="*/ 2147483647 h 72"/>
                <a:gd name="T12" fmla="*/ 2147483647 w 96"/>
                <a:gd name="T13" fmla="*/ 2147483647 h 72"/>
                <a:gd name="T14" fmla="*/ 2147483647 w 96"/>
                <a:gd name="T15" fmla="*/ 2147483647 h 72"/>
                <a:gd name="T16" fmla="*/ 2147483647 w 96"/>
                <a:gd name="T17" fmla="*/ 2147483647 h 72"/>
                <a:gd name="T18" fmla="*/ 2147483647 w 96"/>
                <a:gd name="T19" fmla="*/ 2147483647 h 72"/>
                <a:gd name="T20" fmla="*/ 2147483647 w 96"/>
                <a:gd name="T21" fmla="*/ 2147483647 h 72"/>
                <a:gd name="T22" fmla="*/ 2147483647 w 96"/>
                <a:gd name="T23" fmla="*/ 2147483647 h 72"/>
                <a:gd name="T24" fmla="*/ 2147483647 w 96"/>
                <a:gd name="T25" fmla="*/ 2147483647 h 72"/>
                <a:gd name="T26" fmla="*/ 2147483647 w 96"/>
                <a:gd name="T27" fmla="*/ 0 h 72"/>
                <a:gd name="T28" fmla="*/ 2147483647 w 96"/>
                <a:gd name="T29" fmla="*/ 0 h 72"/>
                <a:gd name="T30" fmla="*/ 2147483647 w 96"/>
                <a:gd name="T31" fmla="*/ 2147483647 h 72"/>
                <a:gd name="T32" fmla="*/ 2147483647 w 96"/>
                <a:gd name="T33" fmla="*/ 2147483647 h 72"/>
                <a:gd name="T34" fmla="*/ 2147483647 w 96"/>
                <a:gd name="T35" fmla="*/ 2147483647 h 72"/>
                <a:gd name="T36" fmla="*/ 0 w 96"/>
                <a:gd name="T37" fmla="*/ 2147483647 h 72"/>
                <a:gd name="T38" fmla="*/ 2147483647 w 96"/>
                <a:gd name="T39" fmla="*/ 2147483647 h 72"/>
                <a:gd name="T40" fmla="*/ 2147483647 w 96"/>
                <a:gd name="T41" fmla="*/ 2147483647 h 72"/>
                <a:gd name="T42" fmla="*/ 2147483647 w 96"/>
                <a:gd name="T43" fmla="*/ 2147483647 h 72"/>
                <a:gd name="T44" fmla="*/ 2147483647 w 96"/>
                <a:gd name="T45" fmla="*/ 2147483647 h 7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6"/>
                <a:gd name="T70" fmla="*/ 0 h 72"/>
                <a:gd name="T71" fmla="*/ 96 w 96"/>
                <a:gd name="T72" fmla="*/ 72 h 7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6" h="72">
                  <a:moveTo>
                    <a:pt x="40" y="40"/>
                  </a:moveTo>
                  <a:lnTo>
                    <a:pt x="56" y="40"/>
                  </a:lnTo>
                  <a:lnTo>
                    <a:pt x="64" y="56"/>
                  </a:lnTo>
                  <a:lnTo>
                    <a:pt x="72" y="64"/>
                  </a:lnTo>
                  <a:lnTo>
                    <a:pt x="80" y="72"/>
                  </a:lnTo>
                  <a:lnTo>
                    <a:pt x="88" y="72"/>
                  </a:lnTo>
                  <a:lnTo>
                    <a:pt x="96" y="64"/>
                  </a:lnTo>
                  <a:lnTo>
                    <a:pt x="96" y="48"/>
                  </a:lnTo>
                  <a:lnTo>
                    <a:pt x="96" y="32"/>
                  </a:lnTo>
                  <a:lnTo>
                    <a:pt x="88" y="16"/>
                  </a:lnTo>
                  <a:lnTo>
                    <a:pt x="80" y="8"/>
                  </a:lnTo>
                  <a:lnTo>
                    <a:pt x="64" y="8"/>
                  </a:lnTo>
                  <a:lnTo>
                    <a:pt x="48" y="8"/>
                  </a:lnTo>
                  <a:lnTo>
                    <a:pt x="32" y="0"/>
                  </a:lnTo>
                  <a:lnTo>
                    <a:pt x="24" y="0"/>
                  </a:lnTo>
                  <a:lnTo>
                    <a:pt x="24" y="8"/>
                  </a:lnTo>
                  <a:lnTo>
                    <a:pt x="24" y="16"/>
                  </a:lnTo>
                  <a:lnTo>
                    <a:pt x="16" y="16"/>
                  </a:lnTo>
                  <a:lnTo>
                    <a:pt x="0" y="24"/>
                  </a:lnTo>
                  <a:lnTo>
                    <a:pt x="8" y="24"/>
                  </a:lnTo>
                  <a:lnTo>
                    <a:pt x="24" y="56"/>
                  </a:lnTo>
                  <a:lnTo>
                    <a:pt x="32" y="48"/>
                  </a:lnTo>
                  <a:lnTo>
                    <a:pt x="40" y="4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87" name="Freeform 637"/>
            <p:cNvSpPr>
              <a:spLocks/>
            </p:cNvSpPr>
            <p:nvPr/>
          </p:nvSpPr>
          <p:spPr bwMode="auto">
            <a:xfrm>
              <a:off x="2495896" y="3254802"/>
              <a:ext cx="84900" cy="58910"/>
            </a:xfrm>
            <a:custGeom>
              <a:avLst/>
              <a:gdLst>
                <a:gd name="T0" fmla="*/ 2147483647 w 80"/>
                <a:gd name="T1" fmla="*/ 2147483647 h 56"/>
                <a:gd name="T2" fmla="*/ 2147483647 w 80"/>
                <a:gd name="T3" fmla="*/ 2147483647 h 56"/>
                <a:gd name="T4" fmla="*/ 2147483647 w 80"/>
                <a:gd name="T5" fmla="*/ 2147483647 h 56"/>
                <a:gd name="T6" fmla="*/ 2147483647 w 80"/>
                <a:gd name="T7" fmla="*/ 2147483647 h 56"/>
                <a:gd name="T8" fmla="*/ 2147483647 w 80"/>
                <a:gd name="T9" fmla="*/ 2147483647 h 56"/>
                <a:gd name="T10" fmla="*/ 2147483647 w 80"/>
                <a:gd name="T11" fmla="*/ 2147483647 h 56"/>
                <a:gd name="T12" fmla="*/ 2147483647 w 80"/>
                <a:gd name="T13" fmla="*/ 2147483647 h 56"/>
                <a:gd name="T14" fmla="*/ 2147483647 w 80"/>
                <a:gd name="T15" fmla="*/ 2147483647 h 56"/>
                <a:gd name="T16" fmla="*/ 2147483647 w 80"/>
                <a:gd name="T17" fmla="*/ 2147483647 h 56"/>
                <a:gd name="T18" fmla="*/ 2147483647 w 80"/>
                <a:gd name="T19" fmla="*/ 0 h 56"/>
                <a:gd name="T20" fmla="*/ 2147483647 w 80"/>
                <a:gd name="T21" fmla="*/ 0 h 56"/>
                <a:gd name="T22" fmla="*/ 2147483647 w 80"/>
                <a:gd name="T23" fmla="*/ 0 h 56"/>
                <a:gd name="T24" fmla="*/ 0 w 80"/>
                <a:gd name="T25" fmla="*/ 2147483647 h 56"/>
                <a:gd name="T26" fmla="*/ 2147483647 w 80"/>
                <a:gd name="T27" fmla="*/ 2147483647 h 56"/>
                <a:gd name="T28" fmla="*/ 2147483647 w 80"/>
                <a:gd name="T29" fmla="*/ 2147483647 h 56"/>
                <a:gd name="T30" fmla="*/ 2147483647 w 80"/>
                <a:gd name="T31" fmla="*/ 2147483647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0"/>
                <a:gd name="T49" fmla="*/ 0 h 56"/>
                <a:gd name="T50" fmla="*/ 80 w 80"/>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0" h="56">
                  <a:moveTo>
                    <a:pt x="40" y="48"/>
                  </a:moveTo>
                  <a:lnTo>
                    <a:pt x="48" y="48"/>
                  </a:lnTo>
                  <a:lnTo>
                    <a:pt x="56" y="48"/>
                  </a:lnTo>
                  <a:lnTo>
                    <a:pt x="72" y="56"/>
                  </a:lnTo>
                  <a:lnTo>
                    <a:pt x="80" y="56"/>
                  </a:lnTo>
                  <a:lnTo>
                    <a:pt x="72" y="40"/>
                  </a:lnTo>
                  <a:lnTo>
                    <a:pt x="64" y="24"/>
                  </a:lnTo>
                  <a:lnTo>
                    <a:pt x="56" y="16"/>
                  </a:lnTo>
                  <a:lnTo>
                    <a:pt x="48" y="8"/>
                  </a:lnTo>
                  <a:lnTo>
                    <a:pt x="32" y="0"/>
                  </a:lnTo>
                  <a:lnTo>
                    <a:pt x="24" y="0"/>
                  </a:lnTo>
                  <a:lnTo>
                    <a:pt x="8" y="0"/>
                  </a:lnTo>
                  <a:lnTo>
                    <a:pt x="0" y="24"/>
                  </a:lnTo>
                  <a:lnTo>
                    <a:pt x="8" y="56"/>
                  </a:lnTo>
                  <a:lnTo>
                    <a:pt x="16" y="56"/>
                  </a:lnTo>
                  <a:lnTo>
                    <a:pt x="40" y="4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88" name="Freeform 638"/>
            <p:cNvSpPr>
              <a:spLocks/>
            </p:cNvSpPr>
            <p:nvPr/>
          </p:nvSpPr>
          <p:spPr bwMode="auto">
            <a:xfrm>
              <a:off x="3047747" y="2482903"/>
              <a:ext cx="59777" cy="51113"/>
            </a:xfrm>
            <a:custGeom>
              <a:avLst/>
              <a:gdLst>
                <a:gd name="T0" fmla="*/ 2147483647 w 56"/>
                <a:gd name="T1" fmla="*/ 2147483647 h 48"/>
                <a:gd name="T2" fmla="*/ 2147483647 w 56"/>
                <a:gd name="T3" fmla="*/ 2147483647 h 48"/>
                <a:gd name="T4" fmla="*/ 2147483647 w 56"/>
                <a:gd name="T5" fmla="*/ 2147483647 h 48"/>
                <a:gd name="T6" fmla="*/ 2147483647 w 56"/>
                <a:gd name="T7" fmla="*/ 2147483647 h 48"/>
                <a:gd name="T8" fmla="*/ 2147483647 w 56"/>
                <a:gd name="T9" fmla="*/ 0 h 48"/>
                <a:gd name="T10" fmla="*/ 2147483647 w 56"/>
                <a:gd name="T11" fmla="*/ 0 h 48"/>
                <a:gd name="T12" fmla="*/ 2147483647 w 56"/>
                <a:gd name="T13" fmla="*/ 0 h 48"/>
                <a:gd name="T14" fmla="*/ 2147483647 w 56"/>
                <a:gd name="T15" fmla="*/ 0 h 48"/>
                <a:gd name="T16" fmla="*/ 0 w 56"/>
                <a:gd name="T17" fmla="*/ 2147483647 h 48"/>
                <a:gd name="T18" fmla="*/ 0 w 56"/>
                <a:gd name="T19" fmla="*/ 2147483647 h 48"/>
                <a:gd name="T20" fmla="*/ 0 w 56"/>
                <a:gd name="T21" fmla="*/ 2147483647 h 48"/>
                <a:gd name="T22" fmla="*/ 2147483647 w 56"/>
                <a:gd name="T23" fmla="*/ 2147483647 h 48"/>
                <a:gd name="T24" fmla="*/ 2147483647 w 56"/>
                <a:gd name="T25" fmla="*/ 2147483647 h 48"/>
                <a:gd name="T26" fmla="*/ 2147483647 w 56"/>
                <a:gd name="T27" fmla="*/ 2147483647 h 48"/>
                <a:gd name="T28" fmla="*/ 2147483647 w 56"/>
                <a:gd name="T29" fmla="*/ 2147483647 h 48"/>
                <a:gd name="T30" fmla="*/ 2147483647 w 56"/>
                <a:gd name="T31" fmla="*/ 2147483647 h 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6"/>
                <a:gd name="T49" fmla="*/ 0 h 48"/>
                <a:gd name="T50" fmla="*/ 56 w 56"/>
                <a:gd name="T51" fmla="*/ 48 h 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6" h="48">
                  <a:moveTo>
                    <a:pt x="32" y="40"/>
                  </a:moveTo>
                  <a:lnTo>
                    <a:pt x="48" y="48"/>
                  </a:lnTo>
                  <a:lnTo>
                    <a:pt x="56" y="24"/>
                  </a:lnTo>
                  <a:lnTo>
                    <a:pt x="56" y="16"/>
                  </a:lnTo>
                  <a:lnTo>
                    <a:pt x="56" y="0"/>
                  </a:lnTo>
                  <a:lnTo>
                    <a:pt x="48" y="0"/>
                  </a:lnTo>
                  <a:lnTo>
                    <a:pt x="24" y="0"/>
                  </a:lnTo>
                  <a:lnTo>
                    <a:pt x="0" y="8"/>
                  </a:lnTo>
                  <a:lnTo>
                    <a:pt x="0" y="16"/>
                  </a:lnTo>
                  <a:lnTo>
                    <a:pt x="0" y="24"/>
                  </a:lnTo>
                  <a:lnTo>
                    <a:pt x="8" y="32"/>
                  </a:lnTo>
                  <a:lnTo>
                    <a:pt x="8" y="40"/>
                  </a:lnTo>
                  <a:lnTo>
                    <a:pt x="24" y="32"/>
                  </a:lnTo>
                  <a:lnTo>
                    <a:pt x="32" y="4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89" name="Freeform 639"/>
            <p:cNvSpPr>
              <a:spLocks/>
            </p:cNvSpPr>
            <p:nvPr/>
          </p:nvSpPr>
          <p:spPr bwMode="auto">
            <a:xfrm>
              <a:off x="2495896" y="3254802"/>
              <a:ext cx="84900" cy="58910"/>
            </a:xfrm>
            <a:custGeom>
              <a:avLst/>
              <a:gdLst>
                <a:gd name="T0" fmla="*/ 2147483647 w 80"/>
                <a:gd name="T1" fmla="*/ 2147483647 h 56"/>
                <a:gd name="T2" fmla="*/ 2147483647 w 80"/>
                <a:gd name="T3" fmla="*/ 2147483647 h 56"/>
                <a:gd name="T4" fmla="*/ 2147483647 w 80"/>
                <a:gd name="T5" fmla="*/ 2147483647 h 56"/>
                <a:gd name="T6" fmla="*/ 2147483647 w 80"/>
                <a:gd name="T7" fmla="*/ 2147483647 h 56"/>
                <a:gd name="T8" fmla="*/ 2147483647 w 80"/>
                <a:gd name="T9" fmla="*/ 2147483647 h 56"/>
                <a:gd name="T10" fmla="*/ 2147483647 w 80"/>
                <a:gd name="T11" fmla="*/ 2147483647 h 56"/>
                <a:gd name="T12" fmla="*/ 2147483647 w 80"/>
                <a:gd name="T13" fmla="*/ 2147483647 h 56"/>
                <a:gd name="T14" fmla="*/ 2147483647 w 80"/>
                <a:gd name="T15" fmla="*/ 2147483647 h 56"/>
                <a:gd name="T16" fmla="*/ 2147483647 w 80"/>
                <a:gd name="T17" fmla="*/ 2147483647 h 56"/>
                <a:gd name="T18" fmla="*/ 2147483647 w 80"/>
                <a:gd name="T19" fmla="*/ 2147483647 h 56"/>
                <a:gd name="T20" fmla="*/ 2147483647 w 80"/>
                <a:gd name="T21" fmla="*/ 2147483647 h 56"/>
                <a:gd name="T22" fmla="*/ 2147483647 w 80"/>
                <a:gd name="T23" fmla="*/ 0 h 56"/>
                <a:gd name="T24" fmla="*/ 2147483647 w 80"/>
                <a:gd name="T25" fmla="*/ 0 h 56"/>
                <a:gd name="T26" fmla="*/ 2147483647 w 80"/>
                <a:gd name="T27" fmla="*/ 0 h 56"/>
                <a:gd name="T28" fmla="*/ 0 w 80"/>
                <a:gd name="T29" fmla="*/ 2147483647 h 56"/>
                <a:gd name="T30" fmla="*/ 2147483647 w 80"/>
                <a:gd name="T31" fmla="*/ 2147483647 h 56"/>
                <a:gd name="T32" fmla="*/ 2147483647 w 80"/>
                <a:gd name="T33" fmla="*/ 2147483647 h 56"/>
                <a:gd name="T34" fmla="*/ 2147483647 w 80"/>
                <a:gd name="T35" fmla="*/ 2147483647 h 56"/>
                <a:gd name="T36" fmla="*/ 2147483647 w 80"/>
                <a:gd name="T37" fmla="*/ 2147483647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56"/>
                <a:gd name="T59" fmla="*/ 80 w 80"/>
                <a:gd name="T60" fmla="*/ 56 h 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56">
                  <a:moveTo>
                    <a:pt x="40" y="48"/>
                  </a:moveTo>
                  <a:lnTo>
                    <a:pt x="48" y="48"/>
                  </a:lnTo>
                  <a:lnTo>
                    <a:pt x="56" y="48"/>
                  </a:lnTo>
                  <a:lnTo>
                    <a:pt x="72" y="56"/>
                  </a:lnTo>
                  <a:lnTo>
                    <a:pt x="80" y="56"/>
                  </a:lnTo>
                  <a:lnTo>
                    <a:pt x="72" y="40"/>
                  </a:lnTo>
                  <a:lnTo>
                    <a:pt x="64" y="24"/>
                  </a:lnTo>
                  <a:lnTo>
                    <a:pt x="56" y="16"/>
                  </a:lnTo>
                  <a:lnTo>
                    <a:pt x="48" y="8"/>
                  </a:lnTo>
                  <a:lnTo>
                    <a:pt x="32" y="0"/>
                  </a:lnTo>
                  <a:lnTo>
                    <a:pt x="24" y="0"/>
                  </a:lnTo>
                  <a:lnTo>
                    <a:pt x="8" y="0"/>
                  </a:lnTo>
                  <a:lnTo>
                    <a:pt x="0" y="24"/>
                  </a:lnTo>
                  <a:lnTo>
                    <a:pt x="8" y="56"/>
                  </a:lnTo>
                  <a:lnTo>
                    <a:pt x="16" y="56"/>
                  </a:lnTo>
                  <a:lnTo>
                    <a:pt x="40" y="4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90" name="Freeform 640"/>
            <p:cNvSpPr>
              <a:spLocks/>
            </p:cNvSpPr>
            <p:nvPr/>
          </p:nvSpPr>
          <p:spPr bwMode="auto">
            <a:xfrm>
              <a:off x="2504559" y="3102328"/>
              <a:ext cx="161137" cy="177598"/>
            </a:xfrm>
            <a:custGeom>
              <a:avLst/>
              <a:gdLst>
                <a:gd name="T0" fmla="*/ 2147483647 w 152"/>
                <a:gd name="T1" fmla="*/ 2147483647 h 168"/>
                <a:gd name="T2" fmla="*/ 2147483647 w 152"/>
                <a:gd name="T3" fmla="*/ 2147483647 h 168"/>
                <a:gd name="T4" fmla="*/ 2147483647 w 152"/>
                <a:gd name="T5" fmla="*/ 2147483647 h 168"/>
                <a:gd name="T6" fmla="*/ 2147483647 w 152"/>
                <a:gd name="T7" fmla="*/ 2147483647 h 168"/>
                <a:gd name="T8" fmla="*/ 2147483647 w 152"/>
                <a:gd name="T9" fmla="*/ 2147483647 h 168"/>
                <a:gd name="T10" fmla="*/ 2147483647 w 152"/>
                <a:gd name="T11" fmla="*/ 2147483647 h 168"/>
                <a:gd name="T12" fmla="*/ 2147483647 w 152"/>
                <a:gd name="T13" fmla="*/ 2147483647 h 168"/>
                <a:gd name="T14" fmla="*/ 2147483647 w 152"/>
                <a:gd name="T15" fmla="*/ 2147483647 h 168"/>
                <a:gd name="T16" fmla="*/ 2147483647 w 152"/>
                <a:gd name="T17" fmla="*/ 2147483647 h 168"/>
                <a:gd name="T18" fmla="*/ 2147483647 w 152"/>
                <a:gd name="T19" fmla="*/ 2147483647 h 168"/>
                <a:gd name="T20" fmla="*/ 2147483647 w 152"/>
                <a:gd name="T21" fmla="*/ 2147483647 h 168"/>
                <a:gd name="T22" fmla="*/ 2147483647 w 152"/>
                <a:gd name="T23" fmla="*/ 0 h 168"/>
                <a:gd name="T24" fmla="*/ 2147483647 w 152"/>
                <a:gd name="T25" fmla="*/ 2147483647 h 168"/>
                <a:gd name="T26" fmla="*/ 2147483647 w 152"/>
                <a:gd name="T27" fmla="*/ 2147483647 h 168"/>
                <a:gd name="T28" fmla="*/ 2147483647 w 152"/>
                <a:gd name="T29" fmla="*/ 2147483647 h 168"/>
                <a:gd name="T30" fmla="*/ 2147483647 w 152"/>
                <a:gd name="T31" fmla="*/ 2147483647 h 168"/>
                <a:gd name="T32" fmla="*/ 2147483647 w 152"/>
                <a:gd name="T33" fmla="*/ 2147483647 h 168"/>
                <a:gd name="T34" fmla="*/ 0 w 152"/>
                <a:gd name="T35" fmla="*/ 2147483647 h 168"/>
                <a:gd name="T36" fmla="*/ 2147483647 w 152"/>
                <a:gd name="T37" fmla="*/ 2147483647 h 168"/>
                <a:gd name="T38" fmla="*/ 2147483647 w 152"/>
                <a:gd name="T39" fmla="*/ 2147483647 h 168"/>
                <a:gd name="T40" fmla="*/ 0 w 152"/>
                <a:gd name="T41" fmla="*/ 2147483647 h 168"/>
                <a:gd name="T42" fmla="*/ 2147483647 w 152"/>
                <a:gd name="T43" fmla="*/ 2147483647 h 168"/>
                <a:gd name="T44" fmla="*/ 2147483647 w 152"/>
                <a:gd name="T45" fmla="*/ 2147483647 h 1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2"/>
                <a:gd name="T70" fmla="*/ 0 h 168"/>
                <a:gd name="T71" fmla="*/ 152 w 152"/>
                <a:gd name="T72" fmla="*/ 168 h 16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2" h="168">
                  <a:moveTo>
                    <a:pt x="24" y="144"/>
                  </a:moveTo>
                  <a:lnTo>
                    <a:pt x="40" y="152"/>
                  </a:lnTo>
                  <a:lnTo>
                    <a:pt x="48" y="160"/>
                  </a:lnTo>
                  <a:lnTo>
                    <a:pt x="56" y="168"/>
                  </a:lnTo>
                  <a:lnTo>
                    <a:pt x="72" y="152"/>
                  </a:lnTo>
                  <a:lnTo>
                    <a:pt x="80" y="160"/>
                  </a:lnTo>
                  <a:lnTo>
                    <a:pt x="136" y="160"/>
                  </a:lnTo>
                  <a:lnTo>
                    <a:pt x="152" y="152"/>
                  </a:lnTo>
                  <a:lnTo>
                    <a:pt x="144" y="144"/>
                  </a:lnTo>
                  <a:lnTo>
                    <a:pt x="128" y="32"/>
                  </a:lnTo>
                  <a:lnTo>
                    <a:pt x="144" y="32"/>
                  </a:lnTo>
                  <a:lnTo>
                    <a:pt x="104" y="0"/>
                  </a:lnTo>
                  <a:lnTo>
                    <a:pt x="104" y="16"/>
                  </a:lnTo>
                  <a:lnTo>
                    <a:pt x="64" y="16"/>
                  </a:lnTo>
                  <a:lnTo>
                    <a:pt x="64" y="48"/>
                  </a:lnTo>
                  <a:lnTo>
                    <a:pt x="56" y="56"/>
                  </a:lnTo>
                  <a:lnTo>
                    <a:pt x="48" y="80"/>
                  </a:lnTo>
                  <a:lnTo>
                    <a:pt x="0" y="80"/>
                  </a:lnTo>
                  <a:lnTo>
                    <a:pt x="8" y="104"/>
                  </a:lnTo>
                  <a:lnTo>
                    <a:pt x="8" y="136"/>
                  </a:lnTo>
                  <a:lnTo>
                    <a:pt x="0" y="144"/>
                  </a:lnTo>
                  <a:lnTo>
                    <a:pt x="16" y="144"/>
                  </a:lnTo>
                  <a:lnTo>
                    <a:pt x="24" y="14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91" name="Freeform 641"/>
            <p:cNvSpPr>
              <a:spLocks/>
            </p:cNvSpPr>
            <p:nvPr/>
          </p:nvSpPr>
          <p:spPr bwMode="auto">
            <a:xfrm>
              <a:off x="3056411" y="3033888"/>
              <a:ext cx="152474" cy="144677"/>
            </a:xfrm>
            <a:custGeom>
              <a:avLst/>
              <a:gdLst>
                <a:gd name="T0" fmla="*/ 0 w 144"/>
                <a:gd name="T1" fmla="*/ 2147483647 h 136"/>
                <a:gd name="T2" fmla="*/ 2147483647 w 144"/>
                <a:gd name="T3" fmla="*/ 2147483647 h 136"/>
                <a:gd name="T4" fmla="*/ 2147483647 w 144"/>
                <a:gd name="T5" fmla="*/ 2147483647 h 136"/>
                <a:gd name="T6" fmla="*/ 2147483647 w 144"/>
                <a:gd name="T7" fmla="*/ 2147483647 h 136"/>
                <a:gd name="T8" fmla="*/ 2147483647 w 144"/>
                <a:gd name="T9" fmla="*/ 2147483647 h 136"/>
                <a:gd name="T10" fmla="*/ 2147483647 w 144"/>
                <a:gd name="T11" fmla="*/ 2147483647 h 136"/>
                <a:gd name="T12" fmla="*/ 2147483647 w 144"/>
                <a:gd name="T13" fmla="*/ 2147483647 h 136"/>
                <a:gd name="T14" fmla="*/ 2147483647 w 144"/>
                <a:gd name="T15" fmla="*/ 2147483647 h 136"/>
                <a:gd name="T16" fmla="*/ 2147483647 w 144"/>
                <a:gd name="T17" fmla="*/ 2147483647 h 136"/>
                <a:gd name="T18" fmla="*/ 2147483647 w 144"/>
                <a:gd name="T19" fmla="*/ 2147483647 h 136"/>
                <a:gd name="T20" fmla="*/ 2147483647 w 144"/>
                <a:gd name="T21" fmla="*/ 2147483647 h 136"/>
                <a:gd name="T22" fmla="*/ 2147483647 w 144"/>
                <a:gd name="T23" fmla="*/ 2147483647 h 136"/>
                <a:gd name="T24" fmla="*/ 2147483647 w 144"/>
                <a:gd name="T25" fmla="*/ 2147483647 h 136"/>
                <a:gd name="T26" fmla="*/ 2147483647 w 144"/>
                <a:gd name="T27" fmla="*/ 0 h 136"/>
                <a:gd name="T28" fmla="*/ 2147483647 w 144"/>
                <a:gd name="T29" fmla="*/ 2147483647 h 136"/>
                <a:gd name="T30" fmla="*/ 2147483647 w 144"/>
                <a:gd name="T31" fmla="*/ 2147483647 h 136"/>
                <a:gd name="T32" fmla="*/ 2147483647 w 144"/>
                <a:gd name="T33" fmla="*/ 0 h 136"/>
                <a:gd name="T34" fmla="*/ 2147483647 w 144"/>
                <a:gd name="T35" fmla="*/ 2147483647 h 136"/>
                <a:gd name="T36" fmla="*/ 2147483647 w 144"/>
                <a:gd name="T37" fmla="*/ 0 h 136"/>
                <a:gd name="T38" fmla="*/ 2147483647 w 144"/>
                <a:gd name="T39" fmla="*/ 0 h 136"/>
                <a:gd name="T40" fmla="*/ 2147483647 w 144"/>
                <a:gd name="T41" fmla="*/ 2147483647 h 136"/>
                <a:gd name="T42" fmla="*/ 0 w 144"/>
                <a:gd name="T43" fmla="*/ 2147483647 h 1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36"/>
                <a:gd name="T68" fmla="*/ 144 w 144"/>
                <a:gd name="T69" fmla="*/ 136 h 1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36">
                  <a:moveTo>
                    <a:pt x="0" y="16"/>
                  </a:moveTo>
                  <a:lnTo>
                    <a:pt x="8" y="32"/>
                  </a:lnTo>
                  <a:lnTo>
                    <a:pt x="8" y="40"/>
                  </a:lnTo>
                  <a:lnTo>
                    <a:pt x="8" y="136"/>
                  </a:lnTo>
                  <a:lnTo>
                    <a:pt x="16" y="136"/>
                  </a:lnTo>
                  <a:lnTo>
                    <a:pt x="120" y="136"/>
                  </a:lnTo>
                  <a:lnTo>
                    <a:pt x="136" y="128"/>
                  </a:lnTo>
                  <a:lnTo>
                    <a:pt x="144" y="120"/>
                  </a:lnTo>
                  <a:lnTo>
                    <a:pt x="136" y="88"/>
                  </a:lnTo>
                  <a:lnTo>
                    <a:pt x="120" y="56"/>
                  </a:lnTo>
                  <a:lnTo>
                    <a:pt x="96" y="32"/>
                  </a:lnTo>
                  <a:lnTo>
                    <a:pt x="128" y="48"/>
                  </a:lnTo>
                  <a:lnTo>
                    <a:pt x="136" y="32"/>
                  </a:lnTo>
                  <a:lnTo>
                    <a:pt x="120" y="0"/>
                  </a:lnTo>
                  <a:lnTo>
                    <a:pt x="112" y="8"/>
                  </a:lnTo>
                  <a:lnTo>
                    <a:pt x="88" y="8"/>
                  </a:lnTo>
                  <a:lnTo>
                    <a:pt x="80" y="0"/>
                  </a:lnTo>
                  <a:lnTo>
                    <a:pt x="48" y="8"/>
                  </a:lnTo>
                  <a:lnTo>
                    <a:pt x="24" y="0"/>
                  </a:lnTo>
                  <a:lnTo>
                    <a:pt x="8" y="0"/>
                  </a:lnTo>
                  <a:lnTo>
                    <a:pt x="8" y="8"/>
                  </a:lnTo>
                  <a:lnTo>
                    <a:pt x="0"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92" name="Freeform 642"/>
            <p:cNvSpPr>
              <a:spLocks/>
            </p:cNvSpPr>
            <p:nvPr/>
          </p:nvSpPr>
          <p:spPr bwMode="auto">
            <a:xfrm>
              <a:off x="2852823" y="3008765"/>
              <a:ext cx="220914" cy="212251"/>
            </a:xfrm>
            <a:custGeom>
              <a:avLst/>
              <a:gdLst>
                <a:gd name="T0" fmla="*/ 2147483647 w 208"/>
                <a:gd name="T1" fmla="*/ 2147483647 h 200"/>
                <a:gd name="T2" fmla="*/ 2147483647 w 208"/>
                <a:gd name="T3" fmla="*/ 2147483647 h 200"/>
                <a:gd name="T4" fmla="*/ 2147483647 w 208"/>
                <a:gd name="T5" fmla="*/ 2147483647 h 200"/>
                <a:gd name="T6" fmla="*/ 0 w 208"/>
                <a:gd name="T7" fmla="*/ 2147483647 h 200"/>
                <a:gd name="T8" fmla="*/ 0 w 208"/>
                <a:gd name="T9" fmla="*/ 2147483647 h 200"/>
                <a:gd name="T10" fmla="*/ 2147483647 w 208"/>
                <a:gd name="T11" fmla="*/ 2147483647 h 200"/>
                <a:gd name="T12" fmla="*/ 2147483647 w 208"/>
                <a:gd name="T13" fmla="*/ 2147483647 h 200"/>
                <a:gd name="T14" fmla="*/ 2147483647 w 208"/>
                <a:gd name="T15" fmla="*/ 2147483647 h 200"/>
                <a:gd name="T16" fmla="*/ 2147483647 w 208"/>
                <a:gd name="T17" fmla="*/ 2147483647 h 200"/>
                <a:gd name="T18" fmla="*/ 2147483647 w 208"/>
                <a:gd name="T19" fmla="*/ 2147483647 h 200"/>
                <a:gd name="T20" fmla="*/ 2147483647 w 208"/>
                <a:gd name="T21" fmla="*/ 2147483647 h 200"/>
                <a:gd name="T22" fmla="*/ 2147483647 w 208"/>
                <a:gd name="T23" fmla="*/ 2147483647 h 200"/>
                <a:gd name="T24" fmla="*/ 2147483647 w 208"/>
                <a:gd name="T25" fmla="*/ 2147483647 h 200"/>
                <a:gd name="T26" fmla="*/ 2147483647 w 208"/>
                <a:gd name="T27" fmla="*/ 2147483647 h 200"/>
                <a:gd name="T28" fmla="*/ 2147483647 w 208"/>
                <a:gd name="T29" fmla="*/ 2147483647 h 200"/>
                <a:gd name="T30" fmla="*/ 2147483647 w 208"/>
                <a:gd name="T31" fmla="*/ 2147483647 h 200"/>
                <a:gd name="T32" fmla="*/ 2147483647 w 208"/>
                <a:gd name="T33" fmla="*/ 2147483647 h 200"/>
                <a:gd name="T34" fmla="*/ 2147483647 w 208"/>
                <a:gd name="T35" fmla="*/ 2147483647 h 200"/>
                <a:gd name="T36" fmla="*/ 2147483647 w 208"/>
                <a:gd name="T37" fmla="*/ 2147483647 h 200"/>
                <a:gd name="T38" fmla="*/ 2147483647 w 208"/>
                <a:gd name="T39" fmla="*/ 2147483647 h 200"/>
                <a:gd name="T40" fmla="*/ 2147483647 w 208"/>
                <a:gd name="T41" fmla="*/ 2147483647 h 200"/>
                <a:gd name="T42" fmla="*/ 2147483647 w 208"/>
                <a:gd name="T43" fmla="*/ 2147483647 h 200"/>
                <a:gd name="T44" fmla="*/ 2147483647 w 208"/>
                <a:gd name="T45" fmla="*/ 2147483647 h 200"/>
                <a:gd name="T46" fmla="*/ 2147483647 w 208"/>
                <a:gd name="T47" fmla="*/ 2147483647 h 200"/>
                <a:gd name="T48" fmla="*/ 2147483647 w 208"/>
                <a:gd name="T49" fmla="*/ 2147483647 h 200"/>
                <a:gd name="T50" fmla="*/ 2147483647 w 208"/>
                <a:gd name="T51" fmla="*/ 2147483647 h 200"/>
                <a:gd name="T52" fmla="*/ 2147483647 w 208"/>
                <a:gd name="T53" fmla="*/ 2147483647 h 200"/>
                <a:gd name="T54" fmla="*/ 2147483647 w 208"/>
                <a:gd name="T55" fmla="*/ 2147483647 h 200"/>
                <a:gd name="T56" fmla="*/ 2147483647 w 208"/>
                <a:gd name="T57" fmla="*/ 2147483647 h 200"/>
                <a:gd name="T58" fmla="*/ 2147483647 w 208"/>
                <a:gd name="T59" fmla="*/ 2147483647 h 200"/>
                <a:gd name="T60" fmla="*/ 2147483647 w 208"/>
                <a:gd name="T61" fmla="*/ 2147483647 h 200"/>
                <a:gd name="T62" fmla="*/ 2147483647 w 208"/>
                <a:gd name="T63" fmla="*/ 0 h 200"/>
                <a:gd name="T64" fmla="*/ 2147483647 w 208"/>
                <a:gd name="T65" fmla="*/ 2147483647 h 200"/>
                <a:gd name="T66" fmla="*/ 2147483647 w 208"/>
                <a:gd name="T67" fmla="*/ 2147483647 h 20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08"/>
                <a:gd name="T103" fmla="*/ 0 h 200"/>
                <a:gd name="T104" fmla="*/ 208 w 208"/>
                <a:gd name="T105" fmla="*/ 200 h 20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08" h="200">
                  <a:moveTo>
                    <a:pt x="16" y="24"/>
                  </a:moveTo>
                  <a:lnTo>
                    <a:pt x="8" y="32"/>
                  </a:lnTo>
                  <a:lnTo>
                    <a:pt x="8" y="40"/>
                  </a:lnTo>
                  <a:lnTo>
                    <a:pt x="0" y="48"/>
                  </a:lnTo>
                  <a:lnTo>
                    <a:pt x="0" y="112"/>
                  </a:lnTo>
                  <a:lnTo>
                    <a:pt x="24" y="136"/>
                  </a:lnTo>
                  <a:lnTo>
                    <a:pt x="32" y="136"/>
                  </a:lnTo>
                  <a:lnTo>
                    <a:pt x="64" y="144"/>
                  </a:lnTo>
                  <a:lnTo>
                    <a:pt x="72" y="152"/>
                  </a:lnTo>
                  <a:lnTo>
                    <a:pt x="88" y="144"/>
                  </a:lnTo>
                  <a:lnTo>
                    <a:pt x="184" y="192"/>
                  </a:lnTo>
                  <a:lnTo>
                    <a:pt x="192" y="200"/>
                  </a:lnTo>
                  <a:lnTo>
                    <a:pt x="192" y="184"/>
                  </a:lnTo>
                  <a:lnTo>
                    <a:pt x="200" y="184"/>
                  </a:lnTo>
                  <a:lnTo>
                    <a:pt x="208" y="160"/>
                  </a:lnTo>
                  <a:lnTo>
                    <a:pt x="200" y="160"/>
                  </a:lnTo>
                  <a:lnTo>
                    <a:pt x="200" y="64"/>
                  </a:lnTo>
                  <a:lnTo>
                    <a:pt x="200" y="56"/>
                  </a:lnTo>
                  <a:lnTo>
                    <a:pt x="192" y="40"/>
                  </a:lnTo>
                  <a:lnTo>
                    <a:pt x="200" y="32"/>
                  </a:lnTo>
                  <a:lnTo>
                    <a:pt x="200" y="24"/>
                  </a:lnTo>
                  <a:lnTo>
                    <a:pt x="192" y="16"/>
                  </a:lnTo>
                  <a:lnTo>
                    <a:pt x="176" y="8"/>
                  </a:lnTo>
                  <a:lnTo>
                    <a:pt x="160" y="8"/>
                  </a:lnTo>
                  <a:lnTo>
                    <a:pt x="136" y="16"/>
                  </a:lnTo>
                  <a:lnTo>
                    <a:pt x="136" y="32"/>
                  </a:lnTo>
                  <a:lnTo>
                    <a:pt x="112" y="40"/>
                  </a:lnTo>
                  <a:lnTo>
                    <a:pt x="96" y="24"/>
                  </a:lnTo>
                  <a:lnTo>
                    <a:pt x="88" y="16"/>
                  </a:lnTo>
                  <a:lnTo>
                    <a:pt x="80" y="8"/>
                  </a:lnTo>
                  <a:lnTo>
                    <a:pt x="48" y="8"/>
                  </a:lnTo>
                  <a:lnTo>
                    <a:pt x="32" y="0"/>
                  </a:lnTo>
                  <a:lnTo>
                    <a:pt x="32" y="8"/>
                  </a:lnTo>
                  <a:lnTo>
                    <a:pt x="16"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93" name="Freeform 643"/>
            <p:cNvSpPr>
              <a:spLocks/>
            </p:cNvSpPr>
            <p:nvPr/>
          </p:nvSpPr>
          <p:spPr bwMode="auto">
            <a:xfrm>
              <a:off x="2827700" y="2941191"/>
              <a:ext cx="58910" cy="110024"/>
            </a:xfrm>
            <a:custGeom>
              <a:avLst/>
              <a:gdLst>
                <a:gd name="T0" fmla="*/ 2147483647 w 56"/>
                <a:gd name="T1" fmla="*/ 2147483647 h 104"/>
                <a:gd name="T2" fmla="*/ 2147483647 w 56"/>
                <a:gd name="T3" fmla="*/ 2147483647 h 104"/>
                <a:gd name="T4" fmla="*/ 2147483647 w 56"/>
                <a:gd name="T5" fmla="*/ 2147483647 h 104"/>
                <a:gd name="T6" fmla="*/ 0 w 56"/>
                <a:gd name="T7" fmla="*/ 2147483647 h 104"/>
                <a:gd name="T8" fmla="*/ 0 w 56"/>
                <a:gd name="T9" fmla="*/ 2147483647 h 104"/>
                <a:gd name="T10" fmla="*/ 2147483647 w 56"/>
                <a:gd name="T11" fmla="*/ 2147483647 h 104"/>
                <a:gd name="T12" fmla="*/ 2147483647 w 56"/>
                <a:gd name="T13" fmla="*/ 2147483647 h 104"/>
                <a:gd name="T14" fmla="*/ 2147483647 w 56"/>
                <a:gd name="T15" fmla="*/ 2147483647 h 104"/>
                <a:gd name="T16" fmla="*/ 2147483647 w 56"/>
                <a:gd name="T17" fmla="*/ 2147483647 h 104"/>
                <a:gd name="T18" fmla="*/ 2147483647 w 56"/>
                <a:gd name="T19" fmla="*/ 2147483647 h 104"/>
                <a:gd name="T20" fmla="*/ 2147483647 w 56"/>
                <a:gd name="T21" fmla="*/ 2147483647 h 104"/>
                <a:gd name="T22" fmla="*/ 2147483647 w 56"/>
                <a:gd name="T23" fmla="*/ 2147483647 h 104"/>
                <a:gd name="T24" fmla="*/ 2147483647 w 56"/>
                <a:gd name="T25" fmla="*/ 2147483647 h 104"/>
                <a:gd name="T26" fmla="*/ 2147483647 w 56"/>
                <a:gd name="T27" fmla="*/ 2147483647 h 104"/>
                <a:gd name="T28" fmla="*/ 2147483647 w 56"/>
                <a:gd name="T29" fmla="*/ 2147483647 h 104"/>
                <a:gd name="T30" fmla="*/ 2147483647 w 56"/>
                <a:gd name="T31" fmla="*/ 2147483647 h 104"/>
                <a:gd name="T32" fmla="*/ 2147483647 w 56"/>
                <a:gd name="T33" fmla="*/ 2147483647 h 104"/>
                <a:gd name="T34" fmla="*/ 2147483647 w 56"/>
                <a:gd name="T35" fmla="*/ 2147483647 h 104"/>
                <a:gd name="T36" fmla="*/ 2147483647 w 56"/>
                <a:gd name="T37" fmla="*/ 0 h 104"/>
                <a:gd name="T38" fmla="*/ 2147483647 w 56"/>
                <a:gd name="T39" fmla="*/ 0 h 104"/>
                <a:gd name="T40" fmla="*/ 2147483647 w 56"/>
                <a:gd name="T41" fmla="*/ 2147483647 h 10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6"/>
                <a:gd name="T64" fmla="*/ 0 h 104"/>
                <a:gd name="T65" fmla="*/ 56 w 56"/>
                <a:gd name="T66" fmla="*/ 104 h 10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6" h="104">
                  <a:moveTo>
                    <a:pt x="16" y="8"/>
                  </a:moveTo>
                  <a:lnTo>
                    <a:pt x="16" y="24"/>
                  </a:lnTo>
                  <a:lnTo>
                    <a:pt x="16" y="40"/>
                  </a:lnTo>
                  <a:lnTo>
                    <a:pt x="0" y="56"/>
                  </a:lnTo>
                  <a:lnTo>
                    <a:pt x="0" y="64"/>
                  </a:lnTo>
                  <a:lnTo>
                    <a:pt x="8" y="72"/>
                  </a:lnTo>
                  <a:lnTo>
                    <a:pt x="16" y="72"/>
                  </a:lnTo>
                  <a:lnTo>
                    <a:pt x="24" y="80"/>
                  </a:lnTo>
                  <a:lnTo>
                    <a:pt x="24" y="96"/>
                  </a:lnTo>
                  <a:lnTo>
                    <a:pt x="32" y="104"/>
                  </a:lnTo>
                  <a:lnTo>
                    <a:pt x="32" y="96"/>
                  </a:lnTo>
                  <a:lnTo>
                    <a:pt x="40" y="88"/>
                  </a:lnTo>
                  <a:lnTo>
                    <a:pt x="56" y="72"/>
                  </a:lnTo>
                  <a:lnTo>
                    <a:pt x="56" y="64"/>
                  </a:lnTo>
                  <a:lnTo>
                    <a:pt x="40" y="56"/>
                  </a:lnTo>
                  <a:lnTo>
                    <a:pt x="32" y="48"/>
                  </a:lnTo>
                  <a:lnTo>
                    <a:pt x="48" y="24"/>
                  </a:lnTo>
                  <a:lnTo>
                    <a:pt x="40" y="8"/>
                  </a:lnTo>
                  <a:lnTo>
                    <a:pt x="24" y="0"/>
                  </a:lnTo>
                  <a:lnTo>
                    <a:pt x="16" y="0"/>
                  </a:lnTo>
                  <a:lnTo>
                    <a:pt x="16"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94" name="Freeform 644"/>
            <p:cNvSpPr>
              <a:spLocks/>
            </p:cNvSpPr>
            <p:nvPr/>
          </p:nvSpPr>
          <p:spPr bwMode="auto">
            <a:xfrm>
              <a:off x="2554806" y="2966315"/>
              <a:ext cx="161137" cy="127350"/>
            </a:xfrm>
            <a:custGeom>
              <a:avLst/>
              <a:gdLst>
                <a:gd name="T0" fmla="*/ 2147483647 w 152"/>
                <a:gd name="T1" fmla="*/ 2147483647 h 120"/>
                <a:gd name="T2" fmla="*/ 2147483647 w 152"/>
                <a:gd name="T3" fmla="*/ 2147483647 h 120"/>
                <a:gd name="T4" fmla="*/ 2147483647 w 152"/>
                <a:gd name="T5" fmla="*/ 2147483647 h 120"/>
                <a:gd name="T6" fmla="*/ 2147483647 w 152"/>
                <a:gd name="T7" fmla="*/ 2147483647 h 120"/>
                <a:gd name="T8" fmla="*/ 2147483647 w 152"/>
                <a:gd name="T9" fmla="*/ 2147483647 h 120"/>
                <a:gd name="T10" fmla="*/ 2147483647 w 152"/>
                <a:gd name="T11" fmla="*/ 2147483647 h 120"/>
                <a:gd name="T12" fmla="*/ 2147483647 w 152"/>
                <a:gd name="T13" fmla="*/ 2147483647 h 120"/>
                <a:gd name="T14" fmla="*/ 2147483647 w 152"/>
                <a:gd name="T15" fmla="*/ 2147483647 h 120"/>
                <a:gd name="T16" fmla="*/ 2147483647 w 152"/>
                <a:gd name="T17" fmla="*/ 2147483647 h 120"/>
                <a:gd name="T18" fmla="*/ 2147483647 w 152"/>
                <a:gd name="T19" fmla="*/ 2147483647 h 120"/>
                <a:gd name="T20" fmla="*/ 2147483647 w 152"/>
                <a:gd name="T21" fmla="*/ 2147483647 h 120"/>
                <a:gd name="T22" fmla="*/ 2147483647 w 152"/>
                <a:gd name="T23" fmla="*/ 2147483647 h 120"/>
                <a:gd name="T24" fmla="*/ 2147483647 w 152"/>
                <a:gd name="T25" fmla="*/ 2147483647 h 120"/>
                <a:gd name="T26" fmla="*/ 2147483647 w 152"/>
                <a:gd name="T27" fmla="*/ 0 h 120"/>
                <a:gd name="T28" fmla="*/ 2147483647 w 152"/>
                <a:gd name="T29" fmla="*/ 2147483647 h 120"/>
                <a:gd name="T30" fmla="*/ 2147483647 w 152"/>
                <a:gd name="T31" fmla="*/ 2147483647 h 120"/>
                <a:gd name="T32" fmla="*/ 2147483647 w 152"/>
                <a:gd name="T33" fmla="*/ 2147483647 h 120"/>
                <a:gd name="T34" fmla="*/ 2147483647 w 152"/>
                <a:gd name="T35" fmla="*/ 2147483647 h 120"/>
                <a:gd name="T36" fmla="*/ 2147483647 w 152"/>
                <a:gd name="T37" fmla="*/ 2147483647 h 120"/>
                <a:gd name="T38" fmla="*/ 0 w 152"/>
                <a:gd name="T39" fmla="*/ 2147483647 h 120"/>
                <a:gd name="T40" fmla="*/ 2147483647 w 152"/>
                <a:gd name="T41" fmla="*/ 2147483647 h 120"/>
                <a:gd name="T42" fmla="*/ 2147483647 w 152"/>
                <a:gd name="T43" fmla="*/ 2147483647 h 1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2"/>
                <a:gd name="T67" fmla="*/ 0 h 120"/>
                <a:gd name="T68" fmla="*/ 152 w 152"/>
                <a:gd name="T69" fmla="*/ 120 h 1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2" h="120">
                  <a:moveTo>
                    <a:pt x="56" y="104"/>
                  </a:moveTo>
                  <a:lnTo>
                    <a:pt x="72" y="96"/>
                  </a:lnTo>
                  <a:lnTo>
                    <a:pt x="96" y="80"/>
                  </a:lnTo>
                  <a:lnTo>
                    <a:pt x="120" y="72"/>
                  </a:lnTo>
                  <a:lnTo>
                    <a:pt x="120" y="64"/>
                  </a:lnTo>
                  <a:lnTo>
                    <a:pt x="128" y="56"/>
                  </a:lnTo>
                  <a:lnTo>
                    <a:pt x="144" y="56"/>
                  </a:lnTo>
                  <a:lnTo>
                    <a:pt x="152" y="48"/>
                  </a:lnTo>
                  <a:lnTo>
                    <a:pt x="144" y="32"/>
                  </a:lnTo>
                  <a:lnTo>
                    <a:pt x="144" y="8"/>
                  </a:lnTo>
                  <a:lnTo>
                    <a:pt x="136" y="8"/>
                  </a:lnTo>
                  <a:lnTo>
                    <a:pt x="120" y="8"/>
                  </a:lnTo>
                  <a:lnTo>
                    <a:pt x="112" y="8"/>
                  </a:lnTo>
                  <a:lnTo>
                    <a:pt x="96" y="0"/>
                  </a:lnTo>
                  <a:lnTo>
                    <a:pt x="80" y="24"/>
                  </a:lnTo>
                  <a:lnTo>
                    <a:pt x="64" y="40"/>
                  </a:lnTo>
                  <a:lnTo>
                    <a:pt x="48" y="64"/>
                  </a:lnTo>
                  <a:lnTo>
                    <a:pt x="40" y="96"/>
                  </a:lnTo>
                  <a:lnTo>
                    <a:pt x="8" y="112"/>
                  </a:lnTo>
                  <a:lnTo>
                    <a:pt x="0" y="120"/>
                  </a:lnTo>
                  <a:lnTo>
                    <a:pt x="56" y="120"/>
                  </a:lnTo>
                  <a:lnTo>
                    <a:pt x="56" y="10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95" name="Freeform 645"/>
            <p:cNvSpPr>
              <a:spLocks/>
            </p:cNvSpPr>
            <p:nvPr/>
          </p:nvSpPr>
          <p:spPr bwMode="auto">
            <a:xfrm>
              <a:off x="2827700" y="2941191"/>
              <a:ext cx="58910" cy="110024"/>
            </a:xfrm>
            <a:custGeom>
              <a:avLst/>
              <a:gdLst>
                <a:gd name="T0" fmla="*/ 2147483647 w 56"/>
                <a:gd name="T1" fmla="*/ 2147483647 h 104"/>
                <a:gd name="T2" fmla="*/ 2147483647 w 56"/>
                <a:gd name="T3" fmla="*/ 2147483647 h 104"/>
                <a:gd name="T4" fmla="*/ 2147483647 w 56"/>
                <a:gd name="T5" fmla="*/ 2147483647 h 104"/>
                <a:gd name="T6" fmla="*/ 0 w 56"/>
                <a:gd name="T7" fmla="*/ 2147483647 h 104"/>
                <a:gd name="T8" fmla="*/ 0 w 56"/>
                <a:gd name="T9" fmla="*/ 2147483647 h 104"/>
                <a:gd name="T10" fmla="*/ 2147483647 w 56"/>
                <a:gd name="T11" fmla="*/ 2147483647 h 104"/>
                <a:gd name="T12" fmla="*/ 2147483647 w 56"/>
                <a:gd name="T13" fmla="*/ 2147483647 h 104"/>
                <a:gd name="T14" fmla="*/ 2147483647 w 56"/>
                <a:gd name="T15" fmla="*/ 2147483647 h 104"/>
                <a:gd name="T16" fmla="*/ 2147483647 w 56"/>
                <a:gd name="T17" fmla="*/ 2147483647 h 104"/>
                <a:gd name="T18" fmla="*/ 2147483647 w 56"/>
                <a:gd name="T19" fmla="*/ 2147483647 h 104"/>
                <a:gd name="T20" fmla="*/ 2147483647 w 56"/>
                <a:gd name="T21" fmla="*/ 2147483647 h 104"/>
                <a:gd name="T22" fmla="*/ 2147483647 w 56"/>
                <a:gd name="T23" fmla="*/ 2147483647 h 104"/>
                <a:gd name="T24" fmla="*/ 2147483647 w 56"/>
                <a:gd name="T25" fmla="*/ 2147483647 h 104"/>
                <a:gd name="T26" fmla="*/ 2147483647 w 56"/>
                <a:gd name="T27" fmla="*/ 2147483647 h 104"/>
                <a:gd name="T28" fmla="*/ 2147483647 w 56"/>
                <a:gd name="T29" fmla="*/ 2147483647 h 104"/>
                <a:gd name="T30" fmla="*/ 2147483647 w 56"/>
                <a:gd name="T31" fmla="*/ 2147483647 h 104"/>
                <a:gd name="T32" fmla="*/ 2147483647 w 56"/>
                <a:gd name="T33" fmla="*/ 2147483647 h 104"/>
                <a:gd name="T34" fmla="*/ 2147483647 w 56"/>
                <a:gd name="T35" fmla="*/ 2147483647 h 104"/>
                <a:gd name="T36" fmla="*/ 2147483647 w 56"/>
                <a:gd name="T37" fmla="*/ 0 h 104"/>
                <a:gd name="T38" fmla="*/ 2147483647 w 56"/>
                <a:gd name="T39" fmla="*/ 0 h 104"/>
                <a:gd name="T40" fmla="*/ 2147483647 w 56"/>
                <a:gd name="T41" fmla="*/ 2147483647 h 104"/>
                <a:gd name="T42" fmla="*/ 2147483647 w 56"/>
                <a:gd name="T43" fmla="*/ 2147483647 h 10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6"/>
                <a:gd name="T67" fmla="*/ 0 h 104"/>
                <a:gd name="T68" fmla="*/ 56 w 56"/>
                <a:gd name="T69" fmla="*/ 104 h 10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6" h="104">
                  <a:moveTo>
                    <a:pt x="16" y="8"/>
                  </a:moveTo>
                  <a:lnTo>
                    <a:pt x="16" y="24"/>
                  </a:lnTo>
                  <a:lnTo>
                    <a:pt x="16" y="40"/>
                  </a:lnTo>
                  <a:lnTo>
                    <a:pt x="0" y="56"/>
                  </a:lnTo>
                  <a:lnTo>
                    <a:pt x="0" y="64"/>
                  </a:lnTo>
                  <a:lnTo>
                    <a:pt x="8" y="72"/>
                  </a:lnTo>
                  <a:lnTo>
                    <a:pt x="16" y="72"/>
                  </a:lnTo>
                  <a:lnTo>
                    <a:pt x="24" y="80"/>
                  </a:lnTo>
                  <a:lnTo>
                    <a:pt x="24" y="96"/>
                  </a:lnTo>
                  <a:lnTo>
                    <a:pt x="32" y="104"/>
                  </a:lnTo>
                  <a:lnTo>
                    <a:pt x="32" y="96"/>
                  </a:lnTo>
                  <a:lnTo>
                    <a:pt x="40" y="88"/>
                  </a:lnTo>
                  <a:lnTo>
                    <a:pt x="56" y="72"/>
                  </a:lnTo>
                  <a:lnTo>
                    <a:pt x="56" y="64"/>
                  </a:lnTo>
                  <a:lnTo>
                    <a:pt x="40" y="56"/>
                  </a:lnTo>
                  <a:lnTo>
                    <a:pt x="32" y="48"/>
                  </a:lnTo>
                  <a:lnTo>
                    <a:pt x="48" y="24"/>
                  </a:lnTo>
                  <a:lnTo>
                    <a:pt x="40" y="8"/>
                  </a:lnTo>
                  <a:lnTo>
                    <a:pt x="24" y="0"/>
                  </a:lnTo>
                  <a:lnTo>
                    <a:pt x="16" y="0"/>
                  </a:lnTo>
                  <a:lnTo>
                    <a:pt x="16"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96" name="Freeform 646"/>
            <p:cNvSpPr>
              <a:spLocks/>
            </p:cNvSpPr>
            <p:nvPr/>
          </p:nvSpPr>
          <p:spPr bwMode="auto">
            <a:xfrm>
              <a:off x="2554806" y="2966315"/>
              <a:ext cx="161137" cy="127350"/>
            </a:xfrm>
            <a:custGeom>
              <a:avLst/>
              <a:gdLst>
                <a:gd name="T0" fmla="*/ 2147483647 w 152"/>
                <a:gd name="T1" fmla="*/ 2147483647 h 120"/>
                <a:gd name="T2" fmla="*/ 2147483647 w 152"/>
                <a:gd name="T3" fmla="*/ 2147483647 h 120"/>
                <a:gd name="T4" fmla="*/ 2147483647 w 152"/>
                <a:gd name="T5" fmla="*/ 2147483647 h 120"/>
                <a:gd name="T6" fmla="*/ 2147483647 w 152"/>
                <a:gd name="T7" fmla="*/ 2147483647 h 120"/>
                <a:gd name="T8" fmla="*/ 2147483647 w 152"/>
                <a:gd name="T9" fmla="*/ 2147483647 h 120"/>
                <a:gd name="T10" fmla="*/ 2147483647 w 152"/>
                <a:gd name="T11" fmla="*/ 2147483647 h 120"/>
                <a:gd name="T12" fmla="*/ 2147483647 w 152"/>
                <a:gd name="T13" fmla="*/ 2147483647 h 120"/>
                <a:gd name="T14" fmla="*/ 2147483647 w 152"/>
                <a:gd name="T15" fmla="*/ 2147483647 h 120"/>
                <a:gd name="T16" fmla="*/ 2147483647 w 152"/>
                <a:gd name="T17" fmla="*/ 2147483647 h 120"/>
                <a:gd name="T18" fmla="*/ 2147483647 w 152"/>
                <a:gd name="T19" fmla="*/ 2147483647 h 120"/>
                <a:gd name="T20" fmla="*/ 2147483647 w 152"/>
                <a:gd name="T21" fmla="*/ 2147483647 h 120"/>
                <a:gd name="T22" fmla="*/ 2147483647 w 152"/>
                <a:gd name="T23" fmla="*/ 2147483647 h 120"/>
                <a:gd name="T24" fmla="*/ 2147483647 w 152"/>
                <a:gd name="T25" fmla="*/ 2147483647 h 120"/>
                <a:gd name="T26" fmla="*/ 2147483647 w 152"/>
                <a:gd name="T27" fmla="*/ 0 h 120"/>
                <a:gd name="T28" fmla="*/ 2147483647 w 152"/>
                <a:gd name="T29" fmla="*/ 2147483647 h 120"/>
                <a:gd name="T30" fmla="*/ 2147483647 w 152"/>
                <a:gd name="T31" fmla="*/ 2147483647 h 120"/>
                <a:gd name="T32" fmla="*/ 2147483647 w 152"/>
                <a:gd name="T33" fmla="*/ 2147483647 h 120"/>
                <a:gd name="T34" fmla="*/ 2147483647 w 152"/>
                <a:gd name="T35" fmla="*/ 2147483647 h 120"/>
                <a:gd name="T36" fmla="*/ 2147483647 w 152"/>
                <a:gd name="T37" fmla="*/ 2147483647 h 120"/>
                <a:gd name="T38" fmla="*/ 0 w 152"/>
                <a:gd name="T39" fmla="*/ 2147483647 h 120"/>
                <a:gd name="T40" fmla="*/ 2147483647 w 152"/>
                <a:gd name="T41" fmla="*/ 2147483647 h 120"/>
                <a:gd name="T42" fmla="*/ 2147483647 w 152"/>
                <a:gd name="T43" fmla="*/ 2147483647 h 1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2"/>
                <a:gd name="T67" fmla="*/ 0 h 120"/>
                <a:gd name="T68" fmla="*/ 152 w 152"/>
                <a:gd name="T69" fmla="*/ 120 h 1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2" h="120">
                  <a:moveTo>
                    <a:pt x="56" y="104"/>
                  </a:moveTo>
                  <a:lnTo>
                    <a:pt x="72" y="96"/>
                  </a:lnTo>
                  <a:lnTo>
                    <a:pt x="96" y="80"/>
                  </a:lnTo>
                  <a:lnTo>
                    <a:pt x="120" y="72"/>
                  </a:lnTo>
                  <a:lnTo>
                    <a:pt x="120" y="64"/>
                  </a:lnTo>
                  <a:lnTo>
                    <a:pt x="128" y="56"/>
                  </a:lnTo>
                  <a:lnTo>
                    <a:pt x="144" y="56"/>
                  </a:lnTo>
                  <a:lnTo>
                    <a:pt x="152" y="48"/>
                  </a:lnTo>
                  <a:lnTo>
                    <a:pt x="144" y="32"/>
                  </a:lnTo>
                  <a:lnTo>
                    <a:pt x="144" y="8"/>
                  </a:lnTo>
                  <a:lnTo>
                    <a:pt x="136" y="8"/>
                  </a:lnTo>
                  <a:lnTo>
                    <a:pt x="120" y="8"/>
                  </a:lnTo>
                  <a:lnTo>
                    <a:pt x="112" y="8"/>
                  </a:lnTo>
                  <a:lnTo>
                    <a:pt x="96" y="0"/>
                  </a:lnTo>
                  <a:lnTo>
                    <a:pt x="80" y="24"/>
                  </a:lnTo>
                  <a:lnTo>
                    <a:pt x="64" y="40"/>
                  </a:lnTo>
                  <a:lnTo>
                    <a:pt x="48" y="64"/>
                  </a:lnTo>
                  <a:lnTo>
                    <a:pt x="40" y="96"/>
                  </a:lnTo>
                  <a:lnTo>
                    <a:pt x="8" y="112"/>
                  </a:lnTo>
                  <a:lnTo>
                    <a:pt x="0" y="120"/>
                  </a:lnTo>
                  <a:lnTo>
                    <a:pt x="56" y="120"/>
                  </a:lnTo>
                  <a:lnTo>
                    <a:pt x="56" y="10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97" name="Freeform 647"/>
            <p:cNvSpPr>
              <a:spLocks/>
            </p:cNvSpPr>
            <p:nvPr/>
          </p:nvSpPr>
          <p:spPr bwMode="auto">
            <a:xfrm>
              <a:off x="2504559" y="3093665"/>
              <a:ext cx="110024" cy="93564"/>
            </a:xfrm>
            <a:custGeom>
              <a:avLst/>
              <a:gdLst>
                <a:gd name="T0" fmla="*/ 2147483647 w 104"/>
                <a:gd name="T1" fmla="*/ 2147483647 h 88"/>
                <a:gd name="T2" fmla="*/ 2147483647 w 104"/>
                <a:gd name="T3" fmla="*/ 2147483647 h 88"/>
                <a:gd name="T4" fmla="*/ 2147483647 w 104"/>
                <a:gd name="T5" fmla="*/ 2147483647 h 88"/>
                <a:gd name="T6" fmla="*/ 2147483647 w 104"/>
                <a:gd name="T7" fmla="*/ 2147483647 h 88"/>
                <a:gd name="T8" fmla="*/ 2147483647 w 104"/>
                <a:gd name="T9" fmla="*/ 2147483647 h 88"/>
                <a:gd name="T10" fmla="*/ 2147483647 w 104"/>
                <a:gd name="T11" fmla="*/ 0 h 88"/>
                <a:gd name="T12" fmla="*/ 2147483647 w 104"/>
                <a:gd name="T13" fmla="*/ 0 h 88"/>
                <a:gd name="T14" fmla="*/ 2147483647 w 104"/>
                <a:gd name="T15" fmla="*/ 2147483647 h 88"/>
                <a:gd name="T16" fmla="*/ 2147483647 w 104"/>
                <a:gd name="T17" fmla="*/ 2147483647 h 88"/>
                <a:gd name="T18" fmla="*/ 0 w 104"/>
                <a:gd name="T19" fmla="*/ 2147483647 h 88"/>
                <a:gd name="T20" fmla="*/ 2147483647 w 104"/>
                <a:gd name="T21" fmla="*/ 2147483647 h 88"/>
                <a:gd name="T22" fmla="*/ 2147483647 w 104"/>
                <a:gd name="T23" fmla="*/ 2147483647 h 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
                <a:gd name="T37" fmla="*/ 0 h 88"/>
                <a:gd name="T38" fmla="*/ 104 w 104"/>
                <a:gd name="T39" fmla="*/ 88 h 8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 h="88">
                  <a:moveTo>
                    <a:pt x="56" y="64"/>
                  </a:moveTo>
                  <a:lnTo>
                    <a:pt x="64" y="56"/>
                  </a:lnTo>
                  <a:lnTo>
                    <a:pt x="64" y="24"/>
                  </a:lnTo>
                  <a:lnTo>
                    <a:pt x="104" y="24"/>
                  </a:lnTo>
                  <a:lnTo>
                    <a:pt x="104" y="8"/>
                  </a:lnTo>
                  <a:lnTo>
                    <a:pt x="104" y="0"/>
                  </a:lnTo>
                  <a:lnTo>
                    <a:pt x="48" y="0"/>
                  </a:lnTo>
                  <a:lnTo>
                    <a:pt x="40" y="8"/>
                  </a:lnTo>
                  <a:lnTo>
                    <a:pt x="16" y="48"/>
                  </a:lnTo>
                  <a:lnTo>
                    <a:pt x="0" y="88"/>
                  </a:lnTo>
                  <a:lnTo>
                    <a:pt x="48" y="88"/>
                  </a:lnTo>
                  <a:lnTo>
                    <a:pt x="56" y="6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98" name="Freeform 648"/>
            <p:cNvSpPr>
              <a:spLocks/>
            </p:cNvSpPr>
            <p:nvPr/>
          </p:nvSpPr>
          <p:spPr bwMode="auto">
            <a:xfrm>
              <a:off x="2512356" y="3305916"/>
              <a:ext cx="33787" cy="25123"/>
            </a:xfrm>
            <a:custGeom>
              <a:avLst/>
              <a:gdLst>
                <a:gd name="T0" fmla="*/ 2147483647 w 32"/>
                <a:gd name="T1" fmla="*/ 2147483647 h 24"/>
                <a:gd name="T2" fmla="*/ 2147483647 w 32"/>
                <a:gd name="T3" fmla="*/ 2147483647 h 24"/>
                <a:gd name="T4" fmla="*/ 2147483647 w 32"/>
                <a:gd name="T5" fmla="*/ 0 h 24"/>
                <a:gd name="T6" fmla="*/ 2147483647 w 32"/>
                <a:gd name="T7" fmla="*/ 0 h 24"/>
                <a:gd name="T8" fmla="*/ 0 w 32"/>
                <a:gd name="T9" fmla="*/ 2147483647 h 24"/>
                <a:gd name="T10" fmla="*/ 2147483647 w 32"/>
                <a:gd name="T11" fmla="*/ 2147483647 h 24"/>
                <a:gd name="T12" fmla="*/ 2147483647 w 32"/>
                <a:gd name="T13" fmla="*/ 2147483647 h 24"/>
                <a:gd name="T14" fmla="*/ 2147483647 w 32"/>
                <a:gd name="T15" fmla="*/ 2147483647 h 24"/>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24"/>
                <a:gd name="T26" fmla="*/ 32 w 3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24">
                  <a:moveTo>
                    <a:pt x="32" y="16"/>
                  </a:moveTo>
                  <a:lnTo>
                    <a:pt x="32" y="8"/>
                  </a:lnTo>
                  <a:lnTo>
                    <a:pt x="32" y="0"/>
                  </a:lnTo>
                  <a:lnTo>
                    <a:pt x="24" y="0"/>
                  </a:lnTo>
                  <a:lnTo>
                    <a:pt x="0" y="8"/>
                  </a:lnTo>
                  <a:lnTo>
                    <a:pt x="8" y="24"/>
                  </a:lnTo>
                  <a:lnTo>
                    <a:pt x="24" y="16"/>
                  </a:lnTo>
                  <a:lnTo>
                    <a:pt x="32"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99" name="Freeform 649"/>
            <p:cNvSpPr>
              <a:spLocks/>
            </p:cNvSpPr>
            <p:nvPr/>
          </p:nvSpPr>
          <p:spPr bwMode="auto">
            <a:xfrm>
              <a:off x="3022624" y="3161239"/>
              <a:ext cx="220048" cy="272028"/>
            </a:xfrm>
            <a:custGeom>
              <a:avLst/>
              <a:gdLst>
                <a:gd name="T0" fmla="*/ 2147483647 w 208"/>
                <a:gd name="T1" fmla="*/ 2147483647 h 256"/>
                <a:gd name="T2" fmla="*/ 2147483647 w 208"/>
                <a:gd name="T3" fmla="*/ 2147483647 h 256"/>
                <a:gd name="T4" fmla="*/ 2147483647 w 208"/>
                <a:gd name="T5" fmla="*/ 2147483647 h 256"/>
                <a:gd name="T6" fmla="*/ 2147483647 w 208"/>
                <a:gd name="T7" fmla="*/ 2147483647 h 256"/>
                <a:gd name="T8" fmla="*/ 2147483647 w 208"/>
                <a:gd name="T9" fmla="*/ 2147483647 h 256"/>
                <a:gd name="T10" fmla="*/ 2147483647 w 208"/>
                <a:gd name="T11" fmla="*/ 2147483647 h 256"/>
                <a:gd name="T12" fmla="*/ 2147483647 w 208"/>
                <a:gd name="T13" fmla="*/ 2147483647 h 256"/>
                <a:gd name="T14" fmla="*/ 2147483647 w 208"/>
                <a:gd name="T15" fmla="*/ 2147483647 h 256"/>
                <a:gd name="T16" fmla="*/ 2147483647 w 208"/>
                <a:gd name="T17" fmla="*/ 2147483647 h 256"/>
                <a:gd name="T18" fmla="*/ 0 w 208"/>
                <a:gd name="T19" fmla="*/ 2147483647 h 256"/>
                <a:gd name="T20" fmla="*/ 2147483647 w 208"/>
                <a:gd name="T21" fmla="*/ 2147483647 h 256"/>
                <a:gd name="T22" fmla="*/ 2147483647 w 208"/>
                <a:gd name="T23" fmla="*/ 2147483647 h 256"/>
                <a:gd name="T24" fmla="*/ 2147483647 w 208"/>
                <a:gd name="T25" fmla="*/ 2147483647 h 256"/>
                <a:gd name="T26" fmla="*/ 2147483647 w 208"/>
                <a:gd name="T27" fmla="*/ 2147483647 h 256"/>
                <a:gd name="T28" fmla="*/ 2147483647 w 208"/>
                <a:gd name="T29" fmla="*/ 2147483647 h 256"/>
                <a:gd name="T30" fmla="*/ 2147483647 w 208"/>
                <a:gd name="T31" fmla="*/ 2147483647 h 256"/>
                <a:gd name="T32" fmla="*/ 2147483647 w 208"/>
                <a:gd name="T33" fmla="*/ 2147483647 h 256"/>
                <a:gd name="T34" fmla="*/ 2147483647 w 208"/>
                <a:gd name="T35" fmla="*/ 2147483647 h 256"/>
                <a:gd name="T36" fmla="*/ 2147483647 w 208"/>
                <a:gd name="T37" fmla="*/ 2147483647 h 256"/>
                <a:gd name="T38" fmla="*/ 2147483647 w 208"/>
                <a:gd name="T39" fmla="*/ 2147483647 h 256"/>
                <a:gd name="T40" fmla="*/ 2147483647 w 208"/>
                <a:gd name="T41" fmla="*/ 2147483647 h 256"/>
                <a:gd name="T42" fmla="*/ 2147483647 w 208"/>
                <a:gd name="T43" fmla="*/ 2147483647 h 256"/>
                <a:gd name="T44" fmla="*/ 2147483647 w 208"/>
                <a:gd name="T45" fmla="*/ 2147483647 h 256"/>
                <a:gd name="T46" fmla="*/ 2147483647 w 208"/>
                <a:gd name="T47" fmla="*/ 2147483647 h 256"/>
                <a:gd name="T48" fmla="*/ 2147483647 w 208"/>
                <a:gd name="T49" fmla="*/ 2147483647 h 256"/>
                <a:gd name="T50" fmla="*/ 2147483647 w 208"/>
                <a:gd name="T51" fmla="*/ 2147483647 h 256"/>
                <a:gd name="T52" fmla="*/ 2147483647 w 208"/>
                <a:gd name="T53" fmla="*/ 2147483647 h 256"/>
                <a:gd name="T54" fmla="*/ 2147483647 w 208"/>
                <a:gd name="T55" fmla="*/ 2147483647 h 256"/>
                <a:gd name="T56" fmla="*/ 2147483647 w 208"/>
                <a:gd name="T57" fmla="*/ 2147483647 h 256"/>
                <a:gd name="T58" fmla="*/ 2147483647 w 208"/>
                <a:gd name="T59" fmla="*/ 2147483647 h 256"/>
                <a:gd name="T60" fmla="*/ 2147483647 w 208"/>
                <a:gd name="T61" fmla="*/ 2147483647 h 256"/>
                <a:gd name="T62" fmla="*/ 2147483647 w 208"/>
                <a:gd name="T63" fmla="*/ 2147483647 h 256"/>
                <a:gd name="T64" fmla="*/ 2147483647 w 208"/>
                <a:gd name="T65" fmla="*/ 2147483647 h 256"/>
                <a:gd name="T66" fmla="*/ 2147483647 w 208"/>
                <a:gd name="T67" fmla="*/ 2147483647 h 256"/>
                <a:gd name="T68" fmla="*/ 2147483647 w 208"/>
                <a:gd name="T69" fmla="*/ 2147483647 h 256"/>
                <a:gd name="T70" fmla="*/ 2147483647 w 208"/>
                <a:gd name="T71" fmla="*/ 0 h 256"/>
                <a:gd name="T72" fmla="*/ 2147483647 w 208"/>
                <a:gd name="T73" fmla="*/ 2147483647 h 256"/>
                <a:gd name="T74" fmla="*/ 2147483647 w 208"/>
                <a:gd name="T75" fmla="*/ 2147483647 h 25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8"/>
                <a:gd name="T115" fmla="*/ 0 h 256"/>
                <a:gd name="T116" fmla="*/ 208 w 208"/>
                <a:gd name="T117" fmla="*/ 256 h 25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8" h="256">
                  <a:moveTo>
                    <a:pt x="152" y="16"/>
                  </a:moveTo>
                  <a:lnTo>
                    <a:pt x="48" y="16"/>
                  </a:lnTo>
                  <a:lnTo>
                    <a:pt x="40" y="40"/>
                  </a:lnTo>
                  <a:lnTo>
                    <a:pt x="32" y="40"/>
                  </a:lnTo>
                  <a:lnTo>
                    <a:pt x="32" y="56"/>
                  </a:lnTo>
                  <a:lnTo>
                    <a:pt x="24" y="48"/>
                  </a:lnTo>
                  <a:lnTo>
                    <a:pt x="24" y="96"/>
                  </a:lnTo>
                  <a:lnTo>
                    <a:pt x="8" y="104"/>
                  </a:lnTo>
                  <a:lnTo>
                    <a:pt x="8" y="128"/>
                  </a:lnTo>
                  <a:lnTo>
                    <a:pt x="0" y="136"/>
                  </a:lnTo>
                  <a:lnTo>
                    <a:pt x="16" y="160"/>
                  </a:lnTo>
                  <a:lnTo>
                    <a:pt x="24" y="176"/>
                  </a:lnTo>
                  <a:lnTo>
                    <a:pt x="32" y="200"/>
                  </a:lnTo>
                  <a:lnTo>
                    <a:pt x="48" y="208"/>
                  </a:lnTo>
                  <a:lnTo>
                    <a:pt x="72" y="232"/>
                  </a:lnTo>
                  <a:lnTo>
                    <a:pt x="80" y="240"/>
                  </a:lnTo>
                  <a:lnTo>
                    <a:pt x="104" y="240"/>
                  </a:lnTo>
                  <a:lnTo>
                    <a:pt x="120" y="256"/>
                  </a:lnTo>
                  <a:lnTo>
                    <a:pt x="144" y="248"/>
                  </a:lnTo>
                  <a:lnTo>
                    <a:pt x="168" y="240"/>
                  </a:lnTo>
                  <a:lnTo>
                    <a:pt x="176" y="240"/>
                  </a:lnTo>
                  <a:lnTo>
                    <a:pt x="176" y="232"/>
                  </a:lnTo>
                  <a:lnTo>
                    <a:pt x="168" y="224"/>
                  </a:lnTo>
                  <a:lnTo>
                    <a:pt x="160" y="216"/>
                  </a:lnTo>
                  <a:lnTo>
                    <a:pt x="144" y="200"/>
                  </a:lnTo>
                  <a:lnTo>
                    <a:pt x="144" y="192"/>
                  </a:lnTo>
                  <a:lnTo>
                    <a:pt x="152" y="192"/>
                  </a:lnTo>
                  <a:lnTo>
                    <a:pt x="160" y="168"/>
                  </a:lnTo>
                  <a:lnTo>
                    <a:pt x="176" y="152"/>
                  </a:lnTo>
                  <a:lnTo>
                    <a:pt x="184" y="128"/>
                  </a:lnTo>
                  <a:lnTo>
                    <a:pt x="192" y="80"/>
                  </a:lnTo>
                  <a:lnTo>
                    <a:pt x="200" y="72"/>
                  </a:lnTo>
                  <a:lnTo>
                    <a:pt x="208" y="72"/>
                  </a:lnTo>
                  <a:lnTo>
                    <a:pt x="200" y="48"/>
                  </a:lnTo>
                  <a:lnTo>
                    <a:pt x="192" y="16"/>
                  </a:lnTo>
                  <a:lnTo>
                    <a:pt x="176" y="0"/>
                  </a:lnTo>
                  <a:lnTo>
                    <a:pt x="168" y="8"/>
                  </a:lnTo>
                  <a:lnTo>
                    <a:pt x="152"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00" name="Freeform 650"/>
            <p:cNvSpPr>
              <a:spLocks/>
            </p:cNvSpPr>
            <p:nvPr/>
          </p:nvSpPr>
          <p:spPr bwMode="auto">
            <a:xfrm>
              <a:off x="2614583" y="3339703"/>
              <a:ext cx="84900" cy="76237"/>
            </a:xfrm>
            <a:custGeom>
              <a:avLst/>
              <a:gdLst>
                <a:gd name="T0" fmla="*/ 2147483647 w 80"/>
                <a:gd name="T1" fmla="*/ 2147483647 h 72"/>
                <a:gd name="T2" fmla="*/ 2147483647 w 80"/>
                <a:gd name="T3" fmla="*/ 2147483647 h 72"/>
                <a:gd name="T4" fmla="*/ 2147483647 w 80"/>
                <a:gd name="T5" fmla="*/ 2147483647 h 72"/>
                <a:gd name="T6" fmla="*/ 2147483647 w 80"/>
                <a:gd name="T7" fmla="*/ 2147483647 h 72"/>
                <a:gd name="T8" fmla="*/ 2147483647 w 80"/>
                <a:gd name="T9" fmla="*/ 0 h 72"/>
                <a:gd name="T10" fmla="*/ 2147483647 w 80"/>
                <a:gd name="T11" fmla="*/ 0 h 72"/>
                <a:gd name="T12" fmla="*/ 2147483647 w 80"/>
                <a:gd name="T13" fmla="*/ 0 h 72"/>
                <a:gd name="T14" fmla="*/ 2147483647 w 80"/>
                <a:gd name="T15" fmla="*/ 0 h 72"/>
                <a:gd name="T16" fmla="*/ 2147483647 w 80"/>
                <a:gd name="T17" fmla="*/ 0 h 72"/>
                <a:gd name="T18" fmla="*/ 2147483647 w 80"/>
                <a:gd name="T19" fmla="*/ 2147483647 h 72"/>
                <a:gd name="T20" fmla="*/ 2147483647 w 80"/>
                <a:gd name="T21" fmla="*/ 2147483647 h 72"/>
                <a:gd name="T22" fmla="*/ 0 w 80"/>
                <a:gd name="T23" fmla="*/ 2147483647 h 72"/>
                <a:gd name="T24" fmla="*/ 2147483647 w 80"/>
                <a:gd name="T25" fmla="*/ 2147483647 h 72"/>
                <a:gd name="T26" fmla="*/ 2147483647 w 80"/>
                <a:gd name="T27" fmla="*/ 2147483647 h 72"/>
                <a:gd name="T28" fmla="*/ 2147483647 w 80"/>
                <a:gd name="T29" fmla="*/ 2147483647 h 72"/>
                <a:gd name="T30" fmla="*/ 2147483647 w 80"/>
                <a:gd name="T31" fmla="*/ 2147483647 h 72"/>
                <a:gd name="T32" fmla="*/ 2147483647 w 80"/>
                <a:gd name="T33" fmla="*/ 2147483647 h 72"/>
                <a:gd name="T34" fmla="*/ 2147483647 w 80"/>
                <a:gd name="T35" fmla="*/ 2147483647 h 72"/>
                <a:gd name="T36" fmla="*/ 2147483647 w 80"/>
                <a:gd name="T37" fmla="*/ 2147483647 h 72"/>
                <a:gd name="T38" fmla="*/ 2147483647 w 80"/>
                <a:gd name="T39" fmla="*/ 2147483647 h 72"/>
                <a:gd name="T40" fmla="*/ 2147483647 w 80"/>
                <a:gd name="T41" fmla="*/ 2147483647 h 7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72"/>
                <a:gd name="T65" fmla="*/ 80 w 80"/>
                <a:gd name="T66" fmla="*/ 72 h 7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72">
                  <a:moveTo>
                    <a:pt x="72" y="40"/>
                  </a:moveTo>
                  <a:lnTo>
                    <a:pt x="80" y="24"/>
                  </a:lnTo>
                  <a:lnTo>
                    <a:pt x="72" y="8"/>
                  </a:lnTo>
                  <a:lnTo>
                    <a:pt x="48" y="8"/>
                  </a:lnTo>
                  <a:lnTo>
                    <a:pt x="40" y="0"/>
                  </a:lnTo>
                  <a:lnTo>
                    <a:pt x="32" y="0"/>
                  </a:lnTo>
                  <a:lnTo>
                    <a:pt x="24" y="0"/>
                  </a:lnTo>
                  <a:lnTo>
                    <a:pt x="16" y="0"/>
                  </a:lnTo>
                  <a:lnTo>
                    <a:pt x="8" y="0"/>
                  </a:lnTo>
                  <a:lnTo>
                    <a:pt x="8" y="16"/>
                  </a:lnTo>
                  <a:lnTo>
                    <a:pt x="8" y="32"/>
                  </a:lnTo>
                  <a:lnTo>
                    <a:pt x="0" y="40"/>
                  </a:lnTo>
                  <a:lnTo>
                    <a:pt x="8" y="40"/>
                  </a:lnTo>
                  <a:lnTo>
                    <a:pt x="8" y="56"/>
                  </a:lnTo>
                  <a:lnTo>
                    <a:pt x="16" y="64"/>
                  </a:lnTo>
                  <a:lnTo>
                    <a:pt x="16" y="72"/>
                  </a:lnTo>
                  <a:lnTo>
                    <a:pt x="32" y="72"/>
                  </a:lnTo>
                  <a:lnTo>
                    <a:pt x="64" y="64"/>
                  </a:lnTo>
                  <a:lnTo>
                    <a:pt x="72" y="64"/>
                  </a:lnTo>
                  <a:lnTo>
                    <a:pt x="72" y="48"/>
                  </a:lnTo>
                  <a:lnTo>
                    <a:pt x="72" y="4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01" name="Freeform 651"/>
            <p:cNvSpPr>
              <a:spLocks/>
            </p:cNvSpPr>
            <p:nvPr/>
          </p:nvSpPr>
          <p:spPr bwMode="auto">
            <a:xfrm>
              <a:off x="2572133" y="3364826"/>
              <a:ext cx="58910" cy="51113"/>
            </a:xfrm>
            <a:custGeom>
              <a:avLst/>
              <a:gdLst>
                <a:gd name="T0" fmla="*/ 2147483647 w 56"/>
                <a:gd name="T1" fmla="*/ 2147483647 h 48"/>
                <a:gd name="T2" fmla="*/ 2147483647 w 56"/>
                <a:gd name="T3" fmla="*/ 2147483647 h 48"/>
                <a:gd name="T4" fmla="*/ 2147483647 w 56"/>
                <a:gd name="T5" fmla="*/ 2147483647 h 48"/>
                <a:gd name="T6" fmla="*/ 2147483647 w 56"/>
                <a:gd name="T7" fmla="*/ 2147483647 h 48"/>
                <a:gd name="T8" fmla="*/ 2147483647 w 56"/>
                <a:gd name="T9" fmla="*/ 2147483647 h 48"/>
                <a:gd name="T10" fmla="*/ 2147483647 w 56"/>
                <a:gd name="T11" fmla="*/ 0 h 48"/>
                <a:gd name="T12" fmla="*/ 2147483647 w 56"/>
                <a:gd name="T13" fmla="*/ 2147483647 h 48"/>
                <a:gd name="T14" fmla="*/ 2147483647 w 56"/>
                <a:gd name="T15" fmla="*/ 2147483647 h 48"/>
                <a:gd name="T16" fmla="*/ 0 w 56"/>
                <a:gd name="T17" fmla="*/ 2147483647 h 48"/>
                <a:gd name="T18" fmla="*/ 2147483647 w 56"/>
                <a:gd name="T19" fmla="*/ 2147483647 h 48"/>
                <a:gd name="T20" fmla="*/ 2147483647 w 56"/>
                <a:gd name="T21" fmla="*/ 2147483647 h 48"/>
                <a:gd name="T22" fmla="*/ 2147483647 w 56"/>
                <a:gd name="T23" fmla="*/ 2147483647 h 48"/>
                <a:gd name="T24" fmla="*/ 2147483647 w 56"/>
                <a:gd name="T25" fmla="*/ 2147483647 h 48"/>
                <a:gd name="T26" fmla="*/ 2147483647 w 56"/>
                <a:gd name="T27" fmla="*/ 2147483647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
                <a:gd name="T43" fmla="*/ 0 h 48"/>
                <a:gd name="T44" fmla="*/ 56 w 56"/>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 h="48">
                  <a:moveTo>
                    <a:pt x="48" y="32"/>
                  </a:moveTo>
                  <a:lnTo>
                    <a:pt x="48" y="16"/>
                  </a:lnTo>
                  <a:lnTo>
                    <a:pt x="40" y="16"/>
                  </a:lnTo>
                  <a:lnTo>
                    <a:pt x="32" y="16"/>
                  </a:lnTo>
                  <a:lnTo>
                    <a:pt x="24" y="8"/>
                  </a:lnTo>
                  <a:lnTo>
                    <a:pt x="16" y="0"/>
                  </a:lnTo>
                  <a:lnTo>
                    <a:pt x="16" y="8"/>
                  </a:lnTo>
                  <a:lnTo>
                    <a:pt x="8" y="16"/>
                  </a:lnTo>
                  <a:lnTo>
                    <a:pt x="0" y="24"/>
                  </a:lnTo>
                  <a:lnTo>
                    <a:pt x="8" y="24"/>
                  </a:lnTo>
                  <a:lnTo>
                    <a:pt x="40" y="48"/>
                  </a:lnTo>
                  <a:lnTo>
                    <a:pt x="56" y="48"/>
                  </a:lnTo>
                  <a:lnTo>
                    <a:pt x="56" y="40"/>
                  </a:lnTo>
                  <a:lnTo>
                    <a:pt x="48"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02" name="Freeform 652"/>
            <p:cNvSpPr>
              <a:spLocks/>
            </p:cNvSpPr>
            <p:nvPr/>
          </p:nvSpPr>
          <p:spPr bwMode="auto">
            <a:xfrm>
              <a:off x="2546143" y="3348366"/>
              <a:ext cx="42450" cy="42450"/>
            </a:xfrm>
            <a:custGeom>
              <a:avLst/>
              <a:gdLst>
                <a:gd name="T0" fmla="*/ 2147483647 w 40"/>
                <a:gd name="T1" fmla="*/ 2147483647 h 40"/>
                <a:gd name="T2" fmla="*/ 2147483647 w 40"/>
                <a:gd name="T3" fmla="*/ 2147483647 h 40"/>
                <a:gd name="T4" fmla="*/ 2147483647 w 40"/>
                <a:gd name="T5" fmla="*/ 0 h 40"/>
                <a:gd name="T6" fmla="*/ 2147483647 w 40"/>
                <a:gd name="T7" fmla="*/ 0 h 40"/>
                <a:gd name="T8" fmla="*/ 2147483647 w 40"/>
                <a:gd name="T9" fmla="*/ 2147483647 h 40"/>
                <a:gd name="T10" fmla="*/ 0 w 40"/>
                <a:gd name="T11" fmla="*/ 2147483647 h 40"/>
                <a:gd name="T12" fmla="*/ 2147483647 w 40"/>
                <a:gd name="T13" fmla="*/ 2147483647 h 40"/>
                <a:gd name="T14" fmla="*/ 2147483647 w 40"/>
                <a:gd name="T15" fmla="*/ 2147483647 h 40"/>
                <a:gd name="T16" fmla="*/ 2147483647 w 40"/>
                <a:gd name="T17" fmla="*/ 2147483647 h 40"/>
                <a:gd name="T18" fmla="*/ 2147483647 w 40"/>
                <a:gd name="T19" fmla="*/ 2147483647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
                <a:gd name="T31" fmla="*/ 0 h 40"/>
                <a:gd name="T32" fmla="*/ 40 w 40"/>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 h="40">
                  <a:moveTo>
                    <a:pt x="40" y="24"/>
                  </a:moveTo>
                  <a:lnTo>
                    <a:pt x="40" y="16"/>
                  </a:lnTo>
                  <a:lnTo>
                    <a:pt x="32" y="0"/>
                  </a:lnTo>
                  <a:lnTo>
                    <a:pt x="16" y="0"/>
                  </a:lnTo>
                  <a:lnTo>
                    <a:pt x="8" y="8"/>
                  </a:lnTo>
                  <a:lnTo>
                    <a:pt x="0" y="16"/>
                  </a:lnTo>
                  <a:lnTo>
                    <a:pt x="8" y="24"/>
                  </a:lnTo>
                  <a:lnTo>
                    <a:pt x="24" y="40"/>
                  </a:lnTo>
                  <a:lnTo>
                    <a:pt x="32" y="32"/>
                  </a:lnTo>
                  <a:lnTo>
                    <a:pt x="40"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03" name="Freeform 653"/>
            <p:cNvSpPr>
              <a:spLocks/>
            </p:cNvSpPr>
            <p:nvPr/>
          </p:nvSpPr>
          <p:spPr bwMode="auto">
            <a:xfrm>
              <a:off x="2515821" y="3305916"/>
              <a:ext cx="33787" cy="25123"/>
            </a:xfrm>
            <a:custGeom>
              <a:avLst/>
              <a:gdLst>
                <a:gd name="T0" fmla="*/ 2147483647 w 32"/>
                <a:gd name="T1" fmla="*/ 2147483647 h 24"/>
                <a:gd name="T2" fmla="*/ 2147483647 w 32"/>
                <a:gd name="T3" fmla="*/ 2147483647 h 24"/>
                <a:gd name="T4" fmla="*/ 2147483647 w 32"/>
                <a:gd name="T5" fmla="*/ 0 h 24"/>
                <a:gd name="T6" fmla="*/ 2147483647 w 32"/>
                <a:gd name="T7" fmla="*/ 0 h 24"/>
                <a:gd name="T8" fmla="*/ 0 w 32"/>
                <a:gd name="T9" fmla="*/ 2147483647 h 24"/>
                <a:gd name="T10" fmla="*/ 0 w 32"/>
                <a:gd name="T11" fmla="*/ 2147483647 h 24"/>
                <a:gd name="T12" fmla="*/ 2147483647 w 32"/>
                <a:gd name="T13" fmla="*/ 2147483647 h 24"/>
                <a:gd name="T14" fmla="*/ 2147483647 w 32"/>
                <a:gd name="T15" fmla="*/ 2147483647 h 24"/>
                <a:gd name="T16" fmla="*/ 2147483647 w 32"/>
                <a:gd name="T17" fmla="*/ 2147483647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24"/>
                <a:gd name="T29" fmla="*/ 32 w 32"/>
                <a:gd name="T30" fmla="*/ 24 h 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24">
                  <a:moveTo>
                    <a:pt x="32" y="16"/>
                  </a:moveTo>
                  <a:lnTo>
                    <a:pt x="32" y="8"/>
                  </a:lnTo>
                  <a:lnTo>
                    <a:pt x="32" y="0"/>
                  </a:lnTo>
                  <a:lnTo>
                    <a:pt x="24" y="0"/>
                  </a:lnTo>
                  <a:lnTo>
                    <a:pt x="0" y="8"/>
                  </a:lnTo>
                  <a:lnTo>
                    <a:pt x="8" y="24"/>
                  </a:lnTo>
                  <a:lnTo>
                    <a:pt x="24" y="16"/>
                  </a:lnTo>
                  <a:lnTo>
                    <a:pt x="32"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04" name="Freeform 654"/>
            <p:cNvSpPr>
              <a:spLocks/>
            </p:cNvSpPr>
            <p:nvPr/>
          </p:nvSpPr>
          <p:spPr bwMode="auto">
            <a:xfrm>
              <a:off x="2549608" y="3348366"/>
              <a:ext cx="42450" cy="42450"/>
            </a:xfrm>
            <a:custGeom>
              <a:avLst/>
              <a:gdLst>
                <a:gd name="T0" fmla="*/ 2147483647 w 40"/>
                <a:gd name="T1" fmla="*/ 2147483647 h 40"/>
                <a:gd name="T2" fmla="*/ 2147483647 w 40"/>
                <a:gd name="T3" fmla="*/ 2147483647 h 40"/>
                <a:gd name="T4" fmla="*/ 2147483647 w 40"/>
                <a:gd name="T5" fmla="*/ 2147483647 h 40"/>
                <a:gd name="T6" fmla="*/ 2147483647 w 40"/>
                <a:gd name="T7" fmla="*/ 0 h 40"/>
                <a:gd name="T8" fmla="*/ 2147483647 w 40"/>
                <a:gd name="T9" fmla="*/ 0 h 40"/>
                <a:gd name="T10" fmla="*/ 2147483647 w 40"/>
                <a:gd name="T11" fmla="*/ 2147483647 h 40"/>
                <a:gd name="T12" fmla="*/ 0 w 40"/>
                <a:gd name="T13" fmla="*/ 2147483647 h 40"/>
                <a:gd name="T14" fmla="*/ 2147483647 w 40"/>
                <a:gd name="T15" fmla="*/ 2147483647 h 40"/>
                <a:gd name="T16" fmla="*/ 2147483647 w 40"/>
                <a:gd name="T17" fmla="*/ 2147483647 h 40"/>
                <a:gd name="T18" fmla="*/ 2147483647 w 40"/>
                <a:gd name="T19" fmla="*/ 2147483647 h 40"/>
                <a:gd name="T20" fmla="*/ 2147483647 w 40"/>
                <a:gd name="T21" fmla="*/ 2147483647 h 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40"/>
                <a:gd name="T35" fmla="*/ 40 w 40"/>
                <a:gd name="T36" fmla="*/ 40 h 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40">
                  <a:moveTo>
                    <a:pt x="40" y="24"/>
                  </a:moveTo>
                  <a:lnTo>
                    <a:pt x="40" y="16"/>
                  </a:lnTo>
                  <a:lnTo>
                    <a:pt x="32" y="0"/>
                  </a:lnTo>
                  <a:lnTo>
                    <a:pt x="16" y="0"/>
                  </a:lnTo>
                  <a:lnTo>
                    <a:pt x="8" y="8"/>
                  </a:lnTo>
                  <a:lnTo>
                    <a:pt x="0" y="16"/>
                  </a:lnTo>
                  <a:lnTo>
                    <a:pt x="8" y="24"/>
                  </a:lnTo>
                  <a:lnTo>
                    <a:pt x="24" y="40"/>
                  </a:lnTo>
                  <a:lnTo>
                    <a:pt x="32" y="32"/>
                  </a:lnTo>
                  <a:lnTo>
                    <a:pt x="40"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05" name="Freeform 655"/>
            <p:cNvSpPr>
              <a:spLocks/>
            </p:cNvSpPr>
            <p:nvPr/>
          </p:nvSpPr>
          <p:spPr bwMode="auto">
            <a:xfrm>
              <a:off x="2614583" y="3093665"/>
              <a:ext cx="867" cy="8663"/>
            </a:xfrm>
            <a:custGeom>
              <a:avLst/>
              <a:gdLst>
                <a:gd name="T0" fmla="*/ 0 w 1942"/>
                <a:gd name="T1" fmla="*/ 0 h 8"/>
                <a:gd name="T2" fmla="*/ 0 w 1942"/>
                <a:gd name="T3" fmla="*/ 2147483647 h 8"/>
                <a:gd name="T4" fmla="*/ 0 w 1942"/>
                <a:gd name="T5" fmla="*/ 0 h 8"/>
                <a:gd name="T6" fmla="*/ 0 60000 65536"/>
                <a:gd name="T7" fmla="*/ 0 60000 65536"/>
                <a:gd name="T8" fmla="*/ 0 60000 65536"/>
                <a:gd name="T9" fmla="*/ 0 w 1942"/>
                <a:gd name="T10" fmla="*/ 0 h 8"/>
                <a:gd name="T11" fmla="*/ 1942 w 1942"/>
                <a:gd name="T12" fmla="*/ 8 h 8"/>
              </a:gdLst>
              <a:ahLst/>
              <a:cxnLst>
                <a:cxn ang="T6">
                  <a:pos x="T0" y="T1"/>
                </a:cxn>
                <a:cxn ang="T7">
                  <a:pos x="T2" y="T3"/>
                </a:cxn>
                <a:cxn ang="T8">
                  <a:pos x="T4" y="T5"/>
                </a:cxn>
              </a:cxnLst>
              <a:rect l="T9" t="T10" r="T11" b="T12"/>
              <a:pathLst>
                <a:path w="1942" h="8">
                  <a:moveTo>
                    <a:pt x="0" y="0"/>
                  </a:moveTo>
                  <a:lnTo>
                    <a:pt x="0" y="8"/>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06" name="Freeform 656"/>
            <p:cNvSpPr>
              <a:spLocks/>
            </p:cNvSpPr>
            <p:nvPr/>
          </p:nvSpPr>
          <p:spPr bwMode="auto">
            <a:xfrm>
              <a:off x="2614583" y="2941191"/>
              <a:ext cx="272028" cy="279825"/>
            </a:xfrm>
            <a:custGeom>
              <a:avLst/>
              <a:gdLst>
                <a:gd name="T0" fmla="*/ 2147483647 w 257"/>
                <a:gd name="T1" fmla="*/ 2147483647 h 264"/>
                <a:gd name="T2" fmla="*/ 2147483647 w 257"/>
                <a:gd name="T3" fmla="*/ 2147483647 h 264"/>
                <a:gd name="T4" fmla="*/ 2147483647 w 257"/>
                <a:gd name="T5" fmla="*/ 2147483647 h 264"/>
                <a:gd name="T6" fmla="*/ 2147483647 w 257"/>
                <a:gd name="T7" fmla="*/ 2147483647 h 264"/>
                <a:gd name="T8" fmla="*/ 2147483647 w 257"/>
                <a:gd name="T9" fmla="*/ 2147483647 h 264"/>
                <a:gd name="T10" fmla="*/ 2147483647 w 257"/>
                <a:gd name="T11" fmla="*/ 2147483647 h 264"/>
                <a:gd name="T12" fmla="*/ 2147483647 w 257"/>
                <a:gd name="T13" fmla="*/ 2147483647 h 264"/>
                <a:gd name="T14" fmla="*/ 2147483647 w 257"/>
                <a:gd name="T15" fmla="*/ 2147483647 h 264"/>
                <a:gd name="T16" fmla="*/ 2147483647 w 257"/>
                <a:gd name="T17" fmla="*/ 2147483647 h 264"/>
                <a:gd name="T18" fmla="*/ 2147483647 w 257"/>
                <a:gd name="T19" fmla="*/ 2147483647 h 264"/>
                <a:gd name="T20" fmla="*/ 2147483647 w 257"/>
                <a:gd name="T21" fmla="*/ 2147483647 h 264"/>
                <a:gd name="T22" fmla="*/ 2147483647 w 257"/>
                <a:gd name="T23" fmla="*/ 2147483647 h 264"/>
                <a:gd name="T24" fmla="*/ 2147483647 w 257"/>
                <a:gd name="T25" fmla="*/ 2147483647 h 264"/>
                <a:gd name="T26" fmla="*/ 2147483647 w 257"/>
                <a:gd name="T27" fmla="*/ 2147483647 h 264"/>
                <a:gd name="T28" fmla="*/ 2147483647 w 257"/>
                <a:gd name="T29" fmla="*/ 2147483647 h 264"/>
                <a:gd name="T30" fmla="*/ 2147483647 w 257"/>
                <a:gd name="T31" fmla="*/ 2147483647 h 264"/>
                <a:gd name="T32" fmla="*/ 2147483647 w 257"/>
                <a:gd name="T33" fmla="*/ 2147483647 h 264"/>
                <a:gd name="T34" fmla="*/ 2147483647 w 257"/>
                <a:gd name="T35" fmla="*/ 2147483647 h 264"/>
                <a:gd name="T36" fmla="*/ 2147483647 w 257"/>
                <a:gd name="T37" fmla="*/ 2147483647 h 264"/>
                <a:gd name="T38" fmla="*/ 2147483647 w 257"/>
                <a:gd name="T39" fmla="*/ 2147483647 h 264"/>
                <a:gd name="T40" fmla="*/ 2147483647 w 257"/>
                <a:gd name="T41" fmla="*/ 2147483647 h 264"/>
                <a:gd name="T42" fmla="*/ 2147483647 w 257"/>
                <a:gd name="T43" fmla="*/ 2147483647 h 264"/>
                <a:gd name="T44" fmla="*/ 2147483647 w 257"/>
                <a:gd name="T45" fmla="*/ 0 h 264"/>
                <a:gd name="T46" fmla="*/ 2147483647 w 257"/>
                <a:gd name="T47" fmla="*/ 2147483647 h 264"/>
                <a:gd name="T48" fmla="*/ 2147483647 w 257"/>
                <a:gd name="T49" fmla="*/ 2147483647 h 264"/>
                <a:gd name="T50" fmla="*/ 2147483647 w 257"/>
                <a:gd name="T51" fmla="*/ 2147483647 h 264"/>
                <a:gd name="T52" fmla="*/ 2147483647 w 257"/>
                <a:gd name="T53" fmla="*/ 2147483647 h 264"/>
                <a:gd name="T54" fmla="*/ 2147483647 w 257"/>
                <a:gd name="T55" fmla="*/ 2147483647 h 264"/>
                <a:gd name="T56" fmla="*/ 2147483647 w 257"/>
                <a:gd name="T57" fmla="*/ 2147483647 h 264"/>
                <a:gd name="T58" fmla="*/ 2147483647 w 257"/>
                <a:gd name="T59" fmla="*/ 2147483647 h 264"/>
                <a:gd name="T60" fmla="*/ 2147483647 w 257"/>
                <a:gd name="T61" fmla="*/ 2147483647 h 264"/>
                <a:gd name="T62" fmla="*/ 2147483647 w 257"/>
                <a:gd name="T63" fmla="*/ 2147483647 h 264"/>
                <a:gd name="T64" fmla="*/ 2147483647 w 257"/>
                <a:gd name="T65" fmla="*/ 2147483647 h 264"/>
                <a:gd name="T66" fmla="*/ 2147483647 w 257"/>
                <a:gd name="T67" fmla="*/ 2147483647 h 264"/>
                <a:gd name="T68" fmla="*/ 2147483647 w 257"/>
                <a:gd name="T69" fmla="*/ 2147483647 h 264"/>
                <a:gd name="T70" fmla="*/ 2147483647 w 257"/>
                <a:gd name="T71" fmla="*/ 2147483647 h 264"/>
                <a:gd name="T72" fmla="*/ 0 w 257"/>
                <a:gd name="T73" fmla="*/ 2147483647 h 264"/>
                <a:gd name="T74" fmla="*/ 0 w 257"/>
                <a:gd name="T75" fmla="*/ 2147483647 h 264"/>
                <a:gd name="T76" fmla="*/ 0 w 257"/>
                <a:gd name="T77" fmla="*/ 2147483647 h 264"/>
                <a:gd name="T78" fmla="*/ 2147483647 w 257"/>
                <a:gd name="T79" fmla="*/ 2147483647 h 26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57"/>
                <a:gd name="T121" fmla="*/ 0 h 264"/>
                <a:gd name="T122" fmla="*/ 257 w 257"/>
                <a:gd name="T123" fmla="*/ 264 h 26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57" h="264">
                  <a:moveTo>
                    <a:pt x="40" y="184"/>
                  </a:moveTo>
                  <a:lnTo>
                    <a:pt x="144" y="256"/>
                  </a:lnTo>
                  <a:lnTo>
                    <a:pt x="152" y="264"/>
                  </a:lnTo>
                  <a:lnTo>
                    <a:pt x="160" y="264"/>
                  </a:lnTo>
                  <a:lnTo>
                    <a:pt x="185" y="248"/>
                  </a:lnTo>
                  <a:lnTo>
                    <a:pt x="257" y="200"/>
                  </a:lnTo>
                  <a:lnTo>
                    <a:pt x="241" y="184"/>
                  </a:lnTo>
                  <a:lnTo>
                    <a:pt x="233" y="184"/>
                  </a:lnTo>
                  <a:lnTo>
                    <a:pt x="225" y="168"/>
                  </a:lnTo>
                  <a:lnTo>
                    <a:pt x="233" y="160"/>
                  </a:lnTo>
                  <a:lnTo>
                    <a:pt x="233" y="120"/>
                  </a:lnTo>
                  <a:lnTo>
                    <a:pt x="225" y="112"/>
                  </a:lnTo>
                  <a:lnTo>
                    <a:pt x="233" y="104"/>
                  </a:lnTo>
                  <a:lnTo>
                    <a:pt x="225" y="96"/>
                  </a:lnTo>
                  <a:lnTo>
                    <a:pt x="225" y="80"/>
                  </a:lnTo>
                  <a:lnTo>
                    <a:pt x="217" y="72"/>
                  </a:lnTo>
                  <a:lnTo>
                    <a:pt x="209" y="72"/>
                  </a:lnTo>
                  <a:lnTo>
                    <a:pt x="201" y="64"/>
                  </a:lnTo>
                  <a:lnTo>
                    <a:pt x="201" y="56"/>
                  </a:lnTo>
                  <a:lnTo>
                    <a:pt x="217" y="40"/>
                  </a:lnTo>
                  <a:lnTo>
                    <a:pt x="217" y="24"/>
                  </a:lnTo>
                  <a:lnTo>
                    <a:pt x="217" y="8"/>
                  </a:lnTo>
                  <a:lnTo>
                    <a:pt x="217" y="0"/>
                  </a:lnTo>
                  <a:lnTo>
                    <a:pt x="209" y="8"/>
                  </a:lnTo>
                  <a:lnTo>
                    <a:pt x="193" y="8"/>
                  </a:lnTo>
                  <a:lnTo>
                    <a:pt x="144" y="8"/>
                  </a:lnTo>
                  <a:lnTo>
                    <a:pt x="104" y="24"/>
                  </a:lnTo>
                  <a:lnTo>
                    <a:pt x="88" y="32"/>
                  </a:lnTo>
                  <a:lnTo>
                    <a:pt x="88" y="56"/>
                  </a:lnTo>
                  <a:lnTo>
                    <a:pt x="96" y="72"/>
                  </a:lnTo>
                  <a:lnTo>
                    <a:pt x="88" y="80"/>
                  </a:lnTo>
                  <a:lnTo>
                    <a:pt x="72" y="80"/>
                  </a:lnTo>
                  <a:lnTo>
                    <a:pt x="64" y="88"/>
                  </a:lnTo>
                  <a:lnTo>
                    <a:pt x="64" y="96"/>
                  </a:lnTo>
                  <a:lnTo>
                    <a:pt x="40" y="104"/>
                  </a:lnTo>
                  <a:lnTo>
                    <a:pt x="16" y="120"/>
                  </a:lnTo>
                  <a:lnTo>
                    <a:pt x="0" y="128"/>
                  </a:lnTo>
                  <a:lnTo>
                    <a:pt x="0" y="144"/>
                  </a:lnTo>
                  <a:lnTo>
                    <a:pt x="0" y="152"/>
                  </a:lnTo>
                  <a:lnTo>
                    <a:pt x="40" y="18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07" name="Rectangle 657"/>
            <p:cNvSpPr>
              <a:spLocks noChangeArrowheads="1"/>
            </p:cNvSpPr>
            <p:nvPr/>
          </p:nvSpPr>
          <p:spPr bwMode="auto">
            <a:xfrm>
              <a:off x="2614583" y="3093665"/>
              <a:ext cx="0" cy="8663"/>
            </a:xfrm>
            <a:prstGeom prst="rect">
              <a:avLst/>
            </a:prstGeom>
            <a:grpFill/>
            <a:ln w="6350">
              <a:no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048" eaLnBrk="1" hangingPunct="1">
                <a:spcBef>
                  <a:spcPct val="50000"/>
                </a:spcBef>
              </a:pPr>
              <a:endParaRPr lang="en-US" sz="3200">
                <a:solidFill>
                  <a:srgbClr val="4D4D4D"/>
                </a:solidFill>
                <a:ea typeface="MS PGothic" panose="020B0600070205080204" pitchFamily="34" charset="-128"/>
              </a:endParaRPr>
            </a:p>
          </p:txBody>
        </p:sp>
        <p:sp>
          <p:nvSpPr>
            <p:cNvPr id="108" name="Freeform 658"/>
            <p:cNvSpPr>
              <a:spLocks/>
            </p:cNvSpPr>
            <p:nvPr/>
          </p:nvSpPr>
          <p:spPr bwMode="auto">
            <a:xfrm>
              <a:off x="2614583" y="2941191"/>
              <a:ext cx="272028" cy="279825"/>
            </a:xfrm>
            <a:custGeom>
              <a:avLst/>
              <a:gdLst>
                <a:gd name="T0" fmla="*/ 2147483647 w 257"/>
                <a:gd name="T1" fmla="*/ 2147483647 h 264"/>
                <a:gd name="T2" fmla="*/ 2147483647 w 257"/>
                <a:gd name="T3" fmla="*/ 2147483647 h 264"/>
                <a:gd name="T4" fmla="*/ 2147483647 w 257"/>
                <a:gd name="T5" fmla="*/ 2147483647 h 264"/>
                <a:gd name="T6" fmla="*/ 2147483647 w 257"/>
                <a:gd name="T7" fmla="*/ 2147483647 h 264"/>
                <a:gd name="T8" fmla="*/ 2147483647 w 257"/>
                <a:gd name="T9" fmla="*/ 2147483647 h 264"/>
                <a:gd name="T10" fmla="*/ 2147483647 w 257"/>
                <a:gd name="T11" fmla="*/ 2147483647 h 264"/>
                <a:gd name="T12" fmla="*/ 2147483647 w 257"/>
                <a:gd name="T13" fmla="*/ 2147483647 h 264"/>
                <a:gd name="T14" fmla="*/ 2147483647 w 257"/>
                <a:gd name="T15" fmla="*/ 2147483647 h 264"/>
                <a:gd name="T16" fmla="*/ 2147483647 w 257"/>
                <a:gd name="T17" fmla="*/ 2147483647 h 264"/>
                <a:gd name="T18" fmla="*/ 2147483647 w 257"/>
                <a:gd name="T19" fmla="*/ 2147483647 h 264"/>
                <a:gd name="T20" fmla="*/ 2147483647 w 257"/>
                <a:gd name="T21" fmla="*/ 2147483647 h 264"/>
                <a:gd name="T22" fmla="*/ 2147483647 w 257"/>
                <a:gd name="T23" fmla="*/ 2147483647 h 264"/>
                <a:gd name="T24" fmla="*/ 2147483647 w 257"/>
                <a:gd name="T25" fmla="*/ 2147483647 h 264"/>
                <a:gd name="T26" fmla="*/ 2147483647 w 257"/>
                <a:gd name="T27" fmla="*/ 2147483647 h 264"/>
                <a:gd name="T28" fmla="*/ 2147483647 w 257"/>
                <a:gd name="T29" fmla="*/ 2147483647 h 264"/>
                <a:gd name="T30" fmla="*/ 2147483647 w 257"/>
                <a:gd name="T31" fmla="*/ 2147483647 h 264"/>
                <a:gd name="T32" fmla="*/ 2147483647 w 257"/>
                <a:gd name="T33" fmla="*/ 2147483647 h 264"/>
                <a:gd name="T34" fmla="*/ 2147483647 w 257"/>
                <a:gd name="T35" fmla="*/ 2147483647 h 264"/>
                <a:gd name="T36" fmla="*/ 2147483647 w 257"/>
                <a:gd name="T37" fmla="*/ 2147483647 h 264"/>
                <a:gd name="T38" fmla="*/ 0 w 257"/>
                <a:gd name="T39" fmla="*/ 2147483647 h 264"/>
                <a:gd name="T40" fmla="*/ 0 w 257"/>
                <a:gd name="T41" fmla="*/ 2147483647 h 264"/>
                <a:gd name="T42" fmla="*/ 2147483647 w 257"/>
                <a:gd name="T43" fmla="*/ 2147483647 h 264"/>
                <a:gd name="T44" fmla="*/ 2147483647 w 257"/>
                <a:gd name="T45" fmla="*/ 2147483647 h 264"/>
                <a:gd name="T46" fmla="*/ 2147483647 w 257"/>
                <a:gd name="T47" fmla="*/ 2147483647 h 264"/>
                <a:gd name="T48" fmla="*/ 2147483647 w 257"/>
                <a:gd name="T49" fmla="*/ 2147483647 h 264"/>
                <a:gd name="T50" fmla="*/ 2147483647 w 257"/>
                <a:gd name="T51" fmla="*/ 2147483647 h 264"/>
                <a:gd name="T52" fmla="*/ 2147483647 w 257"/>
                <a:gd name="T53" fmla="*/ 2147483647 h 264"/>
                <a:gd name="T54" fmla="*/ 2147483647 w 257"/>
                <a:gd name="T55" fmla="*/ 2147483647 h 264"/>
                <a:gd name="T56" fmla="*/ 2147483647 w 257"/>
                <a:gd name="T57" fmla="*/ 2147483647 h 264"/>
                <a:gd name="T58" fmla="*/ 2147483647 w 257"/>
                <a:gd name="T59" fmla="*/ 2147483647 h 264"/>
                <a:gd name="T60" fmla="*/ 2147483647 w 257"/>
                <a:gd name="T61" fmla="*/ 2147483647 h 264"/>
                <a:gd name="T62" fmla="*/ 2147483647 w 257"/>
                <a:gd name="T63" fmla="*/ 2147483647 h 264"/>
                <a:gd name="T64" fmla="*/ 2147483647 w 257"/>
                <a:gd name="T65" fmla="*/ 2147483647 h 264"/>
                <a:gd name="T66" fmla="*/ 2147483647 w 257"/>
                <a:gd name="T67" fmla="*/ 2147483647 h 264"/>
                <a:gd name="T68" fmla="*/ 2147483647 w 257"/>
                <a:gd name="T69" fmla="*/ 2147483647 h 264"/>
                <a:gd name="T70" fmla="*/ 2147483647 w 257"/>
                <a:gd name="T71" fmla="*/ 2147483647 h 264"/>
                <a:gd name="T72" fmla="*/ 2147483647 w 257"/>
                <a:gd name="T73" fmla="*/ 2147483647 h 264"/>
                <a:gd name="T74" fmla="*/ 2147483647 w 257"/>
                <a:gd name="T75" fmla="*/ 2147483647 h 264"/>
                <a:gd name="T76" fmla="*/ 2147483647 w 257"/>
                <a:gd name="T77" fmla="*/ 2147483647 h 264"/>
                <a:gd name="T78" fmla="*/ 2147483647 w 257"/>
                <a:gd name="T79" fmla="*/ 2147483647 h 264"/>
                <a:gd name="T80" fmla="*/ 0 w 257"/>
                <a:gd name="T81" fmla="*/ 2147483647 h 264"/>
                <a:gd name="T82" fmla="*/ 0 w 257"/>
                <a:gd name="T83" fmla="*/ 2147483647 h 26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57"/>
                <a:gd name="T127" fmla="*/ 0 h 264"/>
                <a:gd name="T128" fmla="*/ 257 w 257"/>
                <a:gd name="T129" fmla="*/ 264 h 26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57" h="264">
                  <a:moveTo>
                    <a:pt x="40" y="184"/>
                  </a:moveTo>
                  <a:lnTo>
                    <a:pt x="144" y="256"/>
                  </a:lnTo>
                  <a:lnTo>
                    <a:pt x="152" y="264"/>
                  </a:lnTo>
                  <a:lnTo>
                    <a:pt x="160" y="264"/>
                  </a:lnTo>
                  <a:lnTo>
                    <a:pt x="185" y="248"/>
                  </a:lnTo>
                  <a:lnTo>
                    <a:pt x="257" y="200"/>
                  </a:lnTo>
                  <a:lnTo>
                    <a:pt x="241" y="184"/>
                  </a:lnTo>
                  <a:lnTo>
                    <a:pt x="233" y="184"/>
                  </a:lnTo>
                  <a:lnTo>
                    <a:pt x="225" y="168"/>
                  </a:lnTo>
                  <a:lnTo>
                    <a:pt x="233" y="160"/>
                  </a:lnTo>
                  <a:lnTo>
                    <a:pt x="233" y="120"/>
                  </a:lnTo>
                  <a:lnTo>
                    <a:pt x="225" y="112"/>
                  </a:lnTo>
                  <a:lnTo>
                    <a:pt x="233" y="104"/>
                  </a:lnTo>
                  <a:lnTo>
                    <a:pt x="225" y="96"/>
                  </a:lnTo>
                  <a:lnTo>
                    <a:pt x="225" y="80"/>
                  </a:lnTo>
                  <a:lnTo>
                    <a:pt x="217" y="72"/>
                  </a:lnTo>
                  <a:lnTo>
                    <a:pt x="209" y="72"/>
                  </a:lnTo>
                  <a:lnTo>
                    <a:pt x="201" y="64"/>
                  </a:lnTo>
                  <a:lnTo>
                    <a:pt x="201" y="56"/>
                  </a:lnTo>
                  <a:lnTo>
                    <a:pt x="217" y="40"/>
                  </a:lnTo>
                  <a:lnTo>
                    <a:pt x="217" y="24"/>
                  </a:lnTo>
                  <a:lnTo>
                    <a:pt x="217" y="8"/>
                  </a:lnTo>
                  <a:lnTo>
                    <a:pt x="217" y="0"/>
                  </a:lnTo>
                  <a:lnTo>
                    <a:pt x="209" y="8"/>
                  </a:lnTo>
                  <a:lnTo>
                    <a:pt x="193" y="8"/>
                  </a:lnTo>
                  <a:lnTo>
                    <a:pt x="144" y="8"/>
                  </a:lnTo>
                  <a:lnTo>
                    <a:pt x="104" y="24"/>
                  </a:lnTo>
                  <a:lnTo>
                    <a:pt x="88" y="32"/>
                  </a:lnTo>
                  <a:lnTo>
                    <a:pt x="88" y="56"/>
                  </a:lnTo>
                  <a:lnTo>
                    <a:pt x="96" y="72"/>
                  </a:lnTo>
                  <a:lnTo>
                    <a:pt x="88" y="80"/>
                  </a:lnTo>
                  <a:lnTo>
                    <a:pt x="72" y="80"/>
                  </a:lnTo>
                  <a:lnTo>
                    <a:pt x="64" y="88"/>
                  </a:lnTo>
                  <a:lnTo>
                    <a:pt x="64" y="96"/>
                  </a:lnTo>
                  <a:lnTo>
                    <a:pt x="40" y="104"/>
                  </a:lnTo>
                  <a:lnTo>
                    <a:pt x="16" y="120"/>
                  </a:lnTo>
                  <a:lnTo>
                    <a:pt x="0" y="128"/>
                  </a:lnTo>
                  <a:lnTo>
                    <a:pt x="0" y="144"/>
                  </a:lnTo>
                  <a:lnTo>
                    <a:pt x="0" y="152"/>
                  </a:lnTo>
                  <a:lnTo>
                    <a:pt x="40" y="184"/>
                  </a:lnTo>
                  <a:lnTo>
                    <a:pt x="144" y="256"/>
                  </a:lnTo>
                  <a:lnTo>
                    <a:pt x="152" y="264"/>
                  </a:lnTo>
                  <a:lnTo>
                    <a:pt x="160" y="264"/>
                  </a:lnTo>
                  <a:lnTo>
                    <a:pt x="185" y="248"/>
                  </a:lnTo>
                  <a:lnTo>
                    <a:pt x="257" y="200"/>
                  </a:lnTo>
                  <a:lnTo>
                    <a:pt x="241" y="184"/>
                  </a:lnTo>
                  <a:lnTo>
                    <a:pt x="233" y="184"/>
                  </a:lnTo>
                  <a:lnTo>
                    <a:pt x="225" y="168"/>
                  </a:lnTo>
                  <a:lnTo>
                    <a:pt x="233" y="160"/>
                  </a:lnTo>
                  <a:lnTo>
                    <a:pt x="233" y="120"/>
                  </a:lnTo>
                  <a:lnTo>
                    <a:pt x="225" y="112"/>
                  </a:lnTo>
                  <a:lnTo>
                    <a:pt x="233" y="104"/>
                  </a:lnTo>
                  <a:lnTo>
                    <a:pt x="225" y="96"/>
                  </a:lnTo>
                  <a:lnTo>
                    <a:pt x="225" y="80"/>
                  </a:lnTo>
                  <a:lnTo>
                    <a:pt x="217" y="72"/>
                  </a:lnTo>
                  <a:lnTo>
                    <a:pt x="209" y="72"/>
                  </a:lnTo>
                  <a:lnTo>
                    <a:pt x="201" y="64"/>
                  </a:lnTo>
                  <a:lnTo>
                    <a:pt x="201" y="56"/>
                  </a:lnTo>
                  <a:lnTo>
                    <a:pt x="217" y="40"/>
                  </a:lnTo>
                  <a:lnTo>
                    <a:pt x="217" y="24"/>
                  </a:lnTo>
                  <a:lnTo>
                    <a:pt x="217" y="8"/>
                  </a:lnTo>
                  <a:lnTo>
                    <a:pt x="217" y="0"/>
                  </a:lnTo>
                  <a:lnTo>
                    <a:pt x="209" y="8"/>
                  </a:lnTo>
                  <a:lnTo>
                    <a:pt x="193" y="8"/>
                  </a:lnTo>
                  <a:lnTo>
                    <a:pt x="144" y="8"/>
                  </a:lnTo>
                  <a:lnTo>
                    <a:pt x="104" y="24"/>
                  </a:lnTo>
                  <a:lnTo>
                    <a:pt x="88" y="32"/>
                  </a:lnTo>
                  <a:lnTo>
                    <a:pt x="88" y="56"/>
                  </a:lnTo>
                  <a:lnTo>
                    <a:pt x="96" y="72"/>
                  </a:lnTo>
                  <a:lnTo>
                    <a:pt x="88" y="80"/>
                  </a:lnTo>
                  <a:lnTo>
                    <a:pt x="72" y="80"/>
                  </a:lnTo>
                  <a:lnTo>
                    <a:pt x="64" y="88"/>
                  </a:lnTo>
                  <a:lnTo>
                    <a:pt x="64" y="96"/>
                  </a:lnTo>
                  <a:lnTo>
                    <a:pt x="40" y="104"/>
                  </a:lnTo>
                  <a:lnTo>
                    <a:pt x="16" y="120"/>
                  </a:lnTo>
                  <a:lnTo>
                    <a:pt x="0" y="128"/>
                  </a:lnTo>
                  <a:lnTo>
                    <a:pt x="0" y="144"/>
                  </a:lnTo>
                  <a:lnTo>
                    <a:pt x="0" y="152"/>
                  </a:lnTo>
                  <a:lnTo>
                    <a:pt x="40" y="18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09" name="Freeform 659"/>
            <p:cNvSpPr>
              <a:spLocks/>
            </p:cNvSpPr>
            <p:nvPr/>
          </p:nvSpPr>
          <p:spPr bwMode="auto">
            <a:xfrm>
              <a:off x="2631043" y="2923864"/>
              <a:ext cx="8663" cy="867"/>
            </a:xfrm>
            <a:custGeom>
              <a:avLst/>
              <a:gdLst>
                <a:gd name="T0" fmla="*/ 2147483647 w 8"/>
                <a:gd name="T1" fmla="*/ 0 h 1943"/>
                <a:gd name="T2" fmla="*/ 0 w 8"/>
                <a:gd name="T3" fmla="*/ 0 h 1943"/>
                <a:gd name="T4" fmla="*/ 2147483647 w 8"/>
                <a:gd name="T5" fmla="*/ 0 h 1943"/>
                <a:gd name="T6" fmla="*/ 0 60000 65536"/>
                <a:gd name="T7" fmla="*/ 0 60000 65536"/>
                <a:gd name="T8" fmla="*/ 0 60000 65536"/>
                <a:gd name="T9" fmla="*/ 0 w 8"/>
                <a:gd name="T10" fmla="*/ 0 h 1943"/>
                <a:gd name="T11" fmla="*/ 8 w 8"/>
                <a:gd name="T12" fmla="*/ 1943 h 1943"/>
              </a:gdLst>
              <a:ahLst/>
              <a:cxnLst>
                <a:cxn ang="T6">
                  <a:pos x="T0" y="T1"/>
                </a:cxn>
                <a:cxn ang="T7">
                  <a:pos x="T2" y="T3"/>
                </a:cxn>
                <a:cxn ang="T8">
                  <a:pos x="T4" y="T5"/>
                </a:cxn>
              </a:cxnLst>
              <a:rect l="T9" t="T10" r="T11" b="T12"/>
              <a:pathLst>
                <a:path w="8" h="1943">
                  <a:moveTo>
                    <a:pt x="8" y="0"/>
                  </a:moveTo>
                  <a:lnTo>
                    <a:pt x="0" y="0"/>
                  </a:lnTo>
                  <a:lnTo>
                    <a:pt x="8"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10" name="Freeform 660"/>
            <p:cNvSpPr>
              <a:spLocks/>
            </p:cNvSpPr>
            <p:nvPr/>
          </p:nvSpPr>
          <p:spPr bwMode="auto">
            <a:xfrm>
              <a:off x="2639706" y="2864954"/>
              <a:ext cx="8663" cy="867"/>
            </a:xfrm>
            <a:custGeom>
              <a:avLst/>
              <a:gdLst>
                <a:gd name="T0" fmla="*/ 0 w 8"/>
                <a:gd name="T1" fmla="*/ 0 h 1943"/>
                <a:gd name="T2" fmla="*/ 2147483647 w 8"/>
                <a:gd name="T3" fmla="*/ 0 h 1943"/>
                <a:gd name="T4" fmla="*/ 0 w 8"/>
                <a:gd name="T5" fmla="*/ 0 h 1943"/>
                <a:gd name="T6" fmla="*/ 0 60000 65536"/>
                <a:gd name="T7" fmla="*/ 0 60000 65536"/>
                <a:gd name="T8" fmla="*/ 0 60000 65536"/>
                <a:gd name="T9" fmla="*/ 0 w 8"/>
                <a:gd name="T10" fmla="*/ 0 h 1943"/>
                <a:gd name="T11" fmla="*/ 8 w 8"/>
                <a:gd name="T12" fmla="*/ 1943 h 1943"/>
              </a:gdLst>
              <a:ahLst/>
              <a:cxnLst>
                <a:cxn ang="T6">
                  <a:pos x="T0" y="T1"/>
                </a:cxn>
                <a:cxn ang="T7">
                  <a:pos x="T2" y="T3"/>
                </a:cxn>
                <a:cxn ang="T8">
                  <a:pos x="T4" y="T5"/>
                </a:cxn>
              </a:cxnLst>
              <a:rect l="T9" t="T10" r="T11" b="T12"/>
              <a:pathLst>
                <a:path w="8" h="1943">
                  <a:moveTo>
                    <a:pt x="0" y="0"/>
                  </a:moveTo>
                  <a:lnTo>
                    <a:pt x="8" y="0"/>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11" name="Rectangle 661"/>
            <p:cNvSpPr>
              <a:spLocks noChangeArrowheads="1"/>
            </p:cNvSpPr>
            <p:nvPr/>
          </p:nvSpPr>
          <p:spPr bwMode="auto">
            <a:xfrm>
              <a:off x="2631043" y="2923864"/>
              <a:ext cx="8663" cy="0"/>
            </a:xfrm>
            <a:prstGeom prst="rect">
              <a:avLst/>
            </a:prstGeom>
            <a:grpFill/>
            <a:ln w="6350">
              <a:no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048" eaLnBrk="1" hangingPunct="1">
                <a:spcBef>
                  <a:spcPct val="50000"/>
                </a:spcBef>
              </a:pPr>
              <a:endParaRPr lang="en-US" sz="3200">
                <a:solidFill>
                  <a:srgbClr val="4D4D4D"/>
                </a:solidFill>
                <a:ea typeface="MS PGothic" panose="020B0600070205080204" pitchFamily="34" charset="-128"/>
              </a:endParaRPr>
            </a:p>
          </p:txBody>
        </p:sp>
        <p:sp>
          <p:nvSpPr>
            <p:cNvPr id="112" name="Freeform 662"/>
            <p:cNvSpPr>
              <a:spLocks/>
            </p:cNvSpPr>
            <p:nvPr/>
          </p:nvSpPr>
          <p:spPr bwMode="auto">
            <a:xfrm>
              <a:off x="2639706" y="2864954"/>
              <a:ext cx="8663" cy="867"/>
            </a:xfrm>
            <a:custGeom>
              <a:avLst/>
              <a:gdLst>
                <a:gd name="T0" fmla="*/ 0 w 8"/>
                <a:gd name="T1" fmla="*/ 0 h 1943"/>
                <a:gd name="T2" fmla="*/ 0 w 8"/>
                <a:gd name="T3" fmla="*/ 0 h 1943"/>
                <a:gd name="T4" fmla="*/ 2147483647 w 8"/>
                <a:gd name="T5" fmla="*/ 0 h 1943"/>
                <a:gd name="T6" fmla="*/ 0 w 8"/>
                <a:gd name="T7" fmla="*/ 0 h 1943"/>
                <a:gd name="T8" fmla="*/ 0 60000 65536"/>
                <a:gd name="T9" fmla="*/ 0 60000 65536"/>
                <a:gd name="T10" fmla="*/ 0 60000 65536"/>
                <a:gd name="T11" fmla="*/ 0 60000 65536"/>
                <a:gd name="T12" fmla="*/ 0 w 8"/>
                <a:gd name="T13" fmla="*/ 0 h 1943"/>
                <a:gd name="T14" fmla="*/ 8 w 8"/>
                <a:gd name="T15" fmla="*/ 1943 h 1943"/>
              </a:gdLst>
              <a:ahLst/>
              <a:cxnLst>
                <a:cxn ang="T8">
                  <a:pos x="T0" y="T1"/>
                </a:cxn>
                <a:cxn ang="T9">
                  <a:pos x="T2" y="T3"/>
                </a:cxn>
                <a:cxn ang="T10">
                  <a:pos x="T4" y="T5"/>
                </a:cxn>
                <a:cxn ang="T11">
                  <a:pos x="T6" y="T7"/>
                </a:cxn>
              </a:cxnLst>
              <a:rect l="T12" t="T13" r="T14" b="T15"/>
              <a:pathLst>
                <a:path w="8" h="1943">
                  <a:moveTo>
                    <a:pt x="0" y="0"/>
                  </a:moveTo>
                  <a:lnTo>
                    <a:pt x="0" y="0"/>
                  </a:lnTo>
                  <a:lnTo>
                    <a:pt x="8" y="0"/>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13" name="Freeform 663"/>
            <p:cNvSpPr>
              <a:spLocks/>
            </p:cNvSpPr>
            <p:nvPr/>
          </p:nvSpPr>
          <p:spPr bwMode="auto">
            <a:xfrm>
              <a:off x="2605919" y="2830301"/>
              <a:ext cx="161137" cy="127351"/>
            </a:xfrm>
            <a:custGeom>
              <a:avLst/>
              <a:gdLst>
                <a:gd name="T0" fmla="*/ 2147483647 w 152"/>
                <a:gd name="T1" fmla="*/ 2147483647 h 120"/>
                <a:gd name="T2" fmla="*/ 2147483647 w 152"/>
                <a:gd name="T3" fmla="*/ 2147483647 h 120"/>
                <a:gd name="T4" fmla="*/ 2147483647 w 152"/>
                <a:gd name="T5" fmla="*/ 2147483647 h 120"/>
                <a:gd name="T6" fmla="*/ 2147483647 w 152"/>
                <a:gd name="T7" fmla="*/ 2147483647 h 120"/>
                <a:gd name="T8" fmla="*/ 2147483647 w 152"/>
                <a:gd name="T9" fmla="*/ 2147483647 h 120"/>
                <a:gd name="T10" fmla="*/ 2147483647 w 152"/>
                <a:gd name="T11" fmla="*/ 0 h 120"/>
                <a:gd name="T12" fmla="*/ 2147483647 w 152"/>
                <a:gd name="T13" fmla="*/ 0 h 120"/>
                <a:gd name="T14" fmla="*/ 2147483647 w 152"/>
                <a:gd name="T15" fmla="*/ 0 h 120"/>
                <a:gd name="T16" fmla="*/ 2147483647 w 152"/>
                <a:gd name="T17" fmla="*/ 0 h 120"/>
                <a:gd name="T18" fmla="*/ 0 w 152"/>
                <a:gd name="T19" fmla="*/ 2147483647 h 120"/>
                <a:gd name="T20" fmla="*/ 2147483647 w 152"/>
                <a:gd name="T21" fmla="*/ 2147483647 h 120"/>
                <a:gd name="T22" fmla="*/ 2147483647 w 152"/>
                <a:gd name="T23" fmla="*/ 2147483647 h 120"/>
                <a:gd name="T24" fmla="*/ 2147483647 w 152"/>
                <a:gd name="T25" fmla="*/ 2147483647 h 120"/>
                <a:gd name="T26" fmla="*/ 2147483647 w 152"/>
                <a:gd name="T27" fmla="*/ 2147483647 h 120"/>
                <a:gd name="T28" fmla="*/ 2147483647 w 152"/>
                <a:gd name="T29" fmla="*/ 2147483647 h 120"/>
                <a:gd name="T30" fmla="*/ 2147483647 w 152"/>
                <a:gd name="T31" fmla="*/ 2147483647 h 120"/>
                <a:gd name="T32" fmla="*/ 2147483647 w 152"/>
                <a:gd name="T33" fmla="*/ 2147483647 h 120"/>
                <a:gd name="T34" fmla="*/ 2147483647 w 152"/>
                <a:gd name="T35" fmla="*/ 2147483647 h 120"/>
                <a:gd name="T36" fmla="*/ 2147483647 w 152"/>
                <a:gd name="T37" fmla="*/ 2147483647 h 120"/>
                <a:gd name="T38" fmla="*/ 2147483647 w 152"/>
                <a:gd name="T39" fmla="*/ 2147483647 h 120"/>
                <a:gd name="T40" fmla="*/ 2147483647 w 152"/>
                <a:gd name="T41" fmla="*/ 2147483647 h 120"/>
                <a:gd name="T42" fmla="*/ 2147483647 w 152"/>
                <a:gd name="T43" fmla="*/ 2147483647 h 120"/>
                <a:gd name="T44" fmla="*/ 2147483647 w 152"/>
                <a:gd name="T45" fmla="*/ 2147483647 h 120"/>
                <a:gd name="T46" fmla="*/ 2147483647 w 152"/>
                <a:gd name="T47" fmla="*/ 2147483647 h 120"/>
                <a:gd name="T48" fmla="*/ 2147483647 w 152"/>
                <a:gd name="T49" fmla="*/ 2147483647 h 120"/>
                <a:gd name="T50" fmla="*/ 2147483647 w 152"/>
                <a:gd name="T51" fmla="*/ 2147483647 h 120"/>
                <a:gd name="T52" fmla="*/ 2147483647 w 152"/>
                <a:gd name="T53" fmla="*/ 2147483647 h 120"/>
                <a:gd name="T54" fmla="*/ 2147483647 w 152"/>
                <a:gd name="T55" fmla="*/ 2147483647 h 120"/>
                <a:gd name="T56" fmla="*/ 2147483647 w 152"/>
                <a:gd name="T57" fmla="*/ 2147483647 h 120"/>
                <a:gd name="T58" fmla="*/ 2147483647 w 152"/>
                <a:gd name="T59" fmla="*/ 2147483647 h 120"/>
                <a:gd name="T60" fmla="*/ 2147483647 w 152"/>
                <a:gd name="T61" fmla="*/ 2147483647 h 120"/>
                <a:gd name="T62" fmla="*/ 2147483647 w 152"/>
                <a:gd name="T63" fmla="*/ 2147483647 h 120"/>
                <a:gd name="T64" fmla="*/ 2147483647 w 152"/>
                <a:gd name="T65" fmla="*/ 2147483647 h 120"/>
                <a:gd name="T66" fmla="*/ 2147483647 w 152"/>
                <a:gd name="T67" fmla="*/ 2147483647 h 1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2"/>
                <a:gd name="T103" fmla="*/ 0 h 120"/>
                <a:gd name="T104" fmla="*/ 152 w 152"/>
                <a:gd name="T105" fmla="*/ 120 h 1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2" h="120">
                  <a:moveTo>
                    <a:pt x="136" y="16"/>
                  </a:moveTo>
                  <a:lnTo>
                    <a:pt x="128" y="16"/>
                  </a:lnTo>
                  <a:lnTo>
                    <a:pt x="112" y="16"/>
                  </a:lnTo>
                  <a:lnTo>
                    <a:pt x="104" y="16"/>
                  </a:lnTo>
                  <a:lnTo>
                    <a:pt x="96" y="8"/>
                  </a:lnTo>
                  <a:lnTo>
                    <a:pt x="48" y="0"/>
                  </a:lnTo>
                  <a:lnTo>
                    <a:pt x="24" y="0"/>
                  </a:lnTo>
                  <a:lnTo>
                    <a:pt x="16" y="0"/>
                  </a:lnTo>
                  <a:lnTo>
                    <a:pt x="8" y="0"/>
                  </a:lnTo>
                  <a:lnTo>
                    <a:pt x="0" y="8"/>
                  </a:lnTo>
                  <a:lnTo>
                    <a:pt x="8" y="32"/>
                  </a:lnTo>
                  <a:lnTo>
                    <a:pt x="16" y="24"/>
                  </a:lnTo>
                  <a:lnTo>
                    <a:pt x="32" y="24"/>
                  </a:lnTo>
                  <a:lnTo>
                    <a:pt x="32" y="32"/>
                  </a:lnTo>
                  <a:lnTo>
                    <a:pt x="40" y="32"/>
                  </a:lnTo>
                  <a:lnTo>
                    <a:pt x="32" y="48"/>
                  </a:lnTo>
                  <a:lnTo>
                    <a:pt x="32" y="64"/>
                  </a:lnTo>
                  <a:lnTo>
                    <a:pt x="24" y="80"/>
                  </a:lnTo>
                  <a:lnTo>
                    <a:pt x="24" y="88"/>
                  </a:lnTo>
                  <a:lnTo>
                    <a:pt x="32" y="88"/>
                  </a:lnTo>
                  <a:lnTo>
                    <a:pt x="24" y="88"/>
                  </a:lnTo>
                  <a:lnTo>
                    <a:pt x="24" y="96"/>
                  </a:lnTo>
                  <a:lnTo>
                    <a:pt x="24" y="104"/>
                  </a:lnTo>
                  <a:lnTo>
                    <a:pt x="32" y="104"/>
                  </a:lnTo>
                  <a:lnTo>
                    <a:pt x="48" y="120"/>
                  </a:lnTo>
                  <a:lnTo>
                    <a:pt x="72" y="112"/>
                  </a:lnTo>
                  <a:lnTo>
                    <a:pt x="96" y="104"/>
                  </a:lnTo>
                  <a:lnTo>
                    <a:pt x="104" y="88"/>
                  </a:lnTo>
                  <a:lnTo>
                    <a:pt x="120" y="72"/>
                  </a:lnTo>
                  <a:lnTo>
                    <a:pt x="120" y="64"/>
                  </a:lnTo>
                  <a:lnTo>
                    <a:pt x="128" y="40"/>
                  </a:lnTo>
                  <a:lnTo>
                    <a:pt x="152" y="24"/>
                  </a:lnTo>
                  <a:lnTo>
                    <a:pt x="144" y="24"/>
                  </a:lnTo>
                  <a:lnTo>
                    <a:pt x="136"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14" name="Freeform 664"/>
            <p:cNvSpPr>
              <a:spLocks/>
            </p:cNvSpPr>
            <p:nvPr/>
          </p:nvSpPr>
          <p:spPr bwMode="auto">
            <a:xfrm>
              <a:off x="2605919" y="2856291"/>
              <a:ext cx="42450" cy="84900"/>
            </a:xfrm>
            <a:custGeom>
              <a:avLst/>
              <a:gdLst>
                <a:gd name="T0" fmla="*/ 2147483647 w 40"/>
                <a:gd name="T1" fmla="*/ 2147483647 h 80"/>
                <a:gd name="T2" fmla="*/ 2147483647 w 40"/>
                <a:gd name="T3" fmla="*/ 2147483647 h 80"/>
                <a:gd name="T4" fmla="*/ 2147483647 w 40"/>
                <a:gd name="T5" fmla="*/ 2147483647 h 80"/>
                <a:gd name="T6" fmla="*/ 2147483647 w 40"/>
                <a:gd name="T7" fmla="*/ 2147483647 h 80"/>
                <a:gd name="T8" fmla="*/ 2147483647 w 40"/>
                <a:gd name="T9" fmla="*/ 2147483647 h 80"/>
                <a:gd name="T10" fmla="*/ 2147483647 w 40"/>
                <a:gd name="T11" fmla="*/ 2147483647 h 80"/>
                <a:gd name="T12" fmla="*/ 2147483647 w 40"/>
                <a:gd name="T13" fmla="*/ 2147483647 h 80"/>
                <a:gd name="T14" fmla="*/ 2147483647 w 40"/>
                <a:gd name="T15" fmla="*/ 2147483647 h 80"/>
                <a:gd name="T16" fmla="*/ 2147483647 w 40"/>
                <a:gd name="T17" fmla="*/ 2147483647 h 80"/>
                <a:gd name="T18" fmla="*/ 2147483647 w 40"/>
                <a:gd name="T19" fmla="*/ 0 h 80"/>
                <a:gd name="T20" fmla="*/ 2147483647 w 40"/>
                <a:gd name="T21" fmla="*/ 0 h 80"/>
                <a:gd name="T22" fmla="*/ 2147483647 w 40"/>
                <a:gd name="T23" fmla="*/ 0 h 80"/>
                <a:gd name="T24" fmla="*/ 2147483647 w 40"/>
                <a:gd name="T25" fmla="*/ 2147483647 h 80"/>
                <a:gd name="T26" fmla="*/ 0 w 40"/>
                <a:gd name="T27" fmla="*/ 2147483647 h 80"/>
                <a:gd name="T28" fmla="*/ 2147483647 w 40"/>
                <a:gd name="T29" fmla="*/ 2147483647 h 80"/>
                <a:gd name="T30" fmla="*/ 2147483647 w 40"/>
                <a:gd name="T31" fmla="*/ 2147483647 h 80"/>
                <a:gd name="T32" fmla="*/ 0 w 40"/>
                <a:gd name="T33" fmla="*/ 2147483647 h 80"/>
                <a:gd name="T34" fmla="*/ 2147483647 w 40"/>
                <a:gd name="T35" fmla="*/ 2147483647 h 80"/>
                <a:gd name="T36" fmla="*/ 2147483647 w 40"/>
                <a:gd name="T37" fmla="*/ 2147483647 h 80"/>
                <a:gd name="T38" fmla="*/ 2147483647 w 40"/>
                <a:gd name="T39" fmla="*/ 2147483647 h 80"/>
                <a:gd name="T40" fmla="*/ 2147483647 w 40"/>
                <a:gd name="T41" fmla="*/ 2147483647 h 80"/>
                <a:gd name="T42" fmla="*/ 2147483647 w 40"/>
                <a:gd name="T43" fmla="*/ 2147483647 h 8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80"/>
                <a:gd name="T68" fmla="*/ 40 w 40"/>
                <a:gd name="T69" fmla="*/ 80 h 8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80">
                  <a:moveTo>
                    <a:pt x="24" y="64"/>
                  </a:moveTo>
                  <a:lnTo>
                    <a:pt x="24" y="56"/>
                  </a:lnTo>
                  <a:lnTo>
                    <a:pt x="32" y="48"/>
                  </a:lnTo>
                  <a:lnTo>
                    <a:pt x="32" y="40"/>
                  </a:lnTo>
                  <a:lnTo>
                    <a:pt x="32" y="32"/>
                  </a:lnTo>
                  <a:lnTo>
                    <a:pt x="32" y="24"/>
                  </a:lnTo>
                  <a:lnTo>
                    <a:pt x="32" y="16"/>
                  </a:lnTo>
                  <a:lnTo>
                    <a:pt x="40" y="8"/>
                  </a:lnTo>
                  <a:lnTo>
                    <a:pt x="32" y="8"/>
                  </a:lnTo>
                  <a:lnTo>
                    <a:pt x="32" y="0"/>
                  </a:lnTo>
                  <a:lnTo>
                    <a:pt x="16" y="0"/>
                  </a:lnTo>
                  <a:lnTo>
                    <a:pt x="8" y="0"/>
                  </a:lnTo>
                  <a:lnTo>
                    <a:pt x="8" y="8"/>
                  </a:lnTo>
                  <a:lnTo>
                    <a:pt x="0" y="8"/>
                  </a:lnTo>
                  <a:lnTo>
                    <a:pt x="8" y="24"/>
                  </a:lnTo>
                  <a:lnTo>
                    <a:pt x="8" y="40"/>
                  </a:lnTo>
                  <a:lnTo>
                    <a:pt x="0" y="56"/>
                  </a:lnTo>
                  <a:lnTo>
                    <a:pt x="8" y="64"/>
                  </a:lnTo>
                  <a:lnTo>
                    <a:pt x="8" y="80"/>
                  </a:lnTo>
                  <a:lnTo>
                    <a:pt x="24" y="80"/>
                  </a:lnTo>
                  <a:lnTo>
                    <a:pt x="24" y="72"/>
                  </a:lnTo>
                  <a:lnTo>
                    <a:pt x="24" y="6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15" name="Freeform 665"/>
            <p:cNvSpPr>
              <a:spLocks/>
            </p:cNvSpPr>
            <p:nvPr/>
          </p:nvSpPr>
          <p:spPr bwMode="auto">
            <a:xfrm>
              <a:off x="2639706" y="2864954"/>
              <a:ext cx="8663" cy="33787"/>
            </a:xfrm>
            <a:custGeom>
              <a:avLst/>
              <a:gdLst>
                <a:gd name="T0" fmla="*/ 0 w 8"/>
                <a:gd name="T1" fmla="*/ 2147483647 h 32"/>
                <a:gd name="T2" fmla="*/ 0 w 8"/>
                <a:gd name="T3" fmla="*/ 2147483647 h 32"/>
                <a:gd name="T4" fmla="*/ 0 w 8"/>
                <a:gd name="T5" fmla="*/ 2147483647 h 32"/>
                <a:gd name="T6" fmla="*/ 0 w 8"/>
                <a:gd name="T7" fmla="*/ 2147483647 h 32"/>
                <a:gd name="T8" fmla="*/ 2147483647 w 8"/>
                <a:gd name="T9" fmla="*/ 0 h 32"/>
                <a:gd name="T10" fmla="*/ 0 w 8"/>
                <a:gd name="T11" fmla="*/ 2147483647 h 32"/>
                <a:gd name="T12" fmla="*/ 0 w 8"/>
                <a:gd name="T13" fmla="*/ 2147483647 h 32"/>
                <a:gd name="T14" fmla="*/ 0 60000 65536"/>
                <a:gd name="T15" fmla="*/ 0 60000 65536"/>
                <a:gd name="T16" fmla="*/ 0 60000 65536"/>
                <a:gd name="T17" fmla="*/ 0 60000 65536"/>
                <a:gd name="T18" fmla="*/ 0 60000 65536"/>
                <a:gd name="T19" fmla="*/ 0 60000 65536"/>
                <a:gd name="T20" fmla="*/ 0 60000 65536"/>
                <a:gd name="T21" fmla="*/ 0 w 8"/>
                <a:gd name="T22" fmla="*/ 0 h 32"/>
                <a:gd name="T23" fmla="*/ 8 w 8"/>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32">
                  <a:moveTo>
                    <a:pt x="0" y="16"/>
                  </a:moveTo>
                  <a:lnTo>
                    <a:pt x="0" y="24"/>
                  </a:lnTo>
                  <a:lnTo>
                    <a:pt x="0" y="32"/>
                  </a:lnTo>
                  <a:lnTo>
                    <a:pt x="0" y="16"/>
                  </a:lnTo>
                  <a:lnTo>
                    <a:pt x="8" y="0"/>
                  </a:lnTo>
                  <a:lnTo>
                    <a:pt x="0" y="8"/>
                  </a:lnTo>
                  <a:lnTo>
                    <a:pt x="0"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16" name="Freeform 666"/>
            <p:cNvSpPr>
              <a:spLocks/>
            </p:cNvSpPr>
            <p:nvPr/>
          </p:nvSpPr>
          <p:spPr bwMode="auto">
            <a:xfrm>
              <a:off x="2605919" y="2856291"/>
              <a:ext cx="42450" cy="84900"/>
            </a:xfrm>
            <a:custGeom>
              <a:avLst/>
              <a:gdLst>
                <a:gd name="T0" fmla="*/ 2147483647 w 40"/>
                <a:gd name="T1" fmla="*/ 2147483647 h 80"/>
                <a:gd name="T2" fmla="*/ 2147483647 w 40"/>
                <a:gd name="T3" fmla="*/ 2147483647 h 80"/>
                <a:gd name="T4" fmla="*/ 2147483647 w 40"/>
                <a:gd name="T5" fmla="*/ 2147483647 h 80"/>
                <a:gd name="T6" fmla="*/ 2147483647 w 40"/>
                <a:gd name="T7" fmla="*/ 2147483647 h 80"/>
                <a:gd name="T8" fmla="*/ 2147483647 w 40"/>
                <a:gd name="T9" fmla="*/ 2147483647 h 80"/>
                <a:gd name="T10" fmla="*/ 2147483647 w 40"/>
                <a:gd name="T11" fmla="*/ 2147483647 h 80"/>
                <a:gd name="T12" fmla="*/ 2147483647 w 40"/>
                <a:gd name="T13" fmla="*/ 2147483647 h 80"/>
                <a:gd name="T14" fmla="*/ 2147483647 w 40"/>
                <a:gd name="T15" fmla="*/ 2147483647 h 80"/>
                <a:gd name="T16" fmla="*/ 2147483647 w 40"/>
                <a:gd name="T17" fmla="*/ 2147483647 h 80"/>
                <a:gd name="T18" fmla="*/ 2147483647 w 40"/>
                <a:gd name="T19" fmla="*/ 2147483647 h 80"/>
                <a:gd name="T20" fmla="*/ 2147483647 w 40"/>
                <a:gd name="T21" fmla="*/ 2147483647 h 80"/>
                <a:gd name="T22" fmla="*/ 2147483647 w 40"/>
                <a:gd name="T23" fmla="*/ 0 h 80"/>
                <a:gd name="T24" fmla="*/ 2147483647 w 40"/>
                <a:gd name="T25" fmla="*/ 0 h 80"/>
                <a:gd name="T26" fmla="*/ 2147483647 w 40"/>
                <a:gd name="T27" fmla="*/ 0 h 80"/>
                <a:gd name="T28" fmla="*/ 2147483647 w 40"/>
                <a:gd name="T29" fmla="*/ 2147483647 h 80"/>
                <a:gd name="T30" fmla="*/ 2147483647 w 40"/>
                <a:gd name="T31" fmla="*/ 2147483647 h 80"/>
                <a:gd name="T32" fmla="*/ 0 w 40"/>
                <a:gd name="T33" fmla="*/ 2147483647 h 80"/>
                <a:gd name="T34" fmla="*/ 2147483647 w 40"/>
                <a:gd name="T35" fmla="*/ 2147483647 h 80"/>
                <a:gd name="T36" fmla="*/ 2147483647 w 40"/>
                <a:gd name="T37" fmla="*/ 2147483647 h 80"/>
                <a:gd name="T38" fmla="*/ 0 w 40"/>
                <a:gd name="T39" fmla="*/ 2147483647 h 80"/>
                <a:gd name="T40" fmla="*/ 2147483647 w 40"/>
                <a:gd name="T41" fmla="*/ 2147483647 h 80"/>
                <a:gd name="T42" fmla="*/ 2147483647 w 40"/>
                <a:gd name="T43" fmla="*/ 2147483647 h 80"/>
                <a:gd name="T44" fmla="*/ 2147483647 w 40"/>
                <a:gd name="T45" fmla="*/ 2147483647 h 80"/>
                <a:gd name="T46" fmla="*/ 2147483647 w 40"/>
                <a:gd name="T47" fmla="*/ 2147483647 h 80"/>
                <a:gd name="T48" fmla="*/ 2147483647 w 40"/>
                <a:gd name="T49" fmla="*/ 2147483647 h 8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0"/>
                <a:gd name="T76" fmla="*/ 0 h 80"/>
                <a:gd name="T77" fmla="*/ 40 w 40"/>
                <a:gd name="T78" fmla="*/ 80 h 8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0" h="80">
                  <a:moveTo>
                    <a:pt x="24" y="64"/>
                  </a:moveTo>
                  <a:lnTo>
                    <a:pt x="24" y="64"/>
                  </a:lnTo>
                  <a:lnTo>
                    <a:pt x="24" y="56"/>
                  </a:lnTo>
                  <a:lnTo>
                    <a:pt x="32" y="48"/>
                  </a:lnTo>
                  <a:lnTo>
                    <a:pt x="32" y="40"/>
                  </a:lnTo>
                  <a:lnTo>
                    <a:pt x="32" y="32"/>
                  </a:lnTo>
                  <a:lnTo>
                    <a:pt x="32" y="24"/>
                  </a:lnTo>
                  <a:lnTo>
                    <a:pt x="32" y="16"/>
                  </a:lnTo>
                  <a:lnTo>
                    <a:pt x="40" y="8"/>
                  </a:lnTo>
                  <a:lnTo>
                    <a:pt x="32" y="8"/>
                  </a:lnTo>
                  <a:lnTo>
                    <a:pt x="32" y="0"/>
                  </a:lnTo>
                  <a:lnTo>
                    <a:pt x="16" y="0"/>
                  </a:lnTo>
                  <a:lnTo>
                    <a:pt x="8" y="0"/>
                  </a:lnTo>
                  <a:lnTo>
                    <a:pt x="8" y="8"/>
                  </a:lnTo>
                  <a:lnTo>
                    <a:pt x="0" y="8"/>
                  </a:lnTo>
                  <a:lnTo>
                    <a:pt x="8" y="24"/>
                  </a:lnTo>
                  <a:lnTo>
                    <a:pt x="8" y="40"/>
                  </a:lnTo>
                  <a:lnTo>
                    <a:pt x="0" y="56"/>
                  </a:lnTo>
                  <a:lnTo>
                    <a:pt x="8" y="64"/>
                  </a:lnTo>
                  <a:lnTo>
                    <a:pt x="8" y="80"/>
                  </a:lnTo>
                  <a:lnTo>
                    <a:pt x="24" y="80"/>
                  </a:lnTo>
                  <a:lnTo>
                    <a:pt x="24" y="72"/>
                  </a:lnTo>
                  <a:lnTo>
                    <a:pt x="24" y="6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17" name="Freeform 667"/>
            <p:cNvSpPr>
              <a:spLocks/>
            </p:cNvSpPr>
            <p:nvPr/>
          </p:nvSpPr>
          <p:spPr bwMode="auto">
            <a:xfrm>
              <a:off x="2639706" y="2864954"/>
              <a:ext cx="8663" cy="33787"/>
            </a:xfrm>
            <a:custGeom>
              <a:avLst/>
              <a:gdLst>
                <a:gd name="T0" fmla="*/ 0 w 8"/>
                <a:gd name="T1" fmla="*/ 2147483647 h 32"/>
                <a:gd name="T2" fmla="*/ 0 w 8"/>
                <a:gd name="T3" fmla="*/ 2147483647 h 32"/>
                <a:gd name="T4" fmla="*/ 0 w 8"/>
                <a:gd name="T5" fmla="*/ 2147483647 h 32"/>
                <a:gd name="T6" fmla="*/ 0 w 8"/>
                <a:gd name="T7" fmla="*/ 2147483647 h 32"/>
                <a:gd name="T8" fmla="*/ 2147483647 w 8"/>
                <a:gd name="T9" fmla="*/ 0 h 32"/>
                <a:gd name="T10" fmla="*/ 0 w 8"/>
                <a:gd name="T11" fmla="*/ 2147483647 h 32"/>
                <a:gd name="T12" fmla="*/ 0 w 8"/>
                <a:gd name="T13" fmla="*/ 2147483647 h 32"/>
                <a:gd name="T14" fmla="*/ 0 60000 65536"/>
                <a:gd name="T15" fmla="*/ 0 60000 65536"/>
                <a:gd name="T16" fmla="*/ 0 60000 65536"/>
                <a:gd name="T17" fmla="*/ 0 60000 65536"/>
                <a:gd name="T18" fmla="*/ 0 60000 65536"/>
                <a:gd name="T19" fmla="*/ 0 60000 65536"/>
                <a:gd name="T20" fmla="*/ 0 60000 65536"/>
                <a:gd name="T21" fmla="*/ 0 w 8"/>
                <a:gd name="T22" fmla="*/ 0 h 32"/>
                <a:gd name="T23" fmla="*/ 8 w 8"/>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32">
                  <a:moveTo>
                    <a:pt x="0" y="16"/>
                  </a:moveTo>
                  <a:lnTo>
                    <a:pt x="0" y="24"/>
                  </a:lnTo>
                  <a:lnTo>
                    <a:pt x="0" y="32"/>
                  </a:lnTo>
                  <a:lnTo>
                    <a:pt x="0" y="16"/>
                  </a:lnTo>
                  <a:lnTo>
                    <a:pt x="8" y="0"/>
                  </a:lnTo>
                  <a:lnTo>
                    <a:pt x="0" y="8"/>
                  </a:lnTo>
                  <a:lnTo>
                    <a:pt x="0"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18" name="Freeform 668"/>
            <p:cNvSpPr>
              <a:spLocks/>
            </p:cNvSpPr>
            <p:nvPr/>
          </p:nvSpPr>
          <p:spPr bwMode="auto">
            <a:xfrm>
              <a:off x="2631043" y="2923864"/>
              <a:ext cx="1733" cy="17327"/>
            </a:xfrm>
            <a:custGeom>
              <a:avLst/>
              <a:gdLst>
                <a:gd name="T0" fmla="*/ 0 w 1942"/>
                <a:gd name="T1" fmla="*/ 0 h 16"/>
                <a:gd name="T2" fmla="*/ 0 w 1942"/>
                <a:gd name="T3" fmla="*/ 2147483647 h 16"/>
                <a:gd name="T4" fmla="*/ 0 w 1942"/>
                <a:gd name="T5" fmla="*/ 2147483647 h 16"/>
                <a:gd name="T6" fmla="*/ 0 w 1942"/>
                <a:gd name="T7" fmla="*/ 2147483647 h 16"/>
                <a:gd name="T8" fmla="*/ 0 w 1942"/>
                <a:gd name="T9" fmla="*/ 0 h 16"/>
                <a:gd name="T10" fmla="*/ 0 60000 65536"/>
                <a:gd name="T11" fmla="*/ 0 60000 65536"/>
                <a:gd name="T12" fmla="*/ 0 60000 65536"/>
                <a:gd name="T13" fmla="*/ 0 60000 65536"/>
                <a:gd name="T14" fmla="*/ 0 60000 65536"/>
                <a:gd name="T15" fmla="*/ 0 w 1942"/>
                <a:gd name="T16" fmla="*/ 0 h 16"/>
                <a:gd name="T17" fmla="*/ 1942 w 1942"/>
                <a:gd name="T18" fmla="*/ 16 h 16"/>
              </a:gdLst>
              <a:ahLst/>
              <a:cxnLst>
                <a:cxn ang="T10">
                  <a:pos x="T0" y="T1"/>
                </a:cxn>
                <a:cxn ang="T11">
                  <a:pos x="T2" y="T3"/>
                </a:cxn>
                <a:cxn ang="T12">
                  <a:pos x="T4" y="T5"/>
                </a:cxn>
                <a:cxn ang="T13">
                  <a:pos x="T6" y="T7"/>
                </a:cxn>
                <a:cxn ang="T14">
                  <a:pos x="T8" y="T9"/>
                </a:cxn>
              </a:cxnLst>
              <a:rect l="T15" t="T16" r="T17" b="T18"/>
              <a:pathLst>
                <a:path w="1942" h="16">
                  <a:moveTo>
                    <a:pt x="0" y="0"/>
                  </a:moveTo>
                  <a:lnTo>
                    <a:pt x="0" y="8"/>
                  </a:lnTo>
                  <a:lnTo>
                    <a:pt x="0" y="16"/>
                  </a:lnTo>
                  <a:lnTo>
                    <a:pt x="0" y="8"/>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19" name="Freeform 669"/>
            <p:cNvSpPr>
              <a:spLocks/>
            </p:cNvSpPr>
            <p:nvPr/>
          </p:nvSpPr>
          <p:spPr bwMode="auto">
            <a:xfrm>
              <a:off x="2631043" y="2898741"/>
              <a:ext cx="8663" cy="16460"/>
            </a:xfrm>
            <a:custGeom>
              <a:avLst/>
              <a:gdLst>
                <a:gd name="T0" fmla="*/ 0 w 8"/>
                <a:gd name="T1" fmla="*/ 2147483647 h 16"/>
                <a:gd name="T2" fmla="*/ 2147483647 w 8"/>
                <a:gd name="T3" fmla="*/ 0 h 16"/>
                <a:gd name="T4" fmla="*/ 2147483647 w 8"/>
                <a:gd name="T5" fmla="*/ 2147483647 h 16"/>
                <a:gd name="T6" fmla="*/ 0 w 8"/>
                <a:gd name="T7" fmla="*/ 2147483647 h 16"/>
                <a:gd name="T8" fmla="*/ 0 60000 65536"/>
                <a:gd name="T9" fmla="*/ 0 60000 65536"/>
                <a:gd name="T10" fmla="*/ 0 60000 65536"/>
                <a:gd name="T11" fmla="*/ 0 60000 65536"/>
                <a:gd name="T12" fmla="*/ 0 w 8"/>
                <a:gd name="T13" fmla="*/ 0 h 16"/>
                <a:gd name="T14" fmla="*/ 8 w 8"/>
                <a:gd name="T15" fmla="*/ 16 h 16"/>
              </a:gdLst>
              <a:ahLst/>
              <a:cxnLst>
                <a:cxn ang="T8">
                  <a:pos x="T0" y="T1"/>
                </a:cxn>
                <a:cxn ang="T9">
                  <a:pos x="T2" y="T3"/>
                </a:cxn>
                <a:cxn ang="T10">
                  <a:pos x="T4" y="T5"/>
                </a:cxn>
                <a:cxn ang="T11">
                  <a:pos x="T6" y="T7"/>
                </a:cxn>
              </a:cxnLst>
              <a:rect l="T12" t="T13" r="T14" b="T15"/>
              <a:pathLst>
                <a:path w="8" h="16">
                  <a:moveTo>
                    <a:pt x="0" y="16"/>
                  </a:moveTo>
                  <a:lnTo>
                    <a:pt x="8" y="0"/>
                  </a:lnTo>
                  <a:lnTo>
                    <a:pt x="8" y="8"/>
                  </a:lnTo>
                  <a:lnTo>
                    <a:pt x="0"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20" name="Freeform 670"/>
            <p:cNvSpPr>
              <a:spLocks/>
            </p:cNvSpPr>
            <p:nvPr/>
          </p:nvSpPr>
          <p:spPr bwMode="auto">
            <a:xfrm>
              <a:off x="2631043" y="2915201"/>
              <a:ext cx="1733" cy="8663"/>
            </a:xfrm>
            <a:custGeom>
              <a:avLst/>
              <a:gdLst>
                <a:gd name="T0" fmla="*/ 0 w 1942"/>
                <a:gd name="T1" fmla="*/ 2147483647 h 8"/>
                <a:gd name="T2" fmla="*/ 0 w 1942"/>
                <a:gd name="T3" fmla="*/ 0 h 8"/>
                <a:gd name="T4" fmla="*/ 0 w 1942"/>
                <a:gd name="T5" fmla="*/ 2147483647 h 8"/>
                <a:gd name="T6" fmla="*/ 0 60000 65536"/>
                <a:gd name="T7" fmla="*/ 0 60000 65536"/>
                <a:gd name="T8" fmla="*/ 0 60000 65536"/>
                <a:gd name="T9" fmla="*/ 0 w 1942"/>
                <a:gd name="T10" fmla="*/ 0 h 8"/>
                <a:gd name="T11" fmla="*/ 1942 w 1942"/>
                <a:gd name="T12" fmla="*/ 8 h 8"/>
              </a:gdLst>
              <a:ahLst/>
              <a:cxnLst>
                <a:cxn ang="T6">
                  <a:pos x="T0" y="T1"/>
                </a:cxn>
                <a:cxn ang="T7">
                  <a:pos x="T2" y="T3"/>
                </a:cxn>
                <a:cxn ang="T8">
                  <a:pos x="T4" y="T5"/>
                </a:cxn>
              </a:cxnLst>
              <a:rect l="T9" t="T10" r="T11" b="T12"/>
              <a:pathLst>
                <a:path w="1942" h="8">
                  <a:moveTo>
                    <a:pt x="0" y="8"/>
                  </a:moveTo>
                  <a:lnTo>
                    <a:pt x="0" y="0"/>
                  </a:lnTo>
                  <a:lnTo>
                    <a:pt x="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21" name="Freeform 671"/>
            <p:cNvSpPr>
              <a:spLocks/>
            </p:cNvSpPr>
            <p:nvPr/>
          </p:nvSpPr>
          <p:spPr bwMode="auto">
            <a:xfrm>
              <a:off x="2631043" y="2898741"/>
              <a:ext cx="8663" cy="16460"/>
            </a:xfrm>
            <a:custGeom>
              <a:avLst/>
              <a:gdLst>
                <a:gd name="T0" fmla="*/ 0 w 8"/>
                <a:gd name="T1" fmla="*/ 2147483647 h 16"/>
                <a:gd name="T2" fmla="*/ 2147483647 w 8"/>
                <a:gd name="T3" fmla="*/ 0 h 16"/>
                <a:gd name="T4" fmla="*/ 2147483647 w 8"/>
                <a:gd name="T5" fmla="*/ 2147483647 h 16"/>
                <a:gd name="T6" fmla="*/ 0 w 8"/>
                <a:gd name="T7" fmla="*/ 2147483647 h 16"/>
                <a:gd name="T8" fmla="*/ 0 60000 65536"/>
                <a:gd name="T9" fmla="*/ 0 60000 65536"/>
                <a:gd name="T10" fmla="*/ 0 60000 65536"/>
                <a:gd name="T11" fmla="*/ 0 60000 65536"/>
                <a:gd name="T12" fmla="*/ 0 w 8"/>
                <a:gd name="T13" fmla="*/ 0 h 16"/>
                <a:gd name="T14" fmla="*/ 8 w 8"/>
                <a:gd name="T15" fmla="*/ 16 h 16"/>
              </a:gdLst>
              <a:ahLst/>
              <a:cxnLst>
                <a:cxn ang="T8">
                  <a:pos x="T0" y="T1"/>
                </a:cxn>
                <a:cxn ang="T9">
                  <a:pos x="T2" y="T3"/>
                </a:cxn>
                <a:cxn ang="T10">
                  <a:pos x="T4" y="T5"/>
                </a:cxn>
                <a:cxn ang="T11">
                  <a:pos x="T6" y="T7"/>
                </a:cxn>
              </a:cxnLst>
              <a:rect l="T12" t="T13" r="T14" b="T15"/>
              <a:pathLst>
                <a:path w="8" h="16">
                  <a:moveTo>
                    <a:pt x="0" y="16"/>
                  </a:moveTo>
                  <a:lnTo>
                    <a:pt x="8" y="0"/>
                  </a:lnTo>
                  <a:lnTo>
                    <a:pt x="8" y="8"/>
                  </a:lnTo>
                  <a:lnTo>
                    <a:pt x="0"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22" name="Freeform 672"/>
            <p:cNvSpPr>
              <a:spLocks/>
            </p:cNvSpPr>
            <p:nvPr/>
          </p:nvSpPr>
          <p:spPr bwMode="auto">
            <a:xfrm>
              <a:off x="2631043" y="2915201"/>
              <a:ext cx="1733" cy="8663"/>
            </a:xfrm>
            <a:custGeom>
              <a:avLst/>
              <a:gdLst>
                <a:gd name="T0" fmla="*/ 0 w 1942"/>
                <a:gd name="T1" fmla="*/ 2147483647 h 8"/>
                <a:gd name="T2" fmla="*/ 0 w 1942"/>
                <a:gd name="T3" fmla="*/ 0 h 8"/>
                <a:gd name="T4" fmla="*/ 0 w 1942"/>
                <a:gd name="T5" fmla="*/ 2147483647 h 8"/>
                <a:gd name="T6" fmla="*/ 0 w 1942"/>
                <a:gd name="T7" fmla="*/ 2147483647 h 8"/>
                <a:gd name="T8" fmla="*/ 0 60000 65536"/>
                <a:gd name="T9" fmla="*/ 0 60000 65536"/>
                <a:gd name="T10" fmla="*/ 0 60000 65536"/>
                <a:gd name="T11" fmla="*/ 0 60000 65536"/>
                <a:gd name="T12" fmla="*/ 0 w 1942"/>
                <a:gd name="T13" fmla="*/ 0 h 8"/>
                <a:gd name="T14" fmla="*/ 1942 w 1942"/>
                <a:gd name="T15" fmla="*/ 8 h 8"/>
              </a:gdLst>
              <a:ahLst/>
              <a:cxnLst>
                <a:cxn ang="T8">
                  <a:pos x="T0" y="T1"/>
                </a:cxn>
                <a:cxn ang="T9">
                  <a:pos x="T2" y="T3"/>
                </a:cxn>
                <a:cxn ang="T10">
                  <a:pos x="T4" y="T5"/>
                </a:cxn>
                <a:cxn ang="T11">
                  <a:pos x="T6" y="T7"/>
                </a:cxn>
              </a:cxnLst>
              <a:rect l="T12" t="T13" r="T14" b="T15"/>
              <a:pathLst>
                <a:path w="1942" h="8">
                  <a:moveTo>
                    <a:pt x="0" y="8"/>
                  </a:moveTo>
                  <a:lnTo>
                    <a:pt x="0" y="0"/>
                  </a:lnTo>
                  <a:lnTo>
                    <a:pt x="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23" name="Freeform 673"/>
            <p:cNvSpPr>
              <a:spLocks/>
            </p:cNvSpPr>
            <p:nvPr/>
          </p:nvSpPr>
          <p:spPr bwMode="auto">
            <a:xfrm>
              <a:off x="3403809" y="2941191"/>
              <a:ext cx="8663" cy="8663"/>
            </a:xfrm>
            <a:custGeom>
              <a:avLst/>
              <a:gdLst>
                <a:gd name="T0" fmla="*/ 0 w 8"/>
                <a:gd name="T1" fmla="*/ 0 h 8"/>
                <a:gd name="T2" fmla="*/ 2147483647 w 8"/>
                <a:gd name="T3" fmla="*/ 2147483647 h 8"/>
                <a:gd name="T4" fmla="*/ 0 w 8"/>
                <a:gd name="T5" fmla="*/ 0 h 8"/>
                <a:gd name="T6" fmla="*/ 0 60000 65536"/>
                <a:gd name="T7" fmla="*/ 0 60000 65536"/>
                <a:gd name="T8" fmla="*/ 0 60000 65536"/>
                <a:gd name="T9" fmla="*/ 0 w 8"/>
                <a:gd name="T10" fmla="*/ 0 h 8"/>
                <a:gd name="T11" fmla="*/ 8 w 8"/>
                <a:gd name="T12" fmla="*/ 8 h 8"/>
              </a:gdLst>
              <a:ahLst/>
              <a:cxnLst>
                <a:cxn ang="T6">
                  <a:pos x="T0" y="T1"/>
                </a:cxn>
                <a:cxn ang="T7">
                  <a:pos x="T2" y="T3"/>
                </a:cxn>
                <a:cxn ang="T8">
                  <a:pos x="T4" y="T5"/>
                </a:cxn>
              </a:cxnLst>
              <a:rect l="T9" t="T10" r="T11" b="T12"/>
              <a:pathLst>
                <a:path w="8" h="8">
                  <a:moveTo>
                    <a:pt x="0" y="0"/>
                  </a:moveTo>
                  <a:lnTo>
                    <a:pt x="8" y="8"/>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24" name="Freeform 674"/>
            <p:cNvSpPr>
              <a:spLocks/>
            </p:cNvSpPr>
            <p:nvPr/>
          </p:nvSpPr>
          <p:spPr bwMode="auto">
            <a:xfrm>
              <a:off x="3378685" y="2915201"/>
              <a:ext cx="8663" cy="17327"/>
            </a:xfrm>
            <a:custGeom>
              <a:avLst/>
              <a:gdLst>
                <a:gd name="T0" fmla="*/ 0 w 8"/>
                <a:gd name="T1" fmla="*/ 0 h 16"/>
                <a:gd name="T2" fmla="*/ 2147483647 w 8"/>
                <a:gd name="T3" fmla="*/ 2147483647 h 16"/>
                <a:gd name="T4" fmla="*/ 2147483647 w 8"/>
                <a:gd name="T5" fmla="*/ 2147483647 h 16"/>
                <a:gd name="T6" fmla="*/ 0 w 8"/>
                <a:gd name="T7" fmla="*/ 0 h 16"/>
                <a:gd name="T8" fmla="*/ 0 60000 65536"/>
                <a:gd name="T9" fmla="*/ 0 60000 65536"/>
                <a:gd name="T10" fmla="*/ 0 60000 65536"/>
                <a:gd name="T11" fmla="*/ 0 60000 65536"/>
                <a:gd name="T12" fmla="*/ 0 w 8"/>
                <a:gd name="T13" fmla="*/ 0 h 16"/>
                <a:gd name="T14" fmla="*/ 8 w 8"/>
                <a:gd name="T15" fmla="*/ 16 h 16"/>
              </a:gdLst>
              <a:ahLst/>
              <a:cxnLst>
                <a:cxn ang="T8">
                  <a:pos x="T0" y="T1"/>
                </a:cxn>
                <a:cxn ang="T9">
                  <a:pos x="T2" y="T3"/>
                </a:cxn>
                <a:cxn ang="T10">
                  <a:pos x="T4" y="T5"/>
                </a:cxn>
                <a:cxn ang="T11">
                  <a:pos x="T6" y="T7"/>
                </a:cxn>
              </a:cxnLst>
              <a:rect l="T12" t="T13" r="T14" b="T15"/>
              <a:pathLst>
                <a:path w="8" h="16">
                  <a:moveTo>
                    <a:pt x="0" y="0"/>
                  </a:moveTo>
                  <a:lnTo>
                    <a:pt x="8" y="16"/>
                  </a:lnTo>
                  <a:lnTo>
                    <a:pt x="8" y="8"/>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25" name="Freeform 675"/>
            <p:cNvSpPr>
              <a:spLocks/>
            </p:cNvSpPr>
            <p:nvPr/>
          </p:nvSpPr>
          <p:spPr bwMode="auto">
            <a:xfrm>
              <a:off x="3403809" y="2941191"/>
              <a:ext cx="8663" cy="8663"/>
            </a:xfrm>
            <a:custGeom>
              <a:avLst/>
              <a:gdLst>
                <a:gd name="T0" fmla="*/ 0 w 8"/>
                <a:gd name="T1" fmla="*/ 0 h 8"/>
                <a:gd name="T2" fmla="*/ 2147483647 w 8"/>
                <a:gd name="T3" fmla="*/ 2147483647 h 8"/>
                <a:gd name="T4" fmla="*/ 2147483647 w 8"/>
                <a:gd name="T5" fmla="*/ 2147483647 h 8"/>
                <a:gd name="T6" fmla="*/ 0 w 8"/>
                <a:gd name="T7" fmla="*/ 0 h 8"/>
                <a:gd name="T8" fmla="*/ 0 w 8"/>
                <a:gd name="T9" fmla="*/ 0 h 8"/>
                <a:gd name="T10" fmla="*/ 0 60000 65536"/>
                <a:gd name="T11" fmla="*/ 0 60000 65536"/>
                <a:gd name="T12" fmla="*/ 0 60000 65536"/>
                <a:gd name="T13" fmla="*/ 0 60000 65536"/>
                <a:gd name="T14" fmla="*/ 0 60000 65536"/>
                <a:gd name="T15" fmla="*/ 0 w 8"/>
                <a:gd name="T16" fmla="*/ 0 h 8"/>
                <a:gd name="T17" fmla="*/ 8 w 8"/>
                <a:gd name="T18" fmla="*/ 8 h 8"/>
              </a:gdLst>
              <a:ahLst/>
              <a:cxnLst>
                <a:cxn ang="T10">
                  <a:pos x="T0" y="T1"/>
                </a:cxn>
                <a:cxn ang="T11">
                  <a:pos x="T2" y="T3"/>
                </a:cxn>
                <a:cxn ang="T12">
                  <a:pos x="T4" y="T5"/>
                </a:cxn>
                <a:cxn ang="T13">
                  <a:pos x="T6" y="T7"/>
                </a:cxn>
                <a:cxn ang="T14">
                  <a:pos x="T8" y="T9"/>
                </a:cxn>
              </a:cxnLst>
              <a:rect l="T15" t="T16" r="T17" b="T18"/>
              <a:pathLst>
                <a:path w="8" h="8">
                  <a:moveTo>
                    <a:pt x="0" y="0"/>
                  </a:moveTo>
                  <a:lnTo>
                    <a:pt x="8" y="8"/>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26" name="Freeform 676"/>
            <p:cNvSpPr>
              <a:spLocks/>
            </p:cNvSpPr>
            <p:nvPr/>
          </p:nvSpPr>
          <p:spPr bwMode="auto">
            <a:xfrm>
              <a:off x="3378685" y="2915201"/>
              <a:ext cx="8663" cy="17327"/>
            </a:xfrm>
            <a:custGeom>
              <a:avLst/>
              <a:gdLst>
                <a:gd name="T0" fmla="*/ 0 w 8"/>
                <a:gd name="T1" fmla="*/ 0 h 16"/>
                <a:gd name="T2" fmla="*/ 2147483647 w 8"/>
                <a:gd name="T3" fmla="*/ 2147483647 h 16"/>
                <a:gd name="T4" fmla="*/ 2147483647 w 8"/>
                <a:gd name="T5" fmla="*/ 2147483647 h 16"/>
                <a:gd name="T6" fmla="*/ 0 w 8"/>
                <a:gd name="T7" fmla="*/ 0 h 16"/>
                <a:gd name="T8" fmla="*/ 0 60000 65536"/>
                <a:gd name="T9" fmla="*/ 0 60000 65536"/>
                <a:gd name="T10" fmla="*/ 0 60000 65536"/>
                <a:gd name="T11" fmla="*/ 0 60000 65536"/>
                <a:gd name="T12" fmla="*/ 0 w 8"/>
                <a:gd name="T13" fmla="*/ 0 h 16"/>
                <a:gd name="T14" fmla="*/ 8 w 8"/>
                <a:gd name="T15" fmla="*/ 16 h 16"/>
              </a:gdLst>
              <a:ahLst/>
              <a:cxnLst>
                <a:cxn ang="T8">
                  <a:pos x="T0" y="T1"/>
                </a:cxn>
                <a:cxn ang="T9">
                  <a:pos x="T2" y="T3"/>
                </a:cxn>
                <a:cxn ang="T10">
                  <a:pos x="T4" y="T5"/>
                </a:cxn>
                <a:cxn ang="T11">
                  <a:pos x="T6" y="T7"/>
                </a:cxn>
              </a:cxnLst>
              <a:rect l="T12" t="T13" r="T14" b="T15"/>
              <a:pathLst>
                <a:path w="8" h="16">
                  <a:moveTo>
                    <a:pt x="0" y="0"/>
                  </a:moveTo>
                  <a:lnTo>
                    <a:pt x="8" y="16"/>
                  </a:lnTo>
                  <a:lnTo>
                    <a:pt x="8" y="8"/>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27" name="Freeform 677"/>
            <p:cNvSpPr>
              <a:spLocks/>
            </p:cNvSpPr>
            <p:nvPr/>
          </p:nvSpPr>
          <p:spPr bwMode="auto">
            <a:xfrm>
              <a:off x="4074348" y="3178565"/>
              <a:ext cx="101360" cy="161137"/>
            </a:xfrm>
            <a:custGeom>
              <a:avLst/>
              <a:gdLst>
                <a:gd name="T0" fmla="*/ 2147483647 w 96"/>
                <a:gd name="T1" fmla="*/ 2147483647 h 152"/>
                <a:gd name="T2" fmla="*/ 2147483647 w 96"/>
                <a:gd name="T3" fmla="*/ 2147483647 h 152"/>
                <a:gd name="T4" fmla="*/ 2147483647 w 96"/>
                <a:gd name="T5" fmla="*/ 2147483647 h 152"/>
                <a:gd name="T6" fmla="*/ 2147483647 w 96"/>
                <a:gd name="T7" fmla="*/ 2147483647 h 152"/>
                <a:gd name="T8" fmla="*/ 2147483647 w 96"/>
                <a:gd name="T9" fmla="*/ 2147483647 h 152"/>
                <a:gd name="T10" fmla="*/ 2147483647 w 96"/>
                <a:gd name="T11" fmla="*/ 2147483647 h 152"/>
                <a:gd name="T12" fmla="*/ 2147483647 w 96"/>
                <a:gd name="T13" fmla="*/ 2147483647 h 152"/>
                <a:gd name="T14" fmla="*/ 2147483647 w 96"/>
                <a:gd name="T15" fmla="*/ 2147483647 h 152"/>
                <a:gd name="T16" fmla="*/ 2147483647 w 96"/>
                <a:gd name="T17" fmla="*/ 2147483647 h 152"/>
                <a:gd name="T18" fmla="*/ 2147483647 w 96"/>
                <a:gd name="T19" fmla="*/ 2147483647 h 152"/>
                <a:gd name="T20" fmla="*/ 2147483647 w 96"/>
                <a:gd name="T21" fmla="*/ 2147483647 h 152"/>
                <a:gd name="T22" fmla="*/ 2147483647 w 96"/>
                <a:gd name="T23" fmla="*/ 0 h 152"/>
                <a:gd name="T24" fmla="*/ 2147483647 w 96"/>
                <a:gd name="T25" fmla="*/ 2147483647 h 152"/>
                <a:gd name="T26" fmla="*/ 0 w 96"/>
                <a:gd name="T27" fmla="*/ 2147483647 h 152"/>
                <a:gd name="T28" fmla="*/ 2147483647 w 96"/>
                <a:gd name="T29" fmla="*/ 2147483647 h 152"/>
                <a:gd name="T30" fmla="*/ 2147483647 w 96"/>
                <a:gd name="T31" fmla="*/ 2147483647 h 152"/>
                <a:gd name="T32" fmla="*/ 2147483647 w 96"/>
                <a:gd name="T33" fmla="*/ 2147483647 h 152"/>
                <a:gd name="T34" fmla="*/ 2147483647 w 96"/>
                <a:gd name="T35" fmla="*/ 2147483647 h 152"/>
                <a:gd name="T36" fmla="*/ 2147483647 w 96"/>
                <a:gd name="T37" fmla="*/ 2147483647 h 152"/>
                <a:gd name="T38" fmla="*/ 2147483647 w 96"/>
                <a:gd name="T39" fmla="*/ 2147483647 h 152"/>
                <a:gd name="T40" fmla="*/ 2147483647 w 96"/>
                <a:gd name="T41" fmla="*/ 2147483647 h 152"/>
                <a:gd name="T42" fmla="*/ 2147483647 w 96"/>
                <a:gd name="T43" fmla="*/ 2147483647 h 152"/>
                <a:gd name="T44" fmla="*/ 2147483647 w 96"/>
                <a:gd name="T45" fmla="*/ 2147483647 h 152"/>
                <a:gd name="T46" fmla="*/ 2147483647 w 96"/>
                <a:gd name="T47" fmla="*/ 2147483647 h 152"/>
                <a:gd name="T48" fmla="*/ 2147483647 w 96"/>
                <a:gd name="T49" fmla="*/ 2147483647 h 152"/>
                <a:gd name="T50" fmla="*/ 2147483647 w 96"/>
                <a:gd name="T51" fmla="*/ 2147483647 h 152"/>
                <a:gd name="T52" fmla="*/ 2147483647 w 96"/>
                <a:gd name="T53" fmla="*/ 2147483647 h 15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6"/>
                <a:gd name="T82" fmla="*/ 0 h 152"/>
                <a:gd name="T83" fmla="*/ 96 w 96"/>
                <a:gd name="T84" fmla="*/ 152 h 15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6" h="152">
                  <a:moveTo>
                    <a:pt x="72" y="136"/>
                  </a:moveTo>
                  <a:lnTo>
                    <a:pt x="80" y="136"/>
                  </a:lnTo>
                  <a:lnTo>
                    <a:pt x="96" y="128"/>
                  </a:lnTo>
                  <a:lnTo>
                    <a:pt x="96" y="104"/>
                  </a:lnTo>
                  <a:lnTo>
                    <a:pt x="96" y="80"/>
                  </a:lnTo>
                  <a:lnTo>
                    <a:pt x="80" y="72"/>
                  </a:lnTo>
                  <a:lnTo>
                    <a:pt x="64" y="48"/>
                  </a:lnTo>
                  <a:lnTo>
                    <a:pt x="56" y="32"/>
                  </a:lnTo>
                  <a:lnTo>
                    <a:pt x="56" y="24"/>
                  </a:lnTo>
                  <a:lnTo>
                    <a:pt x="56" y="16"/>
                  </a:lnTo>
                  <a:lnTo>
                    <a:pt x="40" y="16"/>
                  </a:lnTo>
                  <a:lnTo>
                    <a:pt x="32" y="0"/>
                  </a:lnTo>
                  <a:lnTo>
                    <a:pt x="8" y="8"/>
                  </a:lnTo>
                  <a:lnTo>
                    <a:pt x="0" y="16"/>
                  </a:lnTo>
                  <a:lnTo>
                    <a:pt x="8" y="24"/>
                  </a:lnTo>
                  <a:lnTo>
                    <a:pt x="8" y="48"/>
                  </a:lnTo>
                  <a:lnTo>
                    <a:pt x="40" y="48"/>
                  </a:lnTo>
                  <a:lnTo>
                    <a:pt x="48" y="56"/>
                  </a:lnTo>
                  <a:lnTo>
                    <a:pt x="72" y="88"/>
                  </a:lnTo>
                  <a:lnTo>
                    <a:pt x="64" y="96"/>
                  </a:lnTo>
                  <a:lnTo>
                    <a:pt x="40" y="104"/>
                  </a:lnTo>
                  <a:lnTo>
                    <a:pt x="32" y="112"/>
                  </a:lnTo>
                  <a:lnTo>
                    <a:pt x="32" y="128"/>
                  </a:lnTo>
                  <a:lnTo>
                    <a:pt x="48" y="144"/>
                  </a:lnTo>
                  <a:lnTo>
                    <a:pt x="56" y="152"/>
                  </a:lnTo>
                  <a:lnTo>
                    <a:pt x="64" y="144"/>
                  </a:lnTo>
                  <a:lnTo>
                    <a:pt x="72" y="13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28" name="Freeform 678"/>
            <p:cNvSpPr>
              <a:spLocks/>
            </p:cNvSpPr>
            <p:nvPr/>
          </p:nvSpPr>
          <p:spPr bwMode="auto">
            <a:xfrm>
              <a:off x="4108135" y="3161239"/>
              <a:ext cx="93564" cy="194924"/>
            </a:xfrm>
            <a:custGeom>
              <a:avLst/>
              <a:gdLst>
                <a:gd name="T0" fmla="*/ 2147483647 w 88"/>
                <a:gd name="T1" fmla="*/ 0 h 184"/>
                <a:gd name="T2" fmla="*/ 0 w 88"/>
                <a:gd name="T3" fmla="*/ 0 h 184"/>
                <a:gd name="T4" fmla="*/ 0 w 88"/>
                <a:gd name="T5" fmla="*/ 2147483647 h 184"/>
                <a:gd name="T6" fmla="*/ 2147483647 w 88"/>
                <a:gd name="T7" fmla="*/ 2147483647 h 184"/>
                <a:gd name="T8" fmla="*/ 2147483647 w 88"/>
                <a:gd name="T9" fmla="*/ 2147483647 h 184"/>
                <a:gd name="T10" fmla="*/ 2147483647 w 88"/>
                <a:gd name="T11" fmla="*/ 2147483647 h 184"/>
                <a:gd name="T12" fmla="*/ 2147483647 w 88"/>
                <a:gd name="T13" fmla="*/ 2147483647 h 184"/>
                <a:gd name="T14" fmla="*/ 2147483647 w 88"/>
                <a:gd name="T15" fmla="*/ 2147483647 h 184"/>
                <a:gd name="T16" fmla="*/ 2147483647 w 88"/>
                <a:gd name="T17" fmla="*/ 2147483647 h 184"/>
                <a:gd name="T18" fmla="*/ 2147483647 w 88"/>
                <a:gd name="T19" fmla="*/ 2147483647 h 184"/>
                <a:gd name="T20" fmla="*/ 2147483647 w 88"/>
                <a:gd name="T21" fmla="*/ 2147483647 h 184"/>
                <a:gd name="T22" fmla="*/ 2147483647 w 88"/>
                <a:gd name="T23" fmla="*/ 2147483647 h 184"/>
                <a:gd name="T24" fmla="*/ 2147483647 w 88"/>
                <a:gd name="T25" fmla="*/ 2147483647 h 184"/>
                <a:gd name="T26" fmla="*/ 2147483647 w 88"/>
                <a:gd name="T27" fmla="*/ 2147483647 h 184"/>
                <a:gd name="T28" fmla="*/ 2147483647 w 88"/>
                <a:gd name="T29" fmla="*/ 2147483647 h 184"/>
                <a:gd name="T30" fmla="*/ 2147483647 w 88"/>
                <a:gd name="T31" fmla="*/ 2147483647 h 184"/>
                <a:gd name="T32" fmla="*/ 2147483647 w 88"/>
                <a:gd name="T33" fmla="*/ 2147483647 h 184"/>
                <a:gd name="T34" fmla="*/ 2147483647 w 88"/>
                <a:gd name="T35" fmla="*/ 2147483647 h 184"/>
                <a:gd name="T36" fmla="*/ 2147483647 w 88"/>
                <a:gd name="T37" fmla="*/ 2147483647 h 184"/>
                <a:gd name="T38" fmla="*/ 2147483647 w 88"/>
                <a:gd name="T39" fmla="*/ 2147483647 h 184"/>
                <a:gd name="T40" fmla="*/ 2147483647 w 88"/>
                <a:gd name="T41" fmla="*/ 2147483647 h 184"/>
                <a:gd name="T42" fmla="*/ 2147483647 w 88"/>
                <a:gd name="T43" fmla="*/ 2147483647 h 184"/>
                <a:gd name="T44" fmla="*/ 2147483647 w 88"/>
                <a:gd name="T45" fmla="*/ 2147483647 h 184"/>
                <a:gd name="T46" fmla="*/ 2147483647 w 88"/>
                <a:gd name="T47" fmla="*/ 2147483647 h 184"/>
                <a:gd name="T48" fmla="*/ 2147483647 w 88"/>
                <a:gd name="T49" fmla="*/ 2147483647 h 184"/>
                <a:gd name="T50" fmla="*/ 2147483647 w 88"/>
                <a:gd name="T51" fmla="*/ 2147483647 h 184"/>
                <a:gd name="T52" fmla="*/ 2147483647 w 88"/>
                <a:gd name="T53" fmla="*/ 2147483647 h 184"/>
                <a:gd name="T54" fmla="*/ 2147483647 w 88"/>
                <a:gd name="T55" fmla="*/ 0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8"/>
                <a:gd name="T85" fmla="*/ 0 h 184"/>
                <a:gd name="T86" fmla="*/ 88 w 88"/>
                <a:gd name="T87" fmla="*/ 184 h 18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8" h="184">
                  <a:moveTo>
                    <a:pt x="40" y="0"/>
                  </a:moveTo>
                  <a:lnTo>
                    <a:pt x="0" y="0"/>
                  </a:lnTo>
                  <a:lnTo>
                    <a:pt x="0" y="16"/>
                  </a:lnTo>
                  <a:lnTo>
                    <a:pt x="8" y="32"/>
                  </a:lnTo>
                  <a:lnTo>
                    <a:pt x="24" y="32"/>
                  </a:lnTo>
                  <a:lnTo>
                    <a:pt x="24" y="40"/>
                  </a:lnTo>
                  <a:lnTo>
                    <a:pt x="24" y="48"/>
                  </a:lnTo>
                  <a:lnTo>
                    <a:pt x="32" y="64"/>
                  </a:lnTo>
                  <a:lnTo>
                    <a:pt x="48" y="88"/>
                  </a:lnTo>
                  <a:lnTo>
                    <a:pt x="64" y="96"/>
                  </a:lnTo>
                  <a:lnTo>
                    <a:pt x="64" y="120"/>
                  </a:lnTo>
                  <a:lnTo>
                    <a:pt x="64" y="144"/>
                  </a:lnTo>
                  <a:lnTo>
                    <a:pt x="48" y="152"/>
                  </a:lnTo>
                  <a:lnTo>
                    <a:pt x="40" y="152"/>
                  </a:lnTo>
                  <a:lnTo>
                    <a:pt x="32" y="160"/>
                  </a:lnTo>
                  <a:lnTo>
                    <a:pt x="24" y="168"/>
                  </a:lnTo>
                  <a:lnTo>
                    <a:pt x="32" y="168"/>
                  </a:lnTo>
                  <a:lnTo>
                    <a:pt x="40" y="184"/>
                  </a:lnTo>
                  <a:lnTo>
                    <a:pt x="72" y="160"/>
                  </a:lnTo>
                  <a:lnTo>
                    <a:pt x="88" y="144"/>
                  </a:lnTo>
                  <a:lnTo>
                    <a:pt x="72" y="88"/>
                  </a:lnTo>
                  <a:lnTo>
                    <a:pt x="64" y="80"/>
                  </a:lnTo>
                  <a:lnTo>
                    <a:pt x="48" y="56"/>
                  </a:lnTo>
                  <a:lnTo>
                    <a:pt x="40" y="40"/>
                  </a:lnTo>
                  <a:lnTo>
                    <a:pt x="48" y="32"/>
                  </a:lnTo>
                  <a:lnTo>
                    <a:pt x="64" y="24"/>
                  </a:lnTo>
                  <a:lnTo>
                    <a:pt x="56" y="16"/>
                  </a:lnTo>
                  <a:lnTo>
                    <a:pt x="4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29" name="Freeform 679"/>
            <p:cNvSpPr>
              <a:spLocks/>
            </p:cNvSpPr>
            <p:nvPr/>
          </p:nvSpPr>
          <p:spPr bwMode="auto">
            <a:xfrm>
              <a:off x="4074348" y="3178565"/>
              <a:ext cx="101360" cy="161137"/>
            </a:xfrm>
            <a:custGeom>
              <a:avLst/>
              <a:gdLst>
                <a:gd name="T0" fmla="*/ 2147483647 w 96"/>
                <a:gd name="T1" fmla="*/ 2147483647 h 152"/>
                <a:gd name="T2" fmla="*/ 2147483647 w 96"/>
                <a:gd name="T3" fmla="*/ 2147483647 h 152"/>
                <a:gd name="T4" fmla="*/ 2147483647 w 96"/>
                <a:gd name="T5" fmla="*/ 2147483647 h 152"/>
                <a:gd name="T6" fmla="*/ 2147483647 w 96"/>
                <a:gd name="T7" fmla="*/ 2147483647 h 152"/>
                <a:gd name="T8" fmla="*/ 2147483647 w 96"/>
                <a:gd name="T9" fmla="*/ 2147483647 h 152"/>
                <a:gd name="T10" fmla="*/ 2147483647 w 96"/>
                <a:gd name="T11" fmla="*/ 2147483647 h 152"/>
                <a:gd name="T12" fmla="*/ 2147483647 w 96"/>
                <a:gd name="T13" fmla="*/ 2147483647 h 152"/>
                <a:gd name="T14" fmla="*/ 2147483647 w 96"/>
                <a:gd name="T15" fmla="*/ 2147483647 h 152"/>
                <a:gd name="T16" fmla="*/ 2147483647 w 96"/>
                <a:gd name="T17" fmla="*/ 2147483647 h 152"/>
                <a:gd name="T18" fmla="*/ 2147483647 w 96"/>
                <a:gd name="T19" fmla="*/ 2147483647 h 152"/>
                <a:gd name="T20" fmla="*/ 2147483647 w 96"/>
                <a:gd name="T21" fmla="*/ 2147483647 h 152"/>
                <a:gd name="T22" fmla="*/ 2147483647 w 96"/>
                <a:gd name="T23" fmla="*/ 0 h 152"/>
                <a:gd name="T24" fmla="*/ 2147483647 w 96"/>
                <a:gd name="T25" fmla="*/ 0 h 152"/>
                <a:gd name="T26" fmla="*/ 2147483647 w 96"/>
                <a:gd name="T27" fmla="*/ 2147483647 h 152"/>
                <a:gd name="T28" fmla="*/ 0 w 96"/>
                <a:gd name="T29" fmla="*/ 2147483647 h 152"/>
                <a:gd name="T30" fmla="*/ 0 w 96"/>
                <a:gd name="T31" fmla="*/ 2147483647 h 152"/>
                <a:gd name="T32" fmla="*/ 2147483647 w 96"/>
                <a:gd name="T33" fmla="*/ 2147483647 h 152"/>
                <a:gd name="T34" fmla="*/ 2147483647 w 96"/>
                <a:gd name="T35" fmla="*/ 2147483647 h 152"/>
                <a:gd name="T36" fmla="*/ 2147483647 w 96"/>
                <a:gd name="T37" fmla="*/ 2147483647 h 152"/>
                <a:gd name="T38" fmla="*/ 2147483647 w 96"/>
                <a:gd name="T39" fmla="*/ 2147483647 h 152"/>
                <a:gd name="T40" fmla="*/ 2147483647 w 96"/>
                <a:gd name="T41" fmla="*/ 2147483647 h 152"/>
                <a:gd name="T42" fmla="*/ 2147483647 w 96"/>
                <a:gd name="T43" fmla="*/ 2147483647 h 152"/>
                <a:gd name="T44" fmla="*/ 2147483647 w 96"/>
                <a:gd name="T45" fmla="*/ 2147483647 h 152"/>
                <a:gd name="T46" fmla="*/ 2147483647 w 96"/>
                <a:gd name="T47" fmla="*/ 2147483647 h 152"/>
                <a:gd name="T48" fmla="*/ 2147483647 w 96"/>
                <a:gd name="T49" fmla="*/ 2147483647 h 152"/>
                <a:gd name="T50" fmla="*/ 2147483647 w 96"/>
                <a:gd name="T51" fmla="*/ 2147483647 h 152"/>
                <a:gd name="T52" fmla="*/ 2147483647 w 96"/>
                <a:gd name="T53" fmla="*/ 2147483647 h 152"/>
                <a:gd name="T54" fmla="*/ 2147483647 w 96"/>
                <a:gd name="T55" fmla="*/ 2147483647 h 152"/>
                <a:gd name="T56" fmla="*/ 2147483647 w 96"/>
                <a:gd name="T57" fmla="*/ 2147483647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6"/>
                <a:gd name="T88" fmla="*/ 0 h 152"/>
                <a:gd name="T89" fmla="*/ 96 w 96"/>
                <a:gd name="T90" fmla="*/ 152 h 15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6" h="152">
                  <a:moveTo>
                    <a:pt x="72" y="136"/>
                  </a:moveTo>
                  <a:lnTo>
                    <a:pt x="80" y="136"/>
                  </a:lnTo>
                  <a:lnTo>
                    <a:pt x="96" y="128"/>
                  </a:lnTo>
                  <a:lnTo>
                    <a:pt x="96" y="104"/>
                  </a:lnTo>
                  <a:lnTo>
                    <a:pt x="96" y="80"/>
                  </a:lnTo>
                  <a:lnTo>
                    <a:pt x="80" y="72"/>
                  </a:lnTo>
                  <a:lnTo>
                    <a:pt x="64" y="48"/>
                  </a:lnTo>
                  <a:lnTo>
                    <a:pt x="56" y="32"/>
                  </a:lnTo>
                  <a:lnTo>
                    <a:pt x="56" y="24"/>
                  </a:lnTo>
                  <a:lnTo>
                    <a:pt x="56" y="16"/>
                  </a:lnTo>
                  <a:lnTo>
                    <a:pt x="40" y="16"/>
                  </a:lnTo>
                  <a:lnTo>
                    <a:pt x="32" y="0"/>
                  </a:lnTo>
                  <a:lnTo>
                    <a:pt x="8" y="8"/>
                  </a:lnTo>
                  <a:lnTo>
                    <a:pt x="0" y="16"/>
                  </a:lnTo>
                  <a:lnTo>
                    <a:pt x="8" y="24"/>
                  </a:lnTo>
                  <a:lnTo>
                    <a:pt x="8" y="48"/>
                  </a:lnTo>
                  <a:lnTo>
                    <a:pt x="40" y="48"/>
                  </a:lnTo>
                  <a:lnTo>
                    <a:pt x="48" y="56"/>
                  </a:lnTo>
                  <a:lnTo>
                    <a:pt x="72" y="88"/>
                  </a:lnTo>
                  <a:lnTo>
                    <a:pt x="64" y="96"/>
                  </a:lnTo>
                  <a:lnTo>
                    <a:pt x="40" y="104"/>
                  </a:lnTo>
                  <a:lnTo>
                    <a:pt x="32" y="112"/>
                  </a:lnTo>
                  <a:lnTo>
                    <a:pt x="32" y="128"/>
                  </a:lnTo>
                  <a:lnTo>
                    <a:pt x="48" y="144"/>
                  </a:lnTo>
                  <a:lnTo>
                    <a:pt x="56" y="152"/>
                  </a:lnTo>
                  <a:lnTo>
                    <a:pt x="64" y="144"/>
                  </a:lnTo>
                  <a:lnTo>
                    <a:pt x="72" y="13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30" name="Freeform 680"/>
            <p:cNvSpPr>
              <a:spLocks/>
            </p:cNvSpPr>
            <p:nvPr/>
          </p:nvSpPr>
          <p:spPr bwMode="auto">
            <a:xfrm>
              <a:off x="4111600" y="3161239"/>
              <a:ext cx="93564" cy="194924"/>
            </a:xfrm>
            <a:custGeom>
              <a:avLst/>
              <a:gdLst>
                <a:gd name="T0" fmla="*/ 2147483647 w 88"/>
                <a:gd name="T1" fmla="*/ 0 h 184"/>
                <a:gd name="T2" fmla="*/ 0 w 88"/>
                <a:gd name="T3" fmla="*/ 0 h 184"/>
                <a:gd name="T4" fmla="*/ 0 w 88"/>
                <a:gd name="T5" fmla="*/ 2147483647 h 184"/>
                <a:gd name="T6" fmla="*/ 0 w 88"/>
                <a:gd name="T7" fmla="*/ 2147483647 h 184"/>
                <a:gd name="T8" fmla="*/ 2147483647 w 88"/>
                <a:gd name="T9" fmla="*/ 2147483647 h 184"/>
                <a:gd name="T10" fmla="*/ 2147483647 w 88"/>
                <a:gd name="T11" fmla="*/ 2147483647 h 184"/>
                <a:gd name="T12" fmla="*/ 2147483647 w 88"/>
                <a:gd name="T13" fmla="*/ 2147483647 h 184"/>
                <a:gd name="T14" fmla="*/ 2147483647 w 88"/>
                <a:gd name="T15" fmla="*/ 2147483647 h 184"/>
                <a:gd name="T16" fmla="*/ 2147483647 w 88"/>
                <a:gd name="T17" fmla="*/ 2147483647 h 184"/>
                <a:gd name="T18" fmla="*/ 2147483647 w 88"/>
                <a:gd name="T19" fmla="*/ 2147483647 h 184"/>
                <a:gd name="T20" fmla="*/ 2147483647 w 88"/>
                <a:gd name="T21" fmla="*/ 2147483647 h 184"/>
                <a:gd name="T22" fmla="*/ 2147483647 w 88"/>
                <a:gd name="T23" fmla="*/ 2147483647 h 184"/>
                <a:gd name="T24" fmla="*/ 2147483647 w 88"/>
                <a:gd name="T25" fmla="*/ 2147483647 h 184"/>
                <a:gd name="T26" fmla="*/ 2147483647 w 88"/>
                <a:gd name="T27" fmla="*/ 2147483647 h 184"/>
                <a:gd name="T28" fmla="*/ 2147483647 w 88"/>
                <a:gd name="T29" fmla="*/ 2147483647 h 184"/>
                <a:gd name="T30" fmla="*/ 2147483647 w 88"/>
                <a:gd name="T31" fmla="*/ 2147483647 h 184"/>
                <a:gd name="T32" fmla="*/ 2147483647 w 88"/>
                <a:gd name="T33" fmla="*/ 2147483647 h 184"/>
                <a:gd name="T34" fmla="*/ 2147483647 w 88"/>
                <a:gd name="T35" fmla="*/ 2147483647 h 184"/>
                <a:gd name="T36" fmla="*/ 2147483647 w 88"/>
                <a:gd name="T37" fmla="*/ 2147483647 h 184"/>
                <a:gd name="T38" fmla="*/ 2147483647 w 88"/>
                <a:gd name="T39" fmla="*/ 2147483647 h 184"/>
                <a:gd name="T40" fmla="*/ 2147483647 w 88"/>
                <a:gd name="T41" fmla="*/ 2147483647 h 184"/>
                <a:gd name="T42" fmla="*/ 2147483647 w 88"/>
                <a:gd name="T43" fmla="*/ 2147483647 h 184"/>
                <a:gd name="T44" fmla="*/ 2147483647 w 88"/>
                <a:gd name="T45" fmla="*/ 2147483647 h 184"/>
                <a:gd name="T46" fmla="*/ 2147483647 w 88"/>
                <a:gd name="T47" fmla="*/ 2147483647 h 184"/>
                <a:gd name="T48" fmla="*/ 2147483647 w 88"/>
                <a:gd name="T49" fmla="*/ 2147483647 h 184"/>
                <a:gd name="T50" fmla="*/ 2147483647 w 88"/>
                <a:gd name="T51" fmla="*/ 2147483647 h 184"/>
                <a:gd name="T52" fmla="*/ 2147483647 w 88"/>
                <a:gd name="T53" fmla="*/ 2147483647 h 184"/>
                <a:gd name="T54" fmla="*/ 2147483647 w 88"/>
                <a:gd name="T55" fmla="*/ 2147483647 h 184"/>
                <a:gd name="T56" fmla="*/ 2147483647 w 88"/>
                <a:gd name="T57" fmla="*/ 0 h 1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8"/>
                <a:gd name="T88" fmla="*/ 0 h 184"/>
                <a:gd name="T89" fmla="*/ 88 w 88"/>
                <a:gd name="T90" fmla="*/ 184 h 18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8" h="184">
                  <a:moveTo>
                    <a:pt x="40" y="0"/>
                  </a:moveTo>
                  <a:lnTo>
                    <a:pt x="0" y="0"/>
                  </a:lnTo>
                  <a:lnTo>
                    <a:pt x="0" y="16"/>
                  </a:lnTo>
                  <a:lnTo>
                    <a:pt x="8" y="32"/>
                  </a:lnTo>
                  <a:lnTo>
                    <a:pt x="24" y="32"/>
                  </a:lnTo>
                  <a:lnTo>
                    <a:pt x="24" y="40"/>
                  </a:lnTo>
                  <a:lnTo>
                    <a:pt x="24" y="48"/>
                  </a:lnTo>
                  <a:lnTo>
                    <a:pt x="32" y="64"/>
                  </a:lnTo>
                  <a:lnTo>
                    <a:pt x="48" y="88"/>
                  </a:lnTo>
                  <a:lnTo>
                    <a:pt x="64" y="96"/>
                  </a:lnTo>
                  <a:lnTo>
                    <a:pt x="64" y="120"/>
                  </a:lnTo>
                  <a:lnTo>
                    <a:pt x="64" y="144"/>
                  </a:lnTo>
                  <a:lnTo>
                    <a:pt x="48" y="152"/>
                  </a:lnTo>
                  <a:lnTo>
                    <a:pt x="40" y="152"/>
                  </a:lnTo>
                  <a:lnTo>
                    <a:pt x="32" y="160"/>
                  </a:lnTo>
                  <a:lnTo>
                    <a:pt x="24" y="168"/>
                  </a:lnTo>
                  <a:lnTo>
                    <a:pt x="32" y="168"/>
                  </a:lnTo>
                  <a:lnTo>
                    <a:pt x="40" y="184"/>
                  </a:lnTo>
                  <a:lnTo>
                    <a:pt x="72" y="160"/>
                  </a:lnTo>
                  <a:lnTo>
                    <a:pt x="88" y="144"/>
                  </a:lnTo>
                  <a:lnTo>
                    <a:pt x="72" y="88"/>
                  </a:lnTo>
                  <a:lnTo>
                    <a:pt x="64" y="80"/>
                  </a:lnTo>
                  <a:lnTo>
                    <a:pt x="48" y="56"/>
                  </a:lnTo>
                  <a:lnTo>
                    <a:pt x="40" y="40"/>
                  </a:lnTo>
                  <a:lnTo>
                    <a:pt x="48" y="32"/>
                  </a:lnTo>
                  <a:lnTo>
                    <a:pt x="64" y="24"/>
                  </a:lnTo>
                  <a:lnTo>
                    <a:pt x="56" y="16"/>
                  </a:lnTo>
                  <a:lnTo>
                    <a:pt x="4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31" name="Freeform 681"/>
            <p:cNvSpPr>
              <a:spLocks/>
            </p:cNvSpPr>
            <p:nvPr/>
          </p:nvSpPr>
          <p:spPr bwMode="auto">
            <a:xfrm>
              <a:off x="3803187" y="3059878"/>
              <a:ext cx="110024" cy="51113"/>
            </a:xfrm>
            <a:custGeom>
              <a:avLst/>
              <a:gdLst>
                <a:gd name="T0" fmla="*/ 2147483647 w 104"/>
                <a:gd name="T1" fmla="*/ 2147483647 h 48"/>
                <a:gd name="T2" fmla="*/ 2147483647 w 104"/>
                <a:gd name="T3" fmla="*/ 2147483647 h 48"/>
                <a:gd name="T4" fmla="*/ 2147483647 w 104"/>
                <a:gd name="T5" fmla="*/ 0 h 48"/>
                <a:gd name="T6" fmla="*/ 2147483647 w 104"/>
                <a:gd name="T7" fmla="*/ 0 h 48"/>
                <a:gd name="T8" fmla="*/ 0 w 104"/>
                <a:gd name="T9" fmla="*/ 2147483647 h 48"/>
                <a:gd name="T10" fmla="*/ 2147483647 w 104"/>
                <a:gd name="T11" fmla="*/ 2147483647 h 48"/>
                <a:gd name="T12" fmla="*/ 2147483647 w 104"/>
                <a:gd name="T13" fmla="*/ 2147483647 h 48"/>
                <a:gd name="T14" fmla="*/ 2147483647 w 104"/>
                <a:gd name="T15" fmla="*/ 2147483647 h 48"/>
                <a:gd name="T16" fmla="*/ 2147483647 w 104"/>
                <a:gd name="T17" fmla="*/ 2147483647 h 48"/>
                <a:gd name="T18" fmla="*/ 2147483647 w 104"/>
                <a:gd name="T19" fmla="*/ 2147483647 h 48"/>
                <a:gd name="T20" fmla="*/ 2147483647 w 104"/>
                <a:gd name="T21" fmla="*/ 2147483647 h 48"/>
                <a:gd name="T22" fmla="*/ 2147483647 w 104"/>
                <a:gd name="T23" fmla="*/ 2147483647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
                <a:gd name="T37" fmla="*/ 0 h 48"/>
                <a:gd name="T38" fmla="*/ 104 w 104"/>
                <a:gd name="T39" fmla="*/ 48 h 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 h="48">
                  <a:moveTo>
                    <a:pt x="72" y="24"/>
                  </a:moveTo>
                  <a:lnTo>
                    <a:pt x="48" y="8"/>
                  </a:lnTo>
                  <a:lnTo>
                    <a:pt x="16" y="0"/>
                  </a:lnTo>
                  <a:lnTo>
                    <a:pt x="8" y="0"/>
                  </a:lnTo>
                  <a:lnTo>
                    <a:pt x="0" y="16"/>
                  </a:lnTo>
                  <a:lnTo>
                    <a:pt x="40" y="40"/>
                  </a:lnTo>
                  <a:lnTo>
                    <a:pt x="72" y="40"/>
                  </a:lnTo>
                  <a:lnTo>
                    <a:pt x="88" y="48"/>
                  </a:lnTo>
                  <a:lnTo>
                    <a:pt x="96" y="48"/>
                  </a:lnTo>
                  <a:lnTo>
                    <a:pt x="104" y="32"/>
                  </a:lnTo>
                  <a:lnTo>
                    <a:pt x="96" y="24"/>
                  </a:lnTo>
                  <a:lnTo>
                    <a:pt x="72"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32" name="Freeform 682"/>
            <p:cNvSpPr>
              <a:spLocks/>
            </p:cNvSpPr>
            <p:nvPr/>
          </p:nvSpPr>
          <p:spPr bwMode="auto">
            <a:xfrm>
              <a:off x="3726084" y="2635377"/>
              <a:ext cx="814350" cy="568312"/>
            </a:xfrm>
            <a:custGeom>
              <a:avLst/>
              <a:gdLst>
                <a:gd name="T0" fmla="*/ 2147483647 w 768"/>
                <a:gd name="T1" fmla="*/ 2147483647 h 536"/>
                <a:gd name="T2" fmla="*/ 2147483647 w 768"/>
                <a:gd name="T3" fmla="*/ 0 h 536"/>
                <a:gd name="T4" fmla="*/ 2147483647 w 768"/>
                <a:gd name="T5" fmla="*/ 2147483647 h 536"/>
                <a:gd name="T6" fmla="*/ 2147483647 w 768"/>
                <a:gd name="T7" fmla="*/ 2147483647 h 536"/>
                <a:gd name="T8" fmla="*/ 2147483647 w 768"/>
                <a:gd name="T9" fmla="*/ 2147483647 h 536"/>
                <a:gd name="T10" fmla="*/ 2147483647 w 768"/>
                <a:gd name="T11" fmla="*/ 2147483647 h 536"/>
                <a:gd name="T12" fmla="*/ 2147483647 w 768"/>
                <a:gd name="T13" fmla="*/ 2147483647 h 536"/>
                <a:gd name="T14" fmla="*/ 2147483647 w 768"/>
                <a:gd name="T15" fmla="*/ 2147483647 h 536"/>
                <a:gd name="T16" fmla="*/ 2147483647 w 768"/>
                <a:gd name="T17" fmla="*/ 2147483647 h 536"/>
                <a:gd name="T18" fmla="*/ 2147483647 w 768"/>
                <a:gd name="T19" fmla="*/ 2147483647 h 536"/>
                <a:gd name="T20" fmla="*/ 2147483647 w 768"/>
                <a:gd name="T21" fmla="*/ 2147483647 h 536"/>
                <a:gd name="T22" fmla="*/ 2147483647 w 768"/>
                <a:gd name="T23" fmla="*/ 2147483647 h 536"/>
                <a:gd name="T24" fmla="*/ 2147483647 w 768"/>
                <a:gd name="T25" fmla="*/ 2147483647 h 536"/>
                <a:gd name="T26" fmla="*/ 2147483647 w 768"/>
                <a:gd name="T27" fmla="*/ 2147483647 h 536"/>
                <a:gd name="T28" fmla="*/ 0 w 768"/>
                <a:gd name="T29" fmla="*/ 2147483647 h 536"/>
                <a:gd name="T30" fmla="*/ 0 w 768"/>
                <a:gd name="T31" fmla="*/ 2147483647 h 536"/>
                <a:gd name="T32" fmla="*/ 2147483647 w 768"/>
                <a:gd name="T33" fmla="*/ 2147483647 h 536"/>
                <a:gd name="T34" fmla="*/ 2147483647 w 768"/>
                <a:gd name="T35" fmla="*/ 2147483647 h 536"/>
                <a:gd name="T36" fmla="*/ 2147483647 w 768"/>
                <a:gd name="T37" fmla="*/ 2147483647 h 536"/>
                <a:gd name="T38" fmla="*/ 2147483647 w 768"/>
                <a:gd name="T39" fmla="*/ 2147483647 h 536"/>
                <a:gd name="T40" fmla="*/ 2147483647 w 768"/>
                <a:gd name="T41" fmla="*/ 2147483647 h 536"/>
                <a:gd name="T42" fmla="*/ 2147483647 w 768"/>
                <a:gd name="T43" fmla="*/ 2147483647 h 536"/>
                <a:gd name="T44" fmla="*/ 2147483647 w 768"/>
                <a:gd name="T45" fmla="*/ 2147483647 h 536"/>
                <a:gd name="T46" fmla="*/ 2147483647 w 768"/>
                <a:gd name="T47" fmla="*/ 2147483647 h 536"/>
                <a:gd name="T48" fmla="*/ 2147483647 w 768"/>
                <a:gd name="T49" fmla="*/ 2147483647 h 536"/>
                <a:gd name="T50" fmla="*/ 2147483647 w 768"/>
                <a:gd name="T51" fmla="*/ 2147483647 h 536"/>
                <a:gd name="T52" fmla="*/ 2147483647 w 768"/>
                <a:gd name="T53" fmla="*/ 2147483647 h 536"/>
                <a:gd name="T54" fmla="*/ 2147483647 w 768"/>
                <a:gd name="T55" fmla="*/ 2147483647 h 536"/>
                <a:gd name="T56" fmla="*/ 2147483647 w 768"/>
                <a:gd name="T57" fmla="*/ 2147483647 h 536"/>
                <a:gd name="T58" fmla="*/ 2147483647 w 768"/>
                <a:gd name="T59" fmla="*/ 2147483647 h 536"/>
                <a:gd name="T60" fmla="*/ 2147483647 w 768"/>
                <a:gd name="T61" fmla="*/ 2147483647 h 536"/>
                <a:gd name="T62" fmla="*/ 2147483647 w 768"/>
                <a:gd name="T63" fmla="*/ 2147483647 h 536"/>
                <a:gd name="T64" fmla="*/ 2147483647 w 768"/>
                <a:gd name="T65" fmla="*/ 2147483647 h 536"/>
                <a:gd name="T66" fmla="*/ 2147483647 w 768"/>
                <a:gd name="T67" fmla="*/ 2147483647 h 536"/>
                <a:gd name="T68" fmla="*/ 2147483647 w 768"/>
                <a:gd name="T69" fmla="*/ 2147483647 h 536"/>
                <a:gd name="T70" fmla="*/ 2147483647 w 768"/>
                <a:gd name="T71" fmla="*/ 2147483647 h 536"/>
                <a:gd name="T72" fmla="*/ 2147483647 w 768"/>
                <a:gd name="T73" fmla="*/ 2147483647 h 536"/>
                <a:gd name="T74" fmla="*/ 2147483647 w 768"/>
                <a:gd name="T75" fmla="*/ 2147483647 h 536"/>
                <a:gd name="T76" fmla="*/ 2147483647 w 768"/>
                <a:gd name="T77" fmla="*/ 2147483647 h 536"/>
                <a:gd name="T78" fmla="*/ 2147483647 w 768"/>
                <a:gd name="T79" fmla="*/ 2147483647 h 536"/>
                <a:gd name="T80" fmla="*/ 2147483647 w 768"/>
                <a:gd name="T81" fmla="*/ 2147483647 h 536"/>
                <a:gd name="T82" fmla="*/ 2147483647 w 768"/>
                <a:gd name="T83" fmla="*/ 2147483647 h 536"/>
                <a:gd name="T84" fmla="*/ 2147483647 w 768"/>
                <a:gd name="T85" fmla="*/ 2147483647 h 536"/>
                <a:gd name="T86" fmla="*/ 2147483647 w 768"/>
                <a:gd name="T87" fmla="*/ 2147483647 h 536"/>
                <a:gd name="T88" fmla="*/ 2147483647 w 768"/>
                <a:gd name="T89" fmla="*/ 2147483647 h 536"/>
                <a:gd name="T90" fmla="*/ 2147483647 w 768"/>
                <a:gd name="T91" fmla="*/ 2147483647 h 536"/>
                <a:gd name="T92" fmla="*/ 2147483647 w 768"/>
                <a:gd name="T93" fmla="*/ 2147483647 h 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68"/>
                <a:gd name="T142" fmla="*/ 0 h 536"/>
                <a:gd name="T143" fmla="*/ 768 w 768"/>
                <a:gd name="T144" fmla="*/ 536 h 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68" h="536">
                  <a:moveTo>
                    <a:pt x="744" y="152"/>
                  </a:moveTo>
                  <a:lnTo>
                    <a:pt x="768" y="96"/>
                  </a:lnTo>
                  <a:lnTo>
                    <a:pt x="720" y="96"/>
                  </a:lnTo>
                  <a:lnTo>
                    <a:pt x="712" y="80"/>
                  </a:lnTo>
                  <a:lnTo>
                    <a:pt x="680" y="72"/>
                  </a:lnTo>
                  <a:lnTo>
                    <a:pt x="640" y="0"/>
                  </a:lnTo>
                  <a:lnTo>
                    <a:pt x="600" y="0"/>
                  </a:lnTo>
                  <a:lnTo>
                    <a:pt x="592" y="16"/>
                  </a:lnTo>
                  <a:lnTo>
                    <a:pt x="568" y="64"/>
                  </a:lnTo>
                  <a:lnTo>
                    <a:pt x="544" y="64"/>
                  </a:lnTo>
                  <a:lnTo>
                    <a:pt x="536" y="72"/>
                  </a:lnTo>
                  <a:lnTo>
                    <a:pt x="544" y="72"/>
                  </a:lnTo>
                  <a:lnTo>
                    <a:pt x="536" y="72"/>
                  </a:lnTo>
                  <a:lnTo>
                    <a:pt x="528" y="88"/>
                  </a:lnTo>
                  <a:lnTo>
                    <a:pt x="528" y="104"/>
                  </a:lnTo>
                  <a:lnTo>
                    <a:pt x="568" y="112"/>
                  </a:lnTo>
                  <a:lnTo>
                    <a:pt x="576" y="128"/>
                  </a:lnTo>
                  <a:lnTo>
                    <a:pt x="536" y="136"/>
                  </a:lnTo>
                  <a:lnTo>
                    <a:pt x="512" y="152"/>
                  </a:lnTo>
                  <a:lnTo>
                    <a:pt x="480" y="160"/>
                  </a:lnTo>
                  <a:lnTo>
                    <a:pt x="472" y="192"/>
                  </a:lnTo>
                  <a:lnTo>
                    <a:pt x="432" y="192"/>
                  </a:lnTo>
                  <a:lnTo>
                    <a:pt x="384" y="224"/>
                  </a:lnTo>
                  <a:lnTo>
                    <a:pt x="344" y="200"/>
                  </a:lnTo>
                  <a:lnTo>
                    <a:pt x="296" y="200"/>
                  </a:lnTo>
                  <a:lnTo>
                    <a:pt x="264" y="160"/>
                  </a:lnTo>
                  <a:lnTo>
                    <a:pt x="208" y="144"/>
                  </a:lnTo>
                  <a:lnTo>
                    <a:pt x="208" y="104"/>
                  </a:lnTo>
                  <a:lnTo>
                    <a:pt x="184" y="96"/>
                  </a:lnTo>
                  <a:lnTo>
                    <a:pt x="176" y="88"/>
                  </a:lnTo>
                  <a:lnTo>
                    <a:pt x="176" y="96"/>
                  </a:lnTo>
                  <a:lnTo>
                    <a:pt x="176" y="88"/>
                  </a:lnTo>
                  <a:lnTo>
                    <a:pt x="168" y="88"/>
                  </a:lnTo>
                  <a:lnTo>
                    <a:pt x="168" y="96"/>
                  </a:lnTo>
                  <a:lnTo>
                    <a:pt x="168" y="88"/>
                  </a:lnTo>
                  <a:lnTo>
                    <a:pt x="152" y="96"/>
                  </a:lnTo>
                  <a:lnTo>
                    <a:pt x="144" y="120"/>
                  </a:lnTo>
                  <a:lnTo>
                    <a:pt x="112" y="112"/>
                  </a:lnTo>
                  <a:lnTo>
                    <a:pt x="104" y="152"/>
                  </a:lnTo>
                  <a:lnTo>
                    <a:pt x="80" y="160"/>
                  </a:lnTo>
                  <a:lnTo>
                    <a:pt x="72" y="208"/>
                  </a:lnTo>
                  <a:lnTo>
                    <a:pt x="56" y="224"/>
                  </a:lnTo>
                  <a:lnTo>
                    <a:pt x="32" y="240"/>
                  </a:lnTo>
                  <a:lnTo>
                    <a:pt x="0" y="248"/>
                  </a:lnTo>
                  <a:lnTo>
                    <a:pt x="0" y="264"/>
                  </a:lnTo>
                  <a:lnTo>
                    <a:pt x="8" y="272"/>
                  </a:lnTo>
                  <a:lnTo>
                    <a:pt x="8" y="280"/>
                  </a:lnTo>
                  <a:lnTo>
                    <a:pt x="0" y="288"/>
                  </a:lnTo>
                  <a:lnTo>
                    <a:pt x="8" y="296"/>
                  </a:lnTo>
                  <a:lnTo>
                    <a:pt x="24" y="296"/>
                  </a:lnTo>
                  <a:lnTo>
                    <a:pt x="32" y="312"/>
                  </a:lnTo>
                  <a:lnTo>
                    <a:pt x="48" y="312"/>
                  </a:lnTo>
                  <a:lnTo>
                    <a:pt x="72" y="312"/>
                  </a:lnTo>
                  <a:lnTo>
                    <a:pt x="80" y="320"/>
                  </a:lnTo>
                  <a:lnTo>
                    <a:pt x="64" y="344"/>
                  </a:lnTo>
                  <a:lnTo>
                    <a:pt x="64" y="360"/>
                  </a:lnTo>
                  <a:lnTo>
                    <a:pt x="56" y="368"/>
                  </a:lnTo>
                  <a:lnTo>
                    <a:pt x="64" y="384"/>
                  </a:lnTo>
                  <a:lnTo>
                    <a:pt x="88" y="392"/>
                  </a:lnTo>
                  <a:lnTo>
                    <a:pt x="80" y="400"/>
                  </a:lnTo>
                  <a:lnTo>
                    <a:pt x="88" y="400"/>
                  </a:lnTo>
                  <a:lnTo>
                    <a:pt x="120" y="408"/>
                  </a:lnTo>
                  <a:lnTo>
                    <a:pt x="144" y="424"/>
                  </a:lnTo>
                  <a:lnTo>
                    <a:pt x="168" y="424"/>
                  </a:lnTo>
                  <a:lnTo>
                    <a:pt x="176" y="432"/>
                  </a:lnTo>
                  <a:lnTo>
                    <a:pt x="184" y="432"/>
                  </a:lnTo>
                  <a:lnTo>
                    <a:pt x="192" y="440"/>
                  </a:lnTo>
                  <a:lnTo>
                    <a:pt x="208" y="440"/>
                  </a:lnTo>
                  <a:lnTo>
                    <a:pt x="224" y="440"/>
                  </a:lnTo>
                  <a:lnTo>
                    <a:pt x="240" y="424"/>
                  </a:lnTo>
                  <a:lnTo>
                    <a:pt x="256" y="416"/>
                  </a:lnTo>
                  <a:lnTo>
                    <a:pt x="272" y="416"/>
                  </a:lnTo>
                  <a:lnTo>
                    <a:pt x="288" y="424"/>
                  </a:lnTo>
                  <a:lnTo>
                    <a:pt x="296" y="424"/>
                  </a:lnTo>
                  <a:lnTo>
                    <a:pt x="304" y="432"/>
                  </a:lnTo>
                  <a:lnTo>
                    <a:pt x="312" y="448"/>
                  </a:lnTo>
                  <a:lnTo>
                    <a:pt x="304" y="472"/>
                  </a:lnTo>
                  <a:lnTo>
                    <a:pt x="304" y="480"/>
                  </a:lnTo>
                  <a:lnTo>
                    <a:pt x="312" y="488"/>
                  </a:lnTo>
                  <a:lnTo>
                    <a:pt x="320" y="496"/>
                  </a:lnTo>
                  <a:lnTo>
                    <a:pt x="320" y="504"/>
                  </a:lnTo>
                  <a:lnTo>
                    <a:pt x="344" y="512"/>
                  </a:lnTo>
                  <a:lnTo>
                    <a:pt x="336" y="520"/>
                  </a:lnTo>
                  <a:lnTo>
                    <a:pt x="360" y="512"/>
                  </a:lnTo>
                  <a:lnTo>
                    <a:pt x="360" y="496"/>
                  </a:lnTo>
                  <a:lnTo>
                    <a:pt x="400" y="496"/>
                  </a:lnTo>
                  <a:lnTo>
                    <a:pt x="416" y="512"/>
                  </a:lnTo>
                  <a:lnTo>
                    <a:pt x="424" y="520"/>
                  </a:lnTo>
                  <a:lnTo>
                    <a:pt x="432" y="520"/>
                  </a:lnTo>
                  <a:lnTo>
                    <a:pt x="456" y="536"/>
                  </a:lnTo>
                  <a:lnTo>
                    <a:pt x="456" y="520"/>
                  </a:lnTo>
                  <a:lnTo>
                    <a:pt x="488" y="512"/>
                  </a:lnTo>
                  <a:lnTo>
                    <a:pt x="496" y="504"/>
                  </a:lnTo>
                  <a:lnTo>
                    <a:pt x="504" y="504"/>
                  </a:lnTo>
                  <a:lnTo>
                    <a:pt x="512" y="504"/>
                  </a:lnTo>
                  <a:lnTo>
                    <a:pt x="528" y="496"/>
                  </a:lnTo>
                  <a:lnTo>
                    <a:pt x="544" y="488"/>
                  </a:lnTo>
                  <a:lnTo>
                    <a:pt x="568" y="472"/>
                  </a:lnTo>
                  <a:lnTo>
                    <a:pt x="576" y="456"/>
                  </a:lnTo>
                  <a:lnTo>
                    <a:pt x="584" y="440"/>
                  </a:lnTo>
                  <a:lnTo>
                    <a:pt x="600" y="416"/>
                  </a:lnTo>
                  <a:lnTo>
                    <a:pt x="600" y="400"/>
                  </a:lnTo>
                  <a:lnTo>
                    <a:pt x="592" y="392"/>
                  </a:lnTo>
                  <a:lnTo>
                    <a:pt x="600" y="384"/>
                  </a:lnTo>
                  <a:lnTo>
                    <a:pt x="592" y="368"/>
                  </a:lnTo>
                  <a:lnTo>
                    <a:pt x="576" y="328"/>
                  </a:lnTo>
                  <a:lnTo>
                    <a:pt x="576" y="320"/>
                  </a:lnTo>
                  <a:lnTo>
                    <a:pt x="592" y="304"/>
                  </a:lnTo>
                  <a:lnTo>
                    <a:pt x="608" y="296"/>
                  </a:lnTo>
                  <a:lnTo>
                    <a:pt x="608" y="288"/>
                  </a:lnTo>
                  <a:lnTo>
                    <a:pt x="584" y="288"/>
                  </a:lnTo>
                  <a:lnTo>
                    <a:pt x="576" y="288"/>
                  </a:lnTo>
                  <a:lnTo>
                    <a:pt x="568" y="288"/>
                  </a:lnTo>
                  <a:lnTo>
                    <a:pt x="560" y="272"/>
                  </a:lnTo>
                  <a:lnTo>
                    <a:pt x="552" y="264"/>
                  </a:lnTo>
                  <a:lnTo>
                    <a:pt x="568" y="256"/>
                  </a:lnTo>
                  <a:lnTo>
                    <a:pt x="584" y="248"/>
                  </a:lnTo>
                  <a:lnTo>
                    <a:pt x="600" y="232"/>
                  </a:lnTo>
                  <a:lnTo>
                    <a:pt x="608" y="232"/>
                  </a:lnTo>
                  <a:lnTo>
                    <a:pt x="600" y="248"/>
                  </a:lnTo>
                  <a:lnTo>
                    <a:pt x="608" y="256"/>
                  </a:lnTo>
                  <a:lnTo>
                    <a:pt x="616" y="256"/>
                  </a:lnTo>
                  <a:lnTo>
                    <a:pt x="640" y="248"/>
                  </a:lnTo>
                  <a:lnTo>
                    <a:pt x="656" y="256"/>
                  </a:lnTo>
                  <a:lnTo>
                    <a:pt x="664" y="272"/>
                  </a:lnTo>
                  <a:lnTo>
                    <a:pt x="664" y="280"/>
                  </a:lnTo>
                  <a:lnTo>
                    <a:pt x="664" y="304"/>
                  </a:lnTo>
                  <a:lnTo>
                    <a:pt x="656" y="328"/>
                  </a:lnTo>
                  <a:lnTo>
                    <a:pt x="672" y="328"/>
                  </a:lnTo>
                  <a:lnTo>
                    <a:pt x="688" y="320"/>
                  </a:lnTo>
                  <a:lnTo>
                    <a:pt x="696" y="312"/>
                  </a:lnTo>
                  <a:lnTo>
                    <a:pt x="704" y="304"/>
                  </a:lnTo>
                  <a:lnTo>
                    <a:pt x="688" y="272"/>
                  </a:lnTo>
                  <a:lnTo>
                    <a:pt x="688" y="264"/>
                  </a:lnTo>
                  <a:lnTo>
                    <a:pt x="688" y="248"/>
                  </a:lnTo>
                  <a:lnTo>
                    <a:pt x="688" y="240"/>
                  </a:lnTo>
                  <a:lnTo>
                    <a:pt x="680" y="224"/>
                  </a:lnTo>
                  <a:lnTo>
                    <a:pt x="688" y="216"/>
                  </a:lnTo>
                  <a:lnTo>
                    <a:pt x="704" y="200"/>
                  </a:lnTo>
                  <a:lnTo>
                    <a:pt x="720" y="200"/>
                  </a:lnTo>
                  <a:lnTo>
                    <a:pt x="728" y="160"/>
                  </a:lnTo>
                  <a:lnTo>
                    <a:pt x="744" y="15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33" name="Freeform 683"/>
            <p:cNvSpPr>
              <a:spLocks/>
            </p:cNvSpPr>
            <p:nvPr/>
          </p:nvSpPr>
          <p:spPr bwMode="auto">
            <a:xfrm>
              <a:off x="3913211" y="2661367"/>
              <a:ext cx="423635" cy="211384"/>
            </a:xfrm>
            <a:custGeom>
              <a:avLst/>
              <a:gdLst>
                <a:gd name="T0" fmla="*/ 2147483647 w 400"/>
                <a:gd name="T1" fmla="*/ 2147483647 h 200"/>
                <a:gd name="T2" fmla="*/ 2147483647 w 400"/>
                <a:gd name="T3" fmla="*/ 2147483647 h 200"/>
                <a:gd name="T4" fmla="*/ 2147483647 w 400"/>
                <a:gd name="T5" fmla="*/ 2147483647 h 200"/>
                <a:gd name="T6" fmla="*/ 2147483647 w 400"/>
                <a:gd name="T7" fmla="*/ 2147483647 h 200"/>
                <a:gd name="T8" fmla="*/ 2147483647 w 400"/>
                <a:gd name="T9" fmla="*/ 2147483647 h 200"/>
                <a:gd name="T10" fmla="*/ 2147483647 w 400"/>
                <a:gd name="T11" fmla="*/ 2147483647 h 200"/>
                <a:gd name="T12" fmla="*/ 2147483647 w 400"/>
                <a:gd name="T13" fmla="*/ 2147483647 h 200"/>
                <a:gd name="T14" fmla="*/ 2147483647 w 400"/>
                <a:gd name="T15" fmla="*/ 2147483647 h 200"/>
                <a:gd name="T16" fmla="*/ 2147483647 w 400"/>
                <a:gd name="T17" fmla="*/ 2147483647 h 200"/>
                <a:gd name="T18" fmla="*/ 2147483647 w 400"/>
                <a:gd name="T19" fmla="*/ 2147483647 h 200"/>
                <a:gd name="T20" fmla="*/ 2147483647 w 400"/>
                <a:gd name="T21" fmla="*/ 2147483647 h 200"/>
                <a:gd name="T22" fmla="*/ 2147483647 w 400"/>
                <a:gd name="T23" fmla="*/ 2147483647 h 200"/>
                <a:gd name="T24" fmla="*/ 2147483647 w 400"/>
                <a:gd name="T25" fmla="*/ 2147483647 h 200"/>
                <a:gd name="T26" fmla="*/ 2147483647 w 400"/>
                <a:gd name="T27" fmla="*/ 2147483647 h 200"/>
                <a:gd name="T28" fmla="*/ 2147483647 w 400"/>
                <a:gd name="T29" fmla="*/ 2147483647 h 200"/>
                <a:gd name="T30" fmla="*/ 2147483647 w 400"/>
                <a:gd name="T31" fmla="*/ 2147483647 h 200"/>
                <a:gd name="T32" fmla="*/ 2147483647 w 400"/>
                <a:gd name="T33" fmla="*/ 2147483647 h 200"/>
                <a:gd name="T34" fmla="*/ 2147483647 w 400"/>
                <a:gd name="T35" fmla="*/ 2147483647 h 200"/>
                <a:gd name="T36" fmla="*/ 2147483647 w 400"/>
                <a:gd name="T37" fmla="*/ 2147483647 h 200"/>
                <a:gd name="T38" fmla="*/ 2147483647 w 400"/>
                <a:gd name="T39" fmla="*/ 2147483647 h 200"/>
                <a:gd name="T40" fmla="*/ 2147483647 w 400"/>
                <a:gd name="T41" fmla="*/ 2147483647 h 200"/>
                <a:gd name="T42" fmla="*/ 2147483647 w 400"/>
                <a:gd name="T43" fmla="*/ 0 h 200"/>
                <a:gd name="T44" fmla="*/ 2147483647 w 400"/>
                <a:gd name="T45" fmla="*/ 2147483647 h 200"/>
                <a:gd name="T46" fmla="*/ 2147483647 w 400"/>
                <a:gd name="T47" fmla="*/ 2147483647 h 200"/>
                <a:gd name="T48" fmla="*/ 2147483647 w 400"/>
                <a:gd name="T49" fmla="*/ 2147483647 h 200"/>
                <a:gd name="T50" fmla="*/ 2147483647 w 400"/>
                <a:gd name="T51" fmla="*/ 2147483647 h 200"/>
                <a:gd name="T52" fmla="*/ 2147483647 w 400"/>
                <a:gd name="T53" fmla="*/ 2147483647 h 200"/>
                <a:gd name="T54" fmla="*/ 0 w 400"/>
                <a:gd name="T55" fmla="*/ 2147483647 h 200"/>
                <a:gd name="T56" fmla="*/ 2147483647 w 400"/>
                <a:gd name="T57" fmla="*/ 2147483647 h 200"/>
                <a:gd name="T58" fmla="*/ 2147483647 w 400"/>
                <a:gd name="T59" fmla="*/ 2147483647 h 20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00"/>
                <a:gd name="T91" fmla="*/ 0 h 200"/>
                <a:gd name="T92" fmla="*/ 400 w 400"/>
                <a:gd name="T93" fmla="*/ 200 h 20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00" h="200">
                  <a:moveTo>
                    <a:pt x="32" y="80"/>
                  </a:moveTo>
                  <a:lnTo>
                    <a:pt x="32" y="120"/>
                  </a:lnTo>
                  <a:lnTo>
                    <a:pt x="88" y="136"/>
                  </a:lnTo>
                  <a:lnTo>
                    <a:pt x="120" y="176"/>
                  </a:lnTo>
                  <a:lnTo>
                    <a:pt x="168" y="176"/>
                  </a:lnTo>
                  <a:lnTo>
                    <a:pt x="208" y="200"/>
                  </a:lnTo>
                  <a:lnTo>
                    <a:pt x="256" y="168"/>
                  </a:lnTo>
                  <a:lnTo>
                    <a:pt x="296" y="168"/>
                  </a:lnTo>
                  <a:lnTo>
                    <a:pt x="304" y="136"/>
                  </a:lnTo>
                  <a:lnTo>
                    <a:pt x="336" y="128"/>
                  </a:lnTo>
                  <a:lnTo>
                    <a:pt x="360" y="112"/>
                  </a:lnTo>
                  <a:lnTo>
                    <a:pt x="400" y="104"/>
                  </a:lnTo>
                  <a:lnTo>
                    <a:pt x="392" y="88"/>
                  </a:lnTo>
                  <a:lnTo>
                    <a:pt x="352" y="80"/>
                  </a:lnTo>
                  <a:lnTo>
                    <a:pt x="352" y="64"/>
                  </a:lnTo>
                  <a:lnTo>
                    <a:pt x="360" y="48"/>
                  </a:lnTo>
                  <a:lnTo>
                    <a:pt x="336" y="40"/>
                  </a:lnTo>
                  <a:lnTo>
                    <a:pt x="272" y="56"/>
                  </a:lnTo>
                  <a:lnTo>
                    <a:pt x="248" y="32"/>
                  </a:lnTo>
                  <a:lnTo>
                    <a:pt x="208" y="32"/>
                  </a:lnTo>
                  <a:lnTo>
                    <a:pt x="192" y="24"/>
                  </a:lnTo>
                  <a:lnTo>
                    <a:pt x="144" y="0"/>
                  </a:lnTo>
                  <a:lnTo>
                    <a:pt x="128" y="16"/>
                  </a:lnTo>
                  <a:lnTo>
                    <a:pt x="112" y="40"/>
                  </a:lnTo>
                  <a:lnTo>
                    <a:pt x="80" y="32"/>
                  </a:lnTo>
                  <a:lnTo>
                    <a:pt x="40" y="32"/>
                  </a:lnTo>
                  <a:lnTo>
                    <a:pt x="8" y="48"/>
                  </a:lnTo>
                  <a:lnTo>
                    <a:pt x="0" y="64"/>
                  </a:lnTo>
                  <a:lnTo>
                    <a:pt x="8" y="72"/>
                  </a:lnTo>
                  <a:lnTo>
                    <a:pt x="32" y="8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34" name="Freeform 684"/>
            <p:cNvSpPr>
              <a:spLocks/>
            </p:cNvSpPr>
            <p:nvPr/>
          </p:nvSpPr>
          <p:spPr bwMode="auto">
            <a:xfrm>
              <a:off x="3803187" y="3059878"/>
              <a:ext cx="110024" cy="51113"/>
            </a:xfrm>
            <a:custGeom>
              <a:avLst/>
              <a:gdLst>
                <a:gd name="T0" fmla="*/ 2147483647 w 104"/>
                <a:gd name="T1" fmla="*/ 2147483647 h 48"/>
                <a:gd name="T2" fmla="*/ 2147483647 w 104"/>
                <a:gd name="T3" fmla="*/ 2147483647 h 48"/>
                <a:gd name="T4" fmla="*/ 2147483647 w 104"/>
                <a:gd name="T5" fmla="*/ 0 h 48"/>
                <a:gd name="T6" fmla="*/ 2147483647 w 104"/>
                <a:gd name="T7" fmla="*/ 0 h 48"/>
                <a:gd name="T8" fmla="*/ 0 w 104"/>
                <a:gd name="T9" fmla="*/ 2147483647 h 48"/>
                <a:gd name="T10" fmla="*/ 2147483647 w 104"/>
                <a:gd name="T11" fmla="*/ 2147483647 h 48"/>
                <a:gd name="T12" fmla="*/ 2147483647 w 104"/>
                <a:gd name="T13" fmla="*/ 2147483647 h 48"/>
                <a:gd name="T14" fmla="*/ 2147483647 w 104"/>
                <a:gd name="T15" fmla="*/ 2147483647 h 48"/>
                <a:gd name="T16" fmla="*/ 2147483647 w 104"/>
                <a:gd name="T17" fmla="*/ 2147483647 h 48"/>
                <a:gd name="T18" fmla="*/ 2147483647 w 104"/>
                <a:gd name="T19" fmla="*/ 2147483647 h 48"/>
                <a:gd name="T20" fmla="*/ 2147483647 w 104"/>
                <a:gd name="T21" fmla="*/ 2147483647 h 48"/>
                <a:gd name="T22" fmla="*/ 2147483647 w 104"/>
                <a:gd name="T23" fmla="*/ 2147483647 h 48"/>
                <a:gd name="T24" fmla="*/ 2147483647 w 104"/>
                <a:gd name="T25" fmla="*/ 21474836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48"/>
                <a:gd name="T41" fmla="*/ 104 w 104"/>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48">
                  <a:moveTo>
                    <a:pt x="72" y="24"/>
                  </a:moveTo>
                  <a:lnTo>
                    <a:pt x="48" y="8"/>
                  </a:lnTo>
                  <a:lnTo>
                    <a:pt x="16" y="0"/>
                  </a:lnTo>
                  <a:lnTo>
                    <a:pt x="8" y="0"/>
                  </a:lnTo>
                  <a:lnTo>
                    <a:pt x="0" y="16"/>
                  </a:lnTo>
                  <a:lnTo>
                    <a:pt x="40" y="40"/>
                  </a:lnTo>
                  <a:lnTo>
                    <a:pt x="72" y="40"/>
                  </a:lnTo>
                  <a:lnTo>
                    <a:pt x="88" y="48"/>
                  </a:lnTo>
                  <a:lnTo>
                    <a:pt x="96" y="48"/>
                  </a:lnTo>
                  <a:lnTo>
                    <a:pt x="104" y="32"/>
                  </a:lnTo>
                  <a:lnTo>
                    <a:pt x="96" y="24"/>
                  </a:lnTo>
                  <a:lnTo>
                    <a:pt x="72"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35" name="Freeform 685"/>
            <p:cNvSpPr>
              <a:spLocks/>
            </p:cNvSpPr>
            <p:nvPr/>
          </p:nvSpPr>
          <p:spPr bwMode="auto">
            <a:xfrm>
              <a:off x="3913211" y="2661367"/>
              <a:ext cx="423635" cy="211384"/>
            </a:xfrm>
            <a:custGeom>
              <a:avLst/>
              <a:gdLst>
                <a:gd name="T0" fmla="*/ 2147483647 w 400"/>
                <a:gd name="T1" fmla="*/ 2147483647 h 200"/>
                <a:gd name="T2" fmla="*/ 2147483647 w 400"/>
                <a:gd name="T3" fmla="*/ 2147483647 h 200"/>
                <a:gd name="T4" fmla="*/ 2147483647 w 400"/>
                <a:gd name="T5" fmla="*/ 2147483647 h 200"/>
                <a:gd name="T6" fmla="*/ 2147483647 w 400"/>
                <a:gd name="T7" fmla="*/ 2147483647 h 200"/>
                <a:gd name="T8" fmla="*/ 2147483647 w 400"/>
                <a:gd name="T9" fmla="*/ 2147483647 h 200"/>
                <a:gd name="T10" fmla="*/ 2147483647 w 400"/>
                <a:gd name="T11" fmla="*/ 2147483647 h 200"/>
                <a:gd name="T12" fmla="*/ 2147483647 w 400"/>
                <a:gd name="T13" fmla="*/ 2147483647 h 200"/>
                <a:gd name="T14" fmla="*/ 2147483647 w 400"/>
                <a:gd name="T15" fmla="*/ 2147483647 h 200"/>
                <a:gd name="T16" fmla="*/ 2147483647 w 400"/>
                <a:gd name="T17" fmla="*/ 2147483647 h 200"/>
                <a:gd name="T18" fmla="*/ 2147483647 w 400"/>
                <a:gd name="T19" fmla="*/ 2147483647 h 200"/>
                <a:gd name="T20" fmla="*/ 2147483647 w 400"/>
                <a:gd name="T21" fmla="*/ 2147483647 h 200"/>
                <a:gd name="T22" fmla="*/ 2147483647 w 400"/>
                <a:gd name="T23" fmla="*/ 2147483647 h 200"/>
                <a:gd name="T24" fmla="*/ 2147483647 w 400"/>
                <a:gd name="T25" fmla="*/ 2147483647 h 200"/>
                <a:gd name="T26" fmla="*/ 2147483647 w 400"/>
                <a:gd name="T27" fmla="*/ 2147483647 h 200"/>
                <a:gd name="T28" fmla="*/ 2147483647 w 400"/>
                <a:gd name="T29" fmla="*/ 2147483647 h 200"/>
                <a:gd name="T30" fmla="*/ 2147483647 w 400"/>
                <a:gd name="T31" fmla="*/ 2147483647 h 200"/>
                <a:gd name="T32" fmla="*/ 2147483647 w 400"/>
                <a:gd name="T33" fmla="*/ 2147483647 h 200"/>
                <a:gd name="T34" fmla="*/ 2147483647 w 400"/>
                <a:gd name="T35" fmla="*/ 2147483647 h 200"/>
                <a:gd name="T36" fmla="*/ 2147483647 w 400"/>
                <a:gd name="T37" fmla="*/ 2147483647 h 200"/>
                <a:gd name="T38" fmla="*/ 2147483647 w 400"/>
                <a:gd name="T39" fmla="*/ 2147483647 h 200"/>
                <a:gd name="T40" fmla="*/ 2147483647 w 400"/>
                <a:gd name="T41" fmla="*/ 2147483647 h 200"/>
                <a:gd name="T42" fmla="*/ 2147483647 w 400"/>
                <a:gd name="T43" fmla="*/ 0 h 200"/>
                <a:gd name="T44" fmla="*/ 2147483647 w 400"/>
                <a:gd name="T45" fmla="*/ 2147483647 h 200"/>
                <a:gd name="T46" fmla="*/ 2147483647 w 400"/>
                <a:gd name="T47" fmla="*/ 2147483647 h 200"/>
                <a:gd name="T48" fmla="*/ 2147483647 w 400"/>
                <a:gd name="T49" fmla="*/ 2147483647 h 200"/>
                <a:gd name="T50" fmla="*/ 2147483647 w 400"/>
                <a:gd name="T51" fmla="*/ 2147483647 h 200"/>
                <a:gd name="T52" fmla="*/ 2147483647 w 400"/>
                <a:gd name="T53" fmla="*/ 2147483647 h 200"/>
                <a:gd name="T54" fmla="*/ 0 w 400"/>
                <a:gd name="T55" fmla="*/ 2147483647 h 200"/>
                <a:gd name="T56" fmla="*/ 2147483647 w 400"/>
                <a:gd name="T57" fmla="*/ 2147483647 h 200"/>
                <a:gd name="T58" fmla="*/ 2147483647 w 400"/>
                <a:gd name="T59" fmla="*/ 2147483647 h 20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00"/>
                <a:gd name="T91" fmla="*/ 0 h 200"/>
                <a:gd name="T92" fmla="*/ 400 w 400"/>
                <a:gd name="T93" fmla="*/ 200 h 20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00" h="200">
                  <a:moveTo>
                    <a:pt x="32" y="80"/>
                  </a:moveTo>
                  <a:lnTo>
                    <a:pt x="32" y="120"/>
                  </a:lnTo>
                  <a:lnTo>
                    <a:pt x="88" y="136"/>
                  </a:lnTo>
                  <a:lnTo>
                    <a:pt x="120" y="176"/>
                  </a:lnTo>
                  <a:lnTo>
                    <a:pt x="168" y="176"/>
                  </a:lnTo>
                  <a:lnTo>
                    <a:pt x="208" y="200"/>
                  </a:lnTo>
                  <a:lnTo>
                    <a:pt x="256" y="168"/>
                  </a:lnTo>
                  <a:lnTo>
                    <a:pt x="296" y="168"/>
                  </a:lnTo>
                  <a:lnTo>
                    <a:pt x="304" y="136"/>
                  </a:lnTo>
                  <a:lnTo>
                    <a:pt x="336" y="128"/>
                  </a:lnTo>
                  <a:lnTo>
                    <a:pt x="360" y="112"/>
                  </a:lnTo>
                  <a:lnTo>
                    <a:pt x="400" y="104"/>
                  </a:lnTo>
                  <a:lnTo>
                    <a:pt x="392" y="88"/>
                  </a:lnTo>
                  <a:lnTo>
                    <a:pt x="352" y="80"/>
                  </a:lnTo>
                  <a:lnTo>
                    <a:pt x="352" y="64"/>
                  </a:lnTo>
                  <a:lnTo>
                    <a:pt x="360" y="48"/>
                  </a:lnTo>
                  <a:lnTo>
                    <a:pt x="336" y="40"/>
                  </a:lnTo>
                  <a:lnTo>
                    <a:pt x="272" y="56"/>
                  </a:lnTo>
                  <a:lnTo>
                    <a:pt x="248" y="32"/>
                  </a:lnTo>
                  <a:lnTo>
                    <a:pt x="208" y="32"/>
                  </a:lnTo>
                  <a:lnTo>
                    <a:pt x="192" y="24"/>
                  </a:lnTo>
                  <a:lnTo>
                    <a:pt x="144" y="0"/>
                  </a:lnTo>
                  <a:lnTo>
                    <a:pt x="128" y="16"/>
                  </a:lnTo>
                  <a:lnTo>
                    <a:pt x="112" y="40"/>
                  </a:lnTo>
                  <a:lnTo>
                    <a:pt x="80" y="32"/>
                  </a:lnTo>
                  <a:lnTo>
                    <a:pt x="40" y="32"/>
                  </a:lnTo>
                  <a:lnTo>
                    <a:pt x="8" y="48"/>
                  </a:lnTo>
                  <a:lnTo>
                    <a:pt x="0" y="64"/>
                  </a:lnTo>
                  <a:lnTo>
                    <a:pt x="8" y="72"/>
                  </a:lnTo>
                  <a:lnTo>
                    <a:pt x="32" y="8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36" name="Freeform 686"/>
            <p:cNvSpPr>
              <a:spLocks/>
            </p:cNvSpPr>
            <p:nvPr/>
          </p:nvSpPr>
          <p:spPr bwMode="auto">
            <a:xfrm>
              <a:off x="3005297" y="2151965"/>
              <a:ext cx="144677" cy="314477"/>
            </a:xfrm>
            <a:custGeom>
              <a:avLst/>
              <a:gdLst>
                <a:gd name="T0" fmla="*/ 2147483647 w 136"/>
                <a:gd name="T1" fmla="*/ 2147483647 h 296"/>
                <a:gd name="T2" fmla="*/ 2147483647 w 136"/>
                <a:gd name="T3" fmla="*/ 2147483647 h 296"/>
                <a:gd name="T4" fmla="*/ 2147483647 w 136"/>
                <a:gd name="T5" fmla="*/ 2147483647 h 296"/>
                <a:gd name="T6" fmla="*/ 2147483647 w 136"/>
                <a:gd name="T7" fmla="*/ 2147483647 h 296"/>
                <a:gd name="T8" fmla="*/ 2147483647 w 136"/>
                <a:gd name="T9" fmla="*/ 2147483647 h 296"/>
                <a:gd name="T10" fmla="*/ 2147483647 w 136"/>
                <a:gd name="T11" fmla="*/ 2147483647 h 296"/>
                <a:gd name="T12" fmla="*/ 2147483647 w 136"/>
                <a:gd name="T13" fmla="*/ 2147483647 h 296"/>
                <a:gd name="T14" fmla="*/ 2147483647 w 136"/>
                <a:gd name="T15" fmla="*/ 2147483647 h 296"/>
                <a:gd name="T16" fmla="*/ 2147483647 w 136"/>
                <a:gd name="T17" fmla="*/ 2147483647 h 296"/>
                <a:gd name="T18" fmla="*/ 2147483647 w 136"/>
                <a:gd name="T19" fmla="*/ 2147483647 h 296"/>
                <a:gd name="T20" fmla="*/ 2147483647 w 136"/>
                <a:gd name="T21" fmla="*/ 2147483647 h 296"/>
                <a:gd name="T22" fmla="*/ 2147483647 w 136"/>
                <a:gd name="T23" fmla="*/ 2147483647 h 296"/>
                <a:gd name="T24" fmla="*/ 2147483647 w 136"/>
                <a:gd name="T25" fmla="*/ 2147483647 h 296"/>
                <a:gd name="T26" fmla="*/ 2147483647 w 136"/>
                <a:gd name="T27" fmla="*/ 2147483647 h 296"/>
                <a:gd name="T28" fmla="*/ 2147483647 w 136"/>
                <a:gd name="T29" fmla="*/ 2147483647 h 296"/>
                <a:gd name="T30" fmla="*/ 2147483647 w 136"/>
                <a:gd name="T31" fmla="*/ 2147483647 h 296"/>
                <a:gd name="T32" fmla="*/ 2147483647 w 136"/>
                <a:gd name="T33" fmla="*/ 2147483647 h 296"/>
                <a:gd name="T34" fmla="*/ 2147483647 w 136"/>
                <a:gd name="T35" fmla="*/ 0 h 296"/>
                <a:gd name="T36" fmla="*/ 2147483647 w 136"/>
                <a:gd name="T37" fmla="*/ 0 h 296"/>
                <a:gd name="T38" fmla="*/ 2147483647 w 136"/>
                <a:gd name="T39" fmla="*/ 2147483647 h 296"/>
                <a:gd name="T40" fmla="*/ 2147483647 w 136"/>
                <a:gd name="T41" fmla="*/ 2147483647 h 296"/>
                <a:gd name="T42" fmla="*/ 2147483647 w 136"/>
                <a:gd name="T43" fmla="*/ 2147483647 h 296"/>
                <a:gd name="T44" fmla="*/ 2147483647 w 136"/>
                <a:gd name="T45" fmla="*/ 2147483647 h 296"/>
                <a:gd name="T46" fmla="*/ 2147483647 w 136"/>
                <a:gd name="T47" fmla="*/ 2147483647 h 296"/>
                <a:gd name="T48" fmla="*/ 2147483647 w 136"/>
                <a:gd name="T49" fmla="*/ 2147483647 h 296"/>
                <a:gd name="T50" fmla="*/ 2147483647 w 136"/>
                <a:gd name="T51" fmla="*/ 2147483647 h 296"/>
                <a:gd name="T52" fmla="*/ 2147483647 w 136"/>
                <a:gd name="T53" fmla="*/ 2147483647 h 296"/>
                <a:gd name="T54" fmla="*/ 0 w 136"/>
                <a:gd name="T55" fmla="*/ 2147483647 h 296"/>
                <a:gd name="T56" fmla="*/ 2147483647 w 136"/>
                <a:gd name="T57" fmla="*/ 2147483647 h 296"/>
                <a:gd name="T58" fmla="*/ 2147483647 w 136"/>
                <a:gd name="T59" fmla="*/ 2147483647 h 296"/>
                <a:gd name="T60" fmla="*/ 2147483647 w 136"/>
                <a:gd name="T61" fmla="*/ 2147483647 h 296"/>
                <a:gd name="T62" fmla="*/ 2147483647 w 136"/>
                <a:gd name="T63" fmla="*/ 2147483647 h 296"/>
                <a:gd name="T64" fmla="*/ 2147483647 w 136"/>
                <a:gd name="T65" fmla="*/ 2147483647 h 296"/>
                <a:gd name="T66" fmla="*/ 2147483647 w 136"/>
                <a:gd name="T67" fmla="*/ 2147483647 h 296"/>
                <a:gd name="T68" fmla="*/ 2147483647 w 136"/>
                <a:gd name="T69" fmla="*/ 2147483647 h 296"/>
                <a:gd name="T70" fmla="*/ 2147483647 w 136"/>
                <a:gd name="T71" fmla="*/ 2147483647 h 296"/>
                <a:gd name="T72" fmla="*/ 2147483647 w 136"/>
                <a:gd name="T73" fmla="*/ 2147483647 h 296"/>
                <a:gd name="T74" fmla="*/ 2147483647 w 136"/>
                <a:gd name="T75" fmla="*/ 2147483647 h 296"/>
                <a:gd name="T76" fmla="*/ 2147483647 w 136"/>
                <a:gd name="T77" fmla="*/ 2147483647 h 296"/>
                <a:gd name="T78" fmla="*/ 2147483647 w 136"/>
                <a:gd name="T79" fmla="*/ 2147483647 h 296"/>
                <a:gd name="T80" fmla="*/ 2147483647 w 136"/>
                <a:gd name="T81" fmla="*/ 2147483647 h 296"/>
                <a:gd name="T82" fmla="*/ 2147483647 w 136"/>
                <a:gd name="T83" fmla="*/ 2147483647 h 296"/>
                <a:gd name="T84" fmla="*/ 2147483647 w 136"/>
                <a:gd name="T85" fmla="*/ 2147483647 h 296"/>
                <a:gd name="T86" fmla="*/ 2147483647 w 136"/>
                <a:gd name="T87" fmla="*/ 2147483647 h 296"/>
                <a:gd name="T88" fmla="*/ 2147483647 w 136"/>
                <a:gd name="T89" fmla="*/ 2147483647 h 296"/>
                <a:gd name="T90" fmla="*/ 2147483647 w 136"/>
                <a:gd name="T91" fmla="*/ 2147483647 h 296"/>
                <a:gd name="T92" fmla="*/ 2147483647 w 136"/>
                <a:gd name="T93" fmla="*/ 2147483647 h 296"/>
                <a:gd name="T94" fmla="*/ 2147483647 w 136"/>
                <a:gd name="T95" fmla="*/ 2147483647 h 296"/>
                <a:gd name="T96" fmla="*/ 2147483647 w 136"/>
                <a:gd name="T97" fmla="*/ 2147483647 h 296"/>
                <a:gd name="T98" fmla="*/ 2147483647 w 136"/>
                <a:gd name="T99" fmla="*/ 2147483647 h 296"/>
                <a:gd name="T100" fmla="*/ 2147483647 w 136"/>
                <a:gd name="T101" fmla="*/ 2147483647 h 296"/>
                <a:gd name="T102" fmla="*/ 2147483647 w 136"/>
                <a:gd name="T103" fmla="*/ 2147483647 h 296"/>
                <a:gd name="T104" fmla="*/ 2147483647 w 136"/>
                <a:gd name="T105" fmla="*/ 2147483647 h 29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6"/>
                <a:gd name="T160" fmla="*/ 0 h 296"/>
                <a:gd name="T161" fmla="*/ 136 w 136"/>
                <a:gd name="T162" fmla="*/ 296 h 29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6" h="296">
                  <a:moveTo>
                    <a:pt x="136" y="216"/>
                  </a:moveTo>
                  <a:lnTo>
                    <a:pt x="128" y="216"/>
                  </a:lnTo>
                  <a:lnTo>
                    <a:pt x="120" y="208"/>
                  </a:lnTo>
                  <a:lnTo>
                    <a:pt x="128" y="184"/>
                  </a:lnTo>
                  <a:lnTo>
                    <a:pt x="120" y="176"/>
                  </a:lnTo>
                  <a:lnTo>
                    <a:pt x="120" y="168"/>
                  </a:lnTo>
                  <a:lnTo>
                    <a:pt x="120" y="160"/>
                  </a:lnTo>
                  <a:lnTo>
                    <a:pt x="112" y="152"/>
                  </a:lnTo>
                  <a:lnTo>
                    <a:pt x="120" y="144"/>
                  </a:lnTo>
                  <a:lnTo>
                    <a:pt x="112" y="104"/>
                  </a:lnTo>
                  <a:lnTo>
                    <a:pt x="120" y="80"/>
                  </a:lnTo>
                  <a:lnTo>
                    <a:pt x="112" y="64"/>
                  </a:lnTo>
                  <a:lnTo>
                    <a:pt x="104" y="56"/>
                  </a:lnTo>
                  <a:lnTo>
                    <a:pt x="104" y="40"/>
                  </a:lnTo>
                  <a:lnTo>
                    <a:pt x="104" y="32"/>
                  </a:lnTo>
                  <a:lnTo>
                    <a:pt x="112" y="24"/>
                  </a:lnTo>
                  <a:lnTo>
                    <a:pt x="112" y="8"/>
                  </a:lnTo>
                  <a:lnTo>
                    <a:pt x="96" y="0"/>
                  </a:lnTo>
                  <a:lnTo>
                    <a:pt x="80" y="0"/>
                  </a:lnTo>
                  <a:lnTo>
                    <a:pt x="72" y="8"/>
                  </a:lnTo>
                  <a:lnTo>
                    <a:pt x="64" y="32"/>
                  </a:lnTo>
                  <a:lnTo>
                    <a:pt x="48" y="40"/>
                  </a:lnTo>
                  <a:lnTo>
                    <a:pt x="32" y="40"/>
                  </a:lnTo>
                  <a:lnTo>
                    <a:pt x="24" y="40"/>
                  </a:lnTo>
                  <a:lnTo>
                    <a:pt x="16" y="32"/>
                  </a:lnTo>
                  <a:lnTo>
                    <a:pt x="8" y="24"/>
                  </a:lnTo>
                  <a:lnTo>
                    <a:pt x="8" y="32"/>
                  </a:lnTo>
                  <a:lnTo>
                    <a:pt x="0" y="32"/>
                  </a:lnTo>
                  <a:lnTo>
                    <a:pt x="8" y="40"/>
                  </a:lnTo>
                  <a:lnTo>
                    <a:pt x="16" y="48"/>
                  </a:lnTo>
                  <a:lnTo>
                    <a:pt x="24" y="56"/>
                  </a:lnTo>
                  <a:lnTo>
                    <a:pt x="32" y="56"/>
                  </a:lnTo>
                  <a:lnTo>
                    <a:pt x="40" y="72"/>
                  </a:lnTo>
                  <a:lnTo>
                    <a:pt x="40" y="88"/>
                  </a:lnTo>
                  <a:lnTo>
                    <a:pt x="40" y="104"/>
                  </a:lnTo>
                  <a:lnTo>
                    <a:pt x="40" y="112"/>
                  </a:lnTo>
                  <a:lnTo>
                    <a:pt x="40" y="120"/>
                  </a:lnTo>
                  <a:lnTo>
                    <a:pt x="40" y="136"/>
                  </a:lnTo>
                  <a:lnTo>
                    <a:pt x="40" y="144"/>
                  </a:lnTo>
                  <a:lnTo>
                    <a:pt x="48" y="144"/>
                  </a:lnTo>
                  <a:lnTo>
                    <a:pt x="56" y="160"/>
                  </a:lnTo>
                  <a:lnTo>
                    <a:pt x="40" y="192"/>
                  </a:lnTo>
                  <a:lnTo>
                    <a:pt x="16" y="208"/>
                  </a:lnTo>
                  <a:lnTo>
                    <a:pt x="8" y="232"/>
                  </a:lnTo>
                  <a:lnTo>
                    <a:pt x="8" y="264"/>
                  </a:lnTo>
                  <a:lnTo>
                    <a:pt x="16" y="280"/>
                  </a:lnTo>
                  <a:lnTo>
                    <a:pt x="24" y="288"/>
                  </a:lnTo>
                  <a:lnTo>
                    <a:pt x="32" y="296"/>
                  </a:lnTo>
                  <a:lnTo>
                    <a:pt x="48" y="296"/>
                  </a:lnTo>
                  <a:lnTo>
                    <a:pt x="80" y="288"/>
                  </a:lnTo>
                  <a:lnTo>
                    <a:pt x="88" y="288"/>
                  </a:lnTo>
                  <a:lnTo>
                    <a:pt x="136" y="232"/>
                  </a:lnTo>
                  <a:lnTo>
                    <a:pt x="136" y="2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37" name="Freeform 687"/>
            <p:cNvSpPr>
              <a:spLocks/>
            </p:cNvSpPr>
            <p:nvPr/>
          </p:nvSpPr>
          <p:spPr bwMode="auto">
            <a:xfrm>
              <a:off x="3158638" y="2652703"/>
              <a:ext cx="7797" cy="8663"/>
            </a:xfrm>
            <a:custGeom>
              <a:avLst/>
              <a:gdLst>
                <a:gd name="T0" fmla="*/ 2147483647 w 8"/>
                <a:gd name="T1" fmla="*/ 2147483647 h 8"/>
                <a:gd name="T2" fmla="*/ 0 w 8"/>
                <a:gd name="T3" fmla="*/ 0 h 8"/>
                <a:gd name="T4" fmla="*/ 0 w 8"/>
                <a:gd name="T5" fmla="*/ 2147483647 h 8"/>
                <a:gd name="T6" fmla="*/ 2147483647 w 8"/>
                <a:gd name="T7" fmla="*/ 2147483647 h 8"/>
                <a:gd name="T8" fmla="*/ 0 60000 65536"/>
                <a:gd name="T9" fmla="*/ 0 60000 65536"/>
                <a:gd name="T10" fmla="*/ 0 60000 65536"/>
                <a:gd name="T11" fmla="*/ 0 60000 65536"/>
                <a:gd name="T12" fmla="*/ 0 w 8"/>
                <a:gd name="T13" fmla="*/ 0 h 8"/>
                <a:gd name="T14" fmla="*/ 8 w 8"/>
                <a:gd name="T15" fmla="*/ 8 h 8"/>
              </a:gdLst>
              <a:ahLst/>
              <a:cxnLst>
                <a:cxn ang="T8">
                  <a:pos x="T0" y="T1"/>
                </a:cxn>
                <a:cxn ang="T9">
                  <a:pos x="T2" y="T3"/>
                </a:cxn>
                <a:cxn ang="T10">
                  <a:pos x="T4" y="T5"/>
                </a:cxn>
                <a:cxn ang="T11">
                  <a:pos x="T6" y="T7"/>
                </a:cxn>
              </a:cxnLst>
              <a:rect l="T12" t="T13" r="T14" b="T15"/>
              <a:pathLst>
                <a:path w="8" h="8">
                  <a:moveTo>
                    <a:pt x="8" y="8"/>
                  </a:moveTo>
                  <a:lnTo>
                    <a:pt x="0" y="0"/>
                  </a:lnTo>
                  <a:lnTo>
                    <a:pt x="0" y="8"/>
                  </a:lnTo>
                  <a:lnTo>
                    <a:pt x="8"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38" name="Freeform 688"/>
            <p:cNvSpPr>
              <a:spLocks/>
            </p:cNvSpPr>
            <p:nvPr/>
          </p:nvSpPr>
          <p:spPr bwMode="auto">
            <a:xfrm>
              <a:off x="3098861" y="1795903"/>
              <a:ext cx="2052335" cy="1102838"/>
            </a:xfrm>
            <a:custGeom>
              <a:avLst/>
              <a:gdLst>
                <a:gd name="T0" fmla="*/ 2147483647 w 1936"/>
                <a:gd name="T1" fmla="*/ 2147483647 h 1040"/>
                <a:gd name="T2" fmla="*/ 2147483647 w 1936"/>
                <a:gd name="T3" fmla="*/ 2147483647 h 1040"/>
                <a:gd name="T4" fmla="*/ 2147483647 w 1936"/>
                <a:gd name="T5" fmla="*/ 2147483647 h 1040"/>
                <a:gd name="T6" fmla="*/ 2147483647 w 1936"/>
                <a:gd name="T7" fmla="*/ 2147483647 h 1040"/>
                <a:gd name="T8" fmla="*/ 2147483647 w 1936"/>
                <a:gd name="T9" fmla="*/ 2147483647 h 1040"/>
                <a:gd name="T10" fmla="*/ 2147483647 w 1936"/>
                <a:gd name="T11" fmla="*/ 2147483647 h 1040"/>
                <a:gd name="T12" fmla="*/ 2147483647 w 1936"/>
                <a:gd name="T13" fmla="*/ 2147483647 h 1040"/>
                <a:gd name="T14" fmla="*/ 2147483647 w 1936"/>
                <a:gd name="T15" fmla="*/ 2147483647 h 1040"/>
                <a:gd name="T16" fmla="*/ 2147483647 w 1936"/>
                <a:gd name="T17" fmla="*/ 2147483647 h 1040"/>
                <a:gd name="T18" fmla="*/ 2147483647 w 1936"/>
                <a:gd name="T19" fmla="*/ 2147483647 h 1040"/>
                <a:gd name="T20" fmla="*/ 2147483647 w 1936"/>
                <a:gd name="T21" fmla="*/ 2147483647 h 1040"/>
                <a:gd name="T22" fmla="*/ 2147483647 w 1936"/>
                <a:gd name="T23" fmla="*/ 2147483647 h 1040"/>
                <a:gd name="T24" fmla="*/ 2147483647 w 1936"/>
                <a:gd name="T25" fmla="*/ 2147483647 h 1040"/>
                <a:gd name="T26" fmla="*/ 2147483647 w 1936"/>
                <a:gd name="T27" fmla="*/ 2147483647 h 1040"/>
                <a:gd name="T28" fmla="*/ 2147483647 w 1936"/>
                <a:gd name="T29" fmla="*/ 2147483647 h 1040"/>
                <a:gd name="T30" fmla="*/ 2147483647 w 1936"/>
                <a:gd name="T31" fmla="*/ 2147483647 h 1040"/>
                <a:gd name="T32" fmla="*/ 2147483647 w 1936"/>
                <a:gd name="T33" fmla="*/ 2147483647 h 1040"/>
                <a:gd name="T34" fmla="*/ 2147483647 w 1936"/>
                <a:gd name="T35" fmla="*/ 2147483647 h 1040"/>
                <a:gd name="T36" fmla="*/ 2147483647 w 1936"/>
                <a:gd name="T37" fmla="*/ 2147483647 h 1040"/>
                <a:gd name="T38" fmla="*/ 2147483647 w 1936"/>
                <a:gd name="T39" fmla="*/ 2147483647 h 1040"/>
                <a:gd name="T40" fmla="*/ 2147483647 w 1936"/>
                <a:gd name="T41" fmla="*/ 2147483647 h 1040"/>
                <a:gd name="T42" fmla="*/ 2147483647 w 1936"/>
                <a:gd name="T43" fmla="*/ 2147483647 h 1040"/>
                <a:gd name="T44" fmla="*/ 2147483647 w 1936"/>
                <a:gd name="T45" fmla="*/ 2147483647 h 1040"/>
                <a:gd name="T46" fmla="*/ 2147483647 w 1936"/>
                <a:gd name="T47" fmla="*/ 2147483647 h 1040"/>
                <a:gd name="T48" fmla="*/ 2147483647 w 1936"/>
                <a:gd name="T49" fmla="*/ 2147483647 h 1040"/>
                <a:gd name="T50" fmla="*/ 2147483647 w 1936"/>
                <a:gd name="T51" fmla="*/ 2147483647 h 1040"/>
                <a:gd name="T52" fmla="*/ 2147483647 w 1936"/>
                <a:gd name="T53" fmla="*/ 2147483647 h 1040"/>
                <a:gd name="T54" fmla="*/ 2147483647 w 1936"/>
                <a:gd name="T55" fmla="*/ 2147483647 h 1040"/>
                <a:gd name="T56" fmla="*/ 2147483647 w 1936"/>
                <a:gd name="T57" fmla="*/ 2147483647 h 1040"/>
                <a:gd name="T58" fmla="*/ 2147483647 w 1936"/>
                <a:gd name="T59" fmla="*/ 2147483647 h 1040"/>
                <a:gd name="T60" fmla="*/ 2147483647 w 1936"/>
                <a:gd name="T61" fmla="*/ 2147483647 h 1040"/>
                <a:gd name="T62" fmla="*/ 2147483647 w 1936"/>
                <a:gd name="T63" fmla="*/ 2147483647 h 1040"/>
                <a:gd name="T64" fmla="*/ 2147483647 w 1936"/>
                <a:gd name="T65" fmla="*/ 2147483647 h 1040"/>
                <a:gd name="T66" fmla="*/ 2147483647 w 1936"/>
                <a:gd name="T67" fmla="*/ 2147483647 h 1040"/>
                <a:gd name="T68" fmla="*/ 2147483647 w 1936"/>
                <a:gd name="T69" fmla="*/ 2147483647 h 1040"/>
                <a:gd name="T70" fmla="*/ 2147483647 w 1936"/>
                <a:gd name="T71" fmla="*/ 2147483647 h 1040"/>
                <a:gd name="T72" fmla="*/ 2147483647 w 1936"/>
                <a:gd name="T73" fmla="*/ 2147483647 h 1040"/>
                <a:gd name="T74" fmla="*/ 2147483647 w 1936"/>
                <a:gd name="T75" fmla="*/ 2147483647 h 1040"/>
                <a:gd name="T76" fmla="*/ 2147483647 w 1936"/>
                <a:gd name="T77" fmla="*/ 2147483647 h 1040"/>
                <a:gd name="T78" fmla="*/ 2147483647 w 1936"/>
                <a:gd name="T79" fmla="*/ 2147483647 h 1040"/>
                <a:gd name="T80" fmla="*/ 2147483647 w 1936"/>
                <a:gd name="T81" fmla="*/ 2147483647 h 1040"/>
                <a:gd name="T82" fmla="*/ 2147483647 w 1936"/>
                <a:gd name="T83" fmla="*/ 2147483647 h 1040"/>
                <a:gd name="T84" fmla="*/ 2147483647 w 1936"/>
                <a:gd name="T85" fmla="*/ 2147483647 h 1040"/>
                <a:gd name="T86" fmla="*/ 2147483647 w 1936"/>
                <a:gd name="T87" fmla="*/ 2147483647 h 1040"/>
                <a:gd name="T88" fmla="*/ 2147483647 w 1936"/>
                <a:gd name="T89" fmla="*/ 2147483647 h 1040"/>
                <a:gd name="T90" fmla="*/ 2147483647 w 1936"/>
                <a:gd name="T91" fmla="*/ 2147483647 h 1040"/>
                <a:gd name="T92" fmla="*/ 2147483647 w 1936"/>
                <a:gd name="T93" fmla="*/ 2147483647 h 1040"/>
                <a:gd name="T94" fmla="*/ 2147483647 w 1936"/>
                <a:gd name="T95" fmla="*/ 2147483647 h 1040"/>
                <a:gd name="T96" fmla="*/ 2147483647 w 1936"/>
                <a:gd name="T97" fmla="*/ 2147483647 h 1040"/>
                <a:gd name="T98" fmla="*/ 2147483647 w 1936"/>
                <a:gd name="T99" fmla="*/ 2147483647 h 1040"/>
                <a:gd name="T100" fmla="*/ 2147483647 w 1936"/>
                <a:gd name="T101" fmla="*/ 2147483647 h 1040"/>
                <a:gd name="T102" fmla="*/ 2147483647 w 1936"/>
                <a:gd name="T103" fmla="*/ 2147483647 h 1040"/>
                <a:gd name="T104" fmla="*/ 2147483647 w 1936"/>
                <a:gd name="T105" fmla="*/ 2147483647 h 1040"/>
                <a:gd name="T106" fmla="*/ 2147483647 w 1936"/>
                <a:gd name="T107" fmla="*/ 2147483647 h 1040"/>
                <a:gd name="T108" fmla="*/ 2147483647 w 1936"/>
                <a:gd name="T109" fmla="*/ 2147483647 h 1040"/>
                <a:gd name="T110" fmla="*/ 2147483647 w 1936"/>
                <a:gd name="T111" fmla="*/ 2147483647 h 1040"/>
                <a:gd name="T112" fmla="*/ 2147483647 w 1936"/>
                <a:gd name="T113" fmla="*/ 2147483647 h 1040"/>
                <a:gd name="T114" fmla="*/ 2147483647 w 1936"/>
                <a:gd name="T115" fmla="*/ 2147483647 h 1040"/>
                <a:gd name="T116" fmla="*/ 2147483647 w 1936"/>
                <a:gd name="T117" fmla="*/ 2147483647 h 1040"/>
                <a:gd name="T118" fmla="*/ 2147483647 w 1936"/>
                <a:gd name="T119" fmla="*/ 2147483647 h 1040"/>
                <a:gd name="T120" fmla="*/ 2147483647 w 1936"/>
                <a:gd name="T121" fmla="*/ 2147483647 h 104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36"/>
                <a:gd name="T184" fmla="*/ 0 h 1040"/>
                <a:gd name="T185" fmla="*/ 1936 w 1936"/>
                <a:gd name="T186" fmla="*/ 1040 h 104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36" h="1040">
                  <a:moveTo>
                    <a:pt x="1928" y="504"/>
                  </a:moveTo>
                  <a:lnTo>
                    <a:pt x="1936" y="384"/>
                  </a:lnTo>
                  <a:lnTo>
                    <a:pt x="1920" y="376"/>
                  </a:lnTo>
                  <a:lnTo>
                    <a:pt x="1912" y="376"/>
                  </a:lnTo>
                  <a:lnTo>
                    <a:pt x="1896" y="360"/>
                  </a:lnTo>
                  <a:lnTo>
                    <a:pt x="1880" y="352"/>
                  </a:lnTo>
                  <a:lnTo>
                    <a:pt x="1856" y="352"/>
                  </a:lnTo>
                  <a:lnTo>
                    <a:pt x="1840" y="344"/>
                  </a:lnTo>
                  <a:lnTo>
                    <a:pt x="1824" y="344"/>
                  </a:lnTo>
                  <a:lnTo>
                    <a:pt x="1816" y="344"/>
                  </a:lnTo>
                  <a:lnTo>
                    <a:pt x="1824" y="376"/>
                  </a:lnTo>
                  <a:lnTo>
                    <a:pt x="1808" y="384"/>
                  </a:lnTo>
                  <a:lnTo>
                    <a:pt x="1792" y="376"/>
                  </a:lnTo>
                  <a:lnTo>
                    <a:pt x="1784" y="360"/>
                  </a:lnTo>
                  <a:lnTo>
                    <a:pt x="1784" y="352"/>
                  </a:lnTo>
                  <a:lnTo>
                    <a:pt x="1760" y="352"/>
                  </a:lnTo>
                  <a:lnTo>
                    <a:pt x="1752" y="360"/>
                  </a:lnTo>
                  <a:lnTo>
                    <a:pt x="1728" y="352"/>
                  </a:lnTo>
                  <a:lnTo>
                    <a:pt x="1704" y="352"/>
                  </a:lnTo>
                  <a:lnTo>
                    <a:pt x="1696" y="360"/>
                  </a:lnTo>
                  <a:lnTo>
                    <a:pt x="1680" y="344"/>
                  </a:lnTo>
                  <a:lnTo>
                    <a:pt x="1680" y="320"/>
                  </a:lnTo>
                  <a:lnTo>
                    <a:pt x="1656" y="304"/>
                  </a:lnTo>
                  <a:lnTo>
                    <a:pt x="1616" y="304"/>
                  </a:lnTo>
                  <a:lnTo>
                    <a:pt x="1576" y="304"/>
                  </a:lnTo>
                  <a:lnTo>
                    <a:pt x="1576" y="296"/>
                  </a:lnTo>
                  <a:lnTo>
                    <a:pt x="1568" y="288"/>
                  </a:lnTo>
                  <a:lnTo>
                    <a:pt x="1544" y="272"/>
                  </a:lnTo>
                  <a:lnTo>
                    <a:pt x="1544" y="256"/>
                  </a:lnTo>
                  <a:lnTo>
                    <a:pt x="1448" y="232"/>
                  </a:lnTo>
                  <a:lnTo>
                    <a:pt x="1448" y="240"/>
                  </a:lnTo>
                  <a:lnTo>
                    <a:pt x="1424" y="256"/>
                  </a:lnTo>
                  <a:lnTo>
                    <a:pt x="1432" y="280"/>
                  </a:lnTo>
                  <a:lnTo>
                    <a:pt x="1408" y="288"/>
                  </a:lnTo>
                  <a:lnTo>
                    <a:pt x="1392" y="288"/>
                  </a:lnTo>
                  <a:lnTo>
                    <a:pt x="1368" y="280"/>
                  </a:lnTo>
                  <a:lnTo>
                    <a:pt x="1360" y="288"/>
                  </a:lnTo>
                  <a:lnTo>
                    <a:pt x="1344" y="280"/>
                  </a:lnTo>
                  <a:lnTo>
                    <a:pt x="1328" y="272"/>
                  </a:lnTo>
                  <a:lnTo>
                    <a:pt x="1328" y="296"/>
                  </a:lnTo>
                  <a:lnTo>
                    <a:pt x="1312" y="312"/>
                  </a:lnTo>
                  <a:lnTo>
                    <a:pt x="1296" y="288"/>
                  </a:lnTo>
                  <a:lnTo>
                    <a:pt x="1280" y="264"/>
                  </a:lnTo>
                  <a:lnTo>
                    <a:pt x="1296" y="240"/>
                  </a:lnTo>
                  <a:lnTo>
                    <a:pt x="1296" y="224"/>
                  </a:lnTo>
                  <a:lnTo>
                    <a:pt x="1280" y="208"/>
                  </a:lnTo>
                  <a:lnTo>
                    <a:pt x="1264" y="200"/>
                  </a:lnTo>
                  <a:lnTo>
                    <a:pt x="1248" y="200"/>
                  </a:lnTo>
                  <a:lnTo>
                    <a:pt x="1240" y="192"/>
                  </a:lnTo>
                  <a:lnTo>
                    <a:pt x="1224" y="184"/>
                  </a:lnTo>
                  <a:lnTo>
                    <a:pt x="1216" y="200"/>
                  </a:lnTo>
                  <a:lnTo>
                    <a:pt x="1208" y="216"/>
                  </a:lnTo>
                  <a:lnTo>
                    <a:pt x="1168" y="216"/>
                  </a:lnTo>
                  <a:lnTo>
                    <a:pt x="1152" y="208"/>
                  </a:lnTo>
                  <a:lnTo>
                    <a:pt x="1144" y="192"/>
                  </a:lnTo>
                  <a:lnTo>
                    <a:pt x="1112" y="192"/>
                  </a:lnTo>
                  <a:lnTo>
                    <a:pt x="1088" y="208"/>
                  </a:lnTo>
                  <a:lnTo>
                    <a:pt x="1088" y="192"/>
                  </a:lnTo>
                  <a:lnTo>
                    <a:pt x="1072" y="176"/>
                  </a:lnTo>
                  <a:lnTo>
                    <a:pt x="1056" y="176"/>
                  </a:lnTo>
                  <a:lnTo>
                    <a:pt x="1040" y="192"/>
                  </a:lnTo>
                  <a:lnTo>
                    <a:pt x="1016" y="208"/>
                  </a:lnTo>
                  <a:lnTo>
                    <a:pt x="992" y="224"/>
                  </a:lnTo>
                  <a:lnTo>
                    <a:pt x="1008" y="200"/>
                  </a:lnTo>
                  <a:lnTo>
                    <a:pt x="1024" y="192"/>
                  </a:lnTo>
                  <a:lnTo>
                    <a:pt x="1048" y="152"/>
                  </a:lnTo>
                  <a:lnTo>
                    <a:pt x="1064" y="136"/>
                  </a:lnTo>
                  <a:lnTo>
                    <a:pt x="1080" y="112"/>
                  </a:lnTo>
                  <a:lnTo>
                    <a:pt x="1072" y="72"/>
                  </a:lnTo>
                  <a:lnTo>
                    <a:pt x="1040" y="48"/>
                  </a:lnTo>
                  <a:lnTo>
                    <a:pt x="1016" y="40"/>
                  </a:lnTo>
                  <a:lnTo>
                    <a:pt x="1016" y="32"/>
                  </a:lnTo>
                  <a:lnTo>
                    <a:pt x="1000" y="0"/>
                  </a:lnTo>
                  <a:lnTo>
                    <a:pt x="968" y="0"/>
                  </a:lnTo>
                  <a:lnTo>
                    <a:pt x="936" y="32"/>
                  </a:lnTo>
                  <a:lnTo>
                    <a:pt x="928" y="64"/>
                  </a:lnTo>
                  <a:lnTo>
                    <a:pt x="888" y="88"/>
                  </a:lnTo>
                  <a:lnTo>
                    <a:pt x="864" y="72"/>
                  </a:lnTo>
                  <a:lnTo>
                    <a:pt x="824" y="88"/>
                  </a:lnTo>
                  <a:lnTo>
                    <a:pt x="784" y="112"/>
                  </a:lnTo>
                  <a:lnTo>
                    <a:pt x="760" y="136"/>
                  </a:lnTo>
                  <a:lnTo>
                    <a:pt x="752" y="184"/>
                  </a:lnTo>
                  <a:lnTo>
                    <a:pt x="688" y="200"/>
                  </a:lnTo>
                  <a:lnTo>
                    <a:pt x="680" y="216"/>
                  </a:lnTo>
                  <a:lnTo>
                    <a:pt x="680" y="256"/>
                  </a:lnTo>
                  <a:lnTo>
                    <a:pt x="672" y="248"/>
                  </a:lnTo>
                  <a:lnTo>
                    <a:pt x="648" y="240"/>
                  </a:lnTo>
                  <a:lnTo>
                    <a:pt x="632" y="264"/>
                  </a:lnTo>
                  <a:lnTo>
                    <a:pt x="624" y="256"/>
                  </a:lnTo>
                  <a:lnTo>
                    <a:pt x="624" y="248"/>
                  </a:lnTo>
                  <a:lnTo>
                    <a:pt x="608" y="232"/>
                  </a:lnTo>
                  <a:lnTo>
                    <a:pt x="600" y="232"/>
                  </a:lnTo>
                  <a:lnTo>
                    <a:pt x="592" y="256"/>
                  </a:lnTo>
                  <a:lnTo>
                    <a:pt x="592" y="280"/>
                  </a:lnTo>
                  <a:lnTo>
                    <a:pt x="592" y="312"/>
                  </a:lnTo>
                  <a:lnTo>
                    <a:pt x="584" y="320"/>
                  </a:lnTo>
                  <a:lnTo>
                    <a:pt x="576" y="304"/>
                  </a:lnTo>
                  <a:lnTo>
                    <a:pt x="584" y="272"/>
                  </a:lnTo>
                  <a:lnTo>
                    <a:pt x="576" y="248"/>
                  </a:lnTo>
                  <a:lnTo>
                    <a:pt x="576" y="232"/>
                  </a:lnTo>
                  <a:lnTo>
                    <a:pt x="552" y="224"/>
                  </a:lnTo>
                  <a:lnTo>
                    <a:pt x="528" y="224"/>
                  </a:lnTo>
                  <a:lnTo>
                    <a:pt x="512" y="280"/>
                  </a:lnTo>
                  <a:lnTo>
                    <a:pt x="504" y="288"/>
                  </a:lnTo>
                  <a:lnTo>
                    <a:pt x="496" y="304"/>
                  </a:lnTo>
                  <a:lnTo>
                    <a:pt x="504" y="320"/>
                  </a:lnTo>
                  <a:lnTo>
                    <a:pt x="504" y="344"/>
                  </a:lnTo>
                  <a:lnTo>
                    <a:pt x="504" y="352"/>
                  </a:lnTo>
                  <a:lnTo>
                    <a:pt x="528" y="376"/>
                  </a:lnTo>
                  <a:lnTo>
                    <a:pt x="512" y="400"/>
                  </a:lnTo>
                  <a:lnTo>
                    <a:pt x="488" y="376"/>
                  </a:lnTo>
                  <a:lnTo>
                    <a:pt x="456" y="352"/>
                  </a:lnTo>
                  <a:lnTo>
                    <a:pt x="432" y="352"/>
                  </a:lnTo>
                  <a:lnTo>
                    <a:pt x="416" y="352"/>
                  </a:lnTo>
                  <a:lnTo>
                    <a:pt x="416" y="376"/>
                  </a:lnTo>
                  <a:lnTo>
                    <a:pt x="408" y="384"/>
                  </a:lnTo>
                  <a:lnTo>
                    <a:pt x="392" y="376"/>
                  </a:lnTo>
                  <a:lnTo>
                    <a:pt x="376" y="384"/>
                  </a:lnTo>
                  <a:lnTo>
                    <a:pt x="360" y="392"/>
                  </a:lnTo>
                  <a:lnTo>
                    <a:pt x="344" y="392"/>
                  </a:lnTo>
                  <a:lnTo>
                    <a:pt x="336" y="384"/>
                  </a:lnTo>
                  <a:lnTo>
                    <a:pt x="320" y="392"/>
                  </a:lnTo>
                  <a:lnTo>
                    <a:pt x="296" y="408"/>
                  </a:lnTo>
                  <a:lnTo>
                    <a:pt x="264" y="424"/>
                  </a:lnTo>
                  <a:lnTo>
                    <a:pt x="256" y="424"/>
                  </a:lnTo>
                  <a:lnTo>
                    <a:pt x="248" y="448"/>
                  </a:lnTo>
                  <a:lnTo>
                    <a:pt x="240" y="448"/>
                  </a:lnTo>
                  <a:lnTo>
                    <a:pt x="224" y="432"/>
                  </a:lnTo>
                  <a:lnTo>
                    <a:pt x="232" y="424"/>
                  </a:lnTo>
                  <a:lnTo>
                    <a:pt x="240" y="416"/>
                  </a:lnTo>
                  <a:lnTo>
                    <a:pt x="240" y="400"/>
                  </a:lnTo>
                  <a:lnTo>
                    <a:pt x="224" y="392"/>
                  </a:lnTo>
                  <a:lnTo>
                    <a:pt x="216" y="392"/>
                  </a:lnTo>
                  <a:lnTo>
                    <a:pt x="200" y="392"/>
                  </a:lnTo>
                  <a:lnTo>
                    <a:pt x="208" y="408"/>
                  </a:lnTo>
                  <a:lnTo>
                    <a:pt x="208" y="432"/>
                  </a:lnTo>
                  <a:lnTo>
                    <a:pt x="216" y="448"/>
                  </a:lnTo>
                  <a:lnTo>
                    <a:pt x="208" y="472"/>
                  </a:lnTo>
                  <a:lnTo>
                    <a:pt x="200" y="464"/>
                  </a:lnTo>
                  <a:lnTo>
                    <a:pt x="184" y="464"/>
                  </a:lnTo>
                  <a:lnTo>
                    <a:pt x="176" y="472"/>
                  </a:lnTo>
                  <a:lnTo>
                    <a:pt x="160" y="480"/>
                  </a:lnTo>
                  <a:lnTo>
                    <a:pt x="152" y="488"/>
                  </a:lnTo>
                  <a:lnTo>
                    <a:pt x="168" y="520"/>
                  </a:lnTo>
                  <a:lnTo>
                    <a:pt x="160" y="512"/>
                  </a:lnTo>
                  <a:lnTo>
                    <a:pt x="136" y="512"/>
                  </a:lnTo>
                  <a:lnTo>
                    <a:pt x="120" y="504"/>
                  </a:lnTo>
                  <a:lnTo>
                    <a:pt x="120" y="512"/>
                  </a:lnTo>
                  <a:lnTo>
                    <a:pt x="128" y="528"/>
                  </a:lnTo>
                  <a:lnTo>
                    <a:pt x="136" y="536"/>
                  </a:lnTo>
                  <a:lnTo>
                    <a:pt x="128" y="544"/>
                  </a:lnTo>
                  <a:lnTo>
                    <a:pt x="104" y="528"/>
                  </a:lnTo>
                  <a:lnTo>
                    <a:pt x="96" y="520"/>
                  </a:lnTo>
                  <a:lnTo>
                    <a:pt x="96" y="512"/>
                  </a:lnTo>
                  <a:lnTo>
                    <a:pt x="88" y="488"/>
                  </a:lnTo>
                  <a:lnTo>
                    <a:pt x="96" y="480"/>
                  </a:lnTo>
                  <a:lnTo>
                    <a:pt x="96" y="472"/>
                  </a:lnTo>
                  <a:lnTo>
                    <a:pt x="80" y="464"/>
                  </a:lnTo>
                  <a:lnTo>
                    <a:pt x="64" y="448"/>
                  </a:lnTo>
                  <a:lnTo>
                    <a:pt x="56" y="440"/>
                  </a:lnTo>
                  <a:lnTo>
                    <a:pt x="64" y="440"/>
                  </a:lnTo>
                  <a:lnTo>
                    <a:pt x="72" y="448"/>
                  </a:lnTo>
                  <a:lnTo>
                    <a:pt x="88" y="448"/>
                  </a:lnTo>
                  <a:lnTo>
                    <a:pt x="96" y="464"/>
                  </a:lnTo>
                  <a:lnTo>
                    <a:pt x="128" y="472"/>
                  </a:lnTo>
                  <a:lnTo>
                    <a:pt x="152" y="464"/>
                  </a:lnTo>
                  <a:lnTo>
                    <a:pt x="168" y="456"/>
                  </a:lnTo>
                  <a:lnTo>
                    <a:pt x="176" y="432"/>
                  </a:lnTo>
                  <a:lnTo>
                    <a:pt x="144" y="400"/>
                  </a:lnTo>
                  <a:lnTo>
                    <a:pt x="120" y="384"/>
                  </a:lnTo>
                  <a:lnTo>
                    <a:pt x="104" y="368"/>
                  </a:lnTo>
                  <a:lnTo>
                    <a:pt x="80" y="360"/>
                  </a:lnTo>
                  <a:lnTo>
                    <a:pt x="72" y="360"/>
                  </a:lnTo>
                  <a:lnTo>
                    <a:pt x="72" y="344"/>
                  </a:lnTo>
                  <a:lnTo>
                    <a:pt x="56" y="344"/>
                  </a:lnTo>
                  <a:lnTo>
                    <a:pt x="40" y="344"/>
                  </a:lnTo>
                  <a:lnTo>
                    <a:pt x="32" y="352"/>
                  </a:lnTo>
                  <a:lnTo>
                    <a:pt x="16" y="368"/>
                  </a:lnTo>
                  <a:lnTo>
                    <a:pt x="16" y="376"/>
                  </a:lnTo>
                  <a:lnTo>
                    <a:pt x="16" y="384"/>
                  </a:lnTo>
                  <a:lnTo>
                    <a:pt x="8" y="392"/>
                  </a:lnTo>
                  <a:lnTo>
                    <a:pt x="16" y="400"/>
                  </a:lnTo>
                  <a:lnTo>
                    <a:pt x="24" y="408"/>
                  </a:lnTo>
                  <a:lnTo>
                    <a:pt x="32" y="424"/>
                  </a:lnTo>
                  <a:lnTo>
                    <a:pt x="16" y="448"/>
                  </a:lnTo>
                  <a:lnTo>
                    <a:pt x="32" y="488"/>
                  </a:lnTo>
                  <a:lnTo>
                    <a:pt x="24" y="496"/>
                  </a:lnTo>
                  <a:lnTo>
                    <a:pt x="32" y="504"/>
                  </a:lnTo>
                  <a:lnTo>
                    <a:pt x="24" y="504"/>
                  </a:lnTo>
                  <a:lnTo>
                    <a:pt x="32" y="512"/>
                  </a:lnTo>
                  <a:lnTo>
                    <a:pt x="32" y="520"/>
                  </a:lnTo>
                  <a:lnTo>
                    <a:pt x="40" y="528"/>
                  </a:lnTo>
                  <a:lnTo>
                    <a:pt x="32" y="544"/>
                  </a:lnTo>
                  <a:lnTo>
                    <a:pt x="40" y="560"/>
                  </a:lnTo>
                  <a:lnTo>
                    <a:pt x="48" y="560"/>
                  </a:lnTo>
                  <a:lnTo>
                    <a:pt x="48" y="568"/>
                  </a:lnTo>
                  <a:lnTo>
                    <a:pt x="0" y="624"/>
                  </a:lnTo>
                  <a:lnTo>
                    <a:pt x="8" y="624"/>
                  </a:lnTo>
                  <a:lnTo>
                    <a:pt x="16" y="632"/>
                  </a:lnTo>
                  <a:lnTo>
                    <a:pt x="16" y="648"/>
                  </a:lnTo>
                  <a:lnTo>
                    <a:pt x="8" y="648"/>
                  </a:lnTo>
                  <a:lnTo>
                    <a:pt x="8" y="656"/>
                  </a:lnTo>
                  <a:lnTo>
                    <a:pt x="8" y="672"/>
                  </a:lnTo>
                  <a:lnTo>
                    <a:pt x="8" y="680"/>
                  </a:lnTo>
                  <a:lnTo>
                    <a:pt x="0" y="712"/>
                  </a:lnTo>
                  <a:lnTo>
                    <a:pt x="8" y="728"/>
                  </a:lnTo>
                  <a:lnTo>
                    <a:pt x="24" y="736"/>
                  </a:lnTo>
                  <a:lnTo>
                    <a:pt x="40" y="744"/>
                  </a:lnTo>
                  <a:lnTo>
                    <a:pt x="56" y="776"/>
                  </a:lnTo>
                  <a:lnTo>
                    <a:pt x="64" y="784"/>
                  </a:lnTo>
                  <a:lnTo>
                    <a:pt x="64" y="792"/>
                  </a:lnTo>
                  <a:lnTo>
                    <a:pt x="48" y="800"/>
                  </a:lnTo>
                  <a:lnTo>
                    <a:pt x="56" y="816"/>
                  </a:lnTo>
                  <a:lnTo>
                    <a:pt x="64" y="816"/>
                  </a:lnTo>
                  <a:lnTo>
                    <a:pt x="72" y="816"/>
                  </a:lnTo>
                  <a:lnTo>
                    <a:pt x="88" y="832"/>
                  </a:lnTo>
                  <a:lnTo>
                    <a:pt x="136" y="856"/>
                  </a:lnTo>
                  <a:lnTo>
                    <a:pt x="144" y="856"/>
                  </a:lnTo>
                  <a:lnTo>
                    <a:pt x="136" y="872"/>
                  </a:lnTo>
                  <a:lnTo>
                    <a:pt x="128" y="880"/>
                  </a:lnTo>
                  <a:lnTo>
                    <a:pt x="120" y="888"/>
                  </a:lnTo>
                  <a:lnTo>
                    <a:pt x="112" y="896"/>
                  </a:lnTo>
                  <a:lnTo>
                    <a:pt x="128" y="896"/>
                  </a:lnTo>
                  <a:lnTo>
                    <a:pt x="120" y="912"/>
                  </a:lnTo>
                  <a:lnTo>
                    <a:pt x="104" y="928"/>
                  </a:lnTo>
                  <a:lnTo>
                    <a:pt x="120" y="944"/>
                  </a:lnTo>
                  <a:lnTo>
                    <a:pt x="144" y="952"/>
                  </a:lnTo>
                  <a:lnTo>
                    <a:pt x="160" y="976"/>
                  </a:lnTo>
                  <a:lnTo>
                    <a:pt x="160" y="984"/>
                  </a:lnTo>
                  <a:lnTo>
                    <a:pt x="168" y="992"/>
                  </a:lnTo>
                  <a:lnTo>
                    <a:pt x="184" y="992"/>
                  </a:lnTo>
                  <a:lnTo>
                    <a:pt x="192" y="1000"/>
                  </a:lnTo>
                  <a:lnTo>
                    <a:pt x="200" y="1016"/>
                  </a:lnTo>
                  <a:lnTo>
                    <a:pt x="200" y="1024"/>
                  </a:lnTo>
                  <a:lnTo>
                    <a:pt x="208" y="1032"/>
                  </a:lnTo>
                  <a:lnTo>
                    <a:pt x="224" y="1032"/>
                  </a:lnTo>
                  <a:lnTo>
                    <a:pt x="240" y="1024"/>
                  </a:lnTo>
                  <a:lnTo>
                    <a:pt x="248" y="1032"/>
                  </a:lnTo>
                  <a:lnTo>
                    <a:pt x="248" y="1040"/>
                  </a:lnTo>
                  <a:lnTo>
                    <a:pt x="256" y="1024"/>
                  </a:lnTo>
                  <a:lnTo>
                    <a:pt x="272" y="1008"/>
                  </a:lnTo>
                  <a:lnTo>
                    <a:pt x="256" y="976"/>
                  </a:lnTo>
                  <a:lnTo>
                    <a:pt x="224" y="936"/>
                  </a:lnTo>
                  <a:lnTo>
                    <a:pt x="240" y="912"/>
                  </a:lnTo>
                  <a:lnTo>
                    <a:pt x="256" y="904"/>
                  </a:lnTo>
                  <a:lnTo>
                    <a:pt x="256" y="896"/>
                  </a:lnTo>
                  <a:lnTo>
                    <a:pt x="256" y="904"/>
                  </a:lnTo>
                  <a:lnTo>
                    <a:pt x="256" y="896"/>
                  </a:lnTo>
                  <a:lnTo>
                    <a:pt x="240" y="888"/>
                  </a:lnTo>
                  <a:lnTo>
                    <a:pt x="256" y="856"/>
                  </a:lnTo>
                  <a:lnTo>
                    <a:pt x="296" y="840"/>
                  </a:lnTo>
                  <a:lnTo>
                    <a:pt x="328" y="832"/>
                  </a:lnTo>
                  <a:lnTo>
                    <a:pt x="352" y="848"/>
                  </a:lnTo>
                  <a:lnTo>
                    <a:pt x="376" y="840"/>
                  </a:lnTo>
                  <a:lnTo>
                    <a:pt x="400" y="848"/>
                  </a:lnTo>
                  <a:lnTo>
                    <a:pt x="432" y="840"/>
                  </a:lnTo>
                  <a:lnTo>
                    <a:pt x="424" y="816"/>
                  </a:lnTo>
                  <a:lnTo>
                    <a:pt x="440" y="784"/>
                  </a:lnTo>
                  <a:lnTo>
                    <a:pt x="488" y="760"/>
                  </a:lnTo>
                  <a:lnTo>
                    <a:pt x="536" y="752"/>
                  </a:lnTo>
                  <a:lnTo>
                    <a:pt x="568" y="792"/>
                  </a:lnTo>
                  <a:lnTo>
                    <a:pt x="608" y="776"/>
                  </a:lnTo>
                  <a:lnTo>
                    <a:pt x="624" y="776"/>
                  </a:lnTo>
                  <a:lnTo>
                    <a:pt x="640" y="808"/>
                  </a:lnTo>
                  <a:lnTo>
                    <a:pt x="656" y="848"/>
                  </a:lnTo>
                  <a:lnTo>
                    <a:pt x="696" y="848"/>
                  </a:lnTo>
                  <a:lnTo>
                    <a:pt x="728" y="864"/>
                  </a:lnTo>
                  <a:lnTo>
                    <a:pt x="760" y="864"/>
                  </a:lnTo>
                  <a:lnTo>
                    <a:pt x="760" y="888"/>
                  </a:lnTo>
                  <a:lnTo>
                    <a:pt x="768" y="888"/>
                  </a:lnTo>
                  <a:lnTo>
                    <a:pt x="776" y="872"/>
                  </a:lnTo>
                  <a:lnTo>
                    <a:pt x="808" y="856"/>
                  </a:lnTo>
                  <a:lnTo>
                    <a:pt x="848" y="848"/>
                  </a:lnTo>
                  <a:lnTo>
                    <a:pt x="880" y="864"/>
                  </a:lnTo>
                  <a:lnTo>
                    <a:pt x="896" y="840"/>
                  </a:lnTo>
                  <a:lnTo>
                    <a:pt x="912" y="824"/>
                  </a:lnTo>
                  <a:lnTo>
                    <a:pt x="960" y="840"/>
                  </a:lnTo>
                  <a:lnTo>
                    <a:pt x="976" y="856"/>
                  </a:lnTo>
                  <a:lnTo>
                    <a:pt x="1016" y="856"/>
                  </a:lnTo>
                  <a:lnTo>
                    <a:pt x="1040" y="880"/>
                  </a:lnTo>
                  <a:lnTo>
                    <a:pt x="1104" y="864"/>
                  </a:lnTo>
                  <a:lnTo>
                    <a:pt x="1128" y="872"/>
                  </a:lnTo>
                  <a:lnTo>
                    <a:pt x="1136" y="864"/>
                  </a:lnTo>
                  <a:lnTo>
                    <a:pt x="1160" y="864"/>
                  </a:lnTo>
                  <a:lnTo>
                    <a:pt x="1184" y="816"/>
                  </a:lnTo>
                  <a:lnTo>
                    <a:pt x="1192" y="800"/>
                  </a:lnTo>
                  <a:lnTo>
                    <a:pt x="1232" y="800"/>
                  </a:lnTo>
                  <a:lnTo>
                    <a:pt x="1272" y="872"/>
                  </a:lnTo>
                  <a:lnTo>
                    <a:pt x="1304" y="880"/>
                  </a:lnTo>
                  <a:lnTo>
                    <a:pt x="1312" y="896"/>
                  </a:lnTo>
                  <a:lnTo>
                    <a:pt x="1360" y="888"/>
                  </a:lnTo>
                  <a:lnTo>
                    <a:pt x="1336" y="952"/>
                  </a:lnTo>
                  <a:lnTo>
                    <a:pt x="1320" y="952"/>
                  </a:lnTo>
                  <a:lnTo>
                    <a:pt x="1304" y="1000"/>
                  </a:lnTo>
                  <a:lnTo>
                    <a:pt x="1312" y="1000"/>
                  </a:lnTo>
                  <a:lnTo>
                    <a:pt x="1320" y="1000"/>
                  </a:lnTo>
                  <a:lnTo>
                    <a:pt x="1328" y="992"/>
                  </a:lnTo>
                  <a:lnTo>
                    <a:pt x="1344" y="1000"/>
                  </a:lnTo>
                  <a:lnTo>
                    <a:pt x="1368" y="976"/>
                  </a:lnTo>
                  <a:lnTo>
                    <a:pt x="1384" y="960"/>
                  </a:lnTo>
                  <a:lnTo>
                    <a:pt x="1416" y="920"/>
                  </a:lnTo>
                  <a:lnTo>
                    <a:pt x="1432" y="888"/>
                  </a:lnTo>
                  <a:lnTo>
                    <a:pt x="1432" y="856"/>
                  </a:lnTo>
                  <a:lnTo>
                    <a:pt x="1440" y="808"/>
                  </a:lnTo>
                  <a:lnTo>
                    <a:pt x="1440" y="792"/>
                  </a:lnTo>
                  <a:lnTo>
                    <a:pt x="1424" y="776"/>
                  </a:lnTo>
                  <a:lnTo>
                    <a:pt x="1400" y="792"/>
                  </a:lnTo>
                  <a:lnTo>
                    <a:pt x="1384" y="784"/>
                  </a:lnTo>
                  <a:lnTo>
                    <a:pt x="1376" y="768"/>
                  </a:lnTo>
                  <a:lnTo>
                    <a:pt x="1368" y="768"/>
                  </a:lnTo>
                  <a:lnTo>
                    <a:pt x="1376" y="760"/>
                  </a:lnTo>
                  <a:lnTo>
                    <a:pt x="1400" y="736"/>
                  </a:lnTo>
                  <a:lnTo>
                    <a:pt x="1416" y="720"/>
                  </a:lnTo>
                  <a:lnTo>
                    <a:pt x="1416" y="712"/>
                  </a:lnTo>
                  <a:lnTo>
                    <a:pt x="1472" y="656"/>
                  </a:lnTo>
                  <a:lnTo>
                    <a:pt x="1488" y="656"/>
                  </a:lnTo>
                  <a:lnTo>
                    <a:pt x="1528" y="656"/>
                  </a:lnTo>
                  <a:lnTo>
                    <a:pt x="1544" y="648"/>
                  </a:lnTo>
                  <a:lnTo>
                    <a:pt x="1568" y="656"/>
                  </a:lnTo>
                  <a:lnTo>
                    <a:pt x="1568" y="672"/>
                  </a:lnTo>
                  <a:lnTo>
                    <a:pt x="1608" y="664"/>
                  </a:lnTo>
                  <a:lnTo>
                    <a:pt x="1616" y="664"/>
                  </a:lnTo>
                  <a:lnTo>
                    <a:pt x="1608" y="656"/>
                  </a:lnTo>
                  <a:lnTo>
                    <a:pt x="1616" y="632"/>
                  </a:lnTo>
                  <a:lnTo>
                    <a:pt x="1624" y="608"/>
                  </a:lnTo>
                  <a:lnTo>
                    <a:pt x="1648" y="592"/>
                  </a:lnTo>
                  <a:lnTo>
                    <a:pt x="1680" y="600"/>
                  </a:lnTo>
                  <a:lnTo>
                    <a:pt x="1688" y="616"/>
                  </a:lnTo>
                  <a:lnTo>
                    <a:pt x="1704" y="600"/>
                  </a:lnTo>
                  <a:lnTo>
                    <a:pt x="1736" y="576"/>
                  </a:lnTo>
                  <a:lnTo>
                    <a:pt x="1736" y="608"/>
                  </a:lnTo>
                  <a:lnTo>
                    <a:pt x="1712" y="632"/>
                  </a:lnTo>
                  <a:lnTo>
                    <a:pt x="1696" y="640"/>
                  </a:lnTo>
                  <a:lnTo>
                    <a:pt x="1680" y="664"/>
                  </a:lnTo>
                  <a:lnTo>
                    <a:pt x="1664" y="680"/>
                  </a:lnTo>
                  <a:lnTo>
                    <a:pt x="1648" y="696"/>
                  </a:lnTo>
                  <a:lnTo>
                    <a:pt x="1640" y="696"/>
                  </a:lnTo>
                  <a:lnTo>
                    <a:pt x="1624" y="744"/>
                  </a:lnTo>
                  <a:lnTo>
                    <a:pt x="1640" y="840"/>
                  </a:lnTo>
                  <a:lnTo>
                    <a:pt x="1664" y="808"/>
                  </a:lnTo>
                  <a:lnTo>
                    <a:pt x="1672" y="800"/>
                  </a:lnTo>
                  <a:lnTo>
                    <a:pt x="1680" y="784"/>
                  </a:lnTo>
                  <a:lnTo>
                    <a:pt x="1688" y="768"/>
                  </a:lnTo>
                  <a:lnTo>
                    <a:pt x="1704" y="760"/>
                  </a:lnTo>
                  <a:lnTo>
                    <a:pt x="1704" y="744"/>
                  </a:lnTo>
                  <a:lnTo>
                    <a:pt x="1712" y="736"/>
                  </a:lnTo>
                  <a:lnTo>
                    <a:pt x="1720" y="704"/>
                  </a:lnTo>
                  <a:lnTo>
                    <a:pt x="1720" y="696"/>
                  </a:lnTo>
                  <a:lnTo>
                    <a:pt x="1704" y="696"/>
                  </a:lnTo>
                  <a:lnTo>
                    <a:pt x="1720" y="656"/>
                  </a:lnTo>
                  <a:lnTo>
                    <a:pt x="1728" y="648"/>
                  </a:lnTo>
                  <a:lnTo>
                    <a:pt x="1744" y="640"/>
                  </a:lnTo>
                  <a:lnTo>
                    <a:pt x="1752" y="640"/>
                  </a:lnTo>
                  <a:lnTo>
                    <a:pt x="1760" y="648"/>
                  </a:lnTo>
                  <a:lnTo>
                    <a:pt x="1784" y="624"/>
                  </a:lnTo>
                  <a:lnTo>
                    <a:pt x="1808" y="648"/>
                  </a:lnTo>
                  <a:lnTo>
                    <a:pt x="1816" y="624"/>
                  </a:lnTo>
                  <a:lnTo>
                    <a:pt x="1832" y="624"/>
                  </a:lnTo>
                  <a:lnTo>
                    <a:pt x="1856" y="592"/>
                  </a:lnTo>
                  <a:lnTo>
                    <a:pt x="1888" y="576"/>
                  </a:lnTo>
                  <a:lnTo>
                    <a:pt x="1904" y="576"/>
                  </a:lnTo>
                  <a:lnTo>
                    <a:pt x="1920" y="584"/>
                  </a:lnTo>
                  <a:lnTo>
                    <a:pt x="1920" y="576"/>
                  </a:lnTo>
                  <a:lnTo>
                    <a:pt x="1920" y="560"/>
                  </a:lnTo>
                  <a:lnTo>
                    <a:pt x="1912" y="536"/>
                  </a:lnTo>
                  <a:lnTo>
                    <a:pt x="1896" y="520"/>
                  </a:lnTo>
                  <a:lnTo>
                    <a:pt x="1912" y="512"/>
                  </a:lnTo>
                  <a:lnTo>
                    <a:pt x="1928" y="50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39" name="Freeform 689"/>
            <p:cNvSpPr>
              <a:spLocks/>
            </p:cNvSpPr>
            <p:nvPr/>
          </p:nvSpPr>
          <p:spPr bwMode="auto">
            <a:xfrm>
              <a:off x="3412472" y="2941191"/>
              <a:ext cx="42450" cy="8663"/>
            </a:xfrm>
            <a:custGeom>
              <a:avLst/>
              <a:gdLst>
                <a:gd name="T0" fmla="*/ 2147483647 w 40"/>
                <a:gd name="T1" fmla="*/ 2147483647 h 8"/>
                <a:gd name="T2" fmla="*/ 2147483647 w 40"/>
                <a:gd name="T3" fmla="*/ 2147483647 h 8"/>
                <a:gd name="T4" fmla="*/ 2147483647 w 40"/>
                <a:gd name="T5" fmla="*/ 0 h 8"/>
                <a:gd name="T6" fmla="*/ 0 w 40"/>
                <a:gd name="T7" fmla="*/ 2147483647 h 8"/>
                <a:gd name="T8" fmla="*/ 2147483647 w 40"/>
                <a:gd name="T9" fmla="*/ 2147483647 h 8"/>
                <a:gd name="T10" fmla="*/ 0 60000 65536"/>
                <a:gd name="T11" fmla="*/ 0 60000 65536"/>
                <a:gd name="T12" fmla="*/ 0 60000 65536"/>
                <a:gd name="T13" fmla="*/ 0 60000 65536"/>
                <a:gd name="T14" fmla="*/ 0 60000 65536"/>
                <a:gd name="T15" fmla="*/ 0 w 40"/>
                <a:gd name="T16" fmla="*/ 0 h 8"/>
                <a:gd name="T17" fmla="*/ 40 w 40"/>
                <a:gd name="T18" fmla="*/ 8 h 8"/>
              </a:gdLst>
              <a:ahLst/>
              <a:cxnLst>
                <a:cxn ang="T10">
                  <a:pos x="T0" y="T1"/>
                </a:cxn>
                <a:cxn ang="T11">
                  <a:pos x="T2" y="T3"/>
                </a:cxn>
                <a:cxn ang="T12">
                  <a:pos x="T4" y="T5"/>
                </a:cxn>
                <a:cxn ang="T13">
                  <a:pos x="T6" y="T7"/>
                </a:cxn>
                <a:cxn ang="T14">
                  <a:pos x="T8" y="T9"/>
                </a:cxn>
              </a:cxnLst>
              <a:rect l="T15" t="T16" r="T17" b="T18"/>
              <a:pathLst>
                <a:path w="40" h="8">
                  <a:moveTo>
                    <a:pt x="8" y="8"/>
                  </a:moveTo>
                  <a:lnTo>
                    <a:pt x="24" y="8"/>
                  </a:lnTo>
                  <a:lnTo>
                    <a:pt x="40" y="0"/>
                  </a:lnTo>
                  <a:lnTo>
                    <a:pt x="0" y="8"/>
                  </a:lnTo>
                  <a:lnTo>
                    <a:pt x="8"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40" name="Freeform 690"/>
            <p:cNvSpPr>
              <a:spLocks/>
            </p:cNvSpPr>
            <p:nvPr/>
          </p:nvSpPr>
          <p:spPr bwMode="auto">
            <a:xfrm>
              <a:off x="3353562" y="2585130"/>
              <a:ext cx="550986" cy="389848"/>
            </a:xfrm>
            <a:custGeom>
              <a:avLst/>
              <a:gdLst>
                <a:gd name="T0" fmla="*/ 2147483647 w 520"/>
                <a:gd name="T1" fmla="*/ 2147483647 h 368"/>
                <a:gd name="T2" fmla="*/ 2147483647 w 520"/>
                <a:gd name="T3" fmla="*/ 2147483647 h 368"/>
                <a:gd name="T4" fmla="*/ 2147483647 w 520"/>
                <a:gd name="T5" fmla="*/ 2147483647 h 368"/>
                <a:gd name="T6" fmla="*/ 2147483647 w 520"/>
                <a:gd name="T7" fmla="*/ 2147483647 h 368"/>
                <a:gd name="T8" fmla="*/ 2147483647 w 520"/>
                <a:gd name="T9" fmla="*/ 2147483647 h 368"/>
                <a:gd name="T10" fmla="*/ 2147483647 w 520"/>
                <a:gd name="T11" fmla="*/ 2147483647 h 368"/>
                <a:gd name="T12" fmla="*/ 2147483647 w 520"/>
                <a:gd name="T13" fmla="*/ 2147483647 h 368"/>
                <a:gd name="T14" fmla="*/ 2147483647 w 520"/>
                <a:gd name="T15" fmla="*/ 2147483647 h 368"/>
                <a:gd name="T16" fmla="*/ 2147483647 w 520"/>
                <a:gd name="T17" fmla="*/ 2147483647 h 368"/>
                <a:gd name="T18" fmla="*/ 2147483647 w 520"/>
                <a:gd name="T19" fmla="*/ 2147483647 h 368"/>
                <a:gd name="T20" fmla="*/ 2147483647 w 520"/>
                <a:gd name="T21" fmla="*/ 2147483647 h 368"/>
                <a:gd name="T22" fmla="*/ 2147483647 w 520"/>
                <a:gd name="T23" fmla="*/ 2147483647 h 368"/>
                <a:gd name="T24" fmla="*/ 2147483647 w 520"/>
                <a:gd name="T25" fmla="*/ 2147483647 h 368"/>
                <a:gd name="T26" fmla="*/ 2147483647 w 520"/>
                <a:gd name="T27" fmla="*/ 2147483647 h 368"/>
                <a:gd name="T28" fmla="*/ 2147483647 w 520"/>
                <a:gd name="T29" fmla="*/ 2147483647 h 368"/>
                <a:gd name="T30" fmla="*/ 0 w 520"/>
                <a:gd name="T31" fmla="*/ 2147483647 h 368"/>
                <a:gd name="T32" fmla="*/ 2147483647 w 520"/>
                <a:gd name="T33" fmla="*/ 2147483647 h 368"/>
                <a:gd name="T34" fmla="*/ 2147483647 w 520"/>
                <a:gd name="T35" fmla="*/ 2147483647 h 368"/>
                <a:gd name="T36" fmla="*/ 2147483647 w 520"/>
                <a:gd name="T37" fmla="*/ 2147483647 h 368"/>
                <a:gd name="T38" fmla="*/ 2147483647 w 520"/>
                <a:gd name="T39" fmla="*/ 2147483647 h 368"/>
                <a:gd name="T40" fmla="*/ 2147483647 w 520"/>
                <a:gd name="T41" fmla="*/ 2147483647 h 368"/>
                <a:gd name="T42" fmla="*/ 2147483647 w 520"/>
                <a:gd name="T43" fmla="*/ 2147483647 h 368"/>
                <a:gd name="T44" fmla="*/ 2147483647 w 520"/>
                <a:gd name="T45" fmla="*/ 2147483647 h 368"/>
                <a:gd name="T46" fmla="*/ 2147483647 w 520"/>
                <a:gd name="T47" fmla="*/ 2147483647 h 368"/>
                <a:gd name="T48" fmla="*/ 2147483647 w 520"/>
                <a:gd name="T49" fmla="*/ 2147483647 h 368"/>
                <a:gd name="T50" fmla="*/ 2147483647 w 520"/>
                <a:gd name="T51" fmla="*/ 2147483647 h 368"/>
                <a:gd name="T52" fmla="*/ 2147483647 w 520"/>
                <a:gd name="T53" fmla="*/ 2147483647 h 368"/>
                <a:gd name="T54" fmla="*/ 2147483647 w 520"/>
                <a:gd name="T55" fmla="*/ 2147483647 h 368"/>
                <a:gd name="T56" fmla="*/ 2147483647 w 520"/>
                <a:gd name="T57" fmla="*/ 2147483647 h 368"/>
                <a:gd name="T58" fmla="*/ 2147483647 w 520"/>
                <a:gd name="T59" fmla="*/ 2147483647 h 368"/>
                <a:gd name="T60" fmla="*/ 2147483647 w 520"/>
                <a:gd name="T61" fmla="*/ 2147483647 h 368"/>
                <a:gd name="T62" fmla="*/ 2147483647 w 520"/>
                <a:gd name="T63" fmla="*/ 2147483647 h 368"/>
                <a:gd name="T64" fmla="*/ 2147483647 w 520"/>
                <a:gd name="T65" fmla="*/ 2147483647 h 368"/>
                <a:gd name="T66" fmla="*/ 2147483647 w 520"/>
                <a:gd name="T67" fmla="*/ 2147483647 h 368"/>
                <a:gd name="T68" fmla="*/ 2147483647 w 520"/>
                <a:gd name="T69" fmla="*/ 2147483647 h 3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20"/>
                <a:gd name="T106" fmla="*/ 0 h 368"/>
                <a:gd name="T107" fmla="*/ 520 w 520"/>
                <a:gd name="T108" fmla="*/ 368 h 3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20" h="368">
                  <a:moveTo>
                    <a:pt x="360" y="320"/>
                  </a:moveTo>
                  <a:lnTo>
                    <a:pt x="352" y="312"/>
                  </a:lnTo>
                  <a:lnTo>
                    <a:pt x="352" y="296"/>
                  </a:lnTo>
                  <a:lnTo>
                    <a:pt x="384" y="288"/>
                  </a:lnTo>
                  <a:lnTo>
                    <a:pt x="408" y="272"/>
                  </a:lnTo>
                  <a:lnTo>
                    <a:pt x="424" y="256"/>
                  </a:lnTo>
                  <a:lnTo>
                    <a:pt x="432" y="208"/>
                  </a:lnTo>
                  <a:lnTo>
                    <a:pt x="456" y="200"/>
                  </a:lnTo>
                  <a:lnTo>
                    <a:pt x="464" y="160"/>
                  </a:lnTo>
                  <a:lnTo>
                    <a:pt x="496" y="168"/>
                  </a:lnTo>
                  <a:lnTo>
                    <a:pt x="504" y="144"/>
                  </a:lnTo>
                  <a:lnTo>
                    <a:pt x="520" y="136"/>
                  </a:lnTo>
                  <a:lnTo>
                    <a:pt x="520" y="120"/>
                  </a:lnTo>
                  <a:lnTo>
                    <a:pt x="488" y="112"/>
                  </a:lnTo>
                  <a:lnTo>
                    <a:pt x="456" y="96"/>
                  </a:lnTo>
                  <a:lnTo>
                    <a:pt x="416" y="96"/>
                  </a:lnTo>
                  <a:lnTo>
                    <a:pt x="400" y="56"/>
                  </a:lnTo>
                  <a:lnTo>
                    <a:pt x="384" y="24"/>
                  </a:lnTo>
                  <a:lnTo>
                    <a:pt x="368" y="24"/>
                  </a:lnTo>
                  <a:lnTo>
                    <a:pt x="328" y="40"/>
                  </a:lnTo>
                  <a:lnTo>
                    <a:pt x="296" y="0"/>
                  </a:lnTo>
                  <a:lnTo>
                    <a:pt x="248" y="16"/>
                  </a:lnTo>
                  <a:lnTo>
                    <a:pt x="200" y="32"/>
                  </a:lnTo>
                  <a:lnTo>
                    <a:pt x="184" y="64"/>
                  </a:lnTo>
                  <a:lnTo>
                    <a:pt x="192" y="96"/>
                  </a:lnTo>
                  <a:lnTo>
                    <a:pt x="160" y="96"/>
                  </a:lnTo>
                  <a:lnTo>
                    <a:pt x="136" y="96"/>
                  </a:lnTo>
                  <a:lnTo>
                    <a:pt x="112" y="96"/>
                  </a:lnTo>
                  <a:lnTo>
                    <a:pt x="88" y="80"/>
                  </a:lnTo>
                  <a:lnTo>
                    <a:pt x="56" y="88"/>
                  </a:lnTo>
                  <a:lnTo>
                    <a:pt x="16" y="104"/>
                  </a:lnTo>
                  <a:lnTo>
                    <a:pt x="0" y="136"/>
                  </a:lnTo>
                  <a:lnTo>
                    <a:pt x="16" y="152"/>
                  </a:lnTo>
                  <a:lnTo>
                    <a:pt x="24" y="168"/>
                  </a:lnTo>
                  <a:lnTo>
                    <a:pt x="56" y="168"/>
                  </a:lnTo>
                  <a:lnTo>
                    <a:pt x="80" y="168"/>
                  </a:lnTo>
                  <a:lnTo>
                    <a:pt x="104" y="200"/>
                  </a:lnTo>
                  <a:lnTo>
                    <a:pt x="80" y="200"/>
                  </a:lnTo>
                  <a:lnTo>
                    <a:pt x="64" y="200"/>
                  </a:lnTo>
                  <a:lnTo>
                    <a:pt x="56" y="208"/>
                  </a:lnTo>
                  <a:lnTo>
                    <a:pt x="64" y="240"/>
                  </a:lnTo>
                  <a:lnTo>
                    <a:pt x="80" y="256"/>
                  </a:lnTo>
                  <a:lnTo>
                    <a:pt x="80" y="288"/>
                  </a:lnTo>
                  <a:lnTo>
                    <a:pt x="96" y="304"/>
                  </a:lnTo>
                  <a:lnTo>
                    <a:pt x="96" y="336"/>
                  </a:lnTo>
                  <a:lnTo>
                    <a:pt x="96" y="328"/>
                  </a:lnTo>
                  <a:lnTo>
                    <a:pt x="120" y="320"/>
                  </a:lnTo>
                  <a:lnTo>
                    <a:pt x="136" y="320"/>
                  </a:lnTo>
                  <a:lnTo>
                    <a:pt x="152" y="328"/>
                  </a:lnTo>
                  <a:lnTo>
                    <a:pt x="168" y="344"/>
                  </a:lnTo>
                  <a:lnTo>
                    <a:pt x="184" y="344"/>
                  </a:lnTo>
                  <a:lnTo>
                    <a:pt x="184" y="360"/>
                  </a:lnTo>
                  <a:lnTo>
                    <a:pt x="192" y="360"/>
                  </a:lnTo>
                  <a:lnTo>
                    <a:pt x="208" y="368"/>
                  </a:lnTo>
                  <a:lnTo>
                    <a:pt x="216" y="360"/>
                  </a:lnTo>
                  <a:lnTo>
                    <a:pt x="232" y="352"/>
                  </a:lnTo>
                  <a:lnTo>
                    <a:pt x="240" y="328"/>
                  </a:lnTo>
                  <a:lnTo>
                    <a:pt x="256" y="336"/>
                  </a:lnTo>
                  <a:lnTo>
                    <a:pt x="264" y="336"/>
                  </a:lnTo>
                  <a:lnTo>
                    <a:pt x="272" y="344"/>
                  </a:lnTo>
                  <a:lnTo>
                    <a:pt x="288" y="336"/>
                  </a:lnTo>
                  <a:lnTo>
                    <a:pt x="296" y="328"/>
                  </a:lnTo>
                  <a:lnTo>
                    <a:pt x="312" y="320"/>
                  </a:lnTo>
                  <a:lnTo>
                    <a:pt x="320" y="336"/>
                  </a:lnTo>
                  <a:lnTo>
                    <a:pt x="328" y="336"/>
                  </a:lnTo>
                  <a:lnTo>
                    <a:pt x="344" y="328"/>
                  </a:lnTo>
                  <a:lnTo>
                    <a:pt x="352" y="328"/>
                  </a:lnTo>
                  <a:lnTo>
                    <a:pt x="352" y="336"/>
                  </a:lnTo>
                  <a:lnTo>
                    <a:pt x="360" y="328"/>
                  </a:lnTo>
                  <a:lnTo>
                    <a:pt x="360" y="32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41" name="Freeform 691"/>
            <p:cNvSpPr>
              <a:spLocks/>
            </p:cNvSpPr>
            <p:nvPr/>
          </p:nvSpPr>
          <p:spPr bwMode="auto">
            <a:xfrm>
              <a:off x="3387349" y="2932528"/>
              <a:ext cx="16461" cy="8663"/>
            </a:xfrm>
            <a:custGeom>
              <a:avLst/>
              <a:gdLst>
                <a:gd name="T0" fmla="*/ 0 w 16"/>
                <a:gd name="T1" fmla="*/ 0 h 8"/>
                <a:gd name="T2" fmla="*/ 0 w 16"/>
                <a:gd name="T3" fmla="*/ 2147483647 h 8"/>
                <a:gd name="T4" fmla="*/ 2147483647 w 16"/>
                <a:gd name="T5" fmla="*/ 2147483647 h 8"/>
                <a:gd name="T6" fmla="*/ 2147483647 w 16"/>
                <a:gd name="T7" fmla="*/ 2147483647 h 8"/>
                <a:gd name="T8" fmla="*/ 0 w 16"/>
                <a:gd name="T9" fmla="*/ 0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0" y="0"/>
                  </a:moveTo>
                  <a:lnTo>
                    <a:pt x="0" y="8"/>
                  </a:lnTo>
                  <a:lnTo>
                    <a:pt x="16" y="8"/>
                  </a:lnTo>
                  <a:lnTo>
                    <a:pt x="8" y="8"/>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42" name="Freeform 692"/>
            <p:cNvSpPr>
              <a:spLocks/>
            </p:cNvSpPr>
            <p:nvPr/>
          </p:nvSpPr>
          <p:spPr bwMode="auto">
            <a:xfrm>
              <a:off x="2946387" y="2728940"/>
              <a:ext cx="8663" cy="866"/>
            </a:xfrm>
            <a:custGeom>
              <a:avLst/>
              <a:gdLst>
                <a:gd name="T0" fmla="*/ 0 w 8"/>
                <a:gd name="T1" fmla="*/ 0 h 1943"/>
                <a:gd name="T2" fmla="*/ 2147483647 w 8"/>
                <a:gd name="T3" fmla="*/ 0 h 1943"/>
                <a:gd name="T4" fmla="*/ 0 w 8"/>
                <a:gd name="T5" fmla="*/ 0 h 1943"/>
                <a:gd name="T6" fmla="*/ 0 60000 65536"/>
                <a:gd name="T7" fmla="*/ 0 60000 65536"/>
                <a:gd name="T8" fmla="*/ 0 60000 65536"/>
                <a:gd name="T9" fmla="*/ 0 w 8"/>
                <a:gd name="T10" fmla="*/ 0 h 1943"/>
                <a:gd name="T11" fmla="*/ 8 w 8"/>
                <a:gd name="T12" fmla="*/ 1943 h 1943"/>
              </a:gdLst>
              <a:ahLst/>
              <a:cxnLst>
                <a:cxn ang="T6">
                  <a:pos x="T0" y="T1"/>
                </a:cxn>
                <a:cxn ang="T7">
                  <a:pos x="T2" y="T3"/>
                </a:cxn>
                <a:cxn ang="T8">
                  <a:pos x="T4" y="T5"/>
                </a:cxn>
              </a:cxnLst>
              <a:rect l="T9" t="T10" r="T11" b="T12"/>
              <a:pathLst>
                <a:path w="8" h="1943">
                  <a:moveTo>
                    <a:pt x="0" y="0"/>
                  </a:moveTo>
                  <a:lnTo>
                    <a:pt x="8" y="0"/>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43" name="Freeform 693"/>
            <p:cNvSpPr>
              <a:spLocks/>
            </p:cNvSpPr>
            <p:nvPr/>
          </p:nvSpPr>
          <p:spPr bwMode="auto">
            <a:xfrm>
              <a:off x="3387349" y="2932528"/>
              <a:ext cx="16461" cy="8663"/>
            </a:xfrm>
            <a:custGeom>
              <a:avLst/>
              <a:gdLst>
                <a:gd name="T0" fmla="*/ 0 w 16"/>
                <a:gd name="T1" fmla="*/ 0 h 8"/>
                <a:gd name="T2" fmla="*/ 0 w 16"/>
                <a:gd name="T3" fmla="*/ 2147483647 h 8"/>
                <a:gd name="T4" fmla="*/ 2147483647 w 16"/>
                <a:gd name="T5" fmla="*/ 2147483647 h 8"/>
                <a:gd name="T6" fmla="*/ 2147483647 w 16"/>
                <a:gd name="T7" fmla="*/ 2147483647 h 8"/>
                <a:gd name="T8" fmla="*/ 0 w 16"/>
                <a:gd name="T9" fmla="*/ 0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0" y="0"/>
                  </a:moveTo>
                  <a:lnTo>
                    <a:pt x="0" y="8"/>
                  </a:lnTo>
                  <a:lnTo>
                    <a:pt x="16" y="8"/>
                  </a:lnTo>
                  <a:lnTo>
                    <a:pt x="8" y="8"/>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44" name="Rectangle 694"/>
            <p:cNvSpPr>
              <a:spLocks noChangeArrowheads="1"/>
            </p:cNvSpPr>
            <p:nvPr/>
          </p:nvSpPr>
          <p:spPr bwMode="auto">
            <a:xfrm>
              <a:off x="2946387" y="2728940"/>
              <a:ext cx="8663" cy="0"/>
            </a:xfrm>
            <a:prstGeom prst="rect">
              <a:avLst/>
            </a:prstGeom>
            <a:grpFill/>
            <a:ln w="6350">
              <a:no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048" eaLnBrk="1" hangingPunct="1">
                <a:spcBef>
                  <a:spcPct val="50000"/>
                </a:spcBef>
              </a:pPr>
              <a:endParaRPr lang="en-US" sz="3200">
                <a:solidFill>
                  <a:srgbClr val="4D4D4D"/>
                </a:solidFill>
                <a:ea typeface="MS PGothic" panose="020B0600070205080204" pitchFamily="34" charset="-128"/>
              </a:endParaRPr>
            </a:p>
          </p:txBody>
        </p:sp>
        <p:sp>
          <p:nvSpPr>
            <p:cNvPr id="145" name="Freeform 695"/>
            <p:cNvSpPr>
              <a:spLocks/>
            </p:cNvSpPr>
            <p:nvPr/>
          </p:nvSpPr>
          <p:spPr bwMode="auto">
            <a:xfrm>
              <a:off x="2852823" y="2728940"/>
              <a:ext cx="102227" cy="42450"/>
            </a:xfrm>
            <a:custGeom>
              <a:avLst/>
              <a:gdLst>
                <a:gd name="T0" fmla="*/ 2147483647 w 96"/>
                <a:gd name="T1" fmla="*/ 2147483647 h 40"/>
                <a:gd name="T2" fmla="*/ 2147483647 w 96"/>
                <a:gd name="T3" fmla="*/ 2147483647 h 40"/>
                <a:gd name="T4" fmla="*/ 2147483647 w 96"/>
                <a:gd name="T5" fmla="*/ 2147483647 h 40"/>
                <a:gd name="T6" fmla="*/ 2147483647 w 96"/>
                <a:gd name="T7" fmla="*/ 0 h 40"/>
                <a:gd name="T8" fmla="*/ 2147483647 w 96"/>
                <a:gd name="T9" fmla="*/ 0 h 40"/>
                <a:gd name="T10" fmla="*/ 2147483647 w 96"/>
                <a:gd name="T11" fmla="*/ 0 h 40"/>
                <a:gd name="T12" fmla="*/ 2147483647 w 96"/>
                <a:gd name="T13" fmla="*/ 0 h 40"/>
                <a:gd name="T14" fmla="*/ 2147483647 w 96"/>
                <a:gd name="T15" fmla="*/ 2147483647 h 40"/>
                <a:gd name="T16" fmla="*/ 2147483647 w 96"/>
                <a:gd name="T17" fmla="*/ 2147483647 h 40"/>
                <a:gd name="T18" fmla="*/ 2147483647 w 96"/>
                <a:gd name="T19" fmla="*/ 2147483647 h 40"/>
                <a:gd name="T20" fmla="*/ 2147483647 w 96"/>
                <a:gd name="T21" fmla="*/ 2147483647 h 40"/>
                <a:gd name="T22" fmla="*/ 2147483647 w 96"/>
                <a:gd name="T23" fmla="*/ 2147483647 h 40"/>
                <a:gd name="T24" fmla="*/ 2147483647 w 96"/>
                <a:gd name="T25" fmla="*/ 2147483647 h 40"/>
                <a:gd name="T26" fmla="*/ 2147483647 w 96"/>
                <a:gd name="T27" fmla="*/ 2147483647 h 40"/>
                <a:gd name="T28" fmla="*/ 2147483647 w 96"/>
                <a:gd name="T29" fmla="*/ 2147483647 h 40"/>
                <a:gd name="T30" fmla="*/ 0 w 96"/>
                <a:gd name="T31" fmla="*/ 2147483647 h 40"/>
                <a:gd name="T32" fmla="*/ 2147483647 w 96"/>
                <a:gd name="T33" fmla="*/ 2147483647 h 40"/>
                <a:gd name="T34" fmla="*/ 2147483647 w 96"/>
                <a:gd name="T35" fmla="*/ 2147483647 h 40"/>
                <a:gd name="T36" fmla="*/ 2147483647 w 96"/>
                <a:gd name="T37" fmla="*/ 2147483647 h 40"/>
                <a:gd name="T38" fmla="*/ 2147483647 w 96"/>
                <a:gd name="T39" fmla="*/ 2147483647 h 40"/>
                <a:gd name="T40" fmla="*/ 2147483647 w 96"/>
                <a:gd name="T41" fmla="*/ 2147483647 h 40"/>
                <a:gd name="T42" fmla="*/ 2147483647 w 96"/>
                <a:gd name="T43" fmla="*/ 2147483647 h 40"/>
                <a:gd name="T44" fmla="*/ 2147483647 w 96"/>
                <a:gd name="T45" fmla="*/ 2147483647 h 40"/>
                <a:gd name="T46" fmla="*/ 2147483647 w 96"/>
                <a:gd name="T47" fmla="*/ 2147483647 h 4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6"/>
                <a:gd name="T73" fmla="*/ 0 h 40"/>
                <a:gd name="T74" fmla="*/ 96 w 96"/>
                <a:gd name="T75" fmla="*/ 40 h 4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6" h="40">
                  <a:moveTo>
                    <a:pt x="96" y="24"/>
                  </a:moveTo>
                  <a:lnTo>
                    <a:pt x="96" y="16"/>
                  </a:lnTo>
                  <a:lnTo>
                    <a:pt x="96" y="8"/>
                  </a:lnTo>
                  <a:lnTo>
                    <a:pt x="96" y="0"/>
                  </a:lnTo>
                  <a:lnTo>
                    <a:pt x="88" y="0"/>
                  </a:lnTo>
                  <a:lnTo>
                    <a:pt x="72" y="0"/>
                  </a:lnTo>
                  <a:lnTo>
                    <a:pt x="56" y="0"/>
                  </a:lnTo>
                  <a:lnTo>
                    <a:pt x="56" y="8"/>
                  </a:lnTo>
                  <a:lnTo>
                    <a:pt x="48" y="8"/>
                  </a:lnTo>
                  <a:lnTo>
                    <a:pt x="48" y="16"/>
                  </a:lnTo>
                  <a:lnTo>
                    <a:pt x="48" y="24"/>
                  </a:lnTo>
                  <a:lnTo>
                    <a:pt x="40" y="24"/>
                  </a:lnTo>
                  <a:lnTo>
                    <a:pt x="24" y="24"/>
                  </a:lnTo>
                  <a:lnTo>
                    <a:pt x="16" y="24"/>
                  </a:lnTo>
                  <a:lnTo>
                    <a:pt x="8" y="24"/>
                  </a:lnTo>
                  <a:lnTo>
                    <a:pt x="0" y="24"/>
                  </a:lnTo>
                  <a:lnTo>
                    <a:pt x="8" y="32"/>
                  </a:lnTo>
                  <a:lnTo>
                    <a:pt x="16" y="40"/>
                  </a:lnTo>
                  <a:lnTo>
                    <a:pt x="24" y="40"/>
                  </a:lnTo>
                  <a:lnTo>
                    <a:pt x="40" y="40"/>
                  </a:lnTo>
                  <a:lnTo>
                    <a:pt x="56" y="40"/>
                  </a:lnTo>
                  <a:lnTo>
                    <a:pt x="72" y="40"/>
                  </a:lnTo>
                  <a:lnTo>
                    <a:pt x="88" y="32"/>
                  </a:lnTo>
                  <a:lnTo>
                    <a:pt x="96"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46" name="Freeform 696"/>
            <p:cNvSpPr>
              <a:spLocks/>
            </p:cNvSpPr>
            <p:nvPr/>
          </p:nvSpPr>
          <p:spPr bwMode="auto">
            <a:xfrm>
              <a:off x="2665696" y="2677827"/>
              <a:ext cx="170667" cy="178464"/>
            </a:xfrm>
            <a:custGeom>
              <a:avLst/>
              <a:gdLst>
                <a:gd name="T0" fmla="*/ 2147483647 w 161"/>
                <a:gd name="T1" fmla="*/ 2147483647 h 168"/>
                <a:gd name="T2" fmla="*/ 2147483647 w 161"/>
                <a:gd name="T3" fmla="*/ 2147483647 h 168"/>
                <a:gd name="T4" fmla="*/ 2147483647 w 161"/>
                <a:gd name="T5" fmla="*/ 2147483647 h 168"/>
                <a:gd name="T6" fmla="*/ 2147483647 w 161"/>
                <a:gd name="T7" fmla="*/ 2147483647 h 168"/>
                <a:gd name="T8" fmla="*/ 2147483647 w 161"/>
                <a:gd name="T9" fmla="*/ 2147483647 h 168"/>
                <a:gd name="T10" fmla="*/ 2147483647 w 161"/>
                <a:gd name="T11" fmla="*/ 2147483647 h 168"/>
                <a:gd name="T12" fmla="*/ 2147483647 w 161"/>
                <a:gd name="T13" fmla="*/ 2147483647 h 168"/>
                <a:gd name="T14" fmla="*/ 2147483647 w 161"/>
                <a:gd name="T15" fmla="*/ 2147483647 h 168"/>
                <a:gd name="T16" fmla="*/ 2147483647 w 161"/>
                <a:gd name="T17" fmla="*/ 2147483647 h 168"/>
                <a:gd name="T18" fmla="*/ 2147483647 w 161"/>
                <a:gd name="T19" fmla="*/ 2147483647 h 168"/>
                <a:gd name="T20" fmla="*/ 2147483647 w 161"/>
                <a:gd name="T21" fmla="*/ 2147483647 h 168"/>
                <a:gd name="T22" fmla="*/ 2147483647 w 161"/>
                <a:gd name="T23" fmla="*/ 2147483647 h 168"/>
                <a:gd name="T24" fmla="*/ 2147483647 w 161"/>
                <a:gd name="T25" fmla="*/ 2147483647 h 168"/>
                <a:gd name="T26" fmla="*/ 2147483647 w 161"/>
                <a:gd name="T27" fmla="*/ 2147483647 h 168"/>
                <a:gd name="T28" fmla="*/ 2147483647 w 161"/>
                <a:gd name="T29" fmla="*/ 2147483647 h 168"/>
                <a:gd name="T30" fmla="*/ 2147483647 w 161"/>
                <a:gd name="T31" fmla="*/ 2147483647 h 168"/>
                <a:gd name="T32" fmla="*/ 2147483647 w 161"/>
                <a:gd name="T33" fmla="*/ 0 h 168"/>
                <a:gd name="T34" fmla="*/ 2147483647 w 161"/>
                <a:gd name="T35" fmla="*/ 2147483647 h 168"/>
                <a:gd name="T36" fmla="*/ 2147483647 w 161"/>
                <a:gd name="T37" fmla="*/ 2147483647 h 168"/>
                <a:gd name="T38" fmla="*/ 2147483647 w 161"/>
                <a:gd name="T39" fmla="*/ 2147483647 h 168"/>
                <a:gd name="T40" fmla="*/ 2147483647 w 161"/>
                <a:gd name="T41" fmla="*/ 2147483647 h 168"/>
                <a:gd name="T42" fmla="*/ 2147483647 w 161"/>
                <a:gd name="T43" fmla="*/ 2147483647 h 168"/>
                <a:gd name="T44" fmla="*/ 2147483647 w 161"/>
                <a:gd name="T45" fmla="*/ 2147483647 h 168"/>
                <a:gd name="T46" fmla="*/ 2147483647 w 161"/>
                <a:gd name="T47" fmla="*/ 2147483647 h 168"/>
                <a:gd name="T48" fmla="*/ 2147483647 w 161"/>
                <a:gd name="T49" fmla="*/ 2147483647 h 168"/>
                <a:gd name="T50" fmla="*/ 2147483647 w 161"/>
                <a:gd name="T51" fmla="*/ 2147483647 h 168"/>
                <a:gd name="T52" fmla="*/ 2147483647 w 161"/>
                <a:gd name="T53" fmla="*/ 2147483647 h 168"/>
                <a:gd name="T54" fmla="*/ 2147483647 w 161"/>
                <a:gd name="T55" fmla="*/ 2147483647 h 168"/>
                <a:gd name="T56" fmla="*/ 2147483647 w 161"/>
                <a:gd name="T57" fmla="*/ 2147483647 h 168"/>
                <a:gd name="T58" fmla="*/ 0 w 161"/>
                <a:gd name="T59" fmla="*/ 2147483647 h 168"/>
                <a:gd name="T60" fmla="*/ 0 w 161"/>
                <a:gd name="T61" fmla="*/ 2147483647 h 168"/>
                <a:gd name="T62" fmla="*/ 2147483647 w 161"/>
                <a:gd name="T63" fmla="*/ 2147483647 h 168"/>
                <a:gd name="T64" fmla="*/ 2147483647 w 161"/>
                <a:gd name="T65" fmla="*/ 2147483647 h 168"/>
                <a:gd name="T66" fmla="*/ 2147483647 w 161"/>
                <a:gd name="T67" fmla="*/ 2147483647 h 168"/>
                <a:gd name="T68" fmla="*/ 2147483647 w 161"/>
                <a:gd name="T69" fmla="*/ 2147483647 h 168"/>
                <a:gd name="T70" fmla="*/ 2147483647 w 161"/>
                <a:gd name="T71" fmla="*/ 2147483647 h 168"/>
                <a:gd name="T72" fmla="*/ 2147483647 w 161"/>
                <a:gd name="T73" fmla="*/ 2147483647 h 168"/>
                <a:gd name="T74" fmla="*/ 2147483647 w 161"/>
                <a:gd name="T75" fmla="*/ 2147483647 h 168"/>
                <a:gd name="T76" fmla="*/ 2147483647 w 161"/>
                <a:gd name="T77" fmla="*/ 2147483647 h 168"/>
                <a:gd name="T78" fmla="*/ 2147483647 w 161"/>
                <a:gd name="T79" fmla="*/ 2147483647 h 168"/>
                <a:gd name="T80" fmla="*/ 2147483647 w 161"/>
                <a:gd name="T81" fmla="*/ 2147483647 h 168"/>
                <a:gd name="T82" fmla="*/ 2147483647 w 161"/>
                <a:gd name="T83" fmla="*/ 2147483647 h 168"/>
                <a:gd name="T84" fmla="*/ 2147483647 w 161"/>
                <a:gd name="T85" fmla="*/ 2147483647 h 168"/>
                <a:gd name="T86" fmla="*/ 2147483647 w 161"/>
                <a:gd name="T87" fmla="*/ 2147483647 h 168"/>
                <a:gd name="T88" fmla="*/ 2147483647 w 161"/>
                <a:gd name="T89" fmla="*/ 2147483647 h 168"/>
                <a:gd name="T90" fmla="*/ 2147483647 w 161"/>
                <a:gd name="T91" fmla="*/ 2147483647 h 168"/>
                <a:gd name="T92" fmla="*/ 2147483647 w 161"/>
                <a:gd name="T93" fmla="*/ 2147483647 h 168"/>
                <a:gd name="T94" fmla="*/ 2147483647 w 161"/>
                <a:gd name="T95" fmla="*/ 2147483647 h 168"/>
                <a:gd name="T96" fmla="*/ 2147483647 w 161"/>
                <a:gd name="T97" fmla="*/ 2147483647 h 168"/>
                <a:gd name="T98" fmla="*/ 2147483647 w 161"/>
                <a:gd name="T99" fmla="*/ 2147483647 h 168"/>
                <a:gd name="T100" fmla="*/ 2147483647 w 161"/>
                <a:gd name="T101" fmla="*/ 2147483647 h 168"/>
                <a:gd name="T102" fmla="*/ 2147483647 w 161"/>
                <a:gd name="T103" fmla="*/ 2147483647 h 16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1"/>
                <a:gd name="T157" fmla="*/ 0 h 168"/>
                <a:gd name="T158" fmla="*/ 161 w 161"/>
                <a:gd name="T159" fmla="*/ 168 h 16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1" h="168">
                  <a:moveTo>
                    <a:pt x="145" y="120"/>
                  </a:moveTo>
                  <a:lnTo>
                    <a:pt x="153" y="112"/>
                  </a:lnTo>
                  <a:lnTo>
                    <a:pt x="153" y="104"/>
                  </a:lnTo>
                  <a:lnTo>
                    <a:pt x="145" y="96"/>
                  </a:lnTo>
                  <a:lnTo>
                    <a:pt x="137" y="96"/>
                  </a:lnTo>
                  <a:lnTo>
                    <a:pt x="137" y="88"/>
                  </a:lnTo>
                  <a:lnTo>
                    <a:pt x="153" y="72"/>
                  </a:lnTo>
                  <a:lnTo>
                    <a:pt x="153" y="56"/>
                  </a:lnTo>
                  <a:lnTo>
                    <a:pt x="161" y="48"/>
                  </a:lnTo>
                  <a:lnTo>
                    <a:pt x="153" y="40"/>
                  </a:lnTo>
                  <a:lnTo>
                    <a:pt x="145" y="40"/>
                  </a:lnTo>
                  <a:lnTo>
                    <a:pt x="128" y="32"/>
                  </a:lnTo>
                  <a:lnTo>
                    <a:pt x="120" y="24"/>
                  </a:lnTo>
                  <a:lnTo>
                    <a:pt x="112" y="24"/>
                  </a:lnTo>
                  <a:lnTo>
                    <a:pt x="104" y="16"/>
                  </a:lnTo>
                  <a:lnTo>
                    <a:pt x="96" y="8"/>
                  </a:lnTo>
                  <a:lnTo>
                    <a:pt x="96" y="0"/>
                  </a:lnTo>
                  <a:lnTo>
                    <a:pt x="88" y="8"/>
                  </a:lnTo>
                  <a:lnTo>
                    <a:pt x="80" y="24"/>
                  </a:lnTo>
                  <a:lnTo>
                    <a:pt x="72" y="24"/>
                  </a:lnTo>
                  <a:lnTo>
                    <a:pt x="64" y="40"/>
                  </a:lnTo>
                  <a:lnTo>
                    <a:pt x="48" y="40"/>
                  </a:lnTo>
                  <a:lnTo>
                    <a:pt x="48" y="32"/>
                  </a:lnTo>
                  <a:lnTo>
                    <a:pt x="40" y="32"/>
                  </a:lnTo>
                  <a:lnTo>
                    <a:pt x="40" y="40"/>
                  </a:lnTo>
                  <a:lnTo>
                    <a:pt x="40" y="48"/>
                  </a:lnTo>
                  <a:lnTo>
                    <a:pt x="32" y="48"/>
                  </a:lnTo>
                  <a:lnTo>
                    <a:pt x="24" y="48"/>
                  </a:lnTo>
                  <a:lnTo>
                    <a:pt x="16" y="48"/>
                  </a:lnTo>
                  <a:lnTo>
                    <a:pt x="0" y="56"/>
                  </a:lnTo>
                  <a:lnTo>
                    <a:pt x="0" y="64"/>
                  </a:lnTo>
                  <a:lnTo>
                    <a:pt x="16" y="72"/>
                  </a:lnTo>
                  <a:lnTo>
                    <a:pt x="32" y="72"/>
                  </a:lnTo>
                  <a:lnTo>
                    <a:pt x="32" y="80"/>
                  </a:lnTo>
                  <a:lnTo>
                    <a:pt x="40" y="88"/>
                  </a:lnTo>
                  <a:lnTo>
                    <a:pt x="40" y="104"/>
                  </a:lnTo>
                  <a:lnTo>
                    <a:pt x="48" y="104"/>
                  </a:lnTo>
                  <a:lnTo>
                    <a:pt x="48" y="120"/>
                  </a:lnTo>
                  <a:lnTo>
                    <a:pt x="40" y="152"/>
                  </a:lnTo>
                  <a:lnTo>
                    <a:pt x="48" y="160"/>
                  </a:lnTo>
                  <a:lnTo>
                    <a:pt x="56" y="160"/>
                  </a:lnTo>
                  <a:lnTo>
                    <a:pt x="72" y="160"/>
                  </a:lnTo>
                  <a:lnTo>
                    <a:pt x="80" y="160"/>
                  </a:lnTo>
                  <a:lnTo>
                    <a:pt x="88" y="168"/>
                  </a:lnTo>
                  <a:lnTo>
                    <a:pt x="96" y="168"/>
                  </a:lnTo>
                  <a:lnTo>
                    <a:pt x="104" y="152"/>
                  </a:lnTo>
                  <a:lnTo>
                    <a:pt x="112" y="152"/>
                  </a:lnTo>
                  <a:lnTo>
                    <a:pt x="128" y="152"/>
                  </a:lnTo>
                  <a:lnTo>
                    <a:pt x="153" y="136"/>
                  </a:lnTo>
                  <a:lnTo>
                    <a:pt x="161" y="136"/>
                  </a:lnTo>
                  <a:lnTo>
                    <a:pt x="153" y="128"/>
                  </a:lnTo>
                  <a:lnTo>
                    <a:pt x="145" y="12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47" name="Freeform 697"/>
            <p:cNvSpPr>
              <a:spLocks/>
            </p:cNvSpPr>
            <p:nvPr/>
          </p:nvSpPr>
          <p:spPr bwMode="auto">
            <a:xfrm>
              <a:off x="2819036" y="2771390"/>
              <a:ext cx="161137" cy="152474"/>
            </a:xfrm>
            <a:custGeom>
              <a:avLst/>
              <a:gdLst>
                <a:gd name="T0" fmla="*/ 2147483647 w 152"/>
                <a:gd name="T1" fmla="*/ 0 h 144"/>
                <a:gd name="T2" fmla="*/ 2147483647 w 152"/>
                <a:gd name="T3" fmla="*/ 0 h 144"/>
                <a:gd name="T4" fmla="*/ 2147483647 w 152"/>
                <a:gd name="T5" fmla="*/ 0 h 144"/>
                <a:gd name="T6" fmla="*/ 2147483647 w 152"/>
                <a:gd name="T7" fmla="*/ 0 h 144"/>
                <a:gd name="T8" fmla="*/ 2147483647 w 152"/>
                <a:gd name="T9" fmla="*/ 2147483647 h 144"/>
                <a:gd name="T10" fmla="*/ 2147483647 w 152"/>
                <a:gd name="T11" fmla="*/ 2147483647 h 144"/>
                <a:gd name="T12" fmla="*/ 2147483647 w 152"/>
                <a:gd name="T13" fmla="*/ 2147483647 h 144"/>
                <a:gd name="T14" fmla="*/ 2147483647 w 152"/>
                <a:gd name="T15" fmla="*/ 2147483647 h 144"/>
                <a:gd name="T16" fmla="*/ 0 w 152"/>
                <a:gd name="T17" fmla="*/ 2147483647 h 144"/>
                <a:gd name="T18" fmla="*/ 2147483647 w 152"/>
                <a:gd name="T19" fmla="*/ 2147483647 h 144"/>
                <a:gd name="T20" fmla="*/ 2147483647 w 152"/>
                <a:gd name="T21" fmla="*/ 2147483647 h 144"/>
                <a:gd name="T22" fmla="*/ 2147483647 w 152"/>
                <a:gd name="T23" fmla="*/ 2147483647 h 144"/>
                <a:gd name="T24" fmla="*/ 2147483647 w 152"/>
                <a:gd name="T25" fmla="*/ 2147483647 h 144"/>
                <a:gd name="T26" fmla="*/ 2147483647 w 152"/>
                <a:gd name="T27" fmla="*/ 2147483647 h 144"/>
                <a:gd name="T28" fmla="*/ 2147483647 w 152"/>
                <a:gd name="T29" fmla="*/ 2147483647 h 144"/>
                <a:gd name="T30" fmla="*/ 2147483647 w 152"/>
                <a:gd name="T31" fmla="*/ 2147483647 h 144"/>
                <a:gd name="T32" fmla="*/ 2147483647 w 152"/>
                <a:gd name="T33" fmla="*/ 2147483647 h 144"/>
                <a:gd name="T34" fmla="*/ 2147483647 w 152"/>
                <a:gd name="T35" fmla="*/ 2147483647 h 144"/>
                <a:gd name="T36" fmla="*/ 2147483647 w 152"/>
                <a:gd name="T37" fmla="*/ 2147483647 h 144"/>
                <a:gd name="T38" fmla="*/ 2147483647 w 152"/>
                <a:gd name="T39" fmla="*/ 2147483647 h 144"/>
                <a:gd name="T40" fmla="*/ 2147483647 w 152"/>
                <a:gd name="T41" fmla="*/ 2147483647 h 144"/>
                <a:gd name="T42" fmla="*/ 2147483647 w 152"/>
                <a:gd name="T43" fmla="*/ 2147483647 h 144"/>
                <a:gd name="T44" fmla="*/ 2147483647 w 152"/>
                <a:gd name="T45" fmla="*/ 2147483647 h 144"/>
                <a:gd name="T46" fmla="*/ 2147483647 w 152"/>
                <a:gd name="T47" fmla="*/ 2147483647 h 144"/>
                <a:gd name="T48" fmla="*/ 2147483647 w 152"/>
                <a:gd name="T49" fmla="*/ 2147483647 h 144"/>
                <a:gd name="T50" fmla="*/ 2147483647 w 152"/>
                <a:gd name="T51" fmla="*/ 2147483647 h 144"/>
                <a:gd name="T52" fmla="*/ 2147483647 w 152"/>
                <a:gd name="T53" fmla="*/ 2147483647 h 144"/>
                <a:gd name="T54" fmla="*/ 2147483647 w 152"/>
                <a:gd name="T55" fmla="*/ 2147483647 h 144"/>
                <a:gd name="T56" fmla="*/ 2147483647 w 152"/>
                <a:gd name="T57" fmla="*/ 2147483647 h 144"/>
                <a:gd name="T58" fmla="*/ 2147483647 w 152"/>
                <a:gd name="T59" fmla="*/ 2147483647 h 144"/>
                <a:gd name="T60" fmla="*/ 2147483647 w 152"/>
                <a:gd name="T61" fmla="*/ 0 h 14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2"/>
                <a:gd name="T94" fmla="*/ 0 h 144"/>
                <a:gd name="T95" fmla="*/ 152 w 152"/>
                <a:gd name="T96" fmla="*/ 144 h 14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2" h="144">
                  <a:moveTo>
                    <a:pt x="88" y="0"/>
                  </a:moveTo>
                  <a:lnTo>
                    <a:pt x="72" y="0"/>
                  </a:lnTo>
                  <a:lnTo>
                    <a:pt x="56" y="0"/>
                  </a:lnTo>
                  <a:lnTo>
                    <a:pt x="48" y="0"/>
                  </a:lnTo>
                  <a:lnTo>
                    <a:pt x="40" y="8"/>
                  </a:lnTo>
                  <a:lnTo>
                    <a:pt x="24" y="8"/>
                  </a:lnTo>
                  <a:lnTo>
                    <a:pt x="8" y="16"/>
                  </a:lnTo>
                  <a:lnTo>
                    <a:pt x="8" y="24"/>
                  </a:lnTo>
                  <a:lnTo>
                    <a:pt x="0" y="32"/>
                  </a:lnTo>
                  <a:lnTo>
                    <a:pt x="8" y="40"/>
                  </a:lnTo>
                  <a:lnTo>
                    <a:pt x="16" y="48"/>
                  </a:lnTo>
                  <a:lnTo>
                    <a:pt x="24" y="40"/>
                  </a:lnTo>
                  <a:lnTo>
                    <a:pt x="40" y="48"/>
                  </a:lnTo>
                  <a:lnTo>
                    <a:pt x="56" y="72"/>
                  </a:lnTo>
                  <a:lnTo>
                    <a:pt x="64" y="88"/>
                  </a:lnTo>
                  <a:lnTo>
                    <a:pt x="96" y="104"/>
                  </a:lnTo>
                  <a:lnTo>
                    <a:pt x="112" y="128"/>
                  </a:lnTo>
                  <a:lnTo>
                    <a:pt x="120" y="144"/>
                  </a:lnTo>
                  <a:lnTo>
                    <a:pt x="128" y="128"/>
                  </a:lnTo>
                  <a:lnTo>
                    <a:pt x="128" y="112"/>
                  </a:lnTo>
                  <a:lnTo>
                    <a:pt x="144" y="120"/>
                  </a:lnTo>
                  <a:lnTo>
                    <a:pt x="152" y="120"/>
                  </a:lnTo>
                  <a:lnTo>
                    <a:pt x="128" y="96"/>
                  </a:lnTo>
                  <a:lnTo>
                    <a:pt x="112" y="88"/>
                  </a:lnTo>
                  <a:lnTo>
                    <a:pt x="104" y="80"/>
                  </a:lnTo>
                  <a:lnTo>
                    <a:pt x="88" y="56"/>
                  </a:lnTo>
                  <a:lnTo>
                    <a:pt x="80" y="40"/>
                  </a:lnTo>
                  <a:lnTo>
                    <a:pt x="80" y="24"/>
                  </a:lnTo>
                  <a:lnTo>
                    <a:pt x="88" y="24"/>
                  </a:lnTo>
                  <a:lnTo>
                    <a:pt x="88" y="16"/>
                  </a:lnTo>
                  <a:lnTo>
                    <a:pt x="88"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48" name="Freeform 698"/>
            <p:cNvSpPr>
              <a:spLocks/>
            </p:cNvSpPr>
            <p:nvPr/>
          </p:nvSpPr>
          <p:spPr bwMode="auto">
            <a:xfrm>
              <a:off x="2800844" y="2592926"/>
              <a:ext cx="128217" cy="161137"/>
            </a:xfrm>
            <a:custGeom>
              <a:avLst/>
              <a:gdLst>
                <a:gd name="T0" fmla="*/ 2147483647 w 121"/>
                <a:gd name="T1" fmla="*/ 2147483647 h 152"/>
                <a:gd name="T2" fmla="*/ 2147483647 w 121"/>
                <a:gd name="T3" fmla="*/ 2147483647 h 152"/>
                <a:gd name="T4" fmla="*/ 2147483647 w 121"/>
                <a:gd name="T5" fmla="*/ 2147483647 h 152"/>
                <a:gd name="T6" fmla="*/ 2147483647 w 121"/>
                <a:gd name="T7" fmla="*/ 2147483647 h 152"/>
                <a:gd name="T8" fmla="*/ 2147483647 w 121"/>
                <a:gd name="T9" fmla="*/ 2147483647 h 152"/>
                <a:gd name="T10" fmla="*/ 2147483647 w 121"/>
                <a:gd name="T11" fmla="*/ 2147483647 h 152"/>
                <a:gd name="T12" fmla="*/ 2147483647 w 121"/>
                <a:gd name="T13" fmla="*/ 2147483647 h 152"/>
                <a:gd name="T14" fmla="*/ 2147483647 w 121"/>
                <a:gd name="T15" fmla="*/ 2147483647 h 152"/>
                <a:gd name="T16" fmla="*/ 0 w 121"/>
                <a:gd name="T17" fmla="*/ 2147483647 h 152"/>
                <a:gd name="T18" fmla="*/ 2147483647 w 121"/>
                <a:gd name="T19" fmla="*/ 2147483647 h 152"/>
                <a:gd name="T20" fmla="*/ 2147483647 w 121"/>
                <a:gd name="T21" fmla="*/ 2147483647 h 152"/>
                <a:gd name="T22" fmla="*/ 2147483647 w 121"/>
                <a:gd name="T23" fmla="*/ 2147483647 h 152"/>
                <a:gd name="T24" fmla="*/ 2147483647 w 121"/>
                <a:gd name="T25" fmla="*/ 2147483647 h 152"/>
                <a:gd name="T26" fmla="*/ 2147483647 w 121"/>
                <a:gd name="T27" fmla="*/ 2147483647 h 152"/>
                <a:gd name="T28" fmla="*/ 2147483647 w 121"/>
                <a:gd name="T29" fmla="*/ 2147483647 h 152"/>
                <a:gd name="T30" fmla="*/ 2147483647 w 121"/>
                <a:gd name="T31" fmla="*/ 2147483647 h 152"/>
                <a:gd name="T32" fmla="*/ 2147483647 w 121"/>
                <a:gd name="T33" fmla="*/ 2147483647 h 152"/>
                <a:gd name="T34" fmla="*/ 2147483647 w 121"/>
                <a:gd name="T35" fmla="*/ 2147483647 h 152"/>
                <a:gd name="T36" fmla="*/ 2147483647 w 121"/>
                <a:gd name="T37" fmla="*/ 2147483647 h 152"/>
                <a:gd name="T38" fmla="*/ 2147483647 w 121"/>
                <a:gd name="T39" fmla="*/ 2147483647 h 152"/>
                <a:gd name="T40" fmla="*/ 2147483647 w 121"/>
                <a:gd name="T41" fmla="*/ 2147483647 h 152"/>
                <a:gd name="T42" fmla="*/ 2147483647 w 121"/>
                <a:gd name="T43" fmla="*/ 2147483647 h 152"/>
                <a:gd name="T44" fmla="*/ 2147483647 w 121"/>
                <a:gd name="T45" fmla="*/ 2147483647 h 152"/>
                <a:gd name="T46" fmla="*/ 2147483647 w 121"/>
                <a:gd name="T47" fmla="*/ 2147483647 h 152"/>
                <a:gd name="T48" fmla="*/ 2147483647 w 121"/>
                <a:gd name="T49" fmla="*/ 2147483647 h 152"/>
                <a:gd name="T50" fmla="*/ 2147483647 w 121"/>
                <a:gd name="T51" fmla="*/ 2147483647 h 152"/>
                <a:gd name="T52" fmla="*/ 2147483647 w 121"/>
                <a:gd name="T53" fmla="*/ 2147483647 h 152"/>
                <a:gd name="T54" fmla="*/ 2147483647 w 121"/>
                <a:gd name="T55" fmla="*/ 2147483647 h 152"/>
                <a:gd name="T56" fmla="*/ 2147483647 w 121"/>
                <a:gd name="T57" fmla="*/ 2147483647 h 152"/>
                <a:gd name="T58" fmla="*/ 2147483647 w 121"/>
                <a:gd name="T59" fmla="*/ 2147483647 h 152"/>
                <a:gd name="T60" fmla="*/ 2147483647 w 121"/>
                <a:gd name="T61" fmla="*/ 2147483647 h 152"/>
                <a:gd name="T62" fmla="*/ 2147483647 w 121"/>
                <a:gd name="T63" fmla="*/ 2147483647 h 152"/>
                <a:gd name="T64" fmla="*/ 2147483647 w 121"/>
                <a:gd name="T65" fmla="*/ 2147483647 h 152"/>
                <a:gd name="T66" fmla="*/ 2147483647 w 121"/>
                <a:gd name="T67" fmla="*/ 2147483647 h 152"/>
                <a:gd name="T68" fmla="*/ 2147483647 w 121"/>
                <a:gd name="T69" fmla="*/ 2147483647 h 152"/>
                <a:gd name="T70" fmla="*/ 2147483647 w 121"/>
                <a:gd name="T71" fmla="*/ 2147483647 h 152"/>
                <a:gd name="T72" fmla="*/ 2147483647 w 121"/>
                <a:gd name="T73" fmla="*/ 2147483647 h 152"/>
                <a:gd name="T74" fmla="*/ 2147483647 w 121"/>
                <a:gd name="T75" fmla="*/ 2147483647 h 152"/>
                <a:gd name="T76" fmla="*/ 2147483647 w 121"/>
                <a:gd name="T77" fmla="*/ 2147483647 h 152"/>
                <a:gd name="T78" fmla="*/ 2147483647 w 121"/>
                <a:gd name="T79" fmla="*/ 2147483647 h 152"/>
                <a:gd name="T80" fmla="*/ 2147483647 w 121"/>
                <a:gd name="T81" fmla="*/ 2147483647 h 152"/>
                <a:gd name="T82" fmla="*/ 2147483647 w 121"/>
                <a:gd name="T83" fmla="*/ 2147483647 h 152"/>
                <a:gd name="T84" fmla="*/ 2147483647 w 121"/>
                <a:gd name="T85" fmla="*/ 2147483647 h 152"/>
                <a:gd name="T86" fmla="*/ 2147483647 w 121"/>
                <a:gd name="T87" fmla="*/ 2147483647 h 152"/>
                <a:gd name="T88" fmla="*/ 2147483647 w 121"/>
                <a:gd name="T89" fmla="*/ 2147483647 h 152"/>
                <a:gd name="T90" fmla="*/ 2147483647 w 121"/>
                <a:gd name="T91" fmla="*/ 0 h 152"/>
                <a:gd name="T92" fmla="*/ 2147483647 w 121"/>
                <a:gd name="T93" fmla="*/ 2147483647 h 152"/>
                <a:gd name="T94" fmla="*/ 2147483647 w 121"/>
                <a:gd name="T95" fmla="*/ 2147483647 h 152"/>
                <a:gd name="T96" fmla="*/ 2147483647 w 121"/>
                <a:gd name="T97" fmla="*/ 2147483647 h 152"/>
                <a:gd name="T98" fmla="*/ 2147483647 w 121"/>
                <a:gd name="T99" fmla="*/ 2147483647 h 152"/>
                <a:gd name="T100" fmla="*/ 2147483647 w 121"/>
                <a:gd name="T101" fmla="*/ 2147483647 h 152"/>
                <a:gd name="T102" fmla="*/ 2147483647 w 121"/>
                <a:gd name="T103" fmla="*/ 2147483647 h 15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1"/>
                <a:gd name="T157" fmla="*/ 0 h 152"/>
                <a:gd name="T158" fmla="*/ 121 w 121"/>
                <a:gd name="T159" fmla="*/ 152 h 15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1" h="152">
                  <a:moveTo>
                    <a:pt x="25" y="40"/>
                  </a:moveTo>
                  <a:lnTo>
                    <a:pt x="17" y="48"/>
                  </a:lnTo>
                  <a:lnTo>
                    <a:pt x="17" y="64"/>
                  </a:lnTo>
                  <a:lnTo>
                    <a:pt x="9" y="72"/>
                  </a:lnTo>
                  <a:lnTo>
                    <a:pt x="9" y="80"/>
                  </a:lnTo>
                  <a:lnTo>
                    <a:pt x="9" y="88"/>
                  </a:lnTo>
                  <a:lnTo>
                    <a:pt x="9" y="96"/>
                  </a:lnTo>
                  <a:lnTo>
                    <a:pt x="9" y="104"/>
                  </a:lnTo>
                  <a:lnTo>
                    <a:pt x="0" y="112"/>
                  </a:lnTo>
                  <a:lnTo>
                    <a:pt x="17" y="120"/>
                  </a:lnTo>
                  <a:lnTo>
                    <a:pt x="25" y="120"/>
                  </a:lnTo>
                  <a:lnTo>
                    <a:pt x="33" y="128"/>
                  </a:lnTo>
                  <a:lnTo>
                    <a:pt x="25" y="136"/>
                  </a:lnTo>
                  <a:lnTo>
                    <a:pt x="25" y="152"/>
                  </a:lnTo>
                  <a:lnTo>
                    <a:pt x="33" y="152"/>
                  </a:lnTo>
                  <a:lnTo>
                    <a:pt x="41" y="152"/>
                  </a:lnTo>
                  <a:lnTo>
                    <a:pt x="49" y="152"/>
                  </a:lnTo>
                  <a:lnTo>
                    <a:pt x="57" y="152"/>
                  </a:lnTo>
                  <a:lnTo>
                    <a:pt x="65" y="152"/>
                  </a:lnTo>
                  <a:lnTo>
                    <a:pt x="73" y="152"/>
                  </a:lnTo>
                  <a:lnTo>
                    <a:pt x="89" y="152"/>
                  </a:lnTo>
                  <a:lnTo>
                    <a:pt x="97" y="152"/>
                  </a:lnTo>
                  <a:lnTo>
                    <a:pt x="97" y="144"/>
                  </a:lnTo>
                  <a:lnTo>
                    <a:pt x="97" y="136"/>
                  </a:lnTo>
                  <a:lnTo>
                    <a:pt x="105" y="136"/>
                  </a:lnTo>
                  <a:lnTo>
                    <a:pt x="105" y="128"/>
                  </a:lnTo>
                  <a:lnTo>
                    <a:pt x="97" y="112"/>
                  </a:lnTo>
                  <a:lnTo>
                    <a:pt x="89" y="104"/>
                  </a:lnTo>
                  <a:lnTo>
                    <a:pt x="81" y="104"/>
                  </a:lnTo>
                  <a:lnTo>
                    <a:pt x="89" y="96"/>
                  </a:lnTo>
                  <a:lnTo>
                    <a:pt x="97" y="96"/>
                  </a:lnTo>
                  <a:lnTo>
                    <a:pt x="105" y="88"/>
                  </a:lnTo>
                  <a:lnTo>
                    <a:pt x="113" y="88"/>
                  </a:lnTo>
                  <a:lnTo>
                    <a:pt x="121" y="88"/>
                  </a:lnTo>
                  <a:lnTo>
                    <a:pt x="121" y="72"/>
                  </a:lnTo>
                  <a:lnTo>
                    <a:pt x="113" y="56"/>
                  </a:lnTo>
                  <a:lnTo>
                    <a:pt x="113" y="48"/>
                  </a:lnTo>
                  <a:lnTo>
                    <a:pt x="113" y="40"/>
                  </a:lnTo>
                  <a:lnTo>
                    <a:pt x="113" y="32"/>
                  </a:lnTo>
                  <a:lnTo>
                    <a:pt x="113" y="24"/>
                  </a:lnTo>
                  <a:lnTo>
                    <a:pt x="97" y="16"/>
                  </a:lnTo>
                  <a:lnTo>
                    <a:pt x="81" y="24"/>
                  </a:lnTo>
                  <a:lnTo>
                    <a:pt x="73" y="16"/>
                  </a:lnTo>
                  <a:lnTo>
                    <a:pt x="73" y="8"/>
                  </a:lnTo>
                  <a:lnTo>
                    <a:pt x="57" y="8"/>
                  </a:lnTo>
                  <a:lnTo>
                    <a:pt x="49" y="0"/>
                  </a:lnTo>
                  <a:lnTo>
                    <a:pt x="49" y="8"/>
                  </a:lnTo>
                  <a:lnTo>
                    <a:pt x="41" y="24"/>
                  </a:lnTo>
                  <a:lnTo>
                    <a:pt x="41" y="32"/>
                  </a:lnTo>
                  <a:lnTo>
                    <a:pt x="33" y="32"/>
                  </a:lnTo>
                  <a:lnTo>
                    <a:pt x="25" y="32"/>
                  </a:lnTo>
                  <a:lnTo>
                    <a:pt x="25" y="4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49" name="Freeform 699"/>
            <p:cNvSpPr>
              <a:spLocks/>
            </p:cNvSpPr>
            <p:nvPr/>
          </p:nvSpPr>
          <p:spPr bwMode="auto">
            <a:xfrm>
              <a:off x="2775720" y="2627580"/>
              <a:ext cx="51980" cy="58910"/>
            </a:xfrm>
            <a:custGeom>
              <a:avLst/>
              <a:gdLst>
                <a:gd name="T0" fmla="*/ 2147483647 w 49"/>
                <a:gd name="T1" fmla="*/ 2147483647 h 56"/>
                <a:gd name="T2" fmla="*/ 2147483647 w 49"/>
                <a:gd name="T3" fmla="*/ 2147483647 h 56"/>
                <a:gd name="T4" fmla="*/ 2147483647 w 49"/>
                <a:gd name="T5" fmla="*/ 2147483647 h 56"/>
                <a:gd name="T6" fmla="*/ 2147483647 w 49"/>
                <a:gd name="T7" fmla="*/ 2147483647 h 56"/>
                <a:gd name="T8" fmla="*/ 2147483647 w 49"/>
                <a:gd name="T9" fmla="*/ 2147483647 h 56"/>
                <a:gd name="T10" fmla="*/ 2147483647 w 49"/>
                <a:gd name="T11" fmla="*/ 2147483647 h 56"/>
                <a:gd name="T12" fmla="*/ 2147483647 w 49"/>
                <a:gd name="T13" fmla="*/ 2147483647 h 56"/>
                <a:gd name="T14" fmla="*/ 2147483647 w 49"/>
                <a:gd name="T15" fmla="*/ 2147483647 h 56"/>
                <a:gd name="T16" fmla="*/ 2147483647 w 49"/>
                <a:gd name="T17" fmla="*/ 2147483647 h 56"/>
                <a:gd name="T18" fmla="*/ 2147483647 w 49"/>
                <a:gd name="T19" fmla="*/ 0 h 56"/>
                <a:gd name="T20" fmla="*/ 2147483647 w 49"/>
                <a:gd name="T21" fmla="*/ 0 h 56"/>
                <a:gd name="T22" fmla="*/ 2147483647 w 49"/>
                <a:gd name="T23" fmla="*/ 2147483647 h 56"/>
                <a:gd name="T24" fmla="*/ 2147483647 w 49"/>
                <a:gd name="T25" fmla="*/ 2147483647 h 56"/>
                <a:gd name="T26" fmla="*/ 2147483647 w 49"/>
                <a:gd name="T27" fmla="*/ 2147483647 h 56"/>
                <a:gd name="T28" fmla="*/ 2147483647 w 49"/>
                <a:gd name="T29" fmla="*/ 2147483647 h 56"/>
                <a:gd name="T30" fmla="*/ 0 w 49"/>
                <a:gd name="T31" fmla="*/ 2147483647 h 56"/>
                <a:gd name="T32" fmla="*/ 2147483647 w 49"/>
                <a:gd name="T33" fmla="*/ 2147483647 h 56"/>
                <a:gd name="T34" fmla="*/ 2147483647 w 49"/>
                <a:gd name="T35" fmla="*/ 2147483647 h 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9"/>
                <a:gd name="T55" fmla="*/ 0 h 56"/>
                <a:gd name="T56" fmla="*/ 49 w 49"/>
                <a:gd name="T57" fmla="*/ 56 h 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9" h="56">
                  <a:moveTo>
                    <a:pt x="16" y="48"/>
                  </a:moveTo>
                  <a:lnTo>
                    <a:pt x="24" y="48"/>
                  </a:lnTo>
                  <a:lnTo>
                    <a:pt x="24" y="56"/>
                  </a:lnTo>
                  <a:lnTo>
                    <a:pt x="33" y="56"/>
                  </a:lnTo>
                  <a:lnTo>
                    <a:pt x="33" y="48"/>
                  </a:lnTo>
                  <a:lnTo>
                    <a:pt x="33" y="40"/>
                  </a:lnTo>
                  <a:lnTo>
                    <a:pt x="41" y="32"/>
                  </a:lnTo>
                  <a:lnTo>
                    <a:pt x="41" y="16"/>
                  </a:lnTo>
                  <a:lnTo>
                    <a:pt x="49" y="8"/>
                  </a:lnTo>
                  <a:lnTo>
                    <a:pt x="49" y="0"/>
                  </a:lnTo>
                  <a:lnTo>
                    <a:pt x="41" y="0"/>
                  </a:lnTo>
                  <a:lnTo>
                    <a:pt x="24" y="8"/>
                  </a:lnTo>
                  <a:lnTo>
                    <a:pt x="24" y="16"/>
                  </a:lnTo>
                  <a:lnTo>
                    <a:pt x="16" y="8"/>
                  </a:lnTo>
                  <a:lnTo>
                    <a:pt x="8" y="32"/>
                  </a:lnTo>
                  <a:lnTo>
                    <a:pt x="0" y="40"/>
                  </a:lnTo>
                  <a:lnTo>
                    <a:pt x="8" y="48"/>
                  </a:lnTo>
                  <a:lnTo>
                    <a:pt x="16" y="4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50" name="Freeform 700"/>
            <p:cNvSpPr>
              <a:spLocks/>
            </p:cNvSpPr>
            <p:nvPr/>
          </p:nvSpPr>
          <p:spPr bwMode="auto">
            <a:xfrm>
              <a:off x="2819036" y="2771390"/>
              <a:ext cx="161137" cy="152474"/>
            </a:xfrm>
            <a:custGeom>
              <a:avLst/>
              <a:gdLst>
                <a:gd name="T0" fmla="*/ 2147483647 w 152"/>
                <a:gd name="T1" fmla="*/ 0 h 144"/>
                <a:gd name="T2" fmla="*/ 2147483647 w 152"/>
                <a:gd name="T3" fmla="*/ 0 h 144"/>
                <a:gd name="T4" fmla="*/ 2147483647 w 152"/>
                <a:gd name="T5" fmla="*/ 0 h 144"/>
                <a:gd name="T6" fmla="*/ 2147483647 w 152"/>
                <a:gd name="T7" fmla="*/ 0 h 144"/>
                <a:gd name="T8" fmla="*/ 2147483647 w 152"/>
                <a:gd name="T9" fmla="*/ 0 h 144"/>
                <a:gd name="T10" fmla="*/ 2147483647 w 152"/>
                <a:gd name="T11" fmla="*/ 2147483647 h 144"/>
                <a:gd name="T12" fmla="*/ 2147483647 w 152"/>
                <a:gd name="T13" fmla="*/ 2147483647 h 144"/>
                <a:gd name="T14" fmla="*/ 2147483647 w 152"/>
                <a:gd name="T15" fmla="*/ 2147483647 h 144"/>
                <a:gd name="T16" fmla="*/ 2147483647 w 152"/>
                <a:gd name="T17" fmla="*/ 2147483647 h 144"/>
                <a:gd name="T18" fmla="*/ 2147483647 w 152"/>
                <a:gd name="T19" fmla="*/ 2147483647 h 144"/>
                <a:gd name="T20" fmla="*/ 2147483647 w 152"/>
                <a:gd name="T21" fmla="*/ 2147483647 h 144"/>
                <a:gd name="T22" fmla="*/ 0 w 152"/>
                <a:gd name="T23" fmla="*/ 2147483647 h 144"/>
                <a:gd name="T24" fmla="*/ 2147483647 w 152"/>
                <a:gd name="T25" fmla="*/ 2147483647 h 144"/>
                <a:gd name="T26" fmla="*/ 2147483647 w 152"/>
                <a:gd name="T27" fmla="*/ 2147483647 h 144"/>
                <a:gd name="T28" fmla="*/ 2147483647 w 152"/>
                <a:gd name="T29" fmla="*/ 2147483647 h 144"/>
                <a:gd name="T30" fmla="*/ 2147483647 w 152"/>
                <a:gd name="T31" fmla="*/ 2147483647 h 144"/>
                <a:gd name="T32" fmla="*/ 2147483647 w 152"/>
                <a:gd name="T33" fmla="*/ 2147483647 h 144"/>
                <a:gd name="T34" fmla="*/ 2147483647 w 152"/>
                <a:gd name="T35" fmla="*/ 2147483647 h 144"/>
                <a:gd name="T36" fmla="*/ 2147483647 w 152"/>
                <a:gd name="T37" fmla="*/ 2147483647 h 144"/>
                <a:gd name="T38" fmla="*/ 2147483647 w 152"/>
                <a:gd name="T39" fmla="*/ 2147483647 h 144"/>
                <a:gd name="T40" fmla="*/ 2147483647 w 152"/>
                <a:gd name="T41" fmla="*/ 2147483647 h 144"/>
                <a:gd name="T42" fmla="*/ 2147483647 w 152"/>
                <a:gd name="T43" fmla="*/ 2147483647 h 144"/>
                <a:gd name="T44" fmla="*/ 2147483647 w 152"/>
                <a:gd name="T45" fmla="*/ 2147483647 h 144"/>
                <a:gd name="T46" fmla="*/ 2147483647 w 152"/>
                <a:gd name="T47" fmla="*/ 2147483647 h 144"/>
                <a:gd name="T48" fmla="*/ 2147483647 w 152"/>
                <a:gd name="T49" fmla="*/ 2147483647 h 144"/>
                <a:gd name="T50" fmla="*/ 2147483647 w 152"/>
                <a:gd name="T51" fmla="*/ 2147483647 h 144"/>
                <a:gd name="T52" fmla="*/ 2147483647 w 152"/>
                <a:gd name="T53" fmla="*/ 2147483647 h 144"/>
                <a:gd name="T54" fmla="*/ 2147483647 w 152"/>
                <a:gd name="T55" fmla="*/ 2147483647 h 144"/>
                <a:gd name="T56" fmla="*/ 2147483647 w 152"/>
                <a:gd name="T57" fmla="*/ 2147483647 h 144"/>
                <a:gd name="T58" fmla="*/ 2147483647 w 152"/>
                <a:gd name="T59" fmla="*/ 2147483647 h 144"/>
                <a:gd name="T60" fmla="*/ 2147483647 w 152"/>
                <a:gd name="T61" fmla="*/ 2147483647 h 144"/>
                <a:gd name="T62" fmla="*/ 2147483647 w 152"/>
                <a:gd name="T63" fmla="*/ 2147483647 h 144"/>
                <a:gd name="T64" fmla="*/ 2147483647 w 152"/>
                <a:gd name="T65" fmla="*/ 2147483647 h 144"/>
                <a:gd name="T66" fmla="*/ 2147483647 w 152"/>
                <a:gd name="T67" fmla="*/ 0 h 14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2"/>
                <a:gd name="T103" fmla="*/ 0 h 144"/>
                <a:gd name="T104" fmla="*/ 152 w 152"/>
                <a:gd name="T105" fmla="*/ 144 h 14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2" h="144">
                  <a:moveTo>
                    <a:pt x="88" y="0"/>
                  </a:moveTo>
                  <a:lnTo>
                    <a:pt x="72" y="0"/>
                  </a:lnTo>
                  <a:lnTo>
                    <a:pt x="56" y="0"/>
                  </a:lnTo>
                  <a:lnTo>
                    <a:pt x="48" y="0"/>
                  </a:lnTo>
                  <a:lnTo>
                    <a:pt x="40" y="8"/>
                  </a:lnTo>
                  <a:lnTo>
                    <a:pt x="24" y="8"/>
                  </a:lnTo>
                  <a:lnTo>
                    <a:pt x="8" y="16"/>
                  </a:lnTo>
                  <a:lnTo>
                    <a:pt x="8" y="24"/>
                  </a:lnTo>
                  <a:lnTo>
                    <a:pt x="0" y="32"/>
                  </a:lnTo>
                  <a:lnTo>
                    <a:pt x="8" y="40"/>
                  </a:lnTo>
                  <a:lnTo>
                    <a:pt x="16" y="48"/>
                  </a:lnTo>
                  <a:lnTo>
                    <a:pt x="24" y="40"/>
                  </a:lnTo>
                  <a:lnTo>
                    <a:pt x="40" y="48"/>
                  </a:lnTo>
                  <a:lnTo>
                    <a:pt x="56" y="72"/>
                  </a:lnTo>
                  <a:lnTo>
                    <a:pt x="64" y="88"/>
                  </a:lnTo>
                  <a:lnTo>
                    <a:pt x="96" y="104"/>
                  </a:lnTo>
                  <a:lnTo>
                    <a:pt x="112" y="128"/>
                  </a:lnTo>
                  <a:lnTo>
                    <a:pt x="120" y="144"/>
                  </a:lnTo>
                  <a:lnTo>
                    <a:pt x="128" y="128"/>
                  </a:lnTo>
                  <a:lnTo>
                    <a:pt x="128" y="112"/>
                  </a:lnTo>
                  <a:lnTo>
                    <a:pt x="144" y="120"/>
                  </a:lnTo>
                  <a:lnTo>
                    <a:pt x="152" y="120"/>
                  </a:lnTo>
                  <a:lnTo>
                    <a:pt x="128" y="96"/>
                  </a:lnTo>
                  <a:lnTo>
                    <a:pt x="112" y="88"/>
                  </a:lnTo>
                  <a:lnTo>
                    <a:pt x="104" y="80"/>
                  </a:lnTo>
                  <a:lnTo>
                    <a:pt x="88" y="56"/>
                  </a:lnTo>
                  <a:lnTo>
                    <a:pt x="80" y="40"/>
                  </a:lnTo>
                  <a:lnTo>
                    <a:pt x="80" y="24"/>
                  </a:lnTo>
                  <a:lnTo>
                    <a:pt x="88" y="24"/>
                  </a:lnTo>
                  <a:lnTo>
                    <a:pt x="88" y="16"/>
                  </a:lnTo>
                  <a:lnTo>
                    <a:pt x="88"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51" name="Freeform 701"/>
            <p:cNvSpPr>
              <a:spLocks/>
            </p:cNvSpPr>
            <p:nvPr/>
          </p:nvSpPr>
          <p:spPr bwMode="auto">
            <a:xfrm>
              <a:off x="2775720" y="2627580"/>
              <a:ext cx="51980" cy="58910"/>
            </a:xfrm>
            <a:custGeom>
              <a:avLst/>
              <a:gdLst>
                <a:gd name="T0" fmla="*/ 2147483647 w 49"/>
                <a:gd name="T1" fmla="*/ 2147483647 h 56"/>
                <a:gd name="T2" fmla="*/ 2147483647 w 49"/>
                <a:gd name="T3" fmla="*/ 2147483647 h 56"/>
                <a:gd name="T4" fmla="*/ 2147483647 w 49"/>
                <a:gd name="T5" fmla="*/ 2147483647 h 56"/>
                <a:gd name="T6" fmla="*/ 2147483647 w 49"/>
                <a:gd name="T7" fmla="*/ 2147483647 h 56"/>
                <a:gd name="T8" fmla="*/ 2147483647 w 49"/>
                <a:gd name="T9" fmla="*/ 2147483647 h 56"/>
                <a:gd name="T10" fmla="*/ 2147483647 w 49"/>
                <a:gd name="T11" fmla="*/ 2147483647 h 56"/>
                <a:gd name="T12" fmla="*/ 2147483647 w 49"/>
                <a:gd name="T13" fmla="*/ 2147483647 h 56"/>
                <a:gd name="T14" fmla="*/ 2147483647 w 49"/>
                <a:gd name="T15" fmla="*/ 2147483647 h 56"/>
                <a:gd name="T16" fmla="*/ 2147483647 w 49"/>
                <a:gd name="T17" fmla="*/ 2147483647 h 56"/>
                <a:gd name="T18" fmla="*/ 2147483647 w 49"/>
                <a:gd name="T19" fmla="*/ 0 h 56"/>
                <a:gd name="T20" fmla="*/ 2147483647 w 49"/>
                <a:gd name="T21" fmla="*/ 0 h 56"/>
                <a:gd name="T22" fmla="*/ 2147483647 w 49"/>
                <a:gd name="T23" fmla="*/ 0 h 56"/>
                <a:gd name="T24" fmla="*/ 2147483647 w 49"/>
                <a:gd name="T25" fmla="*/ 2147483647 h 56"/>
                <a:gd name="T26" fmla="*/ 2147483647 w 49"/>
                <a:gd name="T27" fmla="*/ 2147483647 h 56"/>
                <a:gd name="T28" fmla="*/ 2147483647 w 49"/>
                <a:gd name="T29" fmla="*/ 2147483647 h 56"/>
                <a:gd name="T30" fmla="*/ 2147483647 w 49"/>
                <a:gd name="T31" fmla="*/ 2147483647 h 56"/>
                <a:gd name="T32" fmla="*/ 0 w 49"/>
                <a:gd name="T33" fmla="*/ 2147483647 h 56"/>
                <a:gd name="T34" fmla="*/ 2147483647 w 49"/>
                <a:gd name="T35" fmla="*/ 2147483647 h 56"/>
                <a:gd name="T36" fmla="*/ 2147483647 w 49"/>
                <a:gd name="T37" fmla="*/ 2147483647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9"/>
                <a:gd name="T58" fmla="*/ 0 h 56"/>
                <a:gd name="T59" fmla="*/ 49 w 49"/>
                <a:gd name="T60" fmla="*/ 56 h 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9" h="56">
                  <a:moveTo>
                    <a:pt x="16" y="48"/>
                  </a:moveTo>
                  <a:lnTo>
                    <a:pt x="24" y="48"/>
                  </a:lnTo>
                  <a:lnTo>
                    <a:pt x="24" y="56"/>
                  </a:lnTo>
                  <a:lnTo>
                    <a:pt x="33" y="56"/>
                  </a:lnTo>
                  <a:lnTo>
                    <a:pt x="33" y="48"/>
                  </a:lnTo>
                  <a:lnTo>
                    <a:pt x="33" y="40"/>
                  </a:lnTo>
                  <a:lnTo>
                    <a:pt x="41" y="32"/>
                  </a:lnTo>
                  <a:lnTo>
                    <a:pt x="41" y="16"/>
                  </a:lnTo>
                  <a:lnTo>
                    <a:pt x="49" y="8"/>
                  </a:lnTo>
                  <a:lnTo>
                    <a:pt x="49" y="0"/>
                  </a:lnTo>
                  <a:lnTo>
                    <a:pt x="41" y="0"/>
                  </a:lnTo>
                  <a:lnTo>
                    <a:pt x="24" y="8"/>
                  </a:lnTo>
                  <a:lnTo>
                    <a:pt x="24" y="16"/>
                  </a:lnTo>
                  <a:lnTo>
                    <a:pt x="16" y="8"/>
                  </a:lnTo>
                  <a:lnTo>
                    <a:pt x="8" y="32"/>
                  </a:lnTo>
                  <a:lnTo>
                    <a:pt x="0" y="40"/>
                  </a:lnTo>
                  <a:lnTo>
                    <a:pt x="8" y="48"/>
                  </a:lnTo>
                  <a:lnTo>
                    <a:pt x="16" y="4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52" name="Freeform 702"/>
            <p:cNvSpPr>
              <a:spLocks/>
            </p:cNvSpPr>
            <p:nvPr/>
          </p:nvSpPr>
          <p:spPr bwMode="auto">
            <a:xfrm>
              <a:off x="2997500" y="2864954"/>
              <a:ext cx="84034" cy="84900"/>
            </a:xfrm>
            <a:custGeom>
              <a:avLst/>
              <a:gdLst>
                <a:gd name="T0" fmla="*/ 2147483647 w 80"/>
                <a:gd name="T1" fmla="*/ 2147483647 h 80"/>
                <a:gd name="T2" fmla="*/ 2147483647 w 80"/>
                <a:gd name="T3" fmla="*/ 0 h 80"/>
                <a:gd name="T4" fmla="*/ 2147483647 w 80"/>
                <a:gd name="T5" fmla="*/ 2147483647 h 80"/>
                <a:gd name="T6" fmla="*/ 2147483647 w 80"/>
                <a:gd name="T7" fmla="*/ 2147483647 h 80"/>
                <a:gd name="T8" fmla="*/ 2147483647 w 80"/>
                <a:gd name="T9" fmla="*/ 2147483647 h 80"/>
                <a:gd name="T10" fmla="*/ 2147483647 w 80"/>
                <a:gd name="T11" fmla="*/ 2147483647 h 80"/>
                <a:gd name="T12" fmla="*/ 2147483647 w 80"/>
                <a:gd name="T13" fmla="*/ 2147483647 h 80"/>
                <a:gd name="T14" fmla="*/ 2147483647 w 80"/>
                <a:gd name="T15" fmla="*/ 2147483647 h 80"/>
                <a:gd name="T16" fmla="*/ 0 w 80"/>
                <a:gd name="T17" fmla="*/ 2147483647 h 80"/>
                <a:gd name="T18" fmla="*/ 2147483647 w 80"/>
                <a:gd name="T19" fmla="*/ 2147483647 h 80"/>
                <a:gd name="T20" fmla="*/ 2147483647 w 80"/>
                <a:gd name="T21" fmla="*/ 2147483647 h 80"/>
                <a:gd name="T22" fmla="*/ 2147483647 w 80"/>
                <a:gd name="T23" fmla="*/ 2147483647 h 80"/>
                <a:gd name="T24" fmla="*/ 2147483647 w 80"/>
                <a:gd name="T25" fmla="*/ 2147483647 h 80"/>
                <a:gd name="T26" fmla="*/ 2147483647 w 80"/>
                <a:gd name="T27" fmla="*/ 2147483647 h 80"/>
                <a:gd name="T28" fmla="*/ 2147483647 w 80"/>
                <a:gd name="T29" fmla="*/ 2147483647 h 80"/>
                <a:gd name="T30" fmla="*/ 2147483647 w 80"/>
                <a:gd name="T31" fmla="*/ 2147483647 h 80"/>
                <a:gd name="T32" fmla="*/ 2147483647 w 80"/>
                <a:gd name="T33" fmla="*/ 2147483647 h 80"/>
                <a:gd name="T34" fmla="*/ 2147483647 w 80"/>
                <a:gd name="T35" fmla="*/ 2147483647 h 80"/>
                <a:gd name="T36" fmla="*/ 2147483647 w 80"/>
                <a:gd name="T37" fmla="*/ 2147483647 h 80"/>
                <a:gd name="T38" fmla="*/ 2147483647 w 80"/>
                <a:gd name="T39" fmla="*/ 2147483647 h 80"/>
                <a:gd name="T40" fmla="*/ 2147483647 w 80"/>
                <a:gd name="T41" fmla="*/ 2147483647 h 80"/>
                <a:gd name="T42" fmla="*/ 2147483647 w 80"/>
                <a:gd name="T43" fmla="*/ 2147483647 h 80"/>
                <a:gd name="T44" fmla="*/ 2147483647 w 80"/>
                <a:gd name="T45" fmla="*/ 2147483647 h 80"/>
                <a:gd name="T46" fmla="*/ 2147483647 w 80"/>
                <a:gd name="T47" fmla="*/ 2147483647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0"/>
                <a:gd name="T73" fmla="*/ 0 h 80"/>
                <a:gd name="T74" fmla="*/ 80 w 8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0" h="80">
                  <a:moveTo>
                    <a:pt x="80" y="8"/>
                  </a:moveTo>
                  <a:lnTo>
                    <a:pt x="80" y="0"/>
                  </a:lnTo>
                  <a:lnTo>
                    <a:pt x="80" y="8"/>
                  </a:lnTo>
                  <a:lnTo>
                    <a:pt x="64" y="8"/>
                  </a:lnTo>
                  <a:lnTo>
                    <a:pt x="40" y="8"/>
                  </a:lnTo>
                  <a:lnTo>
                    <a:pt x="32" y="8"/>
                  </a:lnTo>
                  <a:lnTo>
                    <a:pt x="16" y="16"/>
                  </a:lnTo>
                  <a:lnTo>
                    <a:pt x="8" y="24"/>
                  </a:lnTo>
                  <a:lnTo>
                    <a:pt x="0" y="32"/>
                  </a:lnTo>
                  <a:lnTo>
                    <a:pt x="8" y="48"/>
                  </a:lnTo>
                  <a:lnTo>
                    <a:pt x="24" y="48"/>
                  </a:lnTo>
                  <a:lnTo>
                    <a:pt x="16" y="56"/>
                  </a:lnTo>
                  <a:lnTo>
                    <a:pt x="16" y="72"/>
                  </a:lnTo>
                  <a:lnTo>
                    <a:pt x="32" y="80"/>
                  </a:lnTo>
                  <a:lnTo>
                    <a:pt x="40" y="72"/>
                  </a:lnTo>
                  <a:lnTo>
                    <a:pt x="40" y="64"/>
                  </a:lnTo>
                  <a:lnTo>
                    <a:pt x="56" y="56"/>
                  </a:lnTo>
                  <a:lnTo>
                    <a:pt x="40" y="40"/>
                  </a:lnTo>
                  <a:lnTo>
                    <a:pt x="40" y="32"/>
                  </a:lnTo>
                  <a:lnTo>
                    <a:pt x="32" y="24"/>
                  </a:lnTo>
                  <a:lnTo>
                    <a:pt x="56" y="16"/>
                  </a:lnTo>
                  <a:lnTo>
                    <a:pt x="72" y="16"/>
                  </a:lnTo>
                  <a:lnTo>
                    <a:pt x="80" y="16"/>
                  </a:lnTo>
                  <a:lnTo>
                    <a:pt x="8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53" name="Freeform 703"/>
            <p:cNvSpPr>
              <a:spLocks/>
            </p:cNvSpPr>
            <p:nvPr/>
          </p:nvSpPr>
          <p:spPr bwMode="auto">
            <a:xfrm>
              <a:off x="2792180" y="2101718"/>
              <a:ext cx="349131" cy="414972"/>
            </a:xfrm>
            <a:custGeom>
              <a:avLst/>
              <a:gdLst>
                <a:gd name="T0" fmla="*/ 2147483647 w 329"/>
                <a:gd name="T1" fmla="*/ 2147483647 h 392"/>
                <a:gd name="T2" fmla="*/ 2147483647 w 329"/>
                <a:gd name="T3" fmla="*/ 2147483647 h 392"/>
                <a:gd name="T4" fmla="*/ 2147483647 w 329"/>
                <a:gd name="T5" fmla="*/ 2147483647 h 392"/>
                <a:gd name="T6" fmla="*/ 2147483647 w 329"/>
                <a:gd name="T7" fmla="*/ 2147483647 h 392"/>
                <a:gd name="T8" fmla="*/ 2147483647 w 329"/>
                <a:gd name="T9" fmla="*/ 2147483647 h 392"/>
                <a:gd name="T10" fmla="*/ 2147483647 w 329"/>
                <a:gd name="T11" fmla="*/ 2147483647 h 392"/>
                <a:gd name="T12" fmla="*/ 2147483647 w 329"/>
                <a:gd name="T13" fmla="*/ 2147483647 h 392"/>
                <a:gd name="T14" fmla="*/ 2147483647 w 329"/>
                <a:gd name="T15" fmla="*/ 2147483647 h 392"/>
                <a:gd name="T16" fmla="*/ 2147483647 w 329"/>
                <a:gd name="T17" fmla="*/ 2147483647 h 392"/>
                <a:gd name="T18" fmla="*/ 2147483647 w 329"/>
                <a:gd name="T19" fmla="*/ 2147483647 h 392"/>
                <a:gd name="T20" fmla="*/ 2147483647 w 329"/>
                <a:gd name="T21" fmla="*/ 2147483647 h 392"/>
                <a:gd name="T22" fmla="*/ 2147483647 w 329"/>
                <a:gd name="T23" fmla="*/ 2147483647 h 392"/>
                <a:gd name="T24" fmla="*/ 2147483647 w 329"/>
                <a:gd name="T25" fmla="*/ 2147483647 h 392"/>
                <a:gd name="T26" fmla="*/ 2147483647 w 329"/>
                <a:gd name="T27" fmla="*/ 2147483647 h 392"/>
                <a:gd name="T28" fmla="*/ 2147483647 w 329"/>
                <a:gd name="T29" fmla="*/ 2147483647 h 392"/>
                <a:gd name="T30" fmla="*/ 2147483647 w 329"/>
                <a:gd name="T31" fmla="*/ 2147483647 h 392"/>
                <a:gd name="T32" fmla="*/ 2147483647 w 329"/>
                <a:gd name="T33" fmla="*/ 2147483647 h 392"/>
                <a:gd name="T34" fmla="*/ 2147483647 w 329"/>
                <a:gd name="T35" fmla="*/ 2147483647 h 392"/>
                <a:gd name="T36" fmla="*/ 2147483647 w 329"/>
                <a:gd name="T37" fmla="*/ 2147483647 h 392"/>
                <a:gd name="T38" fmla="*/ 2147483647 w 329"/>
                <a:gd name="T39" fmla="*/ 2147483647 h 392"/>
                <a:gd name="T40" fmla="*/ 2147483647 w 329"/>
                <a:gd name="T41" fmla="*/ 2147483647 h 392"/>
                <a:gd name="T42" fmla="*/ 2147483647 w 329"/>
                <a:gd name="T43" fmla="*/ 2147483647 h 392"/>
                <a:gd name="T44" fmla="*/ 2147483647 w 329"/>
                <a:gd name="T45" fmla="*/ 2147483647 h 392"/>
                <a:gd name="T46" fmla="*/ 2147483647 w 329"/>
                <a:gd name="T47" fmla="*/ 2147483647 h 392"/>
                <a:gd name="T48" fmla="*/ 2147483647 w 329"/>
                <a:gd name="T49" fmla="*/ 2147483647 h 392"/>
                <a:gd name="T50" fmla="*/ 2147483647 w 329"/>
                <a:gd name="T51" fmla="*/ 2147483647 h 392"/>
                <a:gd name="T52" fmla="*/ 2147483647 w 329"/>
                <a:gd name="T53" fmla="*/ 2147483647 h 392"/>
                <a:gd name="T54" fmla="*/ 2147483647 w 329"/>
                <a:gd name="T55" fmla="*/ 2147483647 h 392"/>
                <a:gd name="T56" fmla="*/ 2147483647 w 329"/>
                <a:gd name="T57" fmla="*/ 2147483647 h 392"/>
                <a:gd name="T58" fmla="*/ 2147483647 w 329"/>
                <a:gd name="T59" fmla="*/ 2147483647 h 392"/>
                <a:gd name="T60" fmla="*/ 2147483647 w 329"/>
                <a:gd name="T61" fmla="*/ 2147483647 h 392"/>
                <a:gd name="T62" fmla="*/ 2147483647 w 329"/>
                <a:gd name="T63" fmla="*/ 2147483647 h 392"/>
                <a:gd name="T64" fmla="*/ 2147483647 w 329"/>
                <a:gd name="T65" fmla="*/ 2147483647 h 392"/>
                <a:gd name="T66" fmla="*/ 2147483647 w 329"/>
                <a:gd name="T67" fmla="*/ 2147483647 h 392"/>
                <a:gd name="T68" fmla="*/ 2147483647 w 329"/>
                <a:gd name="T69" fmla="*/ 2147483647 h 392"/>
                <a:gd name="T70" fmla="*/ 2147483647 w 329"/>
                <a:gd name="T71" fmla="*/ 2147483647 h 392"/>
                <a:gd name="T72" fmla="*/ 2147483647 w 329"/>
                <a:gd name="T73" fmla="*/ 2147483647 h 392"/>
                <a:gd name="T74" fmla="*/ 2147483647 w 329"/>
                <a:gd name="T75" fmla="*/ 2147483647 h 392"/>
                <a:gd name="T76" fmla="*/ 0 w 329"/>
                <a:gd name="T77" fmla="*/ 2147483647 h 392"/>
                <a:gd name="T78" fmla="*/ 2147483647 w 329"/>
                <a:gd name="T79" fmla="*/ 2147483647 h 392"/>
                <a:gd name="T80" fmla="*/ 2147483647 w 329"/>
                <a:gd name="T81" fmla="*/ 2147483647 h 392"/>
                <a:gd name="T82" fmla="*/ 2147483647 w 329"/>
                <a:gd name="T83" fmla="*/ 2147483647 h 392"/>
                <a:gd name="T84" fmla="*/ 2147483647 w 329"/>
                <a:gd name="T85" fmla="*/ 2147483647 h 392"/>
                <a:gd name="T86" fmla="*/ 2147483647 w 329"/>
                <a:gd name="T87" fmla="*/ 2147483647 h 3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9"/>
                <a:gd name="T133" fmla="*/ 0 h 392"/>
                <a:gd name="T134" fmla="*/ 329 w 329"/>
                <a:gd name="T135" fmla="*/ 392 h 3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9" h="392">
                  <a:moveTo>
                    <a:pt x="89" y="352"/>
                  </a:moveTo>
                  <a:lnTo>
                    <a:pt x="97" y="344"/>
                  </a:lnTo>
                  <a:lnTo>
                    <a:pt x="97" y="328"/>
                  </a:lnTo>
                  <a:lnTo>
                    <a:pt x="97" y="320"/>
                  </a:lnTo>
                  <a:lnTo>
                    <a:pt x="105" y="312"/>
                  </a:lnTo>
                  <a:lnTo>
                    <a:pt x="97" y="304"/>
                  </a:lnTo>
                  <a:lnTo>
                    <a:pt x="89" y="280"/>
                  </a:lnTo>
                  <a:lnTo>
                    <a:pt x="97" y="264"/>
                  </a:lnTo>
                  <a:lnTo>
                    <a:pt x="97" y="248"/>
                  </a:lnTo>
                  <a:lnTo>
                    <a:pt x="105" y="240"/>
                  </a:lnTo>
                  <a:lnTo>
                    <a:pt x="121" y="240"/>
                  </a:lnTo>
                  <a:lnTo>
                    <a:pt x="121" y="224"/>
                  </a:lnTo>
                  <a:lnTo>
                    <a:pt x="113" y="216"/>
                  </a:lnTo>
                  <a:lnTo>
                    <a:pt x="121" y="200"/>
                  </a:lnTo>
                  <a:lnTo>
                    <a:pt x="129" y="176"/>
                  </a:lnTo>
                  <a:lnTo>
                    <a:pt x="137" y="176"/>
                  </a:lnTo>
                  <a:lnTo>
                    <a:pt x="145" y="152"/>
                  </a:lnTo>
                  <a:lnTo>
                    <a:pt x="153" y="144"/>
                  </a:lnTo>
                  <a:lnTo>
                    <a:pt x="145" y="128"/>
                  </a:lnTo>
                  <a:lnTo>
                    <a:pt x="153" y="120"/>
                  </a:lnTo>
                  <a:lnTo>
                    <a:pt x="161" y="112"/>
                  </a:lnTo>
                  <a:lnTo>
                    <a:pt x="169" y="112"/>
                  </a:lnTo>
                  <a:lnTo>
                    <a:pt x="177" y="96"/>
                  </a:lnTo>
                  <a:lnTo>
                    <a:pt x="185" y="96"/>
                  </a:lnTo>
                  <a:lnTo>
                    <a:pt x="193" y="96"/>
                  </a:lnTo>
                  <a:lnTo>
                    <a:pt x="193" y="88"/>
                  </a:lnTo>
                  <a:lnTo>
                    <a:pt x="201" y="80"/>
                  </a:lnTo>
                  <a:lnTo>
                    <a:pt x="209" y="80"/>
                  </a:lnTo>
                  <a:lnTo>
                    <a:pt x="209" y="72"/>
                  </a:lnTo>
                  <a:lnTo>
                    <a:pt x="217" y="80"/>
                  </a:lnTo>
                  <a:lnTo>
                    <a:pt x="225" y="88"/>
                  </a:lnTo>
                  <a:lnTo>
                    <a:pt x="233" y="88"/>
                  </a:lnTo>
                  <a:lnTo>
                    <a:pt x="249" y="88"/>
                  </a:lnTo>
                  <a:lnTo>
                    <a:pt x="265" y="80"/>
                  </a:lnTo>
                  <a:lnTo>
                    <a:pt x="273" y="56"/>
                  </a:lnTo>
                  <a:lnTo>
                    <a:pt x="281" y="48"/>
                  </a:lnTo>
                  <a:lnTo>
                    <a:pt x="297" y="48"/>
                  </a:lnTo>
                  <a:lnTo>
                    <a:pt x="313" y="56"/>
                  </a:lnTo>
                  <a:lnTo>
                    <a:pt x="313" y="72"/>
                  </a:lnTo>
                  <a:lnTo>
                    <a:pt x="305" y="80"/>
                  </a:lnTo>
                  <a:lnTo>
                    <a:pt x="313" y="72"/>
                  </a:lnTo>
                  <a:lnTo>
                    <a:pt x="305" y="80"/>
                  </a:lnTo>
                  <a:lnTo>
                    <a:pt x="321" y="64"/>
                  </a:lnTo>
                  <a:lnTo>
                    <a:pt x="329" y="56"/>
                  </a:lnTo>
                  <a:lnTo>
                    <a:pt x="321" y="48"/>
                  </a:lnTo>
                  <a:lnTo>
                    <a:pt x="321" y="40"/>
                  </a:lnTo>
                  <a:lnTo>
                    <a:pt x="329" y="24"/>
                  </a:lnTo>
                  <a:lnTo>
                    <a:pt x="321" y="16"/>
                  </a:lnTo>
                  <a:lnTo>
                    <a:pt x="305" y="0"/>
                  </a:lnTo>
                  <a:lnTo>
                    <a:pt x="289" y="16"/>
                  </a:lnTo>
                  <a:lnTo>
                    <a:pt x="273" y="8"/>
                  </a:lnTo>
                  <a:lnTo>
                    <a:pt x="265" y="8"/>
                  </a:lnTo>
                  <a:lnTo>
                    <a:pt x="249" y="8"/>
                  </a:lnTo>
                  <a:lnTo>
                    <a:pt x="233" y="24"/>
                  </a:lnTo>
                  <a:lnTo>
                    <a:pt x="225" y="24"/>
                  </a:lnTo>
                  <a:lnTo>
                    <a:pt x="217" y="24"/>
                  </a:lnTo>
                  <a:lnTo>
                    <a:pt x="209" y="32"/>
                  </a:lnTo>
                  <a:lnTo>
                    <a:pt x="201" y="32"/>
                  </a:lnTo>
                  <a:lnTo>
                    <a:pt x="193" y="56"/>
                  </a:lnTo>
                  <a:lnTo>
                    <a:pt x="169" y="56"/>
                  </a:lnTo>
                  <a:lnTo>
                    <a:pt x="161" y="80"/>
                  </a:lnTo>
                  <a:lnTo>
                    <a:pt x="161" y="88"/>
                  </a:lnTo>
                  <a:lnTo>
                    <a:pt x="145" y="88"/>
                  </a:lnTo>
                  <a:lnTo>
                    <a:pt x="129" y="112"/>
                  </a:lnTo>
                  <a:lnTo>
                    <a:pt x="129" y="128"/>
                  </a:lnTo>
                  <a:lnTo>
                    <a:pt x="113" y="152"/>
                  </a:lnTo>
                  <a:lnTo>
                    <a:pt x="105" y="168"/>
                  </a:lnTo>
                  <a:lnTo>
                    <a:pt x="97" y="184"/>
                  </a:lnTo>
                  <a:lnTo>
                    <a:pt x="89" y="200"/>
                  </a:lnTo>
                  <a:lnTo>
                    <a:pt x="65" y="240"/>
                  </a:lnTo>
                  <a:lnTo>
                    <a:pt x="49" y="256"/>
                  </a:lnTo>
                  <a:lnTo>
                    <a:pt x="33" y="264"/>
                  </a:lnTo>
                  <a:lnTo>
                    <a:pt x="25" y="280"/>
                  </a:lnTo>
                  <a:lnTo>
                    <a:pt x="17" y="288"/>
                  </a:lnTo>
                  <a:lnTo>
                    <a:pt x="8" y="296"/>
                  </a:lnTo>
                  <a:lnTo>
                    <a:pt x="8" y="304"/>
                  </a:lnTo>
                  <a:lnTo>
                    <a:pt x="0" y="320"/>
                  </a:lnTo>
                  <a:lnTo>
                    <a:pt x="0" y="336"/>
                  </a:lnTo>
                  <a:lnTo>
                    <a:pt x="8" y="352"/>
                  </a:lnTo>
                  <a:lnTo>
                    <a:pt x="8" y="368"/>
                  </a:lnTo>
                  <a:lnTo>
                    <a:pt x="8" y="384"/>
                  </a:lnTo>
                  <a:lnTo>
                    <a:pt x="25" y="392"/>
                  </a:lnTo>
                  <a:lnTo>
                    <a:pt x="41" y="392"/>
                  </a:lnTo>
                  <a:lnTo>
                    <a:pt x="65" y="376"/>
                  </a:lnTo>
                  <a:lnTo>
                    <a:pt x="73" y="368"/>
                  </a:lnTo>
                  <a:lnTo>
                    <a:pt x="81" y="368"/>
                  </a:lnTo>
                  <a:lnTo>
                    <a:pt x="81" y="376"/>
                  </a:lnTo>
                  <a:lnTo>
                    <a:pt x="81" y="368"/>
                  </a:lnTo>
                  <a:lnTo>
                    <a:pt x="89" y="35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54" name="Freeform 704"/>
            <p:cNvSpPr>
              <a:spLocks/>
            </p:cNvSpPr>
            <p:nvPr/>
          </p:nvSpPr>
          <p:spPr bwMode="auto">
            <a:xfrm>
              <a:off x="2877947" y="2186618"/>
              <a:ext cx="169801" cy="398512"/>
            </a:xfrm>
            <a:custGeom>
              <a:avLst/>
              <a:gdLst>
                <a:gd name="T0" fmla="*/ 2147483647 w 160"/>
                <a:gd name="T1" fmla="*/ 2147483647 h 376"/>
                <a:gd name="T2" fmla="*/ 2147483647 w 160"/>
                <a:gd name="T3" fmla="*/ 2147483647 h 376"/>
                <a:gd name="T4" fmla="*/ 2147483647 w 160"/>
                <a:gd name="T5" fmla="*/ 2147483647 h 376"/>
                <a:gd name="T6" fmla="*/ 2147483647 w 160"/>
                <a:gd name="T7" fmla="*/ 2147483647 h 376"/>
                <a:gd name="T8" fmla="*/ 2147483647 w 160"/>
                <a:gd name="T9" fmla="*/ 0 h 376"/>
                <a:gd name="T10" fmla="*/ 2147483647 w 160"/>
                <a:gd name="T11" fmla="*/ 2147483647 h 376"/>
                <a:gd name="T12" fmla="*/ 2147483647 w 160"/>
                <a:gd name="T13" fmla="*/ 2147483647 h 376"/>
                <a:gd name="T14" fmla="*/ 2147483647 w 160"/>
                <a:gd name="T15" fmla="*/ 2147483647 h 376"/>
                <a:gd name="T16" fmla="*/ 2147483647 w 160"/>
                <a:gd name="T17" fmla="*/ 2147483647 h 376"/>
                <a:gd name="T18" fmla="*/ 2147483647 w 160"/>
                <a:gd name="T19" fmla="*/ 2147483647 h 376"/>
                <a:gd name="T20" fmla="*/ 2147483647 w 160"/>
                <a:gd name="T21" fmla="*/ 2147483647 h 376"/>
                <a:gd name="T22" fmla="*/ 2147483647 w 160"/>
                <a:gd name="T23" fmla="*/ 2147483647 h 376"/>
                <a:gd name="T24" fmla="*/ 2147483647 w 160"/>
                <a:gd name="T25" fmla="*/ 2147483647 h 376"/>
                <a:gd name="T26" fmla="*/ 2147483647 w 160"/>
                <a:gd name="T27" fmla="*/ 2147483647 h 376"/>
                <a:gd name="T28" fmla="*/ 2147483647 w 160"/>
                <a:gd name="T29" fmla="*/ 2147483647 h 376"/>
                <a:gd name="T30" fmla="*/ 2147483647 w 160"/>
                <a:gd name="T31" fmla="*/ 2147483647 h 376"/>
                <a:gd name="T32" fmla="*/ 2147483647 w 160"/>
                <a:gd name="T33" fmla="*/ 2147483647 h 376"/>
                <a:gd name="T34" fmla="*/ 2147483647 w 160"/>
                <a:gd name="T35" fmla="*/ 2147483647 h 376"/>
                <a:gd name="T36" fmla="*/ 0 w 160"/>
                <a:gd name="T37" fmla="*/ 2147483647 h 376"/>
                <a:gd name="T38" fmla="*/ 2147483647 w 160"/>
                <a:gd name="T39" fmla="*/ 2147483647 h 376"/>
                <a:gd name="T40" fmla="*/ 2147483647 w 160"/>
                <a:gd name="T41" fmla="*/ 2147483647 h 376"/>
                <a:gd name="T42" fmla="*/ 2147483647 w 160"/>
                <a:gd name="T43" fmla="*/ 2147483647 h 376"/>
                <a:gd name="T44" fmla="*/ 2147483647 w 160"/>
                <a:gd name="T45" fmla="*/ 2147483647 h 376"/>
                <a:gd name="T46" fmla="*/ 2147483647 w 160"/>
                <a:gd name="T47" fmla="*/ 2147483647 h 376"/>
                <a:gd name="T48" fmla="*/ 2147483647 w 160"/>
                <a:gd name="T49" fmla="*/ 2147483647 h 376"/>
                <a:gd name="T50" fmla="*/ 2147483647 w 160"/>
                <a:gd name="T51" fmla="*/ 2147483647 h 376"/>
                <a:gd name="T52" fmla="*/ 2147483647 w 160"/>
                <a:gd name="T53" fmla="*/ 2147483647 h 376"/>
                <a:gd name="T54" fmla="*/ 2147483647 w 160"/>
                <a:gd name="T55" fmla="*/ 2147483647 h 376"/>
                <a:gd name="T56" fmla="*/ 2147483647 w 160"/>
                <a:gd name="T57" fmla="*/ 2147483647 h 376"/>
                <a:gd name="T58" fmla="*/ 2147483647 w 160"/>
                <a:gd name="T59" fmla="*/ 2147483647 h 376"/>
                <a:gd name="T60" fmla="*/ 2147483647 w 160"/>
                <a:gd name="T61" fmla="*/ 2147483647 h 376"/>
                <a:gd name="T62" fmla="*/ 2147483647 w 160"/>
                <a:gd name="T63" fmla="*/ 2147483647 h 376"/>
                <a:gd name="T64" fmla="*/ 2147483647 w 160"/>
                <a:gd name="T65" fmla="*/ 2147483647 h 376"/>
                <a:gd name="T66" fmla="*/ 2147483647 w 160"/>
                <a:gd name="T67" fmla="*/ 2147483647 h 3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0"/>
                <a:gd name="T103" fmla="*/ 0 h 376"/>
                <a:gd name="T104" fmla="*/ 160 w 160"/>
                <a:gd name="T105" fmla="*/ 376 h 3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0" h="376">
                  <a:moveTo>
                    <a:pt x="160" y="88"/>
                  </a:moveTo>
                  <a:lnTo>
                    <a:pt x="160" y="80"/>
                  </a:lnTo>
                  <a:lnTo>
                    <a:pt x="160" y="72"/>
                  </a:lnTo>
                  <a:lnTo>
                    <a:pt x="160" y="56"/>
                  </a:lnTo>
                  <a:lnTo>
                    <a:pt x="160" y="40"/>
                  </a:lnTo>
                  <a:lnTo>
                    <a:pt x="152" y="24"/>
                  </a:lnTo>
                  <a:lnTo>
                    <a:pt x="144" y="24"/>
                  </a:lnTo>
                  <a:lnTo>
                    <a:pt x="136" y="16"/>
                  </a:lnTo>
                  <a:lnTo>
                    <a:pt x="128" y="8"/>
                  </a:lnTo>
                  <a:lnTo>
                    <a:pt x="120" y="0"/>
                  </a:lnTo>
                  <a:lnTo>
                    <a:pt x="112" y="8"/>
                  </a:lnTo>
                  <a:lnTo>
                    <a:pt x="112" y="16"/>
                  </a:lnTo>
                  <a:lnTo>
                    <a:pt x="104" y="16"/>
                  </a:lnTo>
                  <a:lnTo>
                    <a:pt x="96" y="16"/>
                  </a:lnTo>
                  <a:lnTo>
                    <a:pt x="88" y="32"/>
                  </a:lnTo>
                  <a:lnTo>
                    <a:pt x="80" y="32"/>
                  </a:lnTo>
                  <a:lnTo>
                    <a:pt x="72" y="40"/>
                  </a:lnTo>
                  <a:lnTo>
                    <a:pt x="64" y="48"/>
                  </a:lnTo>
                  <a:lnTo>
                    <a:pt x="72" y="64"/>
                  </a:lnTo>
                  <a:lnTo>
                    <a:pt x="64" y="72"/>
                  </a:lnTo>
                  <a:lnTo>
                    <a:pt x="56" y="96"/>
                  </a:lnTo>
                  <a:lnTo>
                    <a:pt x="48" y="96"/>
                  </a:lnTo>
                  <a:lnTo>
                    <a:pt x="40" y="120"/>
                  </a:lnTo>
                  <a:lnTo>
                    <a:pt x="32" y="136"/>
                  </a:lnTo>
                  <a:lnTo>
                    <a:pt x="40" y="144"/>
                  </a:lnTo>
                  <a:lnTo>
                    <a:pt x="40" y="160"/>
                  </a:lnTo>
                  <a:lnTo>
                    <a:pt x="24" y="160"/>
                  </a:lnTo>
                  <a:lnTo>
                    <a:pt x="16" y="168"/>
                  </a:lnTo>
                  <a:lnTo>
                    <a:pt x="16" y="184"/>
                  </a:lnTo>
                  <a:lnTo>
                    <a:pt x="8" y="200"/>
                  </a:lnTo>
                  <a:lnTo>
                    <a:pt x="16" y="224"/>
                  </a:lnTo>
                  <a:lnTo>
                    <a:pt x="24" y="232"/>
                  </a:lnTo>
                  <a:lnTo>
                    <a:pt x="16" y="240"/>
                  </a:lnTo>
                  <a:lnTo>
                    <a:pt x="16" y="248"/>
                  </a:lnTo>
                  <a:lnTo>
                    <a:pt x="16" y="264"/>
                  </a:lnTo>
                  <a:lnTo>
                    <a:pt x="8" y="272"/>
                  </a:lnTo>
                  <a:lnTo>
                    <a:pt x="0" y="288"/>
                  </a:lnTo>
                  <a:lnTo>
                    <a:pt x="0" y="296"/>
                  </a:lnTo>
                  <a:lnTo>
                    <a:pt x="8" y="312"/>
                  </a:lnTo>
                  <a:lnTo>
                    <a:pt x="8" y="328"/>
                  </a:lnTo>
                  <a:lnTo>
                    <a:pt x="16" y="352"/>
                  </a:lnTo>
                  <a:lnTo>
                    <a:pt x="16" y="360"/>
                  </a:lnTo>
                  <a:lnTo>
                    <a:pt x="24" y="368"/>
                  </a:lnTo>
                  <a:lnTo>
                    <a:pt x="24" y="376"/>
                  </a:lnTo>
                  <a:lnTo>
                    <a:pt x="40" y="376"/>
                  </a:lnTo>
                  <a:lnTo>
                    <a:pt x="40" y="368"/>
                  </a:lnTo>
                  <a:lnTo>
                    <a:pt x="48" y="360"/>
                  </a:lnTo>
                  <a:lnTo>
                    <a:pt x="64" y="360"/>
                  </a:lnTo>
                  <a:lnTo>
                    <a:pt x="72" y="344"/>
                  </a:lnTo>
                  <a:lnTo>
                    <a:pt x="72" y="312"/>
                  </a:lnTo>
                  <a:lnTo>
                    <a:pt x="72" y="296"/>
                  </a:lnTo>
                  <a:lnTo>
                    <a:pt x="80" y="296"/>
                  </a:lnTo>
                  <a:lnTo>
                    <a:pt x="96" y="288"/>
                  </a:lnTo>
                  <a:lnTo>
                    <a:pt x="96" y="272"/>
                  </a:lnTo>
                  <a:lnTo>
                    <a:pt x="88" y="256"/>
                  </a:lnTo>
                  <a:lnTo>
                    <a:pt x="80" y="248"/>
                  </a:lnTo>
                  <a:lnTo>
                    <a:pt x="80" y="224"/>
                  </a:lnTo>
                  <a:lnTo>
                    <a:pt x="80" y="200"/>
                  </a:lnTo>
                  <a:lnTo>
                    <a:pt x="96" y="184"/>
                  </a:lnTo>
                  <a:lnTo>
                    <a:pt x="104" y="176"/>
                  </a:lnTo>
                  <a:lnTo>
                    <a:pt x="128" y="160"/>
                  </a:lnTo>
                  <a:lnTo>
                    <a:pt x="136" y="144"/>
                  </a:lnTo>
                  <a:lnTo>
                    <a:pt x="128" y="136"/>
                  </a:lnTo>
                  <a:lnTo>
                    <a:pt x="136" y="120"/>
                  </a:lnTo>
                  <a:lnTo>
                    <a:pt x="152" y="104"/>
                  </a:lnTo>
                  <a:lnTo>
                    <a:pt x="160" y="112"/>
                  </a:lnTo>
                  <a:lnTo>
                    <a:pt x="160" y="104"/>
                  </a:lnTo>
                  <a:lnTo>
                    <a:pt x="160" y="8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55" name="Freeform 705"/>
            <p:cNvSpPr>
              <a:spLocks/>
            </p:cNvSpPr>
            <p:nvPr/>
          </p:nvSpPr>
          <p:spPr bwMode="auto">
            <a:xfrm>
              <a:off x="3022624" y="2652703"/>
              <a:ext cx="246038" cy="161137"/>
            </a:xfrm>
            <a:custGeom>
              <a:avLst/>
              <a:gdLst>
                <a:gd name="T0" fmla="*/ 2147483647 w 232"/>
                <a:gd name="T1" fmla="*/ 2147483647 h 152"/>
                <a:gd name="T2" fmla="*/ 2147483647 w 232"/>
                <a:gd name="T3" fmla="*/ 2147483647 h 152"/>
                <a:gd name="T4" fmla="*/ 2147483647 w 232"/>
                <a:gd name="T5" fmla="*/ 2147483647 h 152"/>
                <a:gd name="T6" fmla="*/ 2147483647 w 232"/>
                <a:gd name="T7" fmla="*/ 2147483647 h 152"/>
                <a:gd name="T8" fmla="*/ 2147483647 w 232"/>
                <a:gd name="T9" fmla="*/ 2147483647 h 152"/>
                <a:gd name="T10" fmla="*/ 2147483647 w 232"/>
                <a:gd name="T11" fmla="*/ 2147483647 h 152"/>
                <a:gd name="T12" fmla="*/ 2147483647 w 232"/>
                <a:gd name="T13" fmla="*/ 2147483647 h 152"/>
                <a:gd name="T14" fmla="*/ 2147483647 w 232"/>
                <a:gd name="T15" fmla="*/ 2147483647 h 152"/>
                <a:gd name="T16" fmla="*/ 2147483647 w 232"/>
                <a:gd name="T17" fmla="*/ 2147483647 h 152"/>
                <a:gd name="T18" fmla="*/ 2147483647 w 232"/>
                <a:gd name="T19" fmla="*/ 2147483647 h 152"/>
                <a:gd name="T20" fmla="*/ 2147483647 w 232"/>
                <a:gd name="T21" fmla="*/ 2147483647 h 152"/>
                <a:gd name="T22" fmla="*/ 2147483647 w 232"/>
                <a:gd name="T23" fmla="*/ 0 h 152"/>
                <a:gd name="T24" fmla="*/ 2147483647 w 232"/>
                <a:gd name="T25" fmla="*/ 0 h 152"/>
                <a:gd name="T26" fmla="*/ 2147483647 w 232"/>
                <a:gd name="T27" fmla="*/ 2147483647 h 152"/>
                <a:gd name="T28" fmla="*/ 2147483647 w 232"/>
                <a:gd name="T29" fmla="*/ 2147483647 h 152"/>
                <a:gd name="T30" fmla="*/ 2147483647 w 232"/>
                <a:gd name="T31" fmla="*/ 2147483647 h 152"/>
                <a:gd name="T32" fmla="*/ 2147483647 w 232"/>
                <a:gd name="T33" fmla="*/ 2147483647 h 152"/>
                <a:gd name="T34" fmla="*/ 2147483647 w 232"/>
                <a:gd name="T35" fmla="*/ 2147483647 h 152"/>
                <a:gd name="T36" fmla="*/ 2147483647 w 232"/>
                <a:gd name="T37" fmla="*/ 2147483647 h 152"/>
                <a:gd name="T38" fmla="*/ 2147483647 w 232"/>
                <a:gd name="T39" fmla="*/ 2147483647 h 152"/>
                <a:gd name="T40" fmla="*/ 2147483647 w 232"/>
                <a:gd name="T41" fmla="*/ 2147483647 h 152"/>
                <a:gd name="T42" fmla="*/ 2147483647 w 232"/>
                <a:gd name="T43" fmla="*/ 2147483647 h 152"/>
                <a:gd name="T44" fmla="*/ 0 w 232"/>
                <a:gd name="T45" fmla="*/ 2147483647 h 152"/>
                <a:gd name="T46" fmla="*/ 0 w 232"/>
                <a:gd name="T47" fmla="*/ 2147483647 h 152"/>
                <a:gd name="T48" fmla="*/ 2147483647 w 232"/>
                <a:gd name="T49" fmla="*/ 2147483647 h 152"/>
                <a:gd name="T50" fmla="*/ 2147483647 w 232"/>
                <a:gd name="T51" fmla="*/ 2147483647 h 152"/>
                <a:gd name="T52" fmla="*/ 2147483647 w 232"/>
                <a:gd name="T53" fmla="*/ 2147483647 h 152"/>
                <a:gd name="T54" fmla="*/ 2147483647 w 232"/>
                <a:gd name="T55" fmla="*/ 2147483647 h 152"/>
                <a:gd name="T56" fmla="*/ 2147483647 w 232"/>
                <a:gd name="T57" fmla="*/ 2147483647 h 152"/>
                <a:gd name="T58" fmla="*/ 2147483647 w 232"/>
                <a:gd name="T59" fmla="*/ 2147483647 h 152"/>
                <a:gd name="T60" fmla="*/ 2147483647 w 232"/>
                <a:gd name="T61" fmla="*/ 2147483647 h 152"/>
                <a:gd name="T62" fmla="*/ 2147483647 w 232"/>
                <a:gd name="T63" fmla="*/ 2147483647 h 152"/>
                <a:gd name="T64" fmla="*/ 2147483647 w 232"/>
                <a:gd name="T65" fmla="*/ 2147483647 h 152"/>
                <a:gd name="T66" fmla="*/ 2147483647 w 232"/>
                <a:gd name="T67" fmla="*/ 2147483647 h 152"/>
                <a:gd name="T68" fmla="*/ 2147483647 w 232"/>
                <a:gd name="T69" fmla="*/ 2147483647 h 152"/>
                <a:gd name="T70" fmla="*/ 2147483647 w 232"/>
                <a:gd name="T71" fmla="*/ 2147483647 h 152"/>
                <a:gd name="T72" fmla="*/ 2147483647 w 232"/>
                <a:gd name="T73" fmla="*/ 2147483647 h 152"/>
                <a:gd name="T74" fmla="*/ 2147483647 w 232"/>
                <a:gd name="T75" fmla="*/ 2147483647 h 152"/>
                <a:gd name="T76" fmla="*/ 2147483647 w 232"/>
                <a:gd name="T77" fmla="*/ 2147483647 h 152"/>
                <a:gd name="T78" fmla="*/ 2147483647 w 232"/>
                <a:gd name="T79" fmla="*/ 2147483647 h 152"/>
                <a:gd name="T80" fmla="*/ 2147483647 w 232"/>
                <a:gd name="T81" fmla="*/ 2147483647 h 152"/>
                <a:gd name="T82" fmla="*/ 2147483647 w 232"/>
                <a:gd name="T83" fmla="*/ 2147483647 h 152"/>
                <a:gd name="T84" fmla="*/ 2147483647 w 232"/>
                <a:gd name="T85" fmla="*/ 2147483647 h 152"/>
                <a:gd name="T86" fmla="*/ 2147483647 w 232"/>
                <a:gd name="T87" fmla="*/ 2147483647 h 152"/>
                <a:gd name="T88" fmla="*/ 2147483647 w 232"/>
                <a:gd name="T89" fmla="*/ 2147483647 h 15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32"/>
                <a:gd name="T136" fmla="*/ 0 h 152"/>
                <a:gd name="T137" fmla="*/ 232 w 232"/>
                <a:gd name="T138" fmla="*/ 152 h 15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32" h="152">
                  <a:moveTo>
                    <a:pt x="216" y="88"/>
                  </a:moveTo>
                  <a:lnTo>
                    <a:pt x="224" y="88"/>
                  </a:lnTo>
                  <a:lnTo>
                    <a:pt x="232" y="64"/>
                  </a:lnTo>
                  <a:lnTo>
                    <a:pt x="232" y="56"/>
                  </a:lnTo>
                  <a:lnTo>
                    <a:pt x="208" y="48"/>
                  </a:lnTo>
                  <a:lnTo>
                    <a:pt x="192" y="40"/>
                  </a:lnTo>
                  <a:lnTo>
                    <a:pt x="184" y="40"/>
                  </a:lnTo>
                  <a:lnTo>
                    <a:pt x="168" y="32"/>
                  </a:lnTo>
                  <a:lnTo>
                    <a:pt x="160" y="16"/>
                  </a:lnTo>
                  <a:lnTo>
                    <a:pt x="136" y="8"/>
                  </a:lnTo>
                  <a:lnTo>
                    <a:pt x="128" y="8"/>
                  </a:lnTo>
                  <a:lnTo>
                    <a:pt x="128" y="0"/>
                  </a:lnTo>
                  <a:lnTo>
                    <a:pt x="120" y="0"/>
                  </a:lnTo>
                  <a:lnTo>
                    <a:pt x="112" y="24"/>
                  </a:lnTo>
                  <a:lnTo>
                    <a:pt x="96" y="24"/>
                  </a:lnTo>
                  <a:lnTo>
                    <a:pt x="72" y="24"/>
                  </a:lnTo>
                  <a:lnTo>
                    <a:pt x="48" y="16"/>
                  </a:lnTo>
                  <a:lnTo>
                    <a:pt x="32" y="16"/>
                  </a:lnTo>
                  <a:lnTo>
                    <a:pt x="24" y="16"/>
                  </a:lnTo>
                  <a:lnTo>
                    <a:pt x="24" y="32"/>
                  </a:lnTo>
                  <a:lnTo>
                    <a:pt x="16" y="40"/>
                  </a:lnTo>
                  <a:lnTo>
                    <a:pt x="8" y="64"/>
                  </a:lnTo>
                  <a:lnTo>
                    <a:pt x="0" y="64"/>
                  </a:lnTo>
                  <a:lnTo>
                    <a:pt x="0" y="72"/>
                  </a:lnTo>
                  <a:lnTo>
                    <a:pt x="8" y="80"/>
                  </a:lnTo>
                  <a:lnTo>
                    <a:pt x="16" y="88"/>
                  </a:lnTo>
                  <a:lnTo>
                    <a:pt x="48" y="80"/>
                  </a:lnTo>
                  <a:lnTo>
                    <a:pt x="72" y="80"/>
                  </a:lnTo>
                  <a:lnTo>
                    <a:pt x="96" y="96"/>
                  </a:lnTo>
                  <a:lnTo>
                    <a:pt x="104" y="112"/>
                  </a:lnTo>
                  <a:lnTo>
                    <a:pt x="88" y="120"/>
                  </a:lnTo>
                  <a:lnTo>
                    <a:pt x="88" y="136"/>
                  </a:lnTo>
                  <a:lnTo>
                    <a:pt x="96" y="136"/>
                  </a:lnTo>
                  <a:lnTo>
                    <a:pt x="104" y="128"/>
                  </a:lnTo>
                  <a:lnTo>
                    <a:pt x="120" y="120"/>
                  </a:lnTo>
                  <a:lnTo>
                    <a:pt x="136" y="120"/>
                  </a:lnTo>
                  <a:lnTo>
                    <a:pt x="144" y="128"/>
                  </a:lnTo>
                  <a:lnTo>
                    <a:pt x="136" y="136"/>
                  </a:lnTo>
                  <a:lnTo>
                    <a:pt x="152" y="152"/>
                  </a:lnTo>
                  <a:lnTo>
                    <a:pt x="184" y="136"/>
                  </a:lnTo>
                  <a:lnTo>
                    <a:pt x="168" y="128"/>
                  </a:lnTo>
                  <a:lnTo>
                    <a:pt x="176" y="112"/>
                  </a:lnTo>
                  <a:lnTo>
                    <a:pt x="200" y="112"/>
                  </a:lnTo>
                  <a:lnTo>
                    <a:pt x="208" y="104"/>
                  </a:lnTo>
                  <a:lnTo>
                    <a:pt x="216" y="8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56" name="Freeform 706"/>
            <p:cNvSpPr>
              <a:spLocks/>
            </p:cNvSpPr>
            <p:nvPr/>
          </p:nvSpPr>
          <p:spPr bwMode="auto">
            <a:xfrm>
              <a:off x="3166435" y="2652703"/>
              <a:ext cx="25990" cy="16460"/>
            </a:xfrm>
            <a:custGeom>
              <a:avLst/>
              <a:gdLst>
                <a:gd name="T0" fmla="*/ 2147483647 w 24"/>
                <a:gd name="T1" fmla="*/ 2147483647 h 16"/>
                <a:gd name="T2" fmla="*/ 2147483647 w 24"/>
                <a:gd name="T3" fmla="*/ 0 h 16"/>
                <a:gd name="T4" fmla="*/ 0 w 24"/>
                <a:gd name="T5" fmla="*/ 2147483647 h 16"/>
                <a:gd name="T6" fmla="*/ 2147483647 w 24"/>
                <a:gd name="T7" fmla="*/ 2147483647 h 16"/>
                <a:gd name="T8" fmla="*/ 0 60000 65536"/>
                <a:gd name="T9" fmla="*/ 0 60000 65536"/>
                <a:gd name="T10" fmla="*/ 0 60000 65536"/>
                <a:gd name="T11" fmla="*/ 0 60000 65536"/>
                <a:gd name="T12" fmla="*/ 0 w 24"/>
                <a:gd name="T13" fmla="*/ 0 h 16"/>
                <a:gd name="T14" fmla="*/ 24 w 24"/>
                <a:gd name="T15" fmla="*/ 16 h 16"/>
              </a:gdLst>
              <a:ahLst/>
              <a:cxnLst>
                <a:cxn ang="T8">
                  <a:pos x="T0" y="T1"/>
                </a:cxn>
                <a:cxn ang="T9">
                  <a:pos x="T2" y="T3"/>
                </a:cxn>
                <a:cxn ang="T10">
                  <a:pos x="T4" y="T5"/>
                </a:cxn>
                <a:cxn ang="T11">
                  <a:pos x="T6" y="T7"/>
                </a:cxn>
              </a:cxnLst>
              <a:rect l="T12" t="T13" r="T14" b="T15"/>
              <a:pathLst>
                <a:path w="24" h="16">
                  <a:moveTo>
                    <a:pt x="24" y="16"/>
                  </a:moveTo>
                  <a:lnTo>
                    <a:pt x="8" y="0"/>
                  </a:lnTo>
                  <a:lnTo>
                    <a:pt x="0" y="8"/>
                  </a:lnTo>
                  <a:lnTo>
                    <a:pt x="24"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57" name="Freeform 707"/>
            <p:cNvSpPr>
              <a:spLocks/>
            </p:cNvSpPr>
            <p:nvPr/>
          </p:nvSpPr>
          <p:spPr bwMode="auto">
            <a:xfrm>
              <a:off x="2997500" y="2864954"/>
              <a:ext cx="84034" cy="84900"/>
            </a:xfrm>
            <a:custGeom>
              <a:avLst/>
              <a:gdLst>
                <a:gd name="T0" fmla="*/ 2147483647 w 80"/>
                <a:gd name="T1" fmla="*/ 2147483647 h 80"/>
                <a:gd name="T2" fmla="*/ 2147483647 w 80"/>
                <a:gd name="T3" fmla="*/ 0 h 80"/>
                <a:gd name="T4" fmla="*/ 2147483647 w 80"/>
                <a:gd name="T5" fmla="*/ 2147483647 h 80"/>
                <a:gd name="T6" fmla="*/ 2147483647 w 80"/>
                <a:gd name="T7" fmla="*/ 2147483647 h 80"/>
                <a:gd name="T8" fmla="*/ 2147483647 w 80"/>
                <a:gd name="T9" fmla="*/ 2147483647 h 80"/>
                <a:gd name="T10" fmla="*/ 2147483647 w 80"/>
                <a:gd name="T11" fmla="*/ 2147483647 h 80"/>
                <a:gd name="T12" fmla="*/ 2147483647 w 80"/>
                <a:gd name="T13" fmla="*/ 2147483647 h 80"/>
                <a:gd name="T14" fmla="*/ 2147483647 w 80"/>
                <a:gd name="T15" fmla="*/ 2147483647 h 80"/>
                <a:gd name="T16" fmla="*/ 2147483647 w 80"/>
                <a:gd name="T17" fmla="*/ 2147483647 h 80"/>
                <a:gd name="T18" fmla="*/ 2147483647 w 80"/>
                <a:gd name="T19" fmla="*/ 2147483647 h 80"/>
                <a:gd name="T20" fmla="*/ 0 w 80"/>
                <a:gd name="T21" fmla="*/ 2147483647 h 80"/>
                <a:gd name="T22" fmla="*/ 2147483647 w 80"/>
                <a:gd name="T23" fmla="*/ 2147483647 h 80"/>
                <a:gd name="T24" fmla="*/ 2147483647 w 80"/>
                <a:gd name="T25" fmla="*/ 2147483647 h 80"/>
                <a:gd name="T26" fmla="*/ 2147483647 w 80"/>
                <a:gd name="T27" fmla="*/ 2147483647 h 80"/>
                <a:gd name="T28" fmla="*/ 2147483647 w 80"/>
                <a:gd name="T29" fmla="*/ 2147483647 h 80"/>
                <a:gd name="T30" fmla="*/ 2147483647 w 80"/>
                <a:gd name="T31" fmla="*/ 2147483647 h 80"/>
                <a:gd name="T32" fmla="*/ 2147483647 w 80"/>
                <a:gd name="T33" fmla="*/ 2147483647 h 80"/>
                <a:gd name="T34" fmla="*/ 2147483647 w 80"/>
                <a:gd name="T35" fmla="*/ 2147483647 h 80"/>
                <a:gd name="T36" fmla="*/ 2147483647 w 80"/>
                <a:gd name="T37" fmla="*/ 2147483647 h 80"/>
                <a:gd name="T38" fmla="*/ 2147483647 w 80"/>
                <a:gd name="T39" fmla="*/ 2147483647 h 80"/>
                <a:gd name="T40" fmla="*/ 2147483647 w 80"/>
                <a:gd name="T41" fmla="*/ 2147483647 h 80"/>
                <a:gd name="T42" fmla="*/ 2147483647 w 80"/>
                <a:gd name="T43" fmla="*/ 2147483647 h 80"/>
                <a:gd name="T44" fmla="*/ 2147483647 w 80"/>
                <a:gd name="T45" fmla="*/ 2147483647 h 80"/>
                <a:gd name="T46" fmla="*/ 2147483647 w 80"/>
                <a:gd name="T47" fmla="*/ 2147483647 h 80"/>
                <a:gd name="T48" fmla="*/ 2147483647 w 80"/>
                <a:gd name="T49" fmla="*/ 2147483647 h 80"/>
                <a:gd name="T50" fmla="*/ 2147483647 w 80"/>
                <a:gd name="T51" fmla="*/ 2147483647 h 80"/>
                <a:gd name="T52" fmla="*/ 2147483647 w 80"/>
                <a:gd name="T53" fmla="*/ 2147483647 h 8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0"/>
                <a:gd name="T82" fmla="*/ 0 h 80"/>
                <a:gd name="T83" fmla="*/ 80 w 80"/>
                <a:gd name="T84" fmla="*/ 80 h 8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0" h="80">
                  <a:moveTo>
                    <a:pt x="80" y="8"/>
                  </a:moveTo>
                  <a:lnTo>
                    <a:pt x="80" y="0"/>
                  </a:lnTo>
                  <a:lnTo>
                    <a:pt x="80" y="8"/>
                  </a:lnTo>
                  <a:lnTo>
                    <a:pt x="64" y="8"/>
                  </a:lnTo>
                  <a:lnTo>
                    <a:pt x="40" y="8"/>
                  </a:lnTo>
                  <a:lnTo>
                    <a:pt x="32" y="8"/>
                  </a:lnTo>
                  <a:lnTo>
                    <a:pt x="16" y="16"/>
                  </a:lnTo>
                  <a:lnTo>
                    <a:pt x="8" y="24"/>
                  </a:lnTo>
                  <a:lnTo>
                    <a:pt x="0" y="32"/>
                  </a:lnTo>
                  <a:lnTo>
                    <a:pt x="8" y="48"/>
                  </a:lnTo>
                  <a:lnTo>
                    <a:pt x="24" y="48"/>
                  </a:lnTo>
                  <a:lnTo>
                    <a:pt x="16" y="56"/>
                  </a:lnTo>
                  <a:lnTo>
                    <a:pt x="16" y="72"/>
                  </a:lnTo>
                  <a:lnTo>
                    <a:pt x="32" y="80"/>
                  </a:lnTo>
                  <a:lnTo>
                    <a:pt x="40" y="72"/>
                  </a:lnTo>
                  <a:lnTo>
                    <a:pt x="40" y="64"/>
                  </a:lnTo>
                  <a:lnTo>
                    <a:pt x="56" y="56"/>
                  </a:lnTo>
                  <a:lnTo>
                    <a:pt x="40" y="40"/>
                  </a:lnTo>
                  <a:lnTo>
                    <a:pt x="40" y="32"/>
                  </a:lnTo>
                  <a:lnTo>
                    <a:pt x="32" y="24"/>
                  </a:lnTo>
                  <a:lnTo>
                    <a:pt x="56" y="16"/>
                  </a:lnTo>
                  <a:lnTo>
                    <a:pt x="72" y="16"/>
                  </a:lnTo>
                  <a:lnTo>
                    <a:pt x="80" y="16"/>
                  </a:lnTo>
                  <a:lnTo>
                    <a:pt x="8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58" name="Freeform 708"/>
            <p:cNvSpPr>
              <a:spLocks/>
            </p:cNvSpPr>
            <p:nvPr/>
          </p:nvSpPr>
          <p:spPr bwMode="auto">
            <a:xfrm>
              <a:off x="3166435" y="2652703"/>
              <a:ext cx="25990" cy="16460"/>
            </a:xfrm>
            <a:custGeom>
              <a:avLst/>
              <a:gdLst>
                <a:gd name="T0" fmla="*/ 2147483647 w 24"/>
                <a:gd name="T1" fmla="*/ 2147483647 h 16"/>
                <a:gd name="T2" fmla="*/ 2147483647 w 24"/>
                <a:gd name="T3" fmla="*/ 0 h 16"/>
                <a:gd name="T4" fmla="*/ 0 w 24"/>
                <a:gd name="T5" fmla="*/ 2147483647 h 16"/>
                <a:gd name="T6" fmla="*/ 2147483647 w 24"/>
                <a:gd name="T7" fmla="*/ 2147483647 h 16"/>
                <a:gd name="T8" fmla="*/ 2147483647 w 24"/>
                <a:gd name="T9" fmla="*/ 2147483647 h 16"/>
                <a:gd name="T10" fmla="*/ 0 60000 65536"/>
                <a:gd name="T11" fmla="*/ 0 60000 65536"/>
                <a:gd name="T12" fmla="*/ 0 60000 65536"/>
                <a:gd name="T13" fmla="*/ 0 60000 65536"/>
                <a:gd name="T14" fmla="*/ 0 60000 65536"/>
                <a:gd name="T15" fmla="*/ 0 w 24"/>
                <a:gd name="T16" fmla="*/ 0 h 16"/>
                <a:gd name="T17" fmla="*/ 24 w 24"/>
                <a:gd name="T18" fmla="*/ 16 h 16"/>
              </a:gdLst>
              <a:ahLst/>
              <a:cxnLst>
                <a:cxn ang="T10">
                  <a:pos x="T0" y="T1"/>
                </a:cxn>
                <a:cxn ang="T11">
                  <a:pos x="T2" y="T3"/>
                </a:cxn>
                <a:cxn ang="T12">
                  <a:pos x="T4" y="T5"/>
                </a:cxn>
                <a:cxn ang="T13">
                  <a:pos x="T6" y="T7"/>
                </a:cxn>
                <a:cxn ang="T14">
                  <a:pos x="T8" y="T9"/>
                </a:cxn>
              </a:cxnLst>
              <a:rect l="T15" t="T16" r="T17" b="T18"/>
              <a:pathLst>
                <a:path w="24" h="16">
                  <a:moveTo>
                    <a:pt x="24" y="16"/>
                  </a:moveTo>
                  <a:lnTo>
                    <a:pt x="8" y="0"/>
                  </a:lnTo>
                  <a:lnTo>
                    <a:pt x="0" y="8"/>
                  </a:lnTo>
                  <a:lnTo>
                    <a:pt x="24"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59" name="Freeform 709"/>
            <p:cNvSpPr>
              <a:spLocks/>
            </p:cNvSpPr>
            <p:nvPr/>
          </p:nvSpPr>
          <p:spPr bwMode="auto">
            <a:xfrm>
              <a:off x="2997500" y="2737604"/>
              <a:ext cx="135147" cy="92697"/>
            </a:xfrm>
            <a:custGeom>
              <a:avLst/>
              <a:gdLst>
                <a:gd name="T0" fmla="*/ 2147483647 w 128"/>
                <a:gd name="T1" fmla="*/ 2147483647 h 88"/>
                <a:gd name="T2" fmla="*/ 2147483647 w 128"/>
                <a:gd name="T3" fmla="*/ 2147483647 h 88"/>
                <a:gd name="T4" fmla="*/ 2147483647 w 128"/>
                <a:gd name="T5" fmla="*/ 2147483647 h 88"/>
                <a:gd name="T6" fmla="*/ 2147483647 w 128"/>
                <a:gd name="T7" fmla="*/ 0 h 88"/>
                <a:gd name="T8" fmla="*/ 2147483647 w 128"/>
                <a:gd name="T9" fmla="*/ 0 h 88"/>
                <a:gd name="T10" fmla="*/ 2147483647 w 128"/>
                <a:gd name="T11" fmla="*/ 2147483647 h 88"/>
                <a:gd name="T12" fmla="*/ 2147483647 w 128"/>
                <a:gd name="T13" fmla="*/ 0 h 88"/>
                <a:gd name="T14" fmla="*/ 2147483647 w 128"/>
                <a:gd name="T15" fmla="*/ 2147483647 h 88"/>
                <a:gd name="T16" fmla="*/ 2147483647 w 128"/>
                <a:gd name="T17" fmla="*/ 2147483647 h 88"/>
                <a:gd name="T18" fmla="*/ 0 w 128"/>
                <a:gd name="T19" fmla="*/ 2147483647 h 88"/>
                <a:gd name="T20" fmla="*/ 2147483647 w 128"/>
                <a:gd name="T21" fmla="*/ 2147483647 h 88"/>
                <a:gd name="T22" fmla="*/ 2147483647 w 128"/>
                <a:gd name="T23" fmla="*/ 2147483647 h 88"/>
                <a:gd name="T24" fmla="*/ 2147483647 w 128"/>
                <a:gd name="T25" fmla="*/ 2147483647 h 88"/>
                <a:gd name="T26" fmla="*/ 2147483647 w 128"/>
                <a:gd name="T27" fmla="*/ 2147483647 h 88"/>
                <a:gd name="T28" fmla="*/ 2147483647 w 128"/>
                <a:gd name="T29" fmla="*/ 2147483647 h 88"/>
                <a:gd name="T30" fmla="*/ 2147483647 w 128"/>
                <a:gd name="T31" fmla="*/ 2147483647 h 88"/>
                <a:gd name="T32" fmla="*/ 2147483647 w 128"/>
                <a:gd name="T33" fmla="*/ 2147483647 h 88"/>
                <a:gd name="T34" fmla="*/ 2147483647 w 128"/>
                <a:gd name="T35" fmla="*/ 2147483647 h 88"/>
                <a:gd name="T36" fmla="*/ 2147483647 w 128"/>
                <a:gd name="T37" fmla="*/ 2147483647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8"/>
                <a:gd name="T58" fmla="*/ 0 h 88"/>
                <a:gd name="T59" fmla="*/ 128 w 128"/>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8" h="88">
                  <a:moveTo>
                    <a:pt x="112" y="40"/>
                  </a:moveTo>
                  <a:lnTo>
                    <a:pt x="128" y="32"/>
                  </a:lnTo>
                  <a:lnTo>
                    <a:pt x="120" y="16"/>
                  </a:lnTo>
                  <a:lnTo>
                    <a:pt x="96" y="0"/>
                  </a:lnTo>
                  <a:lnTo>
                    <a:pt x="72" y="0"/>
                  </a:lnTo>
                  <a:lnTo>
                    <a:pt x="40" y="8"/>
                  </a:lnTo>
                  <a:lnTo>
                    <a:pt x="32" y="0"/>
                  </a:lnTo>
                  <a:lnTo>
                    <a:pt x="24" y="24"/>
                  </a:lnTo>
                  <a:lnTo>
                    <a:pt x="16" y="40"/>
                  </a:lnTo>
                  <a:lnTo>
                    <a:pt x="0" y="40"/>
                  </a:lnTo>
                  <a:lnTo>
                    <a:pt x="32" y="80"/>
                  </a:lnTo>
                  <a:lnTo>
                    <a:pt x="40" y="80"/>
                  </a:lnTo>
                  <a:lnTo>
                    <a:pt x="64" y="80"/>
                  </a:lnTo>
                  <a:lnTo>
                    <a:pt x="88" y="80"/>
                  </a:lnTo>
                  <a:lnTo>
                    <a:pt x="112" y="88"/>
                  </a:lnTo>
                  <a:lnTo>
                    <a:pt x="112" y="64"/>
                  </a:lnTo>
                  <a:lnTo>
                    <a:pt x="120" y="56"/>
                  </a:lnTo>
                  <a:lnTo>
                    <a:pt x="112" y="56"/>
                  </a:lnTo>
                  <a:lnTo>
                    <a:pt x="112" y="4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60" name="Freeform 710"/>
            <p:cNvSpPr>
              <a:spLocks/>
            </p:cNvSpPr>
            <p:nvPr/>
          </p:nvSpPr>
          <p:spPr bwMode="auto">
            <a:xfrm>
              <a:off x="2997500" y="2780054"/>
              <a:ext cx="33787" cy="42450"/>
            </a:xfrm>
            <a:custGeom>
              <a:avLst/>
              <a:gdLst>
                <a:gd name="T0" fmla="*/ 2147483647 w 32"/>
                <a:gd name="T1" fmla="*/ 2147483647 h 40"/>
                <a:gd name="T2" fmla="*/ 2147483647 w 32"/>
                <a:gd name="T3" fmla="*/ 2147483647 h 40"/>
                <a:gd name="T4" fmla="*/ 0 w 32"/>
                <a:gd name="T5" fmla="*/ 0 h 40"/>
                <a:gd name="T6" fmla="*/ 2147483647 w 32"/>
                <a:gd name="T7" fmla="*/ 2147483647 h 40"/>
                <a:gd name="T8" fmla="*/ 2147483647 w 32"/>
                <a:gd name="T9" fmla="*/ 2147483647 h 40"/>
                <a:gd name="T10" fmla="*/ 0 60000 65536"/>
                <a:gd name="T11" fmla="*/ 0 60000 65536"/>
                <a:gd name="T12" fmla="*/ 0 60000 65536"/>
                <a:gd name="T13" fmla="*/ 0 60000 65536"/>
                <a:gd name="T14" fmla="*/ 0 60000 65536"/>
                <a:gd name="T15" fmla="*/ 0 w 32"/>
                <a:gd name="T16" fmla="*/ 0 h 40"/>
                <a:gd name="T17" fmla="*/ 32 w 32"/>
                <a:gd name="T18" fmla="*/ 40 h 40"/>
              </a:gdLst>
              <a:ahLst/>
              <a:cxnLst>
                <a:cxn ang="T10">
                  <a:pos x="T0" y="T1"/>
                </a:cxn>
                <a:cxn ang="T11">
                  <a:pos x="T2" y="T3"/>
                </a:cxn>
                <a:cxn ang="T12">
                  <a:pos x="T4" y="T5"/>
                </a:cxn>
                <a:cxn ang="T13">
                  <a:pos x="T6" y="T7"/>
                </a:cxn>
                <a:cxn ang="T14">
                  <a:pos x="T8" y="T9"/>
                </a:cxn>
              </a:cxnLst>
              <a:rect l="T15" t="T16" r="T17" b="T18"/>
              <a:pathLst>
                <a:path w="32" h="40">
                  <a:moveTo>
                    <a:pt x="32" y="32"/>
                  </a:moveTo>
                  <a:lnTo>
                    <a:pt x="32" y="40"/>
                  </a:lnTo>
                  <a:lnTo>
                    <a:pt x="0" y="0"/>
                  </a:lnTo>
                  <a:lnTo>
                    <a:pt x="8" y="16"/>
                  </a:lnTo>
                  <a:lnTo>
                    <a:pt x="32"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61" name="Freeform 711"/>
            <p:cNvSpPr>
              <a:spLocks/>
            </p:cNvSpPr>
            <p:nvPr/>
          </p:nvSpPr>
          <p:spPr bwMode="auto">
            <a:xfrm>
              <a:off x="2886610" y="2686490"/>
              <a:ext cx="93564" cy="51114"/>
            </a:xfrm>
            <a:custGeom>
              <a:avLst/>
              <a:gdLst>
                <a:gd name="T0" fmla="*/ 2147483647 w 88"/>
                <a:gd name="T1" fmla="*/ 2147483647 h 48"/>
                <a:gd name="T2" fmla="*/ 2147483647 w 88"/>
                <a:gd name="T3" fmla="*/ 2147483647 h 48"/>
                <a:gd name="T4" fmla="*/ 2147483647 w 88"/>
                <a:gd name="T5" fmla="*/ 2147483647 h 48"/>
                <a:gd name="T6" fmla="*/ 2147483647 w 88"/>
                <a:gd name="T7" fmla="*/ 2147483647 h 48"/>
                <a:gd name="T8" fmla="*/ 2147483647 w 88"/>
                <a:gd name="T9" fmla="*/ 2147483647 h 48"/>
                <a:gd name="T10" fmla="*/ 2147483647 w 88"/>
                <a:gd name="T11" fmla="*/ 2147483647 h 48"/>
                <a:gd name="T12" fmla="*/ 2147483647 w 88"/>
                <a:gd name="T13" fmla="*/ 2147483647 h 48"/>
                <a:gd name="T14" fmla="*/ 2147483647 w 88"/>
                <a:gd name="T15" fmla="*/ 2147483647 h 48"/>
                <a:gd name="T16" fmla="*/ 2147483647 w 88"/>
                <a:gd name="T17" fmla="*/ 2147483647 h 48"/>
                <a:gd name="T18" fmla="*/ 2147483647 w 88"/>
                <a:gd name="T19" fmla="*/ 0 h 48"/>
                <a:gd name="T20" fmla="*/ 2147483647 w 88"/>
                <a:gd name="T21" fmla="*/ 0 h 48"/>
                <a:gd name="T22" fmla="*/ 2147483647 w 88"/>
                <a:gd name="T23" fmla="*/ 0 h 48"/>
                <a:gd name="T24" fmla="*/ 2147483647 w 88"/>
                <a:gd name="T25" fmla="*/ 2147483647 h 48"/>
                <a:gd name="T26" fmla="*/ 2147483647 w 88"/>
                <a:gd name="T27" fmla="*/ 2147483647 h 48"/>
                <a:gd name="T28" fmla="*/ 0 w 88"/>
                <a:gd name="T29" fmla="*/ 2147483647 h 48"/>
                <a:gd name="T30" fmla="*/ 2147483647 w 88"/>
                <a:gd name="T31" fmla="*/ 2147483647 h 48"/>
                <a:gd name="T32" fmla="*/ 2147483647 w 88"/>
                <a:gd name="T33" fmla="*/ 2147483647 h 48"/>
                <a:gd name="T34" fmla="*/ 2147483647 w 88"/>
                <a:gd name="T35" fmla="*/ 2147483647 h 48"/>
                <a:gd name="T36" fmla="*/ 2147483647 w 88"/>
                <a:gd name="T37" fmla="*/ 2147483647 h 4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8"/>
                <a:gd name="T58" fmla="*/ 0 h 48"/>
                <a:gd name="T59" fmla="*/ 88 w 88"/>
                <a:gd name="T60" fmla="*/ 48 h 4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8" h="48">
                  <a:moveTo>
                    <a:pt x="40" y="40"/>
                  </a:moveTo>
                  <a:lnTo>
                    <a:pt x="56" y="40"/>
                  </a:lnTo>
                  <a:lnTo>
                    <a:pt x="64" y="40"/>
                  </a:lnTo>
                  <a:lnTo>
                    <a:pt x="64" y="48"/>
                  </a:lnTo>
                  <a:lnTo>
                    <a:pt x="80" y="40"/>
                  </a:lnTo>
                  <a:lnTo>
                    <a:pt x="80" y="32"/>
                  </a:lnTo>
                  <a:lnTo>
                    <a:pt x="88" y="24"/>
                  </a:lnTo>
                  <a:lnTo>
                    <a:pt x="72" y="16"/>
                  </a:lnTo>
                  <a:lnTo>
                    <a:pt x="56" y="8"/>
                  </a:lnTo>
                  <a:lnTo>
                    <a:pt x="40" y="0"/>
                  </a:lnTo>
                  <a:lnTo>
                    <a:pt x="32" y="0"/>
                  </a:lnTo>
                  <a:lnTo>
                    <a:pt x="24" y="0"/>
                  </a:lnTo>
                  <a:lnTo>
                    <a:pt x="16" y="8"/>
                  </a:lnTo>
                  <a:lnTo>
                    <a:pt x="8" y="8"/>
                  </a:lnTo>
                  <a:lnTo>
                    <a:pt x="0" y="16"/>
                  </a:lnTo>
                  <a:lnTo>
                    <a:pt x="8" y="16"/>
                  </a:lnTo>
                  <a:lnTo>
                    <a:pt x="16" y="24"/>
                  </a:lnTo>
                  <a:lnTo>
                    <a:pt x="24" y="40"/>
                  </a:lnTo>
                  <a:lnTo>
                    <a:pt x="40" y="4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62" name="Freeform 712"/>
            <p:cNvSpPr>
              <a:spLocks/>
            </p:cNvSpPr>
            <p:nvPr/>
          </p:nvSpPr>
          <p:spPr bwMode="auto">
            <a:xfrm>
              <a:off x="2946387" y="2737604"/>
              <a:ext cx="84900" cy="51113"/>
            </a:xfrm>
            <a:custGeom>
              <a:avLst/>
              <a:gdLst>
                <a:gd name="T0" fmla="*/ 2147483647 w 80"/>
                <a:gd name="T1" fmla="*/ 0 h 48"/>
                <a:gd name="T2" fmla="*/ 2147483647 w 80"/>
                <a:gd name="T3" fmla="*/ 0 h 48"/>
                <a:gd name="T4" fmla="*/ 2147483647 w 80"/>
                <a:gd name="T5" fmla="*/ 2147483647 h 48"/>
                <a:gd name="T6" fmla="*/ 2147483647 w 80"/>
                <a:gd name="T7" fmla="*/ 2147483647 h 48"/>
                <a:gd name="T8" fmla="*/ 2147483647 w 80"/>
                <a:gd name="T9" fmla="*/ 2147483647 h 48"/>
                <a:gd name="T10" fmla="*/ 2147483647 w 80"/>
                <a:gd name="T11" fmla="*/ 2147483647 h 48"/>
                <a:gd name="T12" fmla="*/ 2147483647 w 80"/>
                <a:gd name="T13" fmla="*/ 2147483647 h 48"/>
                <a:gd name="T14" fmla="*/ 0 w 80"/>
                <a:gd name="T15" fmla="*/ 2147483647 h 48"/>
                <a:gd name="T16" fmla="*/ 0 w 80"/>
                <a:gd name="T17" fmla="*/ 2147483647 h 48"/>
                <a:gd name="T18" fmla="*/ 2147483647 w 80"/>
                <a:gd name="T19" fmla="*/ 2147483647 h 48"/>
                <a:gd name="T20" fmla="*/ 2147483647 w 80"/>
                <a:gd name="T21" fmla="*/ 2147483647 h 48"/>
                <a:gd name="T22" fmla="*/ 2147483647 w 80"/>
                <a:gd name="T23" fmla="*/ 2147483647 h 48"/>
                <a:gd name="T24" fmla="*/ 2147483647 w 80"/>
                <a:gd name="T25" fmla="*/ 2147483647 h 48"/>
                <a:gd name="T26" fmla="*/ 2147483647 w 80"/>
                <a:gd name="T27" fmla="*/ 2147483647 h 48"/>
                <a:gd name="T28" fmla="*/ 2147483647 w 80"/>
                <a:gd name="T29" fmla="*/ 0 h 48"/>
                <a:gd name="T30" fmla="*/ 2147483647 w 80"/>
                <a:gd name="T31" fmla="*/ 0 h 48"/>
                <a:gd name="T32" fmla="*/ 2147483647 w 80"/>
                <a:gd name="T33" fmla="*/ 0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48"/>
                <a:gd name="T53" fmla="*/ 80 w 80"/>
                <a:gd name="T54" fmla="*/ 48 h 4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48">
                  <a:moveTo>
                    <a:pt x="56" y="0"/>
                  </a:moveTo>
                  <a:lnTo>
                    <a:pt x="48" y="0"/>
                  </a:lnTo>
                  <a:lnTo>
                    <a:pt x="32" y="8"/>
                  </a:lnTo>
                  <a:lnTo>
                    <a:pt x="24" y="8"/>
                  </a:lnTo>
                  <a:lnTo>
                    <a:pt x="16" y="8"/>
                  </a:lnTo>
                  <a:lnTo>
                    <a:pt x="8" y="8"/>
                  </a:lnTo>
                  <a:lnTo>
                    <a:pt x="8" y="16"/>
                  </a:lnTo>
                  <a:lnTo>
                    <a:pt x="0" y="24"/>
                  </a:lnTo>
                  <a:lnTo>
                    <a:pt x="0" y="32"/>
                  </a:lnTo>
                  <a:lnTo>
                    <a:pt x="16" y="40"/>
                  </a:lnTo>
                  <a:lnTo>
                    <a:pt x="32" y="48"/>
                  </a:lnTo>
                  <a:lnTo>
                    <a:pt x="48" y="40"/>
                  </a:lnTo>
                  <a:lnTo>
                    <a:pt x="64" y="40"/>
                  </a:lnTo>
                  <a:lnTo>
                    <a:pt x="72" y="24"/>
                  </a:lnTo>
                  <a:lnTo>
                    <a:pt x="80" y="0"/>
                  </a:lnTo>
                  <a:lnTo>
                    <a:pt x="72" y="0"/>
                  </a:lnTo>
                  <a:lnTo>
                    <a:pt x="56"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63" name="Freeform 713"/>
            <p:cNvSpPr>
              <a:spLocks/>
            </p:cNvSpPr>
            <p:nvPr/>
          </p:nvSpPr>
          <p:spPr bwMode="auto">
            <a:xfrm>
              <a:off x="2955050" y="2711614"/>
              <a:ext cx="76237" cy="34653"/>
            </a:xfrm>
            <a:custGeom>
              <a:avLst/>
              <a:gdLst>
                <a:gd name="T0" fmla="*/ 2147483647 w 72"/>
                <a:gd name="T1" fmla="*/ 2147483647 h 32"/>
                <a:gd name="T2" fmla="*/ 2147483647 w 72"/>
                <a:gd name="T3" fmla="*/ 0 h 32"/>
                <a:gd name="T4" fmla="*/ 2147483647 w 72"/>
                <a:gd name="T5" fmla="*/ 2147483647 h 32"/>
                <a:gd name="T6" fmla="*/ 2147483647 w 72"/>
                <a:gd name="T7" fmla="*/ 2147483647 h 32"/>
                <a:gd name="T8" fmla="*/ 0 w 72"/>
                <a:gd name="T9" fmla="*/ 2147483647 h 32"/>
                <a:gd name="T10" fmla="*/ 0 w 72"/>
                <a:gd name="T11" fmla="*/ 2147483647 h 32"/>
                <a:gd name="T12" fmla="*/ 2147483647 w 72"/>
                <a:gd name="T13" fmla="*/ 2147483647 h 32"/>
                <a:gd name="T14" fmla="*/ 2147483647 w 72"/>
                <a:gd name="T15" fmla="*/ 2147483647 h 32"/>
                <a:gd name="T16" fmla="*/ 2147483647 w 72"/>
                <a:gd name="T17" fmla="*/ 2147483647 h 32"/>
                <a:gd name="T18" fmla="*/ 2147483647 w 72"/>
                <a:gd name="T19" fmla="*/ 2147483647 h 32"/>
                <a:gd name="T20" fmla="*/ 2147483647 w 72"/>
                <a:gd name="T21" fmla="*/ 2147483647 h 32"/>
                <a:gd name="T22" fmla="*/ 2147483647 w 72"/>
                <a:gd name="T23" fmla="*/ 2147483647 h 32"/>
                <a:gd name="T24" fmla="*/ 2147483647 w 72"/>
                <a:gd name="T25" fmla="*/ 2147483647 h 32"/>
                <a:gd name="T26" fmla="*/ 2147483647 w 72"/>
                <a:gd name="T27" fmla="*/ 2147483647 h 32"/>
                <a:gd name="T28" fmla="*/ 2147483647 w 72"/>
                <a:gd name="T29" fmla="*/ 2147483647 h 32"/>
                <a:gd name="T30" fmla="*/ 2147483647 w 72"/>
                <a:gd name="T31" fmla="*/ 2147483647 h 32"/>
                <a:gd name="T32" fmla="*/ 2147483647 w 72"/>
                <a:gd name="T33" fmla="*/ 2147483647 h 3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
                <a:gd name="T52" fmla="*/ 0 h 32"/>
                <a:gd name="T53" fmla="*/ 72 w 72"/>
                <a:gd name="T54" fmla="*/ 32 h 3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 h="32">
                  <a:moveTo>
                    <a:pt x="40" y="8"/>
                  </a:moveTo>
                  <a:lnTo>
                    <a:pt x="24" y="0"/>
                  </a:lnTo>
                  <a:lnTo>
                    <a:pt x="16" y="8"/>
                  </a:lnTo>
                  <a:lnTo>
                    <a:pt x="16" y="16"/>
                  </a:lnTo>
                  <a:lnTo>
                    <a:pt x="0" y="24"/>
                  </a:lnTo>
                  <a:lnTo>
                    <a:pt x="0" y="32"/>
                  </a:lnTo>
                  <a:lnTo>
                    <a:pt x="8" y="32"/>
                  </a:lnTo>
                  <a:lnTo>
                    <a:pt x="16" y="32"/>
                  </a:lnTo>
                  <a:lnTo>
                    <a:pt x="24" y="32"/>
                  </a:lnTo>
                  <a:lnTo>
                    <a:pt x="40" y="24"/>
                  </a:lnTo>
                  <a:lnTo>
                    <a:pt x="48" y="24"/>
                  </a:lnTo>
                  <a:lnTo>
                    <a:pt x="64" y="24"/>
                  </a:lnTo>
                  <a:lnTo>
                    <a:pt x="72" y="24"/>
                  </a:lnTo>
                  <a:lnTo>
                    <a:pt x="64" y="16"/>
                  </a:lnTo>
                  <a:lnTo>
                    <a:pt x="64" y="8"/>
                  </a:lnTo>
                  <a:lnTo>
                    <a:pt x="56" y="8"/>
                  </a:lnTo>
                  <a:lnTo>
                    <a:pt x="4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64" name="Freeform 714"/>
            <p:cNvSpPr>
              <a:spLocks/>
            </p:cNvSpPr>
            <p:nvPr/>
          </p:nvSpPr>
          <p:spPr bwMode="auto">
            <a:xfrm>
              <a:off x="2997500" y="2780054"/>
              <a:ext cx="33787" cy="42450"/>
            </a:xfrm>
            <a:custGeom>
              <a:avLst/>
              <a:gdLst>
                <a:gd name="T0" fmla="*/ 2147483647 w 32"/>
                <a:gd name="T1" fmla="*/ 2147483647 h 40"/>
                <a:gd name="T2" fmla="*/ 2147483647 w 32"/>
                <a:gd name="T3" fmla="*/ 2147483647 h 40"/>
                <a:gd name="T4" fmla="*/ 0 w 32"/>
                <a:gd name="T5" fmla="*/ 0 h 40"/>
                <a:gd name="T6" fmla="*/ 2147483647 w 32"/>
                <a:gd name="T7" fmla="*/ 2147483647 h 40"/>
                <a:gd name="T8" fmla="*/ 2147483647 w 32"/>
                <a:gd name="T9" fmla="*/ 2147483647 h 40"/>
                <a:gd name="T10" fmla="*/ 0 60000 65536"/>
                <a:gd name="T11" fmla="*/ 0 60000 65536"/>
                <a:gd name="T12" fmla="*/ 0 60000 65536"/>
                <a:gd name="T13" fmla="*/ 0 60000 65536"/>
                <a:gd name="T14" fmla="*/ 0 60000 65536"/>
                <a:gd name="T15" fmla="*/ 0 w 32"/>
                <a:gd name="T16" fmla="*/ 0 h 40"/>
                <a:gd name="T17" fmla="*/ 32 w 32"/>
                <a:gd name="T18" fmla="*/ 40 h 40"/>
              </a:gdLst>
              <a:ahLst/>
              <a:cxnLst>
                <a:cxn ang="T10">
                  <a:pos x="T0" y="T1"/>
                </a:cxn>
                <a:cxn ang="T11">
                  <a:pos x="T2" y="T3"/>
                </a:cxn>
                <a:cxn ang="T12">
                  <a:pos x="T4" y="T5"/>
                </a:cxn>
                <a:cxn ang="T13">
                  <a:pos x="T6" y="T7"/>
                </a:cxn>
                <a:cxn ang="T14">
                  <a:pos x="T8" y="T9"/>
                </a:cxn>
              </a:cxnLst>
              <a:rect l="T15" t="T16" r="T17" b="T18"/>
              <a:pathLst>
                <a:path w="32" h="40">
                  <a:moveTo>
                    <a:pt x="32" y="32"/>
                  </a:moveTo>
                  <a:lnTo>
                    <a:pt x="32" y="40"/>
                  </a:lnTo>
                  <a:lnTo>
                    <a:pt x="0" y="0"/>
                  </a:lnTo>
                  <a:lnTo>
                    <a:pt x="8" y="16"/>
                  </a:lnTo>
                  <a:lnTo>
                    <a:pt x="32"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65" name="Freeform 715"/>
            <p:cNvSpPr>
              <a:spLocks/>
            </p:cNvSpPr>
            <p:nvPr/>
          </p:nvSpPr>
          <p:spPr bwMode="auto">
            <a:xfrm>
              <a:off x="2955050" y="2711614"/>
              <a:ext cx="76237" cy="34653"/>
            </a:xfrm>
            <a:custGeom>
              <a:avLst/>
              <a:gdLst>
                <a:gd name="T0" fmla="*/ 2147483647 w 72"/>
                <a:gd name="T1" fmla="*/ 2147483647 h 32"/>
                <a:gd name="T2" fmla="*/ 2147483647 w 72"/>
                <a:gd name="T3" fmla="*/ 0 h 32"/>
                <a:gd name="T4" fmla="*/ 2147483647 w 72"/>
                <a:gd name="T5" fmla="*/ 0 h 32"/>
                <a:gd name="T6" fmla="*/ 2147483647 w 72"/>
                <a:gd name="T7" fmla="*/ 2147483647 h 32"/>
                <a:gd name="T8" fmla="*/ 2147483647 w 72"/>
                <a:gd name="T9" fmla="*/ 2147483647 h 32"/>
                <a:gd name="T10" fmla="*/ 0 w 72"/>
                <a:gd name="T11" fmla="*/ 2147483647 h 32"/>
                <a:gd name="T12" fmla="*/ 0 w 72"/>
                <a:gd name="T13" fmla="*/ 2147483647 h 32"/>
                <a:gd name="T14" fmla="*/ 0 w 72"/>
                <a:gd name="T15" fmla="*/ 2147483647 h 32"/>
                <a:gd name="T16" fmla="*/ 2147483647 w 72"/>
                <a:gd name="T17" fmla="*/ 2147483647 h 32"/>
                <a:gd name="T18" fmla="*/ 2147483647 w 72"/>
                <a:gd name="T19" fmla="*/ 2147483647 h 32"/>
                <a:gd name="T20" fmla="*/ 2147483647 w 72"/>
                <a:gd name="T21" fmla="*/ 2147483647 h 32"/>
                <a:gd name="T22" fmla="*/ 2147483647 w 72"/>
                <a:gd name="T23" fmla="*/ 2147483647 h 32"/>
                <a:gd name="T24" fmla="*/ 2147483647 w 72"/>
                <a:gd name="T25" fmla="*/ 2147483647 h 32"/>
                <a:gd name="T26" fmla="*/ 2147483647 w 72"/>
                <a:gd name="T27" fmla="*/ 2147483647 h 32"/>
                <a:gd name="T28" fmla="*/ 2147483647 w 72"/>
                <a:gd name="T29" fmla="*/ 2147483647 h 32"/>
                <a:gd name="T30" fmla="*/ 2147483647 w 72"/>
                <a:gd name="T31" fmla="*/ 2147483647 h 32"/>
                <a:gd name="T32" fmla="*/ 2147483647 w 72"/>
                <a:gd name="T33" fmla="*/ 2147483647 h 32"/>
                <a:gd name="T34" fmla="*/ 2147483647 w 72"/>
                <a:gd name="T35" fmla="*/ 2147483647 h 32"/>
                <a:gd name="T36" fmla="*/ 2147483647 w 72"/>
                <a:gd name="T37" fmla="*/ 2147483647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2"/>
                <a:gd name="T58" fmla="*/ 0 h 32"/>
                <a:gd name="T59" fmla="*/ 72 w 72"/>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2" h="32">
                  <a:moveTo>
                    <a:pt x="40" y="8"/>
                  </a:moveTo>
                  <a:lnTo>
                    <a:pt x="24" y="0"/>
                  </a:lnTo>
                  <a:lnTo>
                    <a:pt x="16" y="8"/>
                  </a:lnTo>
                  <a:lnTo>
                    <a:pt x="16" y="16"/>
                  </a:lnTo>
                  <a:lnTo>
                    <a:pt x="0" y="24"/>
                  </a:lnTo>
                  <a:lnTo>
                    <a:pt x="0" y="32"/>
                  </a:lnTo>
                  <a:lnTo>
                    <a:pt x="8" y="32"/>
                  </a:lnTo>
                  <a:lnTo>
                    <a:pt x="16" y="32"/>
                  </a:lnTo>
                  <a:lnTo>
                    <a:pt x="24" y="32"/>
                  </a:lnTo>
                  <a:lnTo>
                    <a:pt x="40" y="24"/>
                  </a:lnTo>
                  <a:lnTo>
                    <a:pt x="48" y="24"/>
                  </a:lnTo>
                  <a:lnTo>
                    <a:pt x="64" y="24"/>
                  </a:lnTo>
                  <a:lnTo>
                    <a:pt x="72" y="24"/>
                  </a:lnTo>
                  <a:lnTo>
                    <a:pt x="64" y="16"/>
                  </a:lnTo>
                  <a:lnTo>
                    <a:pt x="64" y="8"/>
                  </a:lnTo>
                  <a:lnTo>
                    <a:pt x="56" y="8"/>
                  </a:lnTo>
                  <a:lnTo>
                    <a:pt x="4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66" name="Freeform 716"/>
            <p:cNvSpPr>
              <a:spLocks/>
            </p:cNvSpPr>
            <p:nvPr/>
          </p:nvSpPr>
          <p:spPr bwMode="auto">
            <a:xfrm>
              <a:off x="3031287" y="2822504"/>
              <a:ext cx="92697" cy="76237"/>
            </a:xfrm>
            <a:custGeom>
              <a:avLst/>
              <a:gdLst>
                <a:gd name="T0" fmla="*/ 2147483647 w 88"/>
                <a:gd name="T1" fmla="*/ 0 h 72"/>
                <a:gd name="T2" fmla="*/ 2147483647 w 88"/>
                <a:gd name="T3" fmla="*/ 0 h 72"/>
                <a:gd name="T4" fmla="*/ 0 w 88"/>
                <a:gd name="T5" fmla="*/ 0 h 72"/>
                <a:gd name="T6" fmla="*/ 0 w 88"/>
                <a:gd name="T7" fmla="*/ 2147483647 h 72"/>
                <a:gd name="T8" fmla="*/ 2147483647 w 88"/>
                <a:gd name="T9" fmla="*/ 2147483647 h 72"/>
                <a:gd name="T10" fmla="*/ 0 w 88"/>
                <a:gd name="T11" fmla="*/ 2147483647 h 72"/>
                <a:gd name="T12" fmla="*/ 2147483647 w 88"/>
                <a:gd name="T13" fmla="*/ 2147483647 h 72"/>
                <a:gd name="T14" fmla="*/ 2147483647 w 88"/>
                <a:gd name="T15" fmla="*/ 2147483647 h 72"/>
                <a:gd name="T16" fmla="*/ 2147483647 w 88"/>
                <a:gd name="T17" fmla="*/ 2147483647 h 72"/>
                <a:gd name="T18" fmla="*/ 2147483647 w 88"/>
                <a:gd name="T19" fmla="*/ 2147483647 h 72"/>
                <a:gd name="T20" fmla="*/ 2147483647 w 88"/>
                <a:gd name="T21" fmla="*/ 2147483647 h 72"/>
                <a:gd name="T22" fmla="*/ 2147483647 w 88"/>
                <a:gd name="T23" fmla="*/ 2147483647 h 72"/>
                <a:gd name="T24" fmla="*/ 2147483647 w 88"/>
                <a:gd name="T25" fmla="*/ 2147483647 h 72"/>
                <a:gd name="T26" fmla="*/ 2147483647 w 88"/>
                <a:gd name="T27" fmla="*/ 2147483647 h 72"/>
                <a:gd name="T28" fmla="*/ 2147483647 w 88"/>
                <a:gd name="T29" fmla="*/ 2147483647 h 72"/>
                <a:gd name="T30" fmla="*/ 2147483647 w 88"/>
                <a:gd name="T31" fmla="*/ 2147483647 h 72"/>
                <a:gd name="T32" fmla="*/ 2147483647 w 88"/>
                <a:gd name="T33" fmla="*/ 2147483647 h 72"/>
                <a:gd name="T34" fmla="*/ 2147483647 w 88"/>
                <a:gd name="T35" fmla="*/ 2147483647 h 72"/>
                <a:gd name="T36" fmla="*/ 2147483647 w 88"/>
                <a:gd name="T37" fmla="*/ 2147483647 h 72"/>
                <a:gd name="T38" fmla="*/ 2147483647 w 88"/>
                <a:gd name="T39" fmla="*/ 2147483647 h 72"/>
                <a:gd name="T40" fmla="*/ 2147483647 w 88"/>
                <a:gd name="T41" fmla="*/ 2147483647 h 72"/>
                <a:gd name="T42" fmla="*/ 2147483647 w 88"/>
                <a:gd name="T43" fmla="*/ 0 h 72"/>
                <a:gd name="T44" fmla="*/ 2147483647 w 88"/>
                <a:gd name="T45" fmla="*/ 0 h 7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8"/>
                <a:gd name="T70" fmla="*/ 0 h 72"/>
                <a:gd name="T71" fmla="*/ 88 w 88"/>
                <a:gd name="T72" fmla="*/ 72 h 7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8" h="72">
                  <a:moveTo>
                    <a:pt x="32" y="0"/>
                  </a:moveTo>
                  <a:lnTo>
                    <a:pt x="8" y="0"/>
                  </a:lnTo>
                  <a:lnTo>
                    <a:pt x="0" y="0"/>
                  </a:lnTo>
                  <a:lnTo>
                    <a:pt x="0" y="8"/>
                  </a:lnTo>
                  <a:lnTo>
                    <a:pt x="8" y="16"/>
                  </a:lnTo>
                  <a:lnTo>
                    <a:pt x="0" y="32"/>
                  </a:lnTo>
                  <a:lnTo>
                    <a:pt x="8" y="40"/>
                  </a:lnTo>
                  <a:lnTo>
                    <a:pt x="8" y="48"/>
                  </a:lnTo>
                  <a:lnTo>
                    <a:pt x="32" y="48"/>
                  </a:lnTo>
                  <a:lnTo>
                    <a:pt x="48" y="48"/>
                  </a:lnTo>
                  <a:lnTo>
                    <a:pt x="48" y="40"/>
                  </a:lnTo>
                  <a:lnTo>
                    <a:pt x="48" y="48"/>
                  </a:lnTo>
                  <a:lnTo>
                    <a:pt x="48" y="56"/>
                  </a:lnTo>
                  <a:lnTo>
                    <a:pt x="40" y="56"/>
                  </a:lnTo>
                  <a:lnTo>
                    <a:pt x="48" y="72"/>
                  </a:lnTo>
                  <a:lnTo>
                    <a:pt x="64" y="64"/>
                  </a:lnTo>
                  <a:lnTo>
                    <a:pt x="80" y="64"/>
                  </a:lnTo>
                  <a:lnTo>
                    <a:pt x="88" y="48"/>
                  </a:lnTo>
                  <a:lnTo>
                    <a:pt x="64" y="40"/>
                  </a:lnTo>
                  <a:lnTo>
                    <a:pt x="64" y="24"/>
                  </a:lnTo>
                  <a:lnTo>
                    <a:pt x="80" y="8"/>
                  </a:lnTo>
                  <a:lnTo>
                    <a:pt x="56" y="0"/>
                  </a:lnTo>
                  <a:lnTo>
                    <a:pt x="32"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67" name="Freeform 717"/>
            <p:cNvSpPr>
              <a:spLocks/>
            </p:cNvSpPr>
            <p:nvPr/>
          </p:nvSpPr>
          <p:spPr bwMode="auto">
            <a:xfrm>
              <a:off x="2971510" y="2780054"/>
              <a:ext cx="67574" cy="118687"/>
            </a:xfrm>
            <a:custGeom>
              <a:avLst/>
              <a:gdLst>
                <a:gd name="T0" fmla="*/ 2147483647 w 64"/>
                <a:gd name="T1" fmla="*/ 2147483647 h 112"/>
                <a:gd name="T2" fmla="*/ 2147483647 w 64"/>
                <a:gd name="T3" fmla="*/ 2147483647 h 112"/>
                <a:gd name="T4" fmla="*/ 2147483647 w 64"/>
                <a:gd name="T5" fmla="*/ 2147483647 h 112"/>
                <a:gd name="T6" fmla="*/ 2147483647 w 64"/>
                <a:gd name="T7" fmla="*/ 2147483647 h 112"/>
                <a:gd name="T8" fmla="*/ 2147483647 w 64"/>
                <a:gd name="T9" fmla="*/ 2147483647 h 112"/>
                <a:gd name="T10" fmla="*/ 2147483647 w 64"/>
                <a:gd name="T11" fmla="*/ 2147483647 h 112"/>
                <a:gd name="T12" fmla="*/ 2147483647 w 64"/>
                <a:gd name="T13" fmla="*/ 2147483647 h 112"/>
                <a:gd name="T14" fmla="*/ 2147483647 w 64"/>
                <a:gd name="T15" fmla="*/ 2147483647 h 112"/>
                <a:gd name="T16" fmla="*/ 2147483647 w 64"/>
                <a:gd name="T17" fmla="*/ 2147483647 h 112"/>
                <a:gd name="T18" fmla="*/ 2147483647 w 64"/>
                <a:gd name="T19" fmla="*/ 2147483647 h 112"/>
                <a:gd name="T20" fmla="*/ 2147483647 w 64"/>
                <a:gd name="T21" fmla="*/ 0 h 112"/>
                <a:gd name="T22" fmla="*/ 2147483647 w 64"/>
                <a:gd name="T23" fmla="*/ 2147483647 h 112"/>
                <a:gd name="T24" fmla="*/ 2147483647 w 64"/>
                <a:gd name="T25" fmla="*/ 2147483647 h 112"/>
                <a:gd name="T26" fmla="*/ 2147483647 w 64"/>
                <a:gd name="T27" fmla="*/ 2147483647 h 112"/>
                <a:gd name="T28" fmla="*/ 2147483647 w 64"/>
                <a:gd name="T29" fmla="*/ 2147483647 h 112"/>
                <a:gd name="T30" fmla="*/ 2147483647 w 64"/>
                <a:gd name="T31" fmla="*/ 2147483647 h 112"/>
                <a:gd name="T32" fmla="*/ 0 w 64"/>
                <a:gd name="T33" fmla="*/ 2147483647 h 112"/>
                <a:gd name="T34" fmla="*/ 2147483647 w 64"/>
                <a:gd name="T35" fmla="*/ 2147483647 h 112"/>
                <a:gd name="T36" fmla="*/ 2147483647 w 64"/>
                <a:gd name="T37" fmla="*/ 2147483647 h 112"/>
                <a:gd name="T38" fmla="*/ 2147483647 w 64"/>
                <a:gd name="T39" fmla="*/ 2147483647 h 112"/>
                <a:gd name="T40" fmla="*/ 2147483647 w 64"/>
                <a:gd name="T41" fmla="*/ 2147483647 h 112"/>
                <a:gd name="T42" fmla="*/ 2147483647 w 64"/>
                <a:gd name="T43" fmla="*/ 2147483647 h 11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4"/>
                <a:gd name="T67" fmla="*/ 0 h 112"/>
                <a:gd name="T68" fmla="*/ 64 w 64"/>
                <a:gd name="T69" fmla="*/ 112 h 11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4" h="112">
                  <a:moveTo>
                    <a:pt x="40" y="96"/>
                  </a:moveTo>
                  <a:lnTo>
                    <a:pt x="56" y="88"/>
                  </a:lnTo>
                  <a:lnTo>
                    <a:pt x="64" y="88"/>
                  </a:lnTo>
                  <a:lnTo>
                    <a:pt x="64" y="80"/>
                  </a:lnTo>
                  <a:lnTo>
                    <a:pt x="56" y="72"/>
                  </a:lnTo>
                  <a:lnTo>
                    <a:pt x="64" y="56"/>
                  </a:lnTo>
                  <a:lnTo>
                    <a:pt x="56" y="48"/>
                  </a:lnTo>
                  <a:lnTo>
                    <a:pt x="56" y="40"/>
                  </a:lnTo>
                  <a:lnTo>
                    <a:pt x="56" y="32"/>
                  </a:lnTo>
                  <a:lnTo>
                    <a:pt x="32" y="16"/>
                  </a:lnTo>
                  <a:lnTo>
                    <a:pt x="24" y="0"/>
                  </a:lnTo>
                  <a:lnTo>
                    <a:pt x="8" y="8"/>
                  </a:lnTo>
                  <a:lnTo>
                    <a:pt x="16" y="16"/>
                  </a:lnTo>
                  <a:lnTo>
                    <a:pt x="16" y="24"/>
                  </a:lnTo>
                  <a:lnTo>
                    <a:pt x="16" y="40"/>
                  </a:lnTo>
                  <a:lnTo>
                    <a:pt x="8" y="56"/>
                  </a:lnTo>
                  <a:lnTo>
                    <a:pt x="0" y="72"/>
                  </a:lnTo>
                  <a:lnTo>
                    <a:pt x="16" y="88"/>
                  </a:lnTo>
                  <a:lnTo>
                    <a:pt x="16" y="96"/>
                  </a:lnTo>
                  <a:lnTo>
                    <a:pt x="24" y="112"/>
                  </a:lnTo>
                  <a:lnTo>
                    <a:pt x="32" y="104"/>
                  </a:lnTo>
                  <a:lnTo>
                    <a:pt x="40" y="9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68" name="Freeform 718"/>
            <p:cNvSpPr>
              <a:spLocks/>
            </p:cNvSpPr>
            <p:nvPr/>
          </p:nvSpPr>
          <p:spPr bwMode="auto">
            <a:xfrm>
              <a:off x="2912600" y="2762727"/>
              <a:ext cx="76237" cy="93564"/>
            </a:xfrm>
            <a:custGeom>
              <a:avLst/>
              <a:gdLst>
                <a:gd name="T0" fmla="*/ 2147483647 w 72"/>
                <a:gd name="T1" fmla="*/ 2147483647 h 88"/>
                <a:gd name="T2" fmla="*/ 2147483647 w 72"/>
                <a:gd name="T3" fmla="*/ 2147483647 h 88"/>
                <a:gd name="T4" fmla="*/ 2147483647 w 72"/>
                <a:gd name="T5" fmla="*/ 2147483647 h 88"/>
                <a:gd name="T6" fmla="*/ 2147483647 w 72"/>
                <a:gd name="T7" fmla="*/ 2147483647 h 88"/>
                <a:gd name="T8" fmla="*/ 2147483647 w 72"/>
                <a:gd name="T9" fmla="*/ 2147483647 h 88"/>
                <a:gd name="T10" fmla="*/ 2147483647 w 72"/>
                <a:gd name="T11" fmla="*/ 2147483647 h 88"/>
                <a:gd name="T12" fmla="*/ 2147483647 w 72"/>
                <a:gd name="T13" fmla="*/ 0 h 88"/>
                <a:gd name="T14" fmla="*/ 2147483647 w 72"/>
                <a:gd name="T15" fmla="*/ 2147483647 h 88"/>
                <a:gd name="T16" fmla="*/ 0 w 72"/>
                <a:gd name="T17" fmla="*/ 2147483647 h 88"/>
                <a:gd name="T18" fmla="*/ 0 w 72"/>
                <a:gd name="T19" fmla="*/ 2147483647 h 88"/>
                <a:gd name="T20" fmla="*/ 0 w 72"/>
                <a:gd name="T21" fmla="*/ 2147483647 h 88"/>
                <a:gd name="T22" fmla="*/ 2147483647 w 72"/>
                <a:gd name="T23" fmla="*/ 2147483647 h 88"/>
                <a:gd name="T24" fmla="*/ 2147483647 w 72"/>
                <a:gd name="T25" fmla="*/ 2147483647 h 88"/>
                <a:gd name="T26" fmla="*/ 2147483647 w 72"/>
                <a:gd name="T27" fmla="*/ 2147483647 h 88"/>
                <a:gd name="T28" fmla="*/ 2147483647 w 72"/>
                <a:gd name="T29" fmla="*/ 2147483647 h 88"/>
                <a:gd name="T30" fmla="*/ 2147483647 w 72"/>
                <a:gd name="T31" fmla="*/ 2147483647 h 88"/>
                <a:gd name="T32" fmla="*/ 2147483647 w 72"/>
                <a:gd name="T33" fmla="*/ 2147483647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
                <a:gd name="T52" fmla="*/ 0 h 88"/>
                <a:gd name="T53" fmla="*/ 72 w 72"/>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 h="88">
                  <a:moveTo>
                    <a:pt x="72" y="56"/>
                  </a:moveTo>
                  <a:lnTo>
                    <a:pt x="72" y="40"/>
                  </a:lnTo>
                  <a:lnTo>
                    <a:pt x="72" y="32"/>
                  </a:lnTo>
                  <a:lnTo>
                    <a:pt x="64" y="24"/>
                  </a:lnTo>
                  <a:lnTo>
                    <a:pt x="48" y="16"/>
                  </a:lnTo>
                  <a:lnTo>
                    <a:pt x="32" y="8"/>
                  </a:lnTo>
                  <a:lnTo>
                    <a:pt x="32" y="0"/>
                  </a:lnTo>
                  <a:lnTo>
                    <a:pt x="16" y="8"/>
                  </a:lnTo>
                  <a:lnTo>
                    <a:pt x="0" y="8"/>
                  </a:lnTo>
                  <a:lnTo>
                    <a:pt x="0" y="24"/>
                  </a:lnTo>
                  <a:lnTo>
                    <a:pt x="0" y="32"/>
                  </a:lnTo>
                  <a:lnTo>
                    <a:pt x="8" y="32"/>
                  </a:lnTo>
                  <a:lnTo>
                    <a:pt x="24" y="48"/>
                  </a:lnTo>
                  <a:lnTo>
                    <a:pt x="32" y="72"/>
                  </a:lnTo>
                  <a:lnTo>
                    <a:pt x="56" y="88"/>
                  </a:lnTo>
                  <a:lnTo>
                    <a:pt x="64" y="72"/>
                  </a:lnTo>
                  <a:lnTo>
                    <a:pt x="72" y="5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69" name="Freeform 719"/>
            <p:cNvSpPr>
              <a:spLocks/>
            </p:cNvSpPr>
            <p:nvPr/>
          </p:nvSpPr>
          <p:spPr bwMode="auto">
            <a:xfrm>
              <a:off x="2997500" y="2585130"/>
              <a:ext cx="41584" cy="25123"/>
            </a:xfrm>
            <a:custGeom>
              <a:avLst/>
              <a:gdLst>
                <a:gd name="T0" fmla="*/ 2147483647 w 40"/>
                <a:gd name="T1" fmla="*/ 2147483647 h 24"/>
                <a:gd name="T2" fmla="*/ 2147483647 w 40"/>
                <a:gd name="T3" fmla="*/ 2147483647 h 24"/>
                <a:gd name="T4" fmla="*/ 2147483647 w 40"/>
                <a:gd name="T5" fmla="*/ 2147483647 h 24"/>
                <a:gd name="T6" fmla="*/ 2147483647 w 40"/>
                <a:gd name="T7" fmla="*/ 2147483647 h 24"/>
                <a:gd name="T8" fmla="*/ 2147483647 w 40"/>
                <a:gd name="T9" fmla="*/ 0 h 24"/>
                <a:gd name="T10" fmla="*/ 2147483647 w 40"/>
                <a:gd name="T11" fmla="*/ 0 h 24"/>
                <a:gd name="T12" fmla="*/ 0 w 40"/>
                <a:gd name="T13" fmla="*/ 2147483647 h 24"/>
                <a:gd name="T14" fmla="*/ 0 w 40"/>
                <a:gd name="T15" fmla="*/ 2147483647 h 24"/>
                <a:gd name="T16" fmla="*/ 2147483647 w 40"/>
                <a:gd name="T17" fmla="*/ 2147483647 h 24"/>
                <a:gd name="T18" fmla="*/ 2147483647 w 40"/>
                <a:gd name="T19" fmla="*/ 2147483647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
                <a:gd name="T31" fmla="*/ 0 h 24"/>
                <a:gd name="T32" fmla="*/ 40 w 40"/>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 h="24">
                  <a:moveTo>
                    <a:pt x="32" y="24"/>
                  </a:moveTo>
                  <a:lnTo>
                    <a:pt x="40" y="16"/>
                  </a:lnTo>
                  <a:lnTo>
                    <a:pt x="32" y="8"/>
                  </a:lnTo>
                  <a:lnTo>
                    <a:pt x="24" y="8"/>
                  </a:lnTo>
                  <a:lnTo>
                    <a:pt x="16" y="0"/>
                  </a:lnTo>
                  <a:lnTo>
                    <a:pt x="8" y="0"/>
                  </a:lnTo>
                  <a:lnTo>
                    <a:pt x="0" y="8"/>
                  </a:lnTo>
                  <a:lnTo>
                    <a:pt x="0" y="16"/>
                  </a:lnTo>
                  <a:lnTo>
                    <a:pt x="8" y="24"/>
                  </a:lnTo>
                  <a:lnTo>
                    <a:pt x="32"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70" name="Freeform 720"/>
            <p:cNvSpPr>
              <a:spLocks/>
            </p:cNvSpPr>
            <p:nvPr/>
          </p:nvSpPr>
          <p:spPr bwMode="auto">
            <a:xfrm>
              <a:off x="3031287" y="2822504"/>
              <a:ext cx="92697" cy="76237"/>
            </a:xfrm>
            <a:custGeom>
              <a:avLst/>
              <a:gdLst>
                <a:gd name="T0" fmla="*/ 2147483647 w 88"/>
                <a:gd name="T1" fmla="*/ 0 h 72"/>
                <a:gd name="T2" fmla="*/ 2147483647 w 88"/>
                <a:gd name="T3" fmla="*/ 0 h 72"/>
                <a:gd name="T4" fmla="*/ 0 w 88"/>
                <a:gd name="T5" fmla="*/ 0 h 72"/>
                <a:gd name="T6" fmla="*/ 0 w 88"/>
                <a:gd name="T7" fmla="*/ 2147483647 h 72"/>
                <a:gd name="T8" fmla="*/ 2147483647 w 88"/>
                <a:gd name="T9" fmla="*/ 2147483647 h 72"/>
                <a:gd name="T10" fmla="*/ 0 w 88"/>
                <a:gd name="T11" fmla="*/ 2147483647 h 72"/>
                <a:gd name="T12" fmla="*/ 2147483647 w 88"/>
                <a:gd name="T13" fmla="*/ 2147483647 h 72"/>
                <a:gd name="T14" fmla="*/ 2147483647 w 88"/>
                <a:gd name="T15" fmla="*/ 2147483647 h 72"/>
                <a:gd name="T16" fmla="*/ 2147483647 w 88"/>
                <a:gd name="T17" fmla="*/ 2147483647 h 72"/>
                <a:gd name="T18" fmla="*/ 2147483647 w 88"/>
                <a:gd name="T19" fmla="*/ 2147483647 h 72"/>
                <a:gd name="T20" fmla="*/ 2147483647 w 88"/>
                <a:gd name="T21" fmla="*/ 2147483647 h 72"/>
                <a:gd name="T22" fmla="*/ 2147483647 w 88"/>
                <a:gd name="T23" fmla="*/ 2147483647 h 72"/>
                <a:gd name="T24" fmla="*/ 2147483647 w 88"/>
                <a:gd name="T25" fmla="*/ 2147483647 h 72"/>
                <a:gd name="T26" fmla="*/ 2147483647 w 88"/>
                <a:gd name="T27" fmla="*/ 2147483647 h 72"/>
                <a:gd name="T28" fmla="*/ 2147483647 w 88"/>
                <a:gd name="T29" fmla="*/ 2147483647 h 72"/>
                <a:gd name="T30" fmla="*/ 2147483647 w 88"/>
                <a:gd name="T31" fmla="*/ 2147483647 h 72"/>
                <a:gd name="T32" fmla="*/ 2147483647 w 88"/>
                <a:gd name="T33" fmla="*/ 2147483647 h 72"/>
                <a:gd name="T34" fmla="*/ 2147483647 w 88"/>
                <a:gd name="T35" fmla="*/ 2147483647 h 72"/>
                <a:gd name="T36" fmla="*/ 2147483647 w 88"/>
                <a:gd name="T37" fmla="*/ 2147483647 h 72"/>
                <a:gd name="T38" fmla="*/ 2147483647 w 88"/>
                <a:gd name="T39" fmla="*/ 2147483647 h 72"/>
                <a:gd name="T40" fmla="*/ 2147483647 w 88"/>
                <a:gd name="T41" fmla="*/ 2147483647 h 72"/>
                <a:gd name="T42" fmla="*/ 2147483647 w 88"/>
                <a:gd name="T43" fmla="*/ 2147483647 h 72"/>
                <a:gd name="T44" fmla="*/ 2147483647 w 88"/>
                <a:gd name="T45" fmla="*/ 2147483647 h 72"/>
                <a:gd name="T46" fmla="*/ 2147483647 w 88"/>
                <a:gd name="T47" fmla="*/ 2147483647 h 72"/>
                <a:gd name="T48" fmla="*/ 2147483647 w 88"/>
                <a:gd name="T49" fmla="*/ 0 h 72"/>
                <a:gd name="T50" fmla="*/ 2147483647 w 88"/>
                <a:gd name="T51" fmla="*/ 0 h 7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8"/>
                <a:gd name="T79" fmla="*/ 0 h 72"/>
                <a:gd name="T80" fmla="*/ 88 w 88"/>
                <a:gd name="T81" fmla="*/ 72 h 7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8" h="72">
                  <a:moveTo>
                    <a:pt x="32" y="0"/>
                  </a:moveTo>
                  <a:lnTo>
                    <a:pt x="8" y="0"/>
                  </a:lnTo>
                  <a:lnTo>
                    <a:pt x="0" y="0"/>
                  </a:lnTo>
                  <a:lnTo>
                    <a:pt x="0" y="8"/>
                  </a:lnTo>
                  <a:lnTo>
                    <a:pt x="8" y="16"/>
                  </a:lnTo>
                  <a:lnTo>
                    <a:pt x="0" y="32"/>
                  </a:lnTo>
                  <a:lnTo>
                    <a:pt x="8" y="40"/>
                  </a:lnTo>
                  <a:lnTo>
                    <a:pt x="8" y="48"/>
                  </a:lnTo>
                  <a:lnTo>
                    <a:pt x="32" y="48"/>
                  </a:lnTo>
                  <a:lnTo>
                    <a:pt x="48" y="48"/>
                  </a:lnTo>
                  <a:lnTo>
                    <a:pt x="48" y="40"/>
                  </a:lnTo>
                  <a:lnTo>
                    <a:pt x="48" y="48"/>
                  </a:lnTo>
                  <a:lnTo>
                    <a:pt x="48" y="56"/>
                  </a:lnTo>
                  <a:lnTo>
                    <a:pt x="40" y="56"/>
                  </a:lnTo>
                  <a:lnTo>
                    <a:pt x="48" y="72"/>
                  </a:lnTo>
                  <a:lnTo>
                    <a:pt x="64" y="64"/>
                  </a:lnTo>
                  <a:lnTo>
                    <a:pt x="80" y="64"/>
                  </a:lnTo>
                  <a:lnTo>
                    <a:pt x="88" y="48"/>
                  </a:lnTo>
                  <a:lnTo>
                    <a:pt x="64" y="40"/>
                  </a:lnTo>
                  <a:lnTo>
                    <a:pt x="64" y="24"/>
                  </a:lnTo>
                  <a:lnTo>
                    <a:pt x="80" y="8"/>
                  </a:lnTo>
                  <a:lnTo>
                    <a:pt x="56" y="0"/>
                  </a:lnTo>
                  <a:lnTo>
                    <a:pt x="32"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71" name="Freeform 721"/>
            <p:cNvSpPr>
              <a:spLocks/>
            </p:cNvSpPr>
            <p:nvPr/>
          </p:nvSpPr>
          <p:spPr bwMode="auto">
            <a:xfrm>
              <a:off x="2997500" y="2585130"/>
              <a:ext cx="41584" cy="25123"/>
            </a:xfrm>
            <a:custGeom>
              <a:avLst/>
              <a:gdLst>
                <a:gd name="T0" fmla="*/ 2147483647 w 40"/>
                <a:gd name="T1" fmla="*/ 2147483647 h 24"/>
                <a:gd name="T2" fmla="*/ 2147483647 w 40"/>
                <a:gd name="T3" fmla="*/ 2147483647 h 24"/>
                <a:gd name="T4" fmla="*/ 2147483647 w 40"/>
                <a:gd name="T5" fmla="*/ 2147483647 h 24"/>
                <a:gd name="T6" fmla="*/ 2147483647 w 40"/>
                <a:gd name="T7" fmla="*/ 2147483647 h 24"/>
                <a:gd name="T8" fmla="*/ 2147483647 w 40"/>
                <a:gd name="T9" fmla="*/ 0 h 24"/>
                <a:gd name="T10" fmla="*/ 2147483647 w 40"/>
                <a:gd name="T11" fmla="*/ 0 h 24"/>
                <a:gd name="T12" fmla="*/ 0 w 40"/>
                <a:gd name="T13" fmla="*/ 2147483647 h 24"/>
                <a:gd name="T14" fmla="*/ 0 w 40"/>
                <a:gd name="T15" fmla="*/ 2147483647 h 24"/>
                <a:gd name="T16" fmla="*/ 2147483647 w 40"/>
                <a:gd name="T17" fmla="*/ 2147483647 h 24"/>
                <a:gd name="T18" fmla="*/ 2147483647 w 40"/>
                <a:gd name="T19" fmla="*/ 2147483647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
                <a:gd name="T31" fmla="*/ 0 h 24"/>
                <a:gd name="T32" fmla="*/ 40 w 40"/>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 h="24">
                  <a:moveTo>
                    <a:pt x="32" y="24"/>
                  </a:moveTo>
                  <a:lnTo>
                    <a:pt x="40" y="16"/>
                  </a:lnTo>
                  <a:lnTo>
                    <a:pt x="32" y="8"/>
                  </a:lnTo>
                  <a:lnTo>
                    <a:pt x="24" y="8"/>
                  </a:lnTo>
                  <a:lnTo>
                    <a:pt x="16" y="0"/>
                  </a:lnTo>
                  <a:lnTo>
                    <a:pt x="8" y="0"/>
                  </a:lnTo>
                  <a:lnTo>
                    <a:pt x="0" y="8"/>
                  </a:lnTo>
                  <a:lnTo>
                    <a:pt x="0" y="16"/>
                  </a:lnTo>
                  <a:lnTo>
                    <a:pt x="8" y="24"/>
                  </a:lnTo>
                  <a:lnTo>
                    <a:pt x="32"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72" name="Freeform 722"/>
            <p:cNvSpPr>
              <a:spLocks/>
            </p:cNvSpPr>
            <p:nvPr/>
          </p:nvSpPr>
          <p:spPr bwMode="auto">
            <a:xfrm>
              <a:off x="2920397" y="2601590"/>
              <a:ext cx="127350" cy="118687"/>
            </a:xfrm>
            <a:custGeom>
              <a:avLst/>
              <a:gdLst>
                <a:gd name="T0" fmla="*/ 0 w 120"/>
                <a:gd name="T1" fmla="*/ 2147483647 h 112"/>
                <a:gd name="T2" fmla="*/ 0 w 120"/>
                <a:gd name="T3" fmla="*/ 2147483647 h 112"/>
                <a:gd name="T4" fmla="*/ 0 w 120"/>
                <a:gd name="T5" fmla="*/ 2147483647 h 112"/>
                <a:gd name="T6" fmla="*/ 2147483647 w 120"/>
                <a:gd name="T7" fmla="*/ 2147483647 h 112"/>
                <a:gd name="T8" fmla="*/ 2147483647 w 120"/>
                <a:gd name="T9" fmla="*/ 2147483647 h 112"/>
                <a:gd name="T10" fmla="*/ 2147483647 w 120"/>
                <a:gd name="T11" fmla="*/ 2147483647 h 112"/>
                <a:gd name="T12" fmla="*/ 2147483647 w 120"/>
                <a:gd name="T13" fmla="*/ 2147483647 h 112"/>
                <a:gd name="T14" fmla="*/ 2147483647 w 120"/>
                <a:gd name="T15" fmla="*/ 2147483647 h 112"/>
                <a:gd name="T16" fmla="*/ 2147483647 w 120"/>
                <a:gd name="T17" fmla="*/ 2147483647 h 112"/>
                <a:gd name="T18" fmla="*/ 2147483647 w 120"/>
                <a:gd name="T19" fmla="*/ 2147483647 h 112"/>
                <a:gd name="T20" fmla="*/ 2147483647 w 120"/>
                <a:gd name="T21" fmla="*/ 2147483647 h 112"/>
                <a:gd name="T22" fmla="*/ 2147483647 w 120"/>
                <a:gd name="T23" fmla="*/ 2147483647 h 112"/>
                <a:gd name="T24" fmla="*/ 2147483647 w 120"/>
                <a:gd name="T25" fmla="*/ 2147483647 h 112"/>
                <a:gd name="T26" fmla="*/ 2147483647 w 120"/>
                <a:gd name="T27" fmla="*/ 2147483647 h 112"/>
                <a:gd name="T28" fmla="*/ 2147483647 w 120"/>
                <a:gd name="T29" fmla="*/ 2147483647 h 112"/>
                <a:gd name="T30" fmla="*/ 2147483647 w 120"/>
                <a:gd name="T31" fmla="*/ 2147483647 h 112"/>
                <a:gd name="T32" fmla="*/ 2147483647 w 120"/>
                <a:gd name="T33" fmla="*/ 2147483647 h 112"/>
                <a:gd name="T34" fmla="*/ 2147483647 w 120"/>
                <a:gd name="T35" fmla="*/ 2147483647 h 112"/>
                <a:gd name="T36" fmla="*/ 2147483647 w 120"/>
                <a:gd name="T37" fmla="*/ 2147483647 h 112"/>
                <a:gd name="T38" fmla="*/ 2147483647 w 120"/>
                <a:gd name="T39" fmla="*/ 2147483647 h 112"/>
                <a:gd name="T40" fmla="*/ 2147483647 w 120"/>
                <a:gd name="T41" fmla="*/ 2147483647 h 112"/>
                <a:gd name="T42" fmla="*/ 2147483647 w 120"/>
                <a:gd name="T43" fmla="*/ 2147483647 h 112"/>
                <a:gd name="T44" fmla="*/ 2147483647 w 120"/>
                <a:gd name="T45" fmla="*/ 0 h 112"/>
                <a:gd name="T46" fmla="*/ 2147483647 w 120"/>
                <a:gd name="T47" fmla="*/ 0 h 112"/>
                <a:gd name="T48" fmla="*/ 2147483647 w 120"/>
                <a:gd name="T49" fmla="*/ 0 h 112"/>
                <a:gd name="T50" fmla="*/ 2147483647 w 120"/>
                <a:gd name="T51" fmla="*/ 2147483647 h 112"/>
                <a:gd name="T52" fmla="*/ 0 w 120"/>
                <a:gd name="T53" fmla="*/ 2147483647 h 112"/>
                <a:gd name="T54" fmla="*/ 0 w 120"/>
                <a:gd name="T55" fmla="*/ 2147483647 h 112"/>
                <a:gd name="T56" fmla="*/ 0 w 120"/>
                <a:gd name="T57" fmla="*/ 2147483647 h 11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0"/>
                <a:gd name="T88" fmla="*/ 0 h 112"/>
                <a:gd name="T89" fmla="*/ 120 w 120"/>
                <a:gd name="T90" fmla="*/ 112 h 11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0" h="112">
                  <a:moveTo>
                    <a:pt x="0" y="32"/>
                  </a:moveTo>
                  <a:lnTo>
                    <a:pt x="0" y="40"/>
                  </a:lnTo>
                  <a:lnTo>
                    <a:pt x="0" y="48"/>
                  </a:lnTo>
                  <a:lnTo>
                    <a:pt x="8" y="64"/>
                  </a:lnTo>
                  <a:lnTo>
                    <a:pt x="8" y="80"/>
                  </a:lnTo>
                  <a:lnTo>
                    <a:pt x="24" y="88"/>
                  </a:lnTo>
                  <a:lnTo>
                    <a:pt x="40" y="96"/>
                  </a:lnTo>
                  <a:lnTo>
                    <a:pt x="56" y="104"/>
                  </a:lnTo>
                  <a:lnTo>
                    <a:pt x="72" y="112"/>
                  </a:lnTo>
                  <a:lnTo>
                    <a:pt x="88" y="112"/>
                  </a:lnTo>
                  <a:lnTo>
                    <a:pt x="96" y="112"/>
                  </a:lnTo>
                  <a:lnTo>
                    <a:pt x="104" y="112"/>
                  </a:lnTo>
                  <a:lnTo>
                    <a:pt x="112" y="88"/>
                  </a:lnTo>
                  <a:lnTo>
                    <a:pt x="120" y="80"/>
                  </a:lnTo>
                  <a:lnTo>
                    <a:pt x="120" y="64"/>
                  </a:lnTo>
                  <a:lnTo>
                    <a:pt x="120" y="56"/>
                  </a:lnTo>
                  <a:lnTo>
                    <a:pt x="112" y="48"/>
                  </a:lnTo>
                  <a:lnTo>
                    <a:pt x="120" y="40"/>
                  </a:lnTo>
                  <a:lnTo>
                    <a:pt x="120" y="24"/>
                  </a:lnTo>
                  <a:lnTo>
                    <a:pt x="112" y="8"/>
                  </a:lnTo>
                  <a:lnTo>
                    <a:pt x="104" y="8"/>
                  </a:lnTo>
                  <a:lnTo>
                    <a:pt x="80" y="8"/>
                  </a:lnTo>
                  <a:lnTo>
                    <a:pt x="72" y="0"/>
                  </a:lnTo>
                  <a:lnTo>
                    <a:pt x="56" y="0"/>
                  </a:lnTo>
                  <a:lnTo>
                    <a:pt x="48" y="0"/>
                  </a:lnTo>
                  <a:lnTo>
                    <a:pt x="16" y="8"/>
                  </a:lnTo>
                  <a:lnTo>
                    <a:pt x="0" y="16"/>
                  </a:lnTo>
                  <a:lnTo>
                    <a:pt x="0" y="24"/>
                  </a:lnTo>
                  <a:lnTo>
                    <a:pt x="0"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73" name="Freeform 723"/>
            <p:cNvSpPr>
              <a:spLocks/>
            </p:cNvSpPr>
            <p:nvPr/>
          </p:nvSpPr>
          <p:spPr bwMode="auto">
            <a:xfrm>
              <a:off x="2810373" y="2754064"/>
              <a:ext cx="59777" cy="34653"/>
            </a:xfrm>
            <a:custGeom>
              <a:avLst/>
              <a:gdLst>
                <a:gd name="T0" fmla="*/ 2147483647 w 56"/>
                <a:gd name="T1" fmla="*/ 2147483647 h 32"/>
                <a:gd name="T2" fmla="*/ 2147483647 w 56"/>
                <a:gd name="T3" fmla="*/ 0 h 32"/>
                <a:gd name="T4" fmla="*/ 2147483647 w 56"/>
                <a:gd name="T5" fmla="*/ 0 h 32"/>
                <a:gd name="T6" fmla="*/ 2147483647 w 56"/>
                <a:gd name="T7" fmla="*/ 0 h 32"/>
                <a:gd name="T8" fmla="*/ 2147483647 w 56"/>
                <a:gd name="T9" fmla="*/ 0 h 32"/>
                <a:gd name="T10" fmla="*/ 0 w 56"/>
                <a:gd name="T11" fmla="*/ 2147483647 h 32"/>
                <a:gd name="T12" fmla="*/ 0 w 56"/>
                <a:gd name="T13" fmla="*/ 2147483647 h 32"/>
                <a:gd name="T14" fmla="*/ 2147483647 w 56"/>
                <a:gd name="T15" fmla="*/ 2147483647 h 32"/>
                <a:gd name="T16" fmla="*/ 2147483647 w 56"/>
                <a:gd name="T17" fmla="*/ 2147483647 h 32"/>
                <a:gd name="T18" fmla="*/ 2147483647 w 56"/>
                <a:gd name="T19" fmla="*/ 2147483647 h 32"/>
                <a:gd name="T20" fmla="*/ 2147483647 w 56"/>
                <a:gd name="T21" fmla="*/ 2147483647 h 32"/>
                <a:gd name="T22" fmla="*/ 2147483647 w 56"/>
                <a:gd name="T23" fmla="*/ 2147483647 h 32"/>
                <a:gd name="T24" fmla="*/ 2147483647 w 56"/>
                <a:gd name="T25" fmla="*/ 2147483647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
                <a:gd name="T40" fmla="*/ 0 h 32"/>
                <a:gd name="T41" fmla="*/ 56 w 56"/>
                <a:gd name="T42" fmla="*/ 32 h 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 h="32">
                  <a:moveTo>
                    <a:pt x="48" y="8"/>
                  </a:moveTo>
                  <a:lnTo>
                    <a:pt x="40" y="0"/>
                  </a:lnTo>
                  <a:lnTo>
                    <a:pt x="32" y="0"/>
                  </a:lnTo>
                  <a:lnTo>
                    <a:pt x="24" y="0"/>
                  </a:lnTo>
                  <a:lnTo>
                    <a:pt x="16" y="0"/>
                  </a:lnTo>
                  <a:lnTo>
                    <a:pt x="0" y="16"/>
                  </a:lnTo>
                  <a:lnTo>
                    <a:pt x="0" y="24"/>
                  </a:lnTo>
                  <a:lnTo>
                    <a:pt x="8" y="24"/>
                  </a:lnTo>
                  <a:lnTo>
                    <a:pt x="16" y="32"/>
                  </a:lnTo>
                  <a:lnTo>
                    <a:pt x="32" y="24"/>
                  </a:lnTo>
                  <a:lnTo>
                    <a:pt x="48" y="24"/>
                  </a:lnTo>
                  <a:lnTo>
                    <a:pt x="56" y="16"/>
                  </a:lnTo>
                  <a:lnTo>
                    <a:pt x="48"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74" name="Freeform 724"/>
            <p:cNvSpPr>
              <a:spLocks/>
            </p:cNvSpPr>
            <p:nvPr/>
          </p:nvSpPr>
          <p:spPr bwMode="auto">
            <a:xfrm>
              <a:off x="2836363" y="2534016"/>
              <a:ext cx="41584" cy="67574"/>
            </a:xfrm>
            <a:custGeom>
              <a:avLst/>
              <a:gdLst>
                <a:gd name="T0" fmla="*/ 2147483647 w 40"/>
                <a:gd name="T1" fmla="*/ 2147483647 h 64"/>
                <a:gd name="T2" fmla="*/ 2147483647 w 40"/>
                <a:gd name="T3" fmla="*/ 2147483647 h 64"/>
                <a:gd name="T4" fmla="*/ 2147483647 w 40"/>
                <a:gd name="T5" fmla="*/ 2147483647 h 64"/>
                <a:gd name="T6" fmla="*/ 2147483647 w 40"/>
                <a:gd name="T7" fmla="*/ 2147483647 h 64"/>
                <a:gd name="T8" fmla="*/ 2147483647 w 40"/>
                <a:gd name="T9" fmla="*/ 2147483647 h 64"/>
                <a:gd name="T10" fmla="*/ 2147483647 w 40"/>
                <a:gd name="T11" fmla="*/ 2147483647 h 64"/>
                <a:gd name="T12" fmla="*/ 2147483647 w 40"/>
                <a:gd name="T13" fmla="*/ 2147483647 h 64"/>
                <a:gd name="T14" fmla="*/ 2147483647 w 40"/>
                <a:gd name="T15" fmla="*/ 0 h 64"/>
                <a:gd name="T16" fmla="*/ 2147483647 w 40"/>
                <a:gd name="T17" fmla="*/ 2147483647 h 64"/>
                <a:gd name="T18" fmla="*/ 2147483647 w 40"/>
                <a:gd name="T19" fmla="*/ 2147483647 h 64"/>
                <a:gd name="T20" fmla="*/ 0 w 40"/>
                <a:gd name="T21" fmla="*/ 2147483647 h 64"/>
                <a:gd name="T22" fmla="*/ 0 w 40"/>
                <a:gd name="T23" fmla="*/ 2147483647 h 64"/>
                <a:gd name="T24" fmla="*/ 2147483647 w 40"/>
                <a:gd name="T25" fmla="*/ 2147483647 h 64"/>
                <a:gd name="T26" fmla="*/ 2147483647 w 40"/>
                <a:gd name="T27" fmla="*/ 2147483647 h 64"/>
                <a:gd name="T28" fmla="*/ 2147483647 w 40"/>
                <a:gd name="T29" fmla="*/ 2147483647 h 64"/>
                <a:gd name="T30" fmla="*/ 2147483647 w 40"/>
                <a:gd name="T31" fmla="*/ 2147483647 h 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0"/>
                <a:gd name="T49" fmla="*/ 0 h 64"/>
                <a:gd name="T50" fmla="*/ 40 w 40"/>
                <a:gd name="T51" fmla="*/ 64 h 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0" h="64">
                  <a:moveTo>
                    <a:pt x="24" y="64"/>
                  </a:moveTo>
                  <a:lnTo>
                    <a:pt x="24" y="48"/>
                  </a:lnTo>
                  <a:lnTo>
                    <a:pt x="24" y="32"/>
                  </a:lnTo>
                  <a:lnTo>
                    <a:pt x="32" y="32"/>
                  </a:lnTo>
                  <a:lnTo>
                    <a:pt x="40" y="24"/>
                  </a:lnTo>
                  <a:lnTo>
                    <a:pt x="32" y="24"/>
                  </a:lnTo>
                  <a:lnTo>
                    <a:pt x="32" y="16"/>
                  </a:lnTo>
                  <a:lnTo>
                    <a:pt x="32" y="0"/>
                  </a:lnTo>
                  <a:lnTo>
                    <a:pt x="16" y="8"/>
                  </a:lnTo>
                  <a:lnTo>
                    <a:pt x="8" y="8"/>
                  </a:lnTo>
                  <a:lnTo>
                    <a:pt x="0" y="24"/>
                  </a:lnTo>
                  <a:lnTo>
                    <a:pt x="0" y="40"/>
                  </a:lnTo>
                  <a:lnTo>
                    <a:pt x="8" y="48"/>
                  </a:lnTo>
                  <a:lnTo>
                    <a:pt x="16" y="64"/>
                  </a:lnTo>
                  <a:lnTo>
                    <a:pt x="16" y="56"/>
                  </a:lnTo>
                  <a:lnTo>
                    <a:pt x="24" y="6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75" name="Freeform 725"/>
            <p:cNvSpPr>
              <a:spLocks/>
            </p:cNvSpPr>
            <p:nvPr/>
          </p:nvSpPr>
          <p:spPr bwMode="auto">
            <a:xfrm>
              <a:off x="2767057" y="2669163"/>
              <a:ext cx="43316" cy="42450"/>
            </a:xfrm>
            <a:custGeom>
              <a:avLst/>
              <a:gdLst>
                <a:gd name="T0" fmla="*/ 2147483647 w 41"/>
                <a:gd name="T1" fmla="*/ 2147483647 h 40"/>
                <a:gd name="T2" fmla="*/ 2147483647 w 41"/>
                <a:gd name="T3" fmla="*/ 2147483647 h 40"/>
                <a:gd name="T4" fmla="*/ 2147483647 w 41"/>
                <a:gd name="T5" fmla="*/ 2147483647 h 40"/>
                <a:gd name="T6" fmla="*/ 2147483647 w 41"/>
                <a:gd name="T7" fmla="*/ 2147483647 h 40"/>
                <a:gd name="T8" fmla="*/ 2147483647 w 41"/>
                <a:gd name="T9" fmla="*/ 2147483647 h 40"/>
                <a:gd name="T10" fmla="*/ 2147483647 w 41"/>
                <a:gd name="T11" fmla="*/ 2147483647 h 40"/>
                <a:gd name="T12" fmla="*/ 2147483647 w 41"/>
                <a:gd name="T13" fmla="*/ 2147483647 h 40"/>
                <a:gd name="T14" fmla="*/ 2147483647 w 41"/>
                <a:gd name="T15" fmla="*/ 2147483647 h 40"/>
                <a:gd name="T16" fmla="*/ 2147483647 w 41"/>
                <a:gd name="T17" fmla="*/ 2147483647 h 40"/>
                <a:gd name="T18" fmla="*/ 2147483647 w 41"/>
                <a:gd name="T19" fmla="*/ 2147483647 h 40"/>
                <a:gd name="T20" fmla="*/ 2147483647 w 41"/>
                <a:gd name="T21" fmla="*/ 2147483647 h 40"/>
                <a:gd name="T22" fmla="*/ 2147483647 w 41"/>
                <a:gd name="T23" fmla="*/ 0 h 40"/>
                <a:gd name="T24" fmla="*/ 0 w 41"/>
                <a:gd name="T25" fmla="*/ 2147483647 h 40"/>
                <a:gd name="T26" fmla="*/ 0 w 41"/>
                <a:gd name="T27" fmla="*/ 2147483647 h 40"/>
                <a:gd name="T28" fmla="*/ 2147483647 w 41"/>
                <a:gd name="T29" fmla="*/ 2147483647 h 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
                <a:gd name="T46" fmla="*/ 0 h 40"/>
                <a:gd name="T47" fmla="*/ 41 w 41"/>
                <a:gd name="T48" fmla="*/ 40 h 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 h="40">
                  <a:moveTo>
                    <a:pt x="8" y="24"/>
                  </a:moveTo>
                  <a:lnTo>
                    <a:pt x="16" y="32"/>
                  </a:lnTo>
                  <a:lnTo>
                    <a:pt x="24" y="32"/>
                  </a:lnTo>
                  <a:lnTo>
                    <a:pt x="32" y="40"/>
                  </a:lnTo>
                  <a:lnTo>
                    <a:pt x="41" y="32"/>
                  </a:lnTo>
                  <a:lnTo>
                    <a:pt x="41" y="24"/>
                  </a:lnTo>
                  <a:lnTo>
                    <a:pt x="41" y="16"/>
                  </a:lnTo>
                  <a:lnTo>
                    <a:pt x="32" y="16"/>
                  </a:lnTo>
                  <a:lnTo>
                    <a:pt x="32" y="8"/>
                  </a:lnTo>
                  <a:lnTo>
                    <a:pt x="24" y="8"/>
                  </a:lnTo>
                  <a:lnTo>
                    <a:pt x="16" y="8"/>
                  </a:lnTo>
                  <a:lnTo>
                    <a:pt x="8" y="0"/>
                  </a:lnTo>
                  <a:lnTo>
                    <a:pt x="0" y="8"/>
                  </a:lnTo>
                  <a:lnTo>
                    <a:pt x="0" y="16"/>
                  </a:lnTo>
                  <a:lnTo>
                    <a:pt x="8"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76" name="Freeform 726"/>
            <p:cNvSpPr>
              <a:spLocks/>
            </p:cNvSpPr>
            <p:nvPr/>
          </p:nvSpPr>
          <p:spPr bwMode="auto">
            <a:xfrm>
              <a:off x="2810373" y="2754064"/>
              <a:ext cx="59777" cy="34653"/>
            </a:xfrm>
            <a:custGeom>
              <a:avLst/>
              <a:gdLst>
                <a:gd name="T0" fmla="*/ 2147483647 w 56"/>
                <a:gd name="T1" fmla="*/ 2147483647 h 32"/>
                <a:gd name="T2" fmla="*/ 2147483647 w 56"/>
                <a:gd name="T3" fmla="*/ 0 h 32"/>
                <a:gd name="T4" fmla="*/ 2147483647 w 56"/>
                <a:gd name="T5" fmla="*/ 0 h 32"/>
                <a:gd name="T6" fmla="*/ 2147483647 w 56"/>
                <a:gd name="T7" fmla="*/ 0 h 32"/>
                <a:gd name="T8" fmla="*/ 2147483647 w 56"/>
                <a:gd name="T9" fmla="*/ 0 h 32"/>
                <a:gd name="T10" fmla="*/ 2147483647 w 56"/>
                <a:gd name="T11" fmla="*/ 0 h 32"/>
                <a:gd name="T12" fmla="*/ 2147483647 w 56"/>
                <a:gd name="T13" fmla="*/ 0 h 32"/>
                <a:gd name="T14" fmla="*/ 0 w 56"/>
                <a:gd name="T15" fmla="*/ 2147483647 h 32"/>
                <a:gd name="T16" fmla="*/ 0 w 56"/>
                <a:gd name="T17" fmla="*/ 2147483647 h 32"/>
                <a:gd name="T18" fmla="*/ 2147483647 w 56"/>
                <a:gd name="T19" fmla="*/ 2147483647 h 32"/>
                <a:gd name="T20" fmla="*/ 2147483647 w 56"/>
                <a:gd name="T21" fmla="*/ 2147483647 h 32"/>
                <a:gd name="T22" fmla="*/ 2147483647 w 56"/>
                <a:gd name="T23" fmla="*/ 2147483647 h 32"/>
                <a:gd name="T24" fmla="*/ 2147483647 w 56"/>
                <a:gd name="T25" fmla="*/ 2147483647 h 32"/>
                <a:gd name="T26" fmla="*/ 2147483647 w 56"/>
                <a:gd name="T27" fmla="*/ 2147483647 h 32"/>
                <a:gd name="T28" fmla="*/ 2147483647 w 56"/>
                <a:gd name="T29" fmla="*/ 2147483647 h 32"/>
                <a:gd name="T30" fmla="*/ 2147483647 w 56"/>
                <a:gd name="T31" fmla="*/ 2147483647 h 32"/>
                <a:gd name="T32" fmla="*/ 2147483647 w 56"/>
                <a:gd name="T33" fmla="*/ 2147483647 h 32"/>
                <a:gd name="T34" fmla="*/ 2147483647 w 56"/>
                <a:gd name="T35" fmla="*/ 2147483647 h 32"/>
                <a:gd name="T36" fmla="*/ 2147483647 w 56"/>
                <a:gd name="T37" fmla="*/ 2147483647 h 32"/>
                <a:gd name="T38" fmla="*/ 2147483647 w 56"/>
                <a:gd name="T39" fmla="*/ 2147483647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6"/>
                <a:gd name="T61" fmla="*/ 0 h 32"/>
                <a:gd name="T62" fmla="*/ 56 w 56"/>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6" h="32">
                  <a:moveTo>
                    <a:pt x="48" y="8"/>
                  </a:moveTo>
                  <a:lnTo>
                    <a:pt x="40" y="0"/>
                  </a:lnTo>
                  <a:lnTo>
                    <a:pt x="32" y="0"/>
                  </a:lnTo>
                  <a:lnTo>
                    <a:pt x="24" y="0"/>
                  </a:lnTo>
                  <a:lnTo>
                    <a:pt x="16" y="0"/>
                  </a:lnTo>
                  <a:lnTo>
                    <a:pt x="0" y="16"/>
                  </a:lnTo>
                  <a:lnTo>
                    <a:pt x="0" y="24"/>
                  </a:lnTo>
                  <a:lnTo>
                    <a:pt x="8" y="24"/>
                  </a:lnTo>
                  <a:lnTo>
                    <a:pt x="16" y="32"/>
                  </a:lnTo>
                  <a:lnTo>
                    <a:pt x="32" y="24"/>
                  </a:lnTo>
                  <a:lnTo>
                    <a:pt x="48" y="24"/>
                  </a:lnTo>
                  <a:lnTo>
                    <a:pt x="56" y="16"/>
                  </a:lnTo>
                  <a:lnTo>
                    <a:pt x="48"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77" name="Freeform 727"/>
            <p:cNvSpPr>
              <a:spLocks/>
            </p:cNvSpPr>
            <p:nvPr/>
          </p:nvSpPr>
          <p:spPr bwMode="auto">
            <a:xfrm>
              <a:off x="2767057" y="2669163"/>
              <a:ext cx="43316" cy="42450"/>
            </a:xfrm>
            <a:custGeom>
              <a:avLst/>
              <a:gdLst>
                <a:gd name="T0" fmla="*/ 2147483647 w 41"/>
                <a:gd name="T1" fmla="*/ 2147483647 h 40"/>
                <a:gd name="T2" fmla="*/ 2147483647 w 41"/>
                <a:gd name="T3" fmla="*/ 2147483647 h 40"/>
                <a:gd name="T4" fmla="*/ 2147483647 w 41"/>
                <a:gd name="T5" fmla="*/ 2147483647 h 40"/>
                <a:gd name="T6" fmla="*/ 2147483647 w 41"/>
                <a:gd name="T7" fmla="*/ 2147483647 h 40"/>
                <a:gd name="T8" fmla="*/ 2147483647 w 41"/>
                <a:gd name="T9" fmla="*/ 2147483647 h 40"/>
                <a:gd name="T10" fmla="*/ 2147483647 w 41"/>
                <a:gd name="T11" fmla="*/ 2147483647 h 40"/>
                <a:gd name="T12" fmla="*/ 2147483647 w 41"/>
                <a:gd name="T13" fmla="*/ 2147483647 h 40"/>
                <a:gd name="T14" fmla="*/ 2147483647 w 41"/>
                <a:gd name="T15" fmla="*/ 2147483647 h 40"/>
                <a:gd name="T16" fmla="*/ 2147483647 w 41"/>
                <a:gd name="T17" fmla="*/ 2147483647 h 40"/>
                <a:gd name="T18" fmla="*/ 2147483647 w 41"/>
                <a:gd name="T19" fmla="*/ 2147483647 h 40"/>
                <a:gd name="T20" fmla="*/ 2147483647 w 41"/>
                <a:gd name="T21" fmla="*/ 2147483647 h 40"/>
                <a:gd name="T22" fmla="*/ 2147483647 w 41"/>
                <a:gd name="T23" fmla="*/ 2147483647 h 40"/>
                <a:gd name="T24" fmla="*/ 2147483647 w 41"/>
                <a:gd name="T25" fmla="*/ 2147483647 h 40"/>
                <a:gd name="T26" fmla="*/ 2147483647 w 41"/>
                <a:gd name="T27" fmla="*/ 0 h 40"/>
                <a:gd name="T28" fmla="*/ 0 w 41"/>
                <a:gd name="T29" fmla="*/ 2147483647 h 40"/>
                <a:gd name="T30" fmla="*/ 0 w 41"/>
                <a:gd name="T31" fmla="*/ 2147483647 h 40"/>
                <a:gd name="T32" fmla="*/ 0 w 41"/>
                <a:gd name="T33" fmla="*/ 2147483647 h 40"/>
                <a:gd name="T34" fmla="*/ 2147483647 w 41"/>
                <a:gd name="T35" fmla="*/ 2147483647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40"/>
                <a:gd name="T56" fmla="*/ 41 w 41"/>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40">
                  <a:moveTo>
                    <a:pt x="8" y="24"/>
                  </a:moveTo>
                  <a:lnTo>
                    <a:pt x="16" y="32"/>
                  </a:lnTo>
                  <a:lnTo>
                    <a:pt x="24" y="32"/>
                  </a:lnTo>
                  <a:lnTo>
                    <a:pt x="32" y="40"/>
                  </a:lnTo>
                  <a:lnTo>
                    <a:pt x="41" y="32"/>
                  </a:lnTo>
                  <a:lnTo>
                    <a:pt x="41" y="24"/>
                  </a:lnTo>
                  <a:lnTo>
                    <a:pt x="41" y="16"/>
                  </a:lnTo>
                  <a:lnTo>
                    <a:pt x="32" y="16"/>
                  </a:lnTo>
                  <a:lnTo>
                    <a:pt x="32" y="8"/>
                  </a:lnTo>
                  <a:lnTo>
                    <a:pt x="24" y="8"/>
                  </a:lnTo>
                  <a:lnTo>
                    <a:pt x="16" y="8"/>
                  </a:lnTo>
                  <a:lnTo>
                    <a:pt x="8" y="0"/>
                  </a:lnTo>
                  <a:lnTo>
                    <a:pt x="0" y="8"/>
                  </a:lnTo>
                  <a:lnTo>
                    <a:pt x="0" y="16"/>
                  </a:lnTo>
                  <a:lnTo>
                    <a:pt x="8"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78" name="Freeform 728"/>
            <p:cNvSpPr>
              <a:spLocks/>
            </p:cNvSpPr>
            <p:nvPr/>
          </p:nvSpPr>
          <p:spPr bwMode="auto">
            <a:xfrm>
              <a:off x="2733270" y="3152575"/>
              <a:ext cx="213117" cy="161137"/>
            </a:xfrm>
            <a:custGeom>
              <a:avLst/>
              <a:gdLst>
                <a:gd name="T0" fmla="*/ 2147483647 w 201"/>
                <a:gd name="T1" fmla="*/ 2147483647 h 152"/>
                <a:gd name="T2" fmla="*/ 2147483647 w 201"/>
                <a:gd name="T3" fmla="*/ 2147483647 h 152"/>
                <a:gd name="T4" fmla="*/ 2147483647 w 201"/>
                <a:gd name="T5" fmla="*/ 2147483647 h 152"/>
                <a:gd name="T6" fmla="*/ 2147483647 w 201"/>
                <a:gd name="T7" fmla="*/ 2147483647 h 152"/>
                <a:gd name="T8" fmla="*/ 2147483647 w 201"/>
                <a:gd name="T9" fmla="*/ 2147483647 h 152"/>
                <a:gd name="T10" fmla="*/ 2147483647 w 201"/>
                <a:gd name="T11" fmla="*/ 2147483647 h 152"/>
                <a:gd name="T12" fmla="*/ 2147483647 w 201"/>
                <a:gd name="T13" fmla="*/ 2147483647 h 152"/>
                <a:gd name="T14" fmla="*/ 2147483647 w 201"/>
                <a:gd name="T15" fmla="*/ 2147483647 h 152"/>
                <a:gd name="T16" fmla="*/ 2147483647 w 201"/>
                <a:gd name="T17" fmla="*/ 2147483647 h 152"/>
                <a:gd name="T18" fmla="*/ 2147483647 w 201"/>
                <a:gd name="T19" fmla="*/ 2147483647 h 152"/>
                <a:gd name="T20" fmla="*/ 2147483647 w 201"/>
                <a:gd name="T21" fmla="*/ 2147483647 h 152"/>
                <a:gd name="T22" fmla="*/ 2147483647 w 201"/>
                <a:gd name="T23" fmla="*/ 2147483647 h 152"/>
                <a:gd name="T24" fmla="*/ 2147483647 w 201"/>
                <a:gd name="T25" fmla="*/ 2147483647 h 152"/>
                <a:gd name="T26" fmla="*/ 2147483647 w 201"/>
                <a:gd name="T27" fmla="*/ 0 h 152"/>
                <a:gd name="T28" fmla="*/ 2147483647 w 201"/>
                <a:gd name="T29" fmla="*/ 2147483647 h 152"/>
                <a:gd name="T30" fmla="*/ 2147483647 w 201"/>
                <a:gd name="T31" fmla="*/ 2147483647 h 152"/>
                <a:gd name="T32" fmla="*/ 2147483647 w 201"/>
                <a:gd name="T33" fmla="*/ 2147483647 h 152"/>
                <a:gd name="T34" fmla="*/ 2147483647 w 201"/>
                <a:gd name="T35" fmla="*/ 2147483647 h 152"/>
                <a:gd name="T36" fmla="*/ 2147483647 w 201"/>
                <a:gd name="T37" fmla="*/ 2147483647 h 152"/>
                <a:gd name="T38" fmla="*/ 0 w 201"/>
                <a:gd name="T39" fmla="*/ 2147483647 h 152"/>
                <a:gd name="T40" fmla="*/ 2147483647 w 201"/>
                <a:gd name="T41" fmla="*/ 2147483647 h 152"/>
                <a:gd name="T42" fmla="*/ 2147483647 w 201"/>
                <a:gd name="T43" fmla="*/ 2147483647 h 152"/>
                <a:gd name="T44" fmla="*/ 2147483647 w 201"/>
                <a:gd name="T45" fmla="*/ 2147483647 h 152"/>
                <a:gd name="T46" fmla="*/ 2147483647 w 201"/>
                <a:gd name="T47" fmla="*/ 2147483647 h 15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1"/>
                <a:gd name="T73" fmla="*/ 0 h 152"/>
                <a:gd name="T74" fmla="*/ 201 w 201"/>
                <a:gd name="T75" fmla="*/ 152 h 15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1" h="152">
                  <a:moveTo>
                    <a:pt x="40" y="152"/>
                  </a:moveTo>
                  <a:lnTo>
                    <a:pt x="48" y="136"/>
                  </a:lnTo>
                  <a:lnTo>
                    <a:pt x="64" y="136"/>
                  </a:lnTo>
                  <a:lnTo>
                    <a:pt x="89" y="144"/>
                  </a:lnTo>
                  <a:lnTo>
                    <a:pt x="105" y="136"/>
                  </a:lnTo>
                  <a:lnTo>
                    <a:pt x="129" y="136"/>
                  </a:lnTo>
                  <a:lnTo>
                    <a:pt x="153" y="136"/>
                  </a:lnTo>
                  <a:lnTo>
                    <a:pt x="169" y="120"/>
                  </a:lnTo>
                  <a:lnTo>
                    <a:pt x="193" y="96"/>
                  </a:lnTo>
                  <a:lnTo>
                    <a:pt x="201" y="48"/>
                  </a:lnTo>
                  <a:lnTo>
                    <a:pt x="193" y="40"/>
                  </a:lnTo>
                  <a:lnTo>
                    <a:pt x="185" y="16"/>
                  </a:lnTo>
                  <a:lnTo>
                    <a:pt x="177" y="8"/>
                  </a:lnTo>
                  <a:lnTo>
                    <a:pt x="145" y="0"/>
                  </a:lnTo>
                  <a:lnTo>
                    <a:pt x="73" y="48"/>
                  </a:lnTo>
                  <a:lnTo>
                    <a:pt x="48" y="64"/>
                  </a:lnTo>
                  <a:lnTo>
                    <a:pt x="48" y="96"/>
                  </a:lnTo>
                  <a:lnTo>
                    <a:pt x="40" y="112"/>
                  </a:lnTo>
                  <a:lnTo>
                    <a:pt x="16" y="112"/>
                  </a:lnTo>
                  <a:lnTo>
                    <a:pt x="0" y="112"/>
                  </a:lnTo>
                  <a:lnTo>
                    <a:pt x="8" y="128"/>
                  </a:lnTo>
                  <a:lnTo>
                    <a:pt x="24" y="144"/>
                  </a:lnTo>
                  <a:lnTo>
                    <a:pt x="32" y="144"/>
                  </a:lnTo>
                  <a:lnTo>
                    <a:pt x="40" y="15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79" name="Freeform 729"/>
            <p:cNvSpPr>
              <a:spLocks/>
            </p:cNvSpPr>
            <p:nvPr/>
          </p:nvSpPr>
          <p:spPr bwMode="auto">
            <a:xfrm>
              <a:off x="2563469" y="3136115"/>
              <a:ext cx="220914" cy="203587"/>
            </a:xfrm>
            <a:custGeom>
              <a:avLst/>
              <a:gdLst>
                <a:gd name="T0" fmla="*/ 2147483647 w 208"/>
                <a:gd name="T1" fmla="*/ 2147483647 h 192"/>
                <a:gd name="T2" fmla="*/ 2147483647 w 208"/>
                <a:gd name="T3" fmla="*/ 2147483647 h 192"/>
                <a:gd name="T4" fmla="*/ 2147483647 w 208"/>
                <a:gd name="T5" fmla="*/ 2147483647 h 192"/>
                <a:gd name="T6" fmla="*/ 2147483647 w 208"/>
                <a:gd name="T7" fmla="*/ 2147483647 h 192"/>
                <a:gd name="T8" fmla="*/ 2147483647 w 208"/>
                <a:gd name="T9" fmla="*/ 2147483647 h 192"/>
                <a:gd name="T10" fmla="*/ 2147483647 w 208"/>
                <a:gd name="T11" fmla="*/ 2147483647 h 192"/>
                <a:gd name="T12" fmla="*/ 2147483647 w 208"/>
                <a:gd name="T13" fmla="*/ 2147483647 h 192"/>
                <a:gd name="T14" fmla="*/ 2147483647 w 208"/>
                <a:gd name="T15" fmla="*/ 2147483647 h 192"/>
                <a:gd name="T16" fmla="*/ 2147483647 w 208"/>
                <a:gd name="T17" fmla="*/ 2147483647 h 192"/>
                <a:gd name="T18" fmla="*/ 2147483647 w 208"/>
                <a:gd name="T19" fmla="*/ 2147483647 h 192"/>
                <a:gd name="T20" fmla="*/ 2147483647 w 208"/>
                <a:gd name="T21" fmla="*/ 2147483647 h 192"/>
                <a:gd name="T22" fmla="*/ 2147483647 w 208"/>
                <a:gd name="T23" fmla="*/ 0 h 192"/>
                <a:gd name="T24" fmla="*/ 2147483647 w 208"/>
                <a:gd name="T25" fmla="*/ 0 h 192"/>
                <a:gd name="T26" fmla="*/ 2147483647 w 208"/>
                <a:gd name="T27" fmla="*/ 2147483647 h 192"/>
                <a:gd name="T28" fmla="*/ 2147483647 w 208"/>
                <a:gd name="T29" fmla="*/ 2147483647 h 192"/>
                <a:gd name="T30" fmla="*/ 2147483647 w 208"/>
                <a:gd name="T31" fmla="*/ 2147483647 h 192"/>
                <a:gd name="T32" fmla="*/ 2147483647 w 208"/>
                <a:gd name="T33" fmla="*/ 2147483647 h 192"/>
                <a:gd name="T34" fmla="*/ 2147483647 w 208"/>
                <a:gd name="T35" fmla="*/ 2147483647 h 192"/>
                <a:gd name="T36" fmla="*/ 0 w 208"/>
                <a:gd name="T37" fmla="*/ 2147483647 h 192"/>
                <a:gd name="T38" fmla="*/ 2147483647 w 208"/>
                <a:gd name="T39" fmla="*/ 2147483647 h 192"/>
                <a:gd name="T40" fmla="*/ 2147483647 w 208"/>
                <a:gd name="T41" fmla="*/ 2147483647 h 192"/>
                <a:gd name="T42" fmla="*/ 2147483647 w 208"/>
                <a:gd name="T43" fmla="*/ 2147483647 h 192"/>
                <a:gd name="T44" fmla="*/ 2147483647 w 208"/>
                <a:gd name="T45" fmla="*/ 2147483647 h 192"/>
                <a:gd name="T46" fmla="*/ 2147483647 w 208"/>
                <a:gd name="T47" fmla="*/ 2147483647 h 192"/>
                <a:gd name="T48" fmla="*/ 2147483647 w 208"/>
                <a:gd name="T49" fmla="*/ 2147483647 h 192"/>
                <a:gd name="T50" fmla="*/ 2147483647 w 208"/>
                <a:gd name="T51" fmla="*/ 2147483647 h 192"/>
                <a:gd name="T52" fmla="*/ 2147483647 w 208"/>
                <a:gd name="T53" fmla="*/ 2147483647 h 192"/>
                <a:gd name="T54" fmla="*/ 2147483647 w 208"/>
                <a:gd name="T55" fmla="*/ 2147483647 h 192"/>
                <a:gd name="T56" fmla="*/ 2147483647 w 208"/>
                <a:gd name="T57" fmla="*/ 2147483647 h 192"/>
                <a:gd name="T58" fmla="*/ 2147483647 w 208"/>
                <a:gd name="T59" fmla="*/ 2147483647 h 192"/>
                <a:gd name="T60" fmla="*/ 2147483647 w 208"/>
                <a:gd name="T61" fmla="*/ 2147483647 h 192"/>
                <a:gd name="T62" fmla="*/ 2147483647 w 208"/>
                <a:gd name="T63" fmla="*/ 2147483647 h 192"/>
                <a:gd name="T64" fmla="*/ 2147483647 w 208"/>
                <a:gd name="T65" fmla="*/ 2147483647 h 1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8"/>
                <a:gd name="T100" fmla="*/ 0 h 192"/>
                <a:gd name="T101" fmla="*/ 208 w 208"/>
                <a:gd name="T102" fmla="*/ 192 h 1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8" h="192">
                  <a:moveTo>
                    <a:pt x="96" y="176"/>
                  </a:moveTo>
                  <a:lnTo>
                    <a:pt x="112" y="160"/>
                  </a:lnTo>
                  <a:lnTo>
                    <a:pt x="128" y="144"/>
                  </a:lnTo>
                  <a:lnTo>
                    <a:pt x="152" y="128"/>
                  </a:lnTo>
                  <a:lnTo>
                    <a:pt x="160" y="128"/>
                  </a:lnTo>
                  <a:lnTo>
                    <a:pt x="176" y="128"/>
                  </a:lnTo>
                  <a:lnTo>
                    <a:pt x="200" y="128"/>
                  </a:lnTo>
                  <a:lnTo>
                    <a:pt x="208" y="112"/>
                  </a:lnTo>
                  <a:lnTo>
                    <a:pt x="208" y="80"/>
                  </a:lnTo>
                  <a:lnTo>
                    <a:pt x="200" y="80"/>
                  </a:lnTo>
                  <a:lnTo>
                    <a:pt x="192" y="72"/>
                  </a:lnTo>
                  <a:lnTo>
                    <a:pt x="88" y="0"/>
                  </a:lnTo>
                  <a:lnTo>
                    <a:pt x="72" y="0"/>
                  </a:lnTo>
                  <a:lnTo>
                    <a:pt x="88" y="112"/>
                  </a:lnTo>
                  <a:lnTo>
                    <a:pt x="96" y="120"/>
                  </a:lnTo>
                  <a:lnTo>
                    <a:pt x="80" y="128"/>
                  </a:lnTo>
                  <a:lnTo>
                    <a:pt x="24" y="128"/>
                  </a:lnTo>
                  <a:lnTo>
                    <a:pt x="16" y="120"/>
                  </a:lnTo>
                  <a:lnTo>
                    <a:pt x="0" y="136"/>
                  </a:lnTo>
                  <a:lnTo>
                    <a:pt x="8" y="152"/>
                  </a:lnTo>
                  <a:lnTo>
                    <a:pt x="16" y="168"/>
                  </a:lnTo>
                  <a:lnTo>
                    <a:pt x="8" y="168"/>
                  </a:lnTo>
                  <a:lnTo>
                    <a:pt x="24" y="168"/>
                  </a:lnTo>
                  <a:lnTo>
                    <a:pt x="40" y="168"/>
                  </a:lnTo>
                  <a:lnTo>
                    <a:pt x="48" y="176"/>
                  </a:lnTo>
                  <a:lnTo>
                    <a:pt x="56" y="192"/>
                  </a:lnTo>
                  <a:lnTo>
                    <a:pt x="64" y="192"/>
                  </a:lnTo>
                  <a:lnTo>
                    <a:pt x="72" y="192"/>
                  </a:lnTo>
                  <a:lnTo>
                    <a:pt x="80" y="192"/>
                  </a:lnTo>
                  <a:lnTo>
                    <a:pt x="88" y="192"/>
                  </a:lnTo>
                  <a:lnTo>
                    <a:pt x="96" y="192"/>
                  </a:lnTo>
                  <a:lnTo>
                    <a:pt x="96" y="184"/>
                  </a:lnTo>
                  <a:lnTo>
                    <a:pt x="96" y="17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80" name="Freeform 730"/>
            <p:cNvSpPr>
              <a:spLocks/>
            </p:cNvSpPr>
            <p:nvPr/>
          </p:nvSpPr>
          <p:spPr bwMode="auto">
            <a:xfrm>
              <a:off x="3285122" y="3322376"/>
              <a:ext cx="127351" cy="178464"/>
            </a:xfrm>
            <a:custGeom>
              <a:avLst/>
              <a:gdLst>
                <a:gd name="T0" fmla="*/ 2147483647 w 120"/>
                <a:gd name="T1" fmla="*/ 2147483647 h 168"/>
                <a:gd name="T2" fmla="*/ 2147483647 w 120"/>
                <a:gd name="T3" fmla="*/ 2147483647 h 168"/>
                <a:gd name="T4" fmla="*/ 2147483647 w 120"/>
                <a:gd name="T5" fmla="*/ 2147483647 h 168"/>
                <a:gd name="T6" fmla="*/ 2147483647 w 120"/>
                <a:gd name="T7" fmla="*/ 2147483647 h 168"/>
                <a:gd name="T8" fmla="*/ 2147483647 w 120"/>
                <a:gd name="T9" fmla="*/ 2147483647 h 168"/>
                <a:gd name="T10" fmla="*/ 2147483647 w 120"/>
                <a:gd name="T11" fmla="*/ 2147483647 h 168"/>
                <a:gd name="T12" fmla="*/ 2147483647 w 120"/>
                <a:gd name="T13" fmla="*/ 2147483647 h 168"/>
                <a:gd name="T14" fmla="*/ 2147483647 w 120"/>
                <a:gd name="T15" fmla="*/ 2147483647 h 168"/>
                <a:gd name="T16" fmla="*/ 2147483647 w 120"/>
                <a:gd name="T17" fmla="*/ 2147483647 h 168"/>
                <a:gd name="T18" fmla="*/ 2147483647 w 120"/>
                <a:gd name="T19" fmla="*/ 2147483647 h 168"/>
                <a:gd name="T20" fmla="*/ 2147483647 w 120"/>
                <a:gd name="T21" fmla="*/ 2147483647 h 168"/>
                <a:gd name="T22" fmla="*/ 2147483647 w 120"/>
                <a:gd name="T23" fmla="*/ 2147483647 h 168"/>
                <a:gd name="T24" fmla="*/ 0 w 120"/>
                <a:gd name="T25" fmla="*/ 2147483647 h 168"/>
                <a:gd name="T26" fmla="*/ 0 w 120"/>
                <a:gd name="T27" fmla="*/ 2147483647 h 168"/>
                <a:gd name="T28" fmla="*/ 2147483647 w 120"/>
                <a:gd name="T29" fmla="*/ 2147483647 h 168"/>
                <a:gd name="T30" fmla="*/ 2147483647 w 120"/>
                <a:gd name="T31" fmla="*/ 2147483647 h 168"/>
                <a:gd name="T32" fmla="*/ 2147483647 w 120"/>
                <a:gd name="T33" fmla="*/ 2147483647 h 168"/>
                <a:gd name="T34" fmla="*/ 2147483647 w 120"/>
                <a:gd name="T35" fmla="*/ 2147483647 h 168"/>
                <a:gd name="T36" fmla="*/ 2147483647 w 120"/>
                <a:gd name="T37" fmla="*/ 2147483647 h 168"/>
                <a:gd name="T38" fmla="*/ 2147483647 w 120"/>
                <a:gd name="T39" fmla="*/ 0 h 168"/>
                <a:gd name="T40" fmla="*/ 2147483647 w 120"/>
                <a:gd name="T41" fmla="*/ 2147483647 h 1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0"/>
                <a:gd name="T64" fmla="*/ 0 h 168"/>
                <a:gd name="T65" fmla="*/ 120 w 120"/>
                <a:gd name="T66" fmla="*/ 168 h 1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0" h="168">
                  <a:moveTo>
                    <a:pt x="48" y="16"/>
                  </a:moveTo>
                  <a:lnTo>
                    <a:pt x="32" y="8"/>
                  </a:lnTo>
                  <a:lnTo>
                    <a:pt x="16" y="16"/>
                  </a:lnTo>
                  <a:lnTo>
                    <a:pt x="24" y="24"/>
                  </a:lnTo>
                  <a:lnTo>
                    <a:pt x="56" y="40"/>
                  </a:lnTo>
                  <a:lnTo>
                    <a:pt x="80" y="48"/>
                  </a:lnTo>
                  <a:lnTo>
                    <a:pt x="48" y="80"/>
                  </a:lnTo>
                  <a:lnTo>
                    <a:pt x="24" y="88"/>
                  </a:lnTo>
                  <a:lnTo>
                    <a:pt x="8" y="96"/>
                  </a:lnTo>
                  <a:lnTo>
                    <a:pt x="16" y="104"/>
                  </a:lnTo>
                  <a:lnTo>
                    <a:pt x="8" y="96"/>
                  </a:lnTo>
                  <a:lnTo>
                    <a:pt x="8" y="104"/>
                  </a:lnTo>
                  <a:lnTo>
                    <a:pt x="0" y="112"/>
                  </a:lnTo>
                  <a:lnTo>
                    <a:pt x="0" y="152"/>
                  </a:lnTo>
                  <a:lnTo>
                    <a:pt x="8" y="168"/>
                  </a:lnTo>
                  <a:lnTo>
                    <a:pt x="24" y="136"/>
                  </a:lnTo>
                  <a:lnTo>
                    <a:pt x="56" y="120"/>
                  </a:lnTo>
                  <a:lnTo>
                    <a:pt x="88" y="88"/>
                  </a:lnTo>
                  <a:lnTo>
                    <a:pt x="112" y="32"/>
                  </a:lnTo>
                  <a:lnTo>
                    <a:pt x="120" y="0"/>
                  </a:lnTo>
                  <a:lnTo>
                    <a:pt x="48"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81" name="Freeform 731"/>
            <p:cNvSpPr>
              <a:spLocks/>
            </p:cNvSpPr>
            <p:nvPr/>
          </p:nvSpPr>
          <p:spPr bwMode="auto">
            <a:xfrm>
              <a:off x="2733270" y="3152575"/>
              <a:ext cx="213117" cy="161137"/>
            </a:xfrm>
            <a:custGeom>
              <a:avLst/>
              <a:gdLst>
                <a:gd name="T0" fmla="*/ 2147483647 w 201"/>
                <a:gd name="T1" fmla="*/ 2147483647 h 152"/>
                <a:gd name="T2" fmla="*/ 2147483647 w 201"/>
                <a:gd name="T3" fmla="*/ 2147483647 h 152"/>
                <a:gd name="T4" fmla="*/ 2147483647 w 201"/>
                <a:gd name="T5" fmla="*/ 2147483647 h 152"/>
                <a:gd name="T6" fmla="*/ 2147483647 w 201"/>
                <a:gd name="T7" fmla="*/ 2147483647 h 152"/>
                <a:gd name="T8" fmla="*/ 2147483647 w 201"/>
                <a:gd name="T9" fmla="*/ 2147483647 h 152"/>
                <a:gd name="T10" fmla="*/ 2147483647 w 201"/>
                <a:gd name="T11" fmla="*/ 2147483647 h 152"/>
                <a:gd name="T12" fmla="*/ 2147483647 w 201"/>
                <a:gd name="T13" fmla="*/ 2147483647 h 152"/>
                <a:gd name="T14" fmla="*/ 2147483647 w 201"/>
                <a:gd name="T15" fmla="*/ 2147483647 h 152"/>
                <a:gd name="T16" fmla="*/ 2147483647 w 201"/>
                <a:gd name="T17" fmla="*/ 2147483647 h 152"/>
                <a:gd name="T18" fmla="*/ 2147483647 w 201"/>
                <a:gd name="T19" fmla="*/ 2147483647 h 152"/>
                <a:gd name="T20" fmla="*/ 2147483647 w 201"/>
                <a:gd name="T21" fmla="*/ 2147483647 h 152"/>
                <a:gd name="T22" fmla="*/ 2147483647 w 201"/>
                <a:gd name="T23" fmla="*/ 2147483647 h 152"/>
                <a:gd name="T24" fmla="*/ 2147483647 w 201"/>
                <a:gd name="T25" fmla="*/ 2147483647 h 152"/>
                <a:gd name="T26" fmla="*/ 2147483647 w 201"/>
                <a:gd name="T27" fmla="*/ 2147483647 h 152"/>
                <a:gd name="T28" fmla="*/ 2147483647 w 201"/>
                <a:gd name="T29" fmla="*/ 2147483647 h 152"/>
                <a:gd name="T30" fmla="*/ 2147483647 w 201"/>
                <a:gd name="T31" fmla="*/ 0 h 152"/>
                <a:gd name="T32" fmla="*/ 2147483647 w 201"/>
                <a:gd name="T33" fmla="*/ 2147483647 h 152"/>
                <a:gd name="T34" fmla="*/ 2147483647 w 201"/>
                <a:gd name="T35" fmla="*/ 2147483647 h 152"/>
                <a:gd name="T36" fmla="*/ 2147483647 w 201"/>
                <a:gd name="T37" fmla="*/ 2147483647 h 152"/>
                <a:gd name="T38" fmla="*/ 2147483647 w 201"/>
                <a:gd name="T39" fmla="*/ 2147483647 h 152"/>
                <a:gd name="T40" fmla="*/ 2147483647 w 201"/>
                <a:gd name="T41" fmla="*/ 2147483647 h 152"/>
                <a:gd name="T42" fmla="*/ 2147483647 w 201"/>
                <a:gd name="T43" fmla="*/ 2147483647 h 152"/>
                <a:gd name="T44" fmla="*/ 0 w 201"/>
                <a:gd name="T45" fmla="*/ 2147483647 h 152"/>
                <a:gd name="T46" fmla="*/ 2147483647 w 201"/>
                <a:gd name="T47" fmla="*/ 2147483647 h 152"/>
                <a:gd name="T48" fmla="*/ 2147483647 w 201"/>
                <a:gd name="T49" fmla="*/ 2147483647 h 152"/>
                <a:gd name="T50" fmla="*/ 2147483647 w 201"/>
                <a:gd name="T51" fmla="*/ 2147483647 h 152"/>
                <a:gd name="T52" fmla="*/ 2147483647 w 201"/>
                <a:gd name="T53" fmla="*/ 2147483647 h 152"/>
                <a:gd name="T54" fmla="*/ 2147483647 w 201"/>
                <a:gd name="T55" fmla="*/ 2147483647 h 152"/>
                <a:gd name="T56" fmla="*/ 2147483647 w 201"/>
                <a:gd name="T57" fmla="*/ 2147483647 h 152"/>
                <a:gd name="T58" fmla="*/ 2147483647 w 201"/>
                <a:gd name="T59" fmla="*/ 2147483647 h 152"/>
                <a:gd name="T60" fmla="*/ 2147483647 w 201"/>
                <a:gd name="T61" fmla="*/ 2147483647 h 152"/>
                <a:gd name="T62" fmla="*/ 2147483647 w 201"/>
                <a:gd name="T63" fmla="*/ 2147483647 h 152"/>
                <a:gd name="T64" fmla="*/ 2147483647 w 201"/>
                <a:gd name="T65" fmla="*/ 2147483647 h 152"/>
                <a:gd name="T66" fmla="*/ 2147483647 w 201"/>
                <a:gd name="T67" fmla="*/ 2147483647 h 152"/>
                <a:gd name="T68" fmla="*/ 2147483647 w 201"/>
                <a:gd name="T69" fmla="*/ 2147483647 h 152"/>
                <a:gd name="T70" fmla="*/ 2147483647 w 201"/>
                <a:gd name="T71" fmla="*/ 2147483647 h 152"/>
                <a:gd name="T72" fmla="*/ 2147483647 w 201"/>
                <a:gd name="T73" fmla="*/ 2147483647 h 152"/>
                <a:gd name="T74" fmla="*/ 2147483647 w 201"/>
                <a:gd name="T75" fmla="*/ 2147483647 h 152"/>
                <a:gd name="T76" fmla="*/ 2147483647 w 201"/>
                <a:gd name="T77" fmla="*/ 2147483647 h 152"/>
                <a:gd name="T78" fmla="*/ 2147483647 w 201"/>
                <a:gd name="T79" fmla="*/ 2147483647 h 152"/>
                <a:gd name="T80" fmla="*/ 2147483647 w 201"/>
                <a:gd name="T81" fmla="*/ 2147483647 h 152"/>
                <a:gd name="T82" fmla="*/ 2147483647 w 201"/>
                <a:gd name="T83" fmla="*/ 2147483647 h 152"/>
                <a:gd name="T84" fmla="*/ 2147483647 w 201"/>
                <a:gd name="T85" fmla="*/ 0 h 152"/>
                <a:gd name="T86" fmla="*/ 2147483647 w 201"/>
                <a:gd name="T87" fmla="*/ 2147483647 h 152"/>
                <a:gd name="T88" fmla="*/ 2147483647 w 201"/>
                <a:gd name="T89" fmla="*/ 2147483647 h 152"/>
                <a:gd name="T90" fmla="*/ 2147483647 w 201"/>
                <a:gd name="T91" fmla="*/ 2147483647 h 152"/>
                <a:gd name="T92" fmla="*/ 2147483647 w 201"/>
                <a:gd name="T93" fmla="*/ 2147483647 h 152"/>
                <a:gd name="T94" fmla="*/ 2147483647 w 201"/>
                <a:gd name="T95" fmla="*/ 2147483647 h 152"/>
                <a:gd name="T96" fmla="*/ 2147483647 w 201"/>
                <a:gd name="T97" fmla="*/ 2147483647 h 152"/>
                <a:gd name="T98" fmla="*/ 0 w 201"/>
                <a:gd name="T99" fmla="*/ 2147483647 h 152"/>
                <a:gd name="T100" fmla="*/ 2147483647 w 201"/>
                <a:gd name="T101" fmla="*/ 2147483647 h 152"/>
                <a:gd name="T102" fmla="*/ 2147483647 w 201"/>
                <a:gd name="T103" fmla="*/ 2147483647 h 152"/>
                <a:gd name="T104" fmla="*/ 2147483647 w 201"/>
                <a:gd name="T105" fmla="*/ 2147483647 h 152"/>
                <a:gd name="T106" fmla="*/ 2147483647 w 201"/>
                <a:gd name="T107" fmla="*/ 2147483647 h 152"/>
                <a:gd name="T108" fmla="*/ 2147483647 w 201"/>
                <a:gd name="T109" fmla="*/ 2147483647 h 1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01"/>
                <a:gd name="T166" fmla="*/ 0 h 152"/>
                <a:gd name="T167" fmla="*/ 201 w 201"/>
                <a:gd name="T168" fmla="*/ 152 h 15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01" h="152">
                  <a:moveTo>
                    <a:pt x="40" y="152"/>
                  </a:moveTo>
                  <a:lnTo>
                    <a:pt x="48" y="136"/>
                  </a:lnTo>
                  <a:lnTo>
                    <a:pt x="64" y="136"/>
                  </a:lnTo>
                  <a:lnTo>
                    <a:pt x="89" y="144"/>
                  </a:lnTo>
                  <a:lnTo>
                    <a:pt x="105" y="136"/>
                  </a:lnTo>
                  <a:lnTo>
                    <a:pt x="129" y="136"/>
                  </a:lnTo>
                  <a:lnTo>
                    <a:pt x="153" y="136"/>
                  </a:lnTo>
                  <a:lnTo>
                    <a:pt x="169" y="120"/>
                  </a:lnTo>
                  <a:lnTo>
                    <a:pt x="193" y="96"/>
                  </a:lnTo>
                  <a:lnTo>
                    <a:pt x="201" y="48"/>
                  </a:lnTo>
                  <a:lnTo>
                    <a:pt x="193" y="40"/>
                  </a:lnTo>
                  <a:lnTo>
                    <a:pt x="185" y="16"/>
                  </a:lnTo>
                  <a:lnTo>
                    <a:pt x="177" y="8"/>
                  </a:lnTo>
                  <a:lnTo>
                    <a:pt x="145" y="0"/>
                  </a:lnTo>
                  <a:lnTo>
                    <a:pt x="73" y="48"/>
                  </a:lnTo>
                  <a:lnTo>
                    <a:pt x="48" y="64"/>
                  </a:lnTo>
                  <a:lnTo>
                    <a:pt x="48" y="96"/>
                  </a:lnTo>
                  <a:lnTo>
                    <a:pt x="40" y="112"/>
                  </a:lnTo>
                  <a:lnTo>
                    <a:pt x="16" y="112"/>
                  </a:lnTo>
                  <a:lnTo>
                    <a:pt x="0" y="112"/>
                  </a:lnTo>
                  <a:lnTo>
                    <a:pt x="8" y="128"/>
                  </a:lnTo>
                  <a:lnTo>
                    <a:pt x="24" y="144"/>
                  </a:lnTo>
                  <a:lnTo>
                    <a:pt x="32" y="144"/>
                  </a:lnTo>
                  <a:lnTo>
                    <a:pt x="40" y="152"/>
                  </a:lnTo>
                  <a:lnTo>
                    <a:pt x="48" y="136"/>
                  </a:lnTo>
                  <a:lnTo>
                    <a:pt x="64" y="136"/>
                  </a:lnTo>
                  <a:lnTo>
                    <a:pt x="89" y="144"/>
                  </a:lnTo>
                  <a:lnTo>
                    <a:pt x="105" y="136"/>
                  </a:lnTo>
                  <a:lnTo>
                    <a:pt x="129" y="136"/>
                  </a:lnTo>
                  <a:lnTo>
                    <a:pt x="153" y="136"/>
                  </a:lnTo>
                  <a:lnTo>
                    <a:pt x="169" y="120"/>
                  </a:lnTo>
                  <a:lnTo>
                    <a:pt x="193" y="96"/>
                  </a:lnTo>
                  <a:lnTo>
                    <a:pt x="201" y="48"/>
                  </a:lnTo>
                  <a:lnTo>
                    <a:pt x="193" y="40"/>
                  </a:lnTo>
                  <a:lnTo>
                    <a:pt x="185" y="16"/>
                  </a:lnTo>
                  <a:lnTo>
                    <a:pt x="177" y="8"/>
                  </a:lnTo>
                  <a:lnTo>
                    <a:pt x="145" y="0"/>
                  </a:lnTo>
                  <a:lnTo>
                    <a:pt x="73" y="48"/>
                  </a:lnTo>
                  <a:lnTo>
                    <a:pt x="48" y="64"/>
                  </a:lnTo>
                  <a:lnTo>
                    <a:pt x="48" y="96"/>
                  </a:lnTo>
                  <a:lnTo>
                    <a:pt x="40" y="112"/>
                  </a:lnTo>
                  <a:lnTo>
                    <a:pt x="16" y="112"/>
                  </a:lnTo>
                  <a:lnTo>
                    <a:pt x="0" y="112"/>
                  </a:lnTo>
                  <a:lnTo>
                    <a:pt x="8" y="128"/>
                  </a:lnTo>
                  <a:lnTo>
                    <a:pt x="24" y="144"/>
                  </a:lnTo>
                  <a:lnTo>
                    <a:pt x="32" y="144"/>
                  </a:lnTo>
                  <a:lnTo>
                    <a:pt x="40" y="15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82" name="Freeform 732"/>
            <p:cNvSpPr>
              <a:spLocks/>
            </p:cNvSpPr>
            <p:nvPr/>
          </p:nvSpPr>
          <p:spPr bwMode="auto">
            <a:xfrm>
              <a:off x="3285122" y="3322376"/>
              <a:ext cx="127351" cy="178464"/>
            </a:xfrm>
            <a:custGeom>
              <a:avLst/>
              <a:gdLst>
                <a:gd name="T0" fmla="*/ 2147483647 w 120"/>
                <a:gd name="T1" fmla="*/ 2147483647 h 168"/>
                <a:gd name="T2" fmla="*/ 2147483647 w 120"/>
                <a:gd name="T3" fmla="*/ 2147483647 h 168"/>
                <a:gd name="T4" fmla="*/ 2147483647 w 120"/>
                <a:gd name="T5" fmla="*/ 2147483647 h 168"/>
                <a:gd name="T6" fmla="*/ 2147483647 w 120"/>
                <a:gd name="T7" fmla="*/ 2147483647 h 168"/>
                <a:gd name="T8" fmla="*/ 2147483647 w 120"/>
                <a:gd name="T9" fmla="*/ 2147483647 h 168"/>
                <a:gd name="T10" fmla="*/ 2147483647 w 120"/>
                <a:gd name="T11" fmla="*/ 2147483647 h 168"/>
                <a:gd name="T12" fmla="*/ 2147483647 w 120"/>
                <a:gd name="T13" fmla="*/ 2147483647 h 168"/>
                <a:gd name="T14" fmla="*/ 2147483647 w 120"/>
                <a:gd name="T15" fmla="*/ 2147483647 h 168"/>
                <a:gd name="T16" fmla="*/ 2147483647 w 120"/>
                <a:gd name="T17" fmla="*/ 2147483647 h 168"/>
                <a:gd name="T18" fmla="*/ 2147483647 w 120"/>
                <a:gd name="T19" fmla="*/ 2147483647 h 168"/>
                <a:gd name="T20" fmla="*/ 2147483647 w 120"/>
                <a:gd name="T21" fmla="*/ 2147483647 h 168"/>
                <a:gd name="T22" fmla="*/ 2147483647 w 120"/>
                <a:gd name="T23" fmla="*/ 2147483647 h 168"/>
                <a:gd name="T24" fmla="*/ 2147483647 w 120"/>
                <a:gd name="T25" fmla="*/ 2147483647 h 168"/>
                <a:gd name="T26" fmla="*/ 0 w 120"/>
                <a:gd name="T27" fmla="*/ 2147483647 h 168"/>
                <a:gd name="T28" fmla="*/ 0 w 120"/>
                <a:gd name="T29" fmla="*/ 2147483647 h 168"/>
                <a:gd name="T30" fmla="*/ 2147483647 w 120"/>
                <a:gd name="T31" fmla="*/ 2147483647 h 168"/>
                <a:gd name="T32" fmla="*/ 2147483647 w 120"/>
                <a:gd name="T33" fmla="*/ 2147483647 h 168"/>
                <a:gd name="T34" fmla="*/ 2147483647 w 120"/>
                <a:gd name="T35" fmla="*/ 2147483647 h 168"/>
                <a:gd name="T36" fmla="*/ 2147483647 w 120"/>
                <a:gd name="T37" fmla="*/ 2147483647 h 168"/>
                <a:gd name="T38" fmla="*/ 2147483647 w 120"/>
                <a:gd name="T39" fmla="*/ 2147483647 h 168"/>
                <a:gd name="T40" fmla="*/ 2147483647 w 120"/>
                <a:gd name="T41" fmla="*/ 0 h 168"/>
                <a:gd name="T42" fmla="*/ 2147483647 w 120"/>
                <a:gd name="T43" fmla="*/ 2147483647 h 1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0"/>
                <a:gd name="T67" fmla="*/ 0 h 168"/>
                <a:gd name="T68" fmla="*/ 120 w 120"/>
                <a:gd name="T69" fmla="*/ 168 h 1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0" h="168">
                  <a:moveTo>
                    <a:pt x="48" y="16"/>
                  </a:moveTo>
                  <a:lnTo>
                    <a:pt x="32" y="8"/>
                  </a:lnTo>
                  <a:lnTo>
                    <a:pt x="16" y="16"/>
                  </a:lnTo>
                  <a:lnTo>
                    <a:pt x="24" y="24"/>
                  </a:lnTo>
                  <a:lnTo>
                    <a:pt x="56" y="40"/>
                  </a:lnTo>
                  <a:lnTo>
                    <a:pt x="80" y="48"/>
                  </a:lnTo>
                  <a:lnTo>
                    <a:pt x="48" y="80"/>
                  </a:lnTo>
                  <a:lnTo>
                    <a:pt x="24" y="88"/>
                  </a:lnTo>
                  <a:lnTo>
                    <a:pt x="8" y="96"/>
                  </a:lnTo>
                  <a:lnTo>
                    <a:pt x="16" y="104"/>
                  </a:lnTo>
                  <a:lnTo>
                    <a:pt x="8" y="96"/>
                  </a:lnTo>
                  <a:lnTo>
                    <a:pt x="8" y="104"/>
                  </a:lnTo>
                  <a:lnTo>
                    <a:pt x="0" y="112"/>
                  </a:lnTo>
                  <a:lnTo>
                    <a:pt x="0" y="152"/>
                  </a:lnTo>
                  <a:lnTo>
                    <a:pt x="8" y="168"/>
                  </a:lnTo>
                  <a:lnTo>
                    <a:pt x="24" y="136"/>
                  </a:lnTo>
                  <a:lnTo>
                    <a:pt x="56" y="120"/>
                  </a:lnTo>
                  <a:lnTo>
                    <a:pt x="88" y="88"/>
                  </a:lnTo>
                  <a:lnTo>
                    <a:pt x="112" y="32"/>
                  </a:lnTo>
                  <a:lnTo>
                    <a:pt x="120" y="0"/>
                  </a:lnTo>
                  <a:lnTo>
                    <a:pt x="48" y="1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83" name="Freeform 733"/>
            <p:cNvSpPr>
              <a:spLocks/>
            </p:cNvSpPr>
            <p:nvPr/>
          </p:nvSpPr>
          <p:spPr bwMode="auto">
            <a:xfrm>
              <a:off x="2920397" y="3313713"/>
              <a:ext cx="17327" cy="68440"/>
            </a:xfrm>
            <a:custGeom>
              <a:avLst/>
              <a:gdLst>
                <a:gd name="T0" fmla="*/ 2147483647 w 16"/>
                <a:gd name="T1" fmla="*/ 0 h 64"/>
                <a:gd name="T2" fmla="*/ 2147483647 w 16"/>
                <a:gd name="T3" fmla="*/ 2147483647 h 64"/>
                <a:gd name="T4" fmla="*/ 0 w 16"/>
                <a:gd name="T5" fmla="*/ 2147483647 h 64"/>
                <a:gd name="T6" fmla="*/ 0 w 16"/>
                <a:gd name="T7" fmla="*/ 2147483647 h 64"/>
                <a:gd name="T8" fmla="*/ 2147483647 w 16"/>
                <a:gd name="T9" fmla="*/ 2147483647 h 64"/>
                <a:gd name="T10" fmla="*/ 2147483647 w 16"/>
                <a:gd name="T11" fmla="*/ 2147483647 h 64"/>
                <a:gd name="T12" fmla="*/ 2147483647 w 16"/>
                <a:gd name="T13" fmla="*/ 0 h 64"/>
                <a:gd name="T14" fmla="*/ 0 60000 65536"/>
                <a:gd name="T15" fmla="*/ 0 60000 65536"/>
                <a:gd name="T16" fmla="*/ 0 60000 65536"/>
                <a:gd name="T17" fmla="*/ 0 60000 65536"/>
                <a:gd name="T18" fmla="*/ 0 60000 65536"/>
                <a:gd name="T19" fmla="*/ 0 60000 65536"/>
                <a:gd name="T20" fmla="*/ 0 60000 65536"/>
                <a:gd name="T21" fmla="*/ 0 w 16"/>
                <a:gd name="T22" fmla="*/ 0 h 64"/>
                <a:gd name="T23" fmla="*/ 16 w 16"/>
                <a:gd name="T24" fmla="*/ 64 h 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64">
                  <a:moveTo>
                    <a:pt x="8" y="0"/>
                  </a:moveTo>
                  <a:lnTo>
                    <a:pt x="16" y="24"/>
                  </a:lnTo>
                  <a:lnTo>
                    <a:pt x="0" y="32"/>
                  </a:lnTo>
                  <a:lnTo>
                    <a:pt x="0" y="40"/>
                  </a:lnTo>
                  <a:lnTo>
                    <a:pt x="8" y="64"/>
                  </a:lnTo>
                  <a:lnTo>
                    <a:pt x="16" y="64"/>
                  </a:lnTo>
                  <a:lnTo>
                    <a:pt x="8"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84" name="Freeform 734"/>
            <p:cNvSpPr>
              <a:spLocks/>
            </p:cNvSpPr>
            <p:nvPr/>
          </p:nvSpPr>
          <p:spPr bwMode="auto">
            <a:xfrm>
              <a:off x="2920397" y="3313713"/>
              <a:ext cx="17327" cy="68440"/>
            </a:xfrm>
            <a:custGeom>
              <a:avLst/>
              <a:gdLst>
                <a:gd name="T0" fmla="*/ 2147483647 w 16"/>
                <a:gd name="T1" fmla="*/ 0 h 64"/>
                <a:gd name="T2" fmla="*/ 2147483647 w 16"/>
                <a:gd name="T3" fmla="*/ 0 h 64"/>
                <a:gd name="T4" fmla="*/ 2147483647 w 16"/>
                <a:gd name="T5" fmla="*/ 2147483647 h 64"/>
                <a:gd name="T6" fmla="*/ 0 w 16"/>
                <a:gd name="T7" fmla="*/ 2147483647 h 64"/>
                <a:gd name="T8" fmla="*/ 0 w 16"/>
                <a:gd name="T9" fmla="*/ 2147483647 h 64"/>
                <a:gd name="T10" fmla="*/ 2147483647 w 16"/>
                <a:gd name="T11" fmla="*/ 2147483647 h 64"/>
                <a:gd name="T12" fmla="*/ 2147483647 w 16"/>
                <a:gd name="T13" fmla="*/ 2147483647 h 64"/>
                <a:gd name="T14" fmla="*/ 0 60000 65536"/>
                <a:gd name="T15" fmla="*/ 0 60000 65536"/>
                <a:gd name="T16" fmla="*/ 0 60000 65536"/>
                <a:gd name="T17" fmla="*/ 0 60000 65536"/>
                <a:gd name="T18" fmla="*/ 0 60000 65536"/>
                <a:gd name="T19" fmla="*/ 0 60000 65536"/>
                <a:gd name="T20" fmla="*/ 0 60000 65536"/>
                <a:gd name="T21" fmla="*/ 0 w 16"/>
                <a:gd name="T22" fmla="*/ 0 h 64"/>
                <a:gd name="T23" fmla="*/ 16 w 16"/>
                <a:gd name="T24" fmla="*/ 64 h 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64">
                  <a:moveTo>
                    <a:pt x="8" y="0"/>
                  </a:moveTo>
                  <a:lnTo>
                    <a:pt x="8" y="0"/>
                  </a:lnTo>
                  <a:lnTo>
                    <a:pt x="16" y="24"/>
                  </a:lnTo>
                  <a:lnTo>
                    <a:pt x="0" y="32"/>
                  </a:lnTo>
                  <a:lnTo>
                    <a:pt x="0" y="40"/>
                  </a:lnTo>
                  <a:lnTo>
                    <a:pt x="8" y="64"/>
                  </a:lnTo>
                  <a:lnTo>
                    <a:pt x="16" y="64"/>
                  </a:lnTo>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85" name="Freeform 735"/>
            <p:cNvSpPr>
              <a:spLocks/>
            </p:cNvSpPr>
            <p:nvPr/>
          </p:nvSpPr>
          <p:spPr bwMode="auto">
            <a:xfrm>
              <a:off x="2920397" y="3313713"/>
              <a:ext cx="17327" cy="68440"/>
            </a:xfrm>
            <a:custGeom>
              <a:avLst/>
              <a:gdLst>
                <a:gd name="T0" fmla="*/ 2147483647 w 16"/>
                <a:gd name="T1" fmla="*/ 0 h 64"/>
                <a:gd name="T2" fmla="*/ 2147483647 w 16"/>
                <a:gd name="T3" fmla="*/ 0 h 64"/>
                <a:gd name="T4" fmla="*/ 2147483647 w 16"/>
                <a:gd name="T5" fmla="*/ 2147483647 h 64"/>
                <a:gd name="T6" fmla="*/ 0 w 16"/>
                <a:gd name="T7" fmla="*/ 2147483647 h 64"/>
                <a:gd name="T8" fmla="*/ 0 w 16"/>
                <a:gd name="T9" fmla="*/ 2147483647 h 64"/>
                <a:gd name="T10" fmla="*/ 2147483647 w 16"/>
                <a:gd name="T11" fmla="*/ 2147483647 h 64"/>
                <a:gd name="T12" fmla="*/ 2147483647 w 16"/>
                <a:gd name="T13" fmla="*/ 2147483647 h 64"/>
                <a:gd name="T14" fmla="*/ 0 60000 65536"/>
                <a:gd name="T15" fmla="*/ 0 60000 65536"/>
                <a:gd name="T16" fmla="*/ 0 60000 65536"/>
                <a:gd name="T17" fmla="*/ 0 60000 65536"/>
                <a:gd name="T18" fmla="*/ 0 60000 65536"/>
                <a:gd name="T19" fmla="*/ 0 60000 65536"/>
                <a:gd name="T20" fmla="*/ 0 60000 65536"/>
                <a:gd name="T21" fmla="*/ 0 w 16"/>
                <a:gd name="T22" fmla="*/ 0 h 64"/>
                <a:gd name="T23" fmla="*/ 16 w 16"/>
                <a:gd name="T24" fmla="*/ 64 h 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64">
                  <a:moveTo>
                    <a:pt x="8" y="0"/>
                  </a:moveTo>
                  <a:lnTo>
                    <a:pt x="8" y="0"/>
                  </a:lnTo>
                  <a:lnTo>
                    <a:pt x="16" y="24"/>
                  </a:lnTo>
                  <a:lnTo>
                    <a:pt x="0" y="32"/>
                  </a:lnTo>
                  <a:lnTo>
                    <a:pt x="0" y="40"/>
                  </a:lnTo>
                  <a:lnTo>
                    <a:pt x="8" y="64"/>
                  </a:lnTo>
                  <a:lnTo>
                    <a:pt x="16" y="64"/>
                  </a:lnTo>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86" name="Freeform 736"/>
            <p:cNvSpPr>
              <a:spLocks/>
            </p:cNvSpPr>
            <p:nvPr/>
          </p:nvSpPr>
          <p:spPr bwMode="auto">
            <a:xfrm>
              <a:off x="2912600" y="3161239"/>
              <a:ext cx="135147" cy="220914"/>
            </a:xfrm>
            <a:custGeom>
              <a:avLst/>
              <a:gdLst>
                <a:gd name="T0" fmla="*/ 2147483647 w 128"/>
                <a:gd name="T1" fmla="*/ 2147483647 h 208"/>
                <a:gd name="T2" fmla="*/ 2147483647 w 128"/>
                <a:gd name="T3" fmla="*/ 2147483647 h 208"/>
                <a:gd name="T4" fmla="*/ 2147483647 w 128"/>
                <a:gd name="T5" fmla="*/ 2147483647 h 208"/>
                <a:gd name="T6" fmla="*/ 2147483647 w 128"/>
                <a:gd name="T7" fmla="*/ 2147483647 h 208"/>
                <a:gd name="T8" fmla="*/ 2147483647 w 128"/>
                <a:gd name="T9" fmla="*/ 2147483647 h 208"/>
                <a:gd name="T10" fmla="*/ 2147483647 w 128"/>
                <a:gd name="T11" fmla="*/ 2147483647 h 208"/>
                <a:gd name="T12" fmla="*/ 2147483647 w 128"/>
                <a:gd name="T13" fmla="*/ 2147483647 h 208"/>
                <a:gd name="T14" fmla="*/ 2147483647 w 128"/>
                <a:gd name="T15" fmla="*/ 2147483647 h 208"/>
                <a:gd name="T16" fmla="*/ 2147483647 w 128"/>
                <a:gd name="T17" fmla="*/ 2147483647 h 208"/>
                <a:gd name="T18" fmla="*/ 2147483647 w 128"/>
                <a:gd name="T19" fmla="*/ 2147483647 h 208"/>
                <a:gd name="T20" fmla="*/ 2147483647 w 128"/>
                <a:gd name="T21" fmla="*/ 2147483647 h 208"/>
                <a:gd name="T22" fmla="*/ 2147483647 w 128"/>
                <a:gd name="T23" fmla="*/ 0 h 208"/>
                <a:gd name="T24" fmla="*/ 2147483647 w 128"/>
                <a:gd name="T25" fmla="*/ 2147483647 h 208"/>
                <a:gd name="T26" fmla="*/ 2147483647 w 128"/>
                <a:gd name="T27" fmla="*/ 2147483647 h 208"/>
                <a:gd name="T28" fmla="*/ 2147483647 w 128"/>
                <a:gd name="T29" fmla="*/ 2147483647 h 208"/>
                <a:gd name="T30" fmla="*/ 2147483647 w 128"/>
                <a:gd name="T31" fmla="*/ 2147483647 h 208"/>
                <a:gd name="T32" fmla="*/ 0 w 128"/>
                <a:gd name="T33" fmla="*/ 2147483647 h 208"/>
                <a:gd name="T34" fmla="*/ 2147483647 w 128"/>
                <a:gd name="T35" fmla="*/ 2147483647 h 208"/>
                <a:gd name="T36" fmla="*/ 0 w 128"/>
                <a:gd name="T37" fmla="*/ 2147483647 h 208"/>
                <a:gd name="T38" fmla="*/ 2147483647 w 128"/>
                <a:gd name="T39" fmla="*/ 2147483647 h 208"/>
                <a:gd name="T40" fmla="*/ 2147483647 w 128"/>
                <a:gd name="T41" fmla="*/ 2147483647 h 208"/>
                <a:gd name="T42" fmla="*/ 2147483647 w 128"/>
                <a:gd name="T43" fmla="*/ 2147483647 h 208"/>
                <a:gd name="T44" fmla="*/ 2147483647 w 128"/>
                <a:gd name="T45" fmla="*/ 2147483647 h 2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8"/>
                <a:gd name="T70" fmla="*/ 0 h 208"/>
                <a:gd name="T71" fmla="*/ 128 w 128"/>
                <a:gd name="T72" fmla="*/ 208 h 2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8" h="208">
                  <a:moveTo>
                    <a:pt x="24" y="208"/>
                  </a:moveTo>
                  <a:lnTo>
                    <a:pt x="40" y="200"/>
                  </a:lnTo>
                  <a:lnTo>
                    <a:pt x="64" y="192"/>
                  </a:lnTo>
                  <a:lnTo>
                    <a:pt x="64" y="184"/>
                  </a:lnTo>
                  <a:lnTo>
                    <a:pt x="88" y="184"/>
                  </a:lnTo>
                  <a:lnTo>
                    <a:pt x="120" y="160"/>
                  </a:lnTo>
                  <a:lnTo>
                    <a:pt x="104" y="136"/>
                  </a:lnTo>
                  <a:lnTo>
                    <a:pt x="112" y="128"/>
                  </a:lnTo>
                  <a:lnTo>
                    <a:pt x="112" y="104"/>
                  </a:lnTo>
                  <a:lnTo>
                    <a:pt x="128" y="96"/>
                  </a:lnTo>
                  <a:lnTo>
                    <a:pt x="128" y="48"/>
                  </a:lnTo>
                  <a:lnTo>
                    <a:pt x="32" y="0"/>
                  </a:lnTo>
                  <a:lnTo>
                    <a:pt x="16" y="8"/>
                  </a:lnTo>
                  <a:lnTo>
                    <a:pt x="24" y="32"/>
                  </a:lnTo>
                  <a:lnTo>
                    <a:pt x="32" y="40"/>
                  </a:lnTo>
                  <a:lnTo>
                    <a:pt x="24" y="88"/>
                  </a:lnTo>
                  <a:lnTo>
                    <a:pt x="0" y="112"/>
                  </a:lnTo>
                  <a:lnTo>
                    <a:pt x="8" y="112"/>
                  </a:lnTo>
                  <a:lnTo>
                    <a:pt x="0" y="112"/>
                  </a:lnTo>
                  <a:lnTo>
                    <a:pt x="8" y="128"/>
                  </a:lnTo>
                  <a:lnTo>
                    <a:pt x="16" y="128"/>
                  </a:lnTo>
                  <a:lnTo>
                    <a:pt x="16" y="144"/>
                  </a:lnTo>
                  <a:lnTo>
                    <a:pt x="24" y="20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87" name="Freeform 737"/>
            <p:cNvSpPr>
              <a:spLocks/>
            </p:cNvSpPr>
            <p:nvPr/>
          </p:nvSpPr>
          <p:spPr bwMode="auto">
            <a:xfrm>
              <a:off x="2912600" y="3161239"/>
              <a:ext cx="135147" cy="220914"/>
            </a:xfrm>
            <a:custGeom>
              <a:avLst/>
              <a:gdLst>
                <a:gd name="T0" fmla="*/ 2147483647 w 128"/>
                <a:gd name="T1" fmla="*/ 2147483647 h 208"/>
                <a:gd name="T2" fmla="*/ 2147483647 w 128"/>
                <a:gd name="T3" fmla="*/ 2147483647 h 208"/>
                <a:gd name="T4" fmla="*/ 2147483647 w 128"/>
                <a:gd name="T5" fmla="*/ 2147483647 h 208"/>
                <a:gd name="T6" fmla="*/ 2147483647 w 128"/>
                <a:gd name="T7" fmla="*/ 2147483647 h 208"/>
                <a:gd name="T8" fmla="*/ 2147483647 w 128"/>
                <a:gd name="T9" fmla="*/ 2147483647 h 208"/>
                <a:gd name="T10" fmla="*/ 2147483647 w 128"/>
                <a:gd name="T11" fmla="*/ 2147483647 h 208"/>
                <a:gd name="T12" fmla="*/ 2147483647 w 128"/>
                <a:gd name="T13" fmla="*/ 2147483647 h 208"/>
                <a:gd name="T14" fmla="*/ 2147483647 w 128"/>
                <a:gd name="T15" fmla="*/ 2147483647 h 208"/>
                <a:gd name="T16" fmla="*/ 2147483647 w 128"/>
                <a:gd name="T17" fmla="*/ 2147483647 h 208"/>
                <a:gd name="T18" fmla="*/ 2147483647 w 128"/>
                <a:gd name="T19" fmla="*/ 2147483647 h 208"/>
                <a:gd name="T20" fmla="*/ 2147483647 w 128"/>
                <a:gd name="T21" fmla="*/ 2147483647 h 208"/>
                <a:gd name="T22" fmla="*/ 2147483647 w 128"/>
                <a:gd name="T23" fmla="*/ 2147483647 h 208"/>
                <a:gd name="T24" fmla="*/ 2147483647 w 128"/>
                <a:gd name="T25" fmla="*/ 0 h 208"/>
                <a:gd name="T26" fmla="*/ 2147483647 w 128"/>
                <a:gd name="T27" fmla="*/ 2147483647 h 208"/>
                <a:gd name="T28" fmla="*/ 2147483647 w 128"/>
                <a:gd name="T29" fmla="*/ 2147483647 h 208"/>
                <a:gd name="T30" fmla="*/ 2147483647 w 128"/>
                <a:gd name="T31" fmla="*/ 2147483647 h 208"/>
                <a:gd name="T32" fmla="*/ 2147483647 w 128"/>
                <a:gd name="T33" fmla="*/ 2147483647 h 208"/>
                <a:gd name="T34" fmla="*/ 2147483647 w 128"/>
                <a:gd name="T35" fmla="*/ 2147483647 h 208"/>
                <a:gd name="T36" fmla="*/ 0 w 128"/>
                <a:gd name="T37" fmla="*/ 2147483647 h 208"/>
                <a:gd name="T38" fmla="*/ 2147483647 w 128"/>
                <a:gd name="T39" fmla="*/ 2147483647 h 208"/>
                <a:gd name="T40" fmla="*/ 0 w 128"/>
                <a:gd name="T41" fmla="*/ 2147483647 h 208"/>
                <a:gd name="T42" fmla="*/ 0 w 128"/>
                <a:gd name="T43" fmla="*/ 2147483647 h 208"/>
                <a:gd name="T44" fmla="*/ 2147483647 w 128"/>
                <a:gd name="T45" fmla="*/ 2147483647 h 208"/>
                <a:gd name="T46" fmla="*/ 2147483647 w 128"/>
                <a:gd name="T47" fmla="*/ 2147483647 h 208"/>
                <a:gd name="T48" fmla="*/ 2147483647 w 128"/>
                <a:gd name="T49" fmla="*/ 2147483647 h 20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8"/>
                <a:gd name="T76" fmla="*/ 0 h 208"/>
                <a:gd name="T77" fmla="*/ 128 w 128"/>
                <a:gd name="T78" fmla="*/ 208 h 20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8" h="208">
                  <a:moveTo>
                    <a:pt x="24" y="208"/>
                  </a:moveTo>
                  <a:lnTo>
                    <a:pt x="40" y="200"/>
                  </a:lnTo>
                  <a:lnTo>
                    <a:pt x="64" y="192"/>
                  </a:lnTo>
                  <a:lnTo>
                    <a:pt x="64" y="184"/>
                  </a:lnTo>
                  <a:lnTo>
                    <a:pt x="88" y="184"/>
                  </a:lnTo>
                  <a:lnTo>
                    <a:pt x="120" y="160"/>
                  </a:lnTo>
                  <a:lnTo>
                    <a:pt x="104" y="136"/>
                  </a:lnTo>
                  <a:lnTo>
                    <a:pt x="112" y="128"/>
                  </a:lnTo>
                  <a:lnTo>
                    <a:pt x="112" y="104"/>
                  </a:lnTo>
                  <a:lnTo>
                    <a:pt x="128" y="96"/>
                  </a:lnTo>
                  <a:lnTo>
                    <a:pt x="128" y="48"/>
                  </a:lnTo>
                  <a:lnTo>
                    <a:pt x="32" y="0"/>
                  </a:lnTo>
                  <a:lnTo>
                    <a:pt x="16" y="8"/>
                  </a:lnTo>
                  <a:lnTo>
                    <a:pt x="24" y="32"/>
                  </a:lnTo>
                  <a:lnTo>
                    <a:pt x="32" y="40"/>
                  </a:lnTo>
                  <a:lnTo>
                    <a:pt x="24" y="88"/>
                  </a:lnTo>
                  <a:lnTo>
                    <a:pt x="0" y="112"/>
                  </a:lnTo>
                  <a:lnTo>
                    <a:pt x="8" y="112"/>
                  </a:lnTo>
                  <a:lnTo>
                    <a:pt x="0" y="112"/>
                  </a:lnTo>
                  <a:lnTo>
                    <a:pt x="8" y="128"/>
                  </a:lnTo>
                  <a:lnTo>
                    <a:pt x="16" y="128"/>
                  </a:lnTo>
                  <a:lnTo>
                    <a:pt x="16" y="144"/>
                  </a:lnTo>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88" name="Freeform 738"/>
            <p:cNvSpPr>
              <a:spLocks/>
            </p:cNvSpPr>
            <p:nvPr/>
          </p:nvSpPr>
          <p:spPr bwMode="auto">
            <a:xfrm>
              <a:off x="2912600" y="3161239"/>
              <a:ext cx="135147" cy="220914"/>
            </a:xfrm>
            <a:custGeom>
              <a:avLst/>
              <a:gdLst>
                <a:gd name="T0" fmla="*/ 2147483647 w 128"/>
                <a:gd name="T1" fmla="*/ 2147483647 h 208"/>
                <a:gd name="T2" fmla="*/ 2147483647 w 128"/>
                <a:gd name="T3" fmla="*/ 2147483647 h 208"/>
                <a:gd name="T4" fmla="*/ 2147483647 w 128"/>
                <a:gd name="T5" fmla="*/ 2147483647 h 208"/>
                <a:gd name="T6" fmla="*/ 2147483647 w 128"/>
                <a:gd name="T7" fmla="*/ 2147483647 h 208"/>
                <a:gd name="T8" fmla="*/ 2147483647 w 128"/>
                <a:gd name="T9" fmla="*/ 2147483647 h 208"/>
                <a:gd name="T10" fmla="*/ 2147483647 w 128"/>
                <a:gd name="T11" fmla="*/ 2147483647 h 208"/>
                <a:gd name="T12" fmla="*/ 2147483647 w 128"/>
                <a:gd name="T13" fmla="*/ 2147483647 h 208"/>
                <a:gd name="T14" fmla="*/ 2147483647 w 128"/>
                <a:gd name="T15" fmla="*/ 2147483647 h 208"/>
                <a:gd name="T16" fmla="*/ 2147483647 w 128"/>
                <a:gd name="T17" fmla="*/ 2147483647 h 208"/>
                <a:gd name="T18" fmla="*/ 2147483647 w 128"/>
                <a:gd name="T19" fmla="*/ 2147483647 h 208"/>
                <a:gd name="T20" fmla="*/ 2147483647 w 128"/>
                <a:gd name="T21" fmla="*/ 2147483647 h 208"/>
                <a:gd name="T22" fmla="*/ 2147483647 w 128"/>
                <a:gd name="T23" fmla="*/ 2147483647 h 208"/>
                <a:gd name="T24" fmla="*/ 2147483647 w 128"/>
                <a:gd name="T25" fmla="*/ 0 h 208"/>
                <a:gd name="T26" fmla="*/ 2147483647 w 128"/>
                <a:gd name="T27" fmla="*/ 2147483647 h 208"/>
                <a:gd name="T28" fmla="*/ 2147483647 w 128"/>
                <a:gd name="T29" fmla="*/ 2147483647 h 208"/>
                <a:gd name="T30" fmla="*/ 2147483647 w 128"/>
                <a:gd name="T31" fmla="*/ 2147483647 h 208"/>
                <a:gd name="T32" fmla="*/ 2147483647 w 128"/>
                <a:gd name="T33" fmla="*/ 2147483647 h 208"/>
                <a:gd name="T34" fmla="*/ 2147483647 w 128"/>
                <a:gd name="T35" fmla="*/ 2147483647 h 208"/>
                <a:gd name="T36" fmla="*/ 0 w 128"/>
                <a:gd name="T37" fmla="*/ 2147483647 h 208"/>
                <a:gd name="T38" fmla="*/ 2147483647 w 128"/>
                <a:gd name="T39" fmla="*/ 2147483647 h 208"/>
                <a:gd name="T40" fmla="*/ 0 w 128"/>
                <a:gd name="T41" fmla="*/ 2147483647 h 208"/>
                <a:gd name="T42" fmla="*/ 0 w 128"/>
                <a:gd name="T43" fmla="*/ 2147483647 h 208"/>
                <a:gd name="T44" fmla="*/ 2147483647 w 128"/>
                <a:gd name="T45" fmla="*/ 2147483647 h 208"/>
                <a:gd name="T46" fmla="*/ 2147483647 w 128"/>
                <a:gd name="T47" fmla="*/ 2147483647 h 208"/>
                <a:gd name="T48" fmla="*/ 2147483647 w 128"/>
                <a:gd name="T49" fmla="*/ 2147483647 h 20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8"/>
                <a:gd name="T76" fmla="*/ 0 h 208"/>
                <a:gd name="T77" fmla="*/ 128 w 128"/>
                <a:gd name="T78" fmla="*/ 208 h 20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8" h="208">
                  <a:moveTo>
                    <a:pt x="24" y="208"/>
                  </a:moveTo>
                  <a:lnTo>
                    <a:pt x="40" y="200"/>
                  </a:lnTo>
                  <a:lnTo>
                    <a:pt x="64" y="192"/>
                  </a:lnTo>
                  <a:lnTo>
                    <a:pt x="64" y="184"/>
                  </a:lnTo>
                  <a:lnTo>
                    <a:pt x="88" y="184"/>
                  </a:lnTo>
                  <a:lnTo>
                    <a:pt x="120" y="160"/>
                  </a:lnTo>
                  <a:lnTo>
                    <a:pt x="104" y="136"/>
                  </a:lnTo>
                  <a:lnTo>
                    <a:pt x="112" y="128"/>
                  </a:lnTo>
                  <a:lnTo>
                    <a:pt x="112" y="104"/>
                  </a:lnTo>
                  <a:lnTo>
                    <a:pt x="128" y="96"/>
                  </a:lnTo>
                  <a:lnTo>
                    <a:pt x="128" y="48"/>
                  </a:lnTo>
                  <a:lnTo>
                    <a:pt x="32" y="0"/>
                  </a:lnTo>
                  <a:lnTo>
                    <a:pt x="16" y="8"/>
                  </a:lnTo>
                  <a:lnTo>
                    <a:pt x="24" y="32"/>
                  </a:lnTo>
                  <a:lnTo>
                    <a:pt x="32" y="40"/>
                  </a:lnTo>
                  <a:lnTo>
                    <a:pt x="24" y="88"/>
                  </a:lnTo>
                  <a:lnTo>
                    <a:pt x="0" y="112"/>
                  </a:lnTo>
                  <a:lnTo>
                    <a:pt x="8" y="112"/>
                  </a:lnTo>
                  <a:lnTo>
                    <a:pt x="0" y="112"/>
                  </a:lnTo>
                  <a:lnTo>
                    <a:pt x="8" y="128"/>
                  </a:lnTo>
                  <a:lnTo>
                    <a:pt x="16" y="128"/>
                  </a:lnTo>
                  <a:lnTo>
                    <a:pt x="16" y="144"/>
                  </a:lnTo>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89" name="Freeform 739"/>
            <p:cNvSpPr>
              <a:spLocks/>
            </p:cNvSpPr>
            <p:nvPr/>
          </p:nvSpPr>
          <p:spPr bwMode="auto">
            <a:xfrm>
              <a:off x="2955050" y="3780665"/>
              <a:ext cx="211384" cy="194924"/>
            </a:xfrm>
            <a:custGeom>
              <a:avLst/>
              <a:gdLst>
                <a:gd name="T0" fmla="*/ 2147483647 w 200"/>
                <a:gd name="T1" fmla="*/ 2147483647 h 184"/>
                <a:gd name="T2" fmla="*/ 2147483647 w 200"/>
                <a:gd name="T3" fmla="*/ 2147483647 h 184"/>
                <a:gd name="T4" fmla="*/ 2147483647 w 200"/>
                <a:gd name="T5" fmla="*/ 0 h 184"/>
                <a:gd name="T6" fmla="*/ 2147483647 w 200"/>
                <a:gd name="T7" fmla="*/ 2147483647 h 184"/>
                <a:gd name="T8" fmla="*/ 2147483647 w 200"/>
                <a:gd name="T9" fmla="*/ 2147483647 h 184"/>
                <a:gd name="T10" fmla="*/ 2147483647 w 200"/>
                <a:gd name="T11" fmla="*/ 2147483647 h 184"/>
                <a:gd name="T12" fmla="*/ 2147483647 w 200"/>
                <a:gd name="T13" fmla="*/ 2147483647 h 184"/>
                <a:gd name="T14" fmla="*/ 2147483647 w 200"/>
                <a:gd name="T15" fmla="*/ 2147483647 h 184"/>
                <a:gd name="T16" fmla="*/ 2147483647 w 200"/>
                <a:gd name="T17" fmla="*/ 2147483647 h 184"/>
                <a:gd name="T18" fmla="*/ 2147483647 w 200"/>
                <a:gd name="T19" fmla="*/ 2147483647 h 184"/>
                <a:gd name="T20" fmla="*/ 2147483647 w 200"/>
                <a:gd name="T21" fmla="*/ 2147483647 h 184"/>
                <a:gd name="T22" fmla="*/ 2147483647 w 200"/>
                <a:gd name="T23" fmla="*/ 2147483647 h 184"/>
                <a:gd name="T24" fmla="*/ 2147483647 w 200"/>
                <a:gd name="T25" fmla="*/ 2147483647 h 184"/>
                <a:gd name="T26" fmla="*/ 2147483647 w 200"/>
                <a:gd name="T27" fmla="*/ 2147483647 h 184"/>
                <a:gd name="T28" fmla="*/ 0 w 200"/>
                <a:gd name="T29" fmla="*/ 2147483647 h 184"/>
                <a:gd name="T30" fmla="*/ 0 w 200"/>
                <a:gd name="T31" fmla="*/ 2147483647 h 184"/>
                <a:gd name="T32" fmla="*/ 2147483647 w 200"/>
                <a:gd name="T33" fmla="*/ 2147483647 h 184"/>
                <a:gd name="T34" fmla="*/ 2147483647 w 200"/>
                <a:gd name="T35" fmla="*/ 2147483647 h 184"/>
                <a:gd name="T36" fmla="*/ 2147483647 w 200"/>
                <a:gd name="T37" fmla="*/ 2147483647 h 184"/>
                <a:gd name="T38" fmla="*/ 2147483647 w 200"/>
                <a:gd name="T39" fmla="*/ 2147483647 h 184"/>
                <a:gd name="T40" fmla="*/ 2147483647 w 200"/>
                <a:gd name="T41" fmla="*/ 2147483647 h 184"/>
                <a:gd name="T42" fmla="*/ 2147483647 w 200"/>
                <a:gd name="T43" fmla="*/ 2147483647 h 184"/>
                <a:gd name="T44" fmla="*/ 2147483647 w 200"/>
                <a:gd name="T45" fmla="*/ 2147483647 h 184"/>
                <a:gd name="T46" fmla="*/ 2147483647 w 200"/>
                <a:gd name="T47" fmla="*/ 2147483647 h 184"/>
                <a:gd name="T48" fmla="*/ 2147483647 w 200"/>
                <a:gd name="T49" fmla="*/ 2147483647 h 184"/>
                <a:gd name="T50" fmla="*/ 2147483647 w 200"/>
                <a:gd name="T51" fmla="*/ 2147483647 h 184"/>
                <a:gd name="T52" fmla="*/ 2147483647 w 200"/>
                <a:gd name="T53" fmla="*/ 2147483647 h 1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00"/>
                <a:gd name="T82" fmla="*/ 0 h 184"/>
                <a:gd name="T83" fmla="*/ 200 w 200"/>
                <a:gd name="T84" fmla="*/ 184 h 1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00" h="184">
                  <a:moveTo>
                    <a:pt x="192" y="8"/>
                  </a:moveTo>
                  <a:lnTo>
                    <a:pt x="184" y="8"/>
                  </a:lnTo>
                  <a:lnTo>
                    <a:pt x="160" y="0"/>
                  </a:lnTo>
                  <a:lnTo>
                    <a:pt x="136" y="24"/>
                  </a:lnTo>
                  <a:lnTo>
                    <a:pt x="104" y="48"/>
                  </a:lnTo>
                  <a:lnTo>
                    <a:pt x="88" y="48"/>
                  </a:lnTo>
                  <a:lnTo>
                    <a:pt x="64" y="64"/>
                  </a:lnTo>
                  <a:lnTo>
                    <a:pt x="56" y="64"/>
                  </a:lnTo>
                  <a:lnTo>
                    <a:pt x="48" y="56"/>
                  </a:lnTo>
                  <a:lnTo>
                    <a:pt x="40" y="40"/>
                  </a:lnTo>
                  <a:lnTo>
                    <a:pt x="40" y="48"/>
                  </a:lnTo>
                  <a:lnTo>
                    <a:pt x="40" y="40"/>
                  </a:lnTo>
                  <a:lnTo>
                    <a:pt x="32" y="96"/>
                  </a:lnTo>
                  <a:lnTo>
                    <a:pt x="24" y="96"/>
                  </a:lnTo>
                  <a:lnTo>
                    <a:pt x="0" y="88"/>
                  </a:lnTo>
                  <a:lnTo>
                    <a:pt x="0" y="96"/>
                  </a:lnTo>
                  <a:lnTo>
                    <a:pt x="8" y="112"/>
                  </a:lnTo>
                  <a:lnTo>
                    <a:pt x="16" y="144"/>
                  </a:lnTo>
                  <a:lnTo>
                    <a:pt x="16" y="160"/>
                  </a:lnTo>
                  <a:lnTo>
                    <a:pt x="32" y="184"/>
                  </a:lnTo>
                  <a:lnTo>
                    <a:pt x="64" y="176"/>
                  </a:lnTo>
                  <a:lnTo>
                    <a:pt x="96" y="168"/>
                  </a:lnTo>
                  <a:lnTo>
                    <a:pt x="128" y="168"/>
                  </a:lnTo>
                  <a:lnTo>
                    <a:pt x="184" y="104"/>
                  </a:lnTo>
                  <a:lnTo>
                    <a:pt x="200" y="64"/>
                  </a:lnTo>
                  <a:lnTo>
                    <a:pt x="192" y="64"/>
                  </a:lnTo>
                  <a:lnTo>
                    <a:pt x="192"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90" name="Freeform 740"/>
            <p:cNvSpPr>
              <a:spLocks/>
            </p:cNvSpPr>
            <p:nvPr/>
          </p:nvSpPr>
          <p:spPr bwMode="auto">
            <a:xfrm>
              <a:off x="2997500" y="3720888"/>
              <a:ext cx="126484" cy="127351"/>
            </a:xfrm>
            <a:custGeom>
              <a:avLst/>
              <a:gdLst>
                <a:gd name="T0" fmla="*/ 2147483647 w 120"/>
                <a:gd name="T1" fmla="*/ 2147483647 h 120"/>
                <a:gd name="T2" fmla="*/ 2147483647 w 120"/>
                <a:gd name="T3" fmla="*/ 2147483647 h 120"/>
                <a:gd name="T4" fmla="*/ 2147483647 w 120"/>
                <a:gd name="T5" fmla="*/ 2147483647 h 120"/>
                <a:gd name="T6" fmla="*/ 2147483647 w 120"/>
                <a:gd name="T7" fmla="*/ 0 h 120"/>
                <a:gd name="T8" fmla="*/ 2147483647 w 120"/>
                <a:gd name="T9" fmla="*/ 0 h 120"/>
                <a:gd name="T10" fmla="*/ 2147483647 w 120"/>
                <a:gd name="T11" fmla="*/ 2147483647 h 120"/>
                <a:gd name="T12" fmla="*/ 2147483647 w 120"/>
                <a:gd name="T13" fmla="*/ 0 h 120"/>
                <a:gd name="T14" fmla="*/ 2147483647 w 120"/>
                <a:gd name="T15" fmla="*/ 0 h 120"/>
                <a:gd name="T16" fmla="*/ 2147483647 w 120"/>
                <a:gd name="T17" fmla="*/ 0 h 120"/>
                <a:gd name="T18" fmla="*/ 2147483647 w 120"/>
                <a:gd name="T19" fmla="*/ 2147483647 h 120"/>
                <a:gd name="T20" fmla="*/ 2147483647 w 120"/>
                <a:gd name="T21" fmla="*/ 2147483647 h 120"/>
                <a:gd name="T22" fmla="*/ 0 w 120"/>
                <a:gd name="T23" fmla="*/ 2147483647 h 120"/>
                <a:gd name="T24" fmla="*/ 0 w 120"/>
                <a:gd name="T25" fmla="*/ 2147483647 h 120"/>
                <a:gd name="T26" fmla="*/ 2147483647 w 120"/>
                <a:gd name="T27" fmla="*/ 2147483647 h 120"/>
                <a:gd name="T28" fmla="*/ 2147483647 w 120"/>
                <a:gd name="T29" fmla="*/ 2147483647 h 120"/>
                <a:gd name="T30" fmla="*/ 2147483647 w 120"/>
                <a:gd name="T31" fmla="*/ 2147483647 h 120"/>
                <a:gd name="T32" fmla="*/ 2147483647 w 120"/>
                <a:gd name="T33" fmla="*/ 2147483647 h 120"/>
                <a:gd name="T34" fmla="*/ 2147483647 w 120"/>
                <a:gd name="T35" fmla="*/ 2147483647 h 120"/>
                <a:gd name="T36" fmla="*/ 2147483647 w 120"/>
                <a:gd name="T37" fmla="*/ 2147483647 h 120"/>
                <a:gd name="T38" fmla="*/ 2147483647 w 120"/>
                <a:gd name="T39" fmla="*/ 2147483647 h 120"/>
                <a:gd name="T40" fmla="*/ 2147483647 w 120"/>
                <a:gd name="T41" fmla="*/ 2147483647 h 120"/>
                <a:gd name="T42" fmla="*/ 2147483647 w 120"/>
                <a:gd name="T43" fmla="*/ 2147483647 h 1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0"/>
                <a:gd name="T67" fmla="*/ 0 h 120"/>
                <a:gd name="T68" fmla="*/ 120 w 120"/>
                <a:gd name="T69" fmla="*/ 120 h 1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0" h="120">
                  <a:moveTo>
                    <a:pt x="96" y="32"/>
                  </a:moveTo>
                  <a:lnTo>
                    <a:pt x="88" y="32"/>
                  </a:lnTo>
                  <a:lnTo>
                    <a:pt x="80" y="16"/>
                  </a:lnTo>
                  <a:lnTo>
                    <a:pt x="72" y="0"/>
                  </a:lnTo>
                  <a:lnTo>
                    <a:pt x="64" y="0"/>
                  </a:lnTo>
                  <a:lnTo>
                    <a:pt x="56" y="8"/>
                  </a:lnTo>
                  <a:lnTo>
                    <a:pt x="64" y="0"/>
                  </a:lnTo>
                  <a:lnTo>
                    <a:pt x="56" y="0"/>
                  </a:lnTo>
                  <a:lnTo>
                    <a:pt x="48" y="0"/>
                  </a:lnTo>
                  <a:lnTo>
                    <a:pt x="16" y="8"/>
                  </a:lnTo>
                  <a:lnTo>
                    <a:pt x="8" y="56"/>
                  </a:lnTo>
                  <a:lnTo>
                    <a:pt x="0" y="56"/>
                  </a:lnTo>
                  <a:lnTo>
                    <a:pt x="0" y="96"/>
                  </a:lnTo>
                  <a:lnTo>
                    <a:pt x="8" y="112"/>
                  </a:lnTo>
                  <a:lnTo>
                    <a:pt x="16" y="120"/>
                  </a:lnTo>
                  <a:lnTo>
                    <a:pt x="24" y="120"/>
                  </a:lnTo>
                  <a:lnTo>
                    <a:pt x="48" y="104"/>
                  </a:lnTo>
                  <a:lnTo>
                    <a:pt x="64" y="104"/>
                  </a:lnTo>
                  <a:lnTo>
                    <a:pt x="96" y="80"/>
                  </a:lnTo>
                  <a:lnTo>
                    <a:pt x="120" y="56"/>
                  </a:lnTo>
                  <a:lnTo>
                    <a:pt x="104" y="48"/>
                  </a:lnTo>
                  <a:lnTo>
                    <a:pt x="96"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91" name="Freeform 741"/>
            <p:cNvSpPr>
              <a:spLocks/>
            </p:cNvSpPr>
            <p:nvPr/>
          </p:nvSpPr>
          <p:spPr bwMode="auto">
            <a:xfrm>
              <a:off x="3132648" y="3619527"/>
              <a:ext cx="144677" cy="228711"/>
            </a:xfrm>
            <a:custGeom>
              <a:avLst/>
              <a:gdLst>
                <a:gd name="T0" fmla="*/ 2147483647 w 136"/>
                <a:gd name="T1" fmla="*/ 2147483647 h 216"/>
                <a:gd name="T2" fmla="*/ 2147483647 w 136"/>
                <a:gd name="T3" fmla="*/ 2147483647 h 216"/>
                <a:gd name="T4" fmla="*/ 2147483647 w 136"/>
                <a:gd name="T5" fmla="*/ 2147483647 h 216"/>
                <a:gd name="T6" fmla="*/ 2147483647 w 136"/>
                <a:gd name="T7" fmla="*/ 2147483647 h 216"/>
                <a:gd name="T8" fmla="*/ 2147483647 w 136"/>
                <a:gd name="T9" fmla="*/ 2147483647 h 216"/>
                <a:gd name="T10" fmla="*/ 2147483647 w 136"/>
                <a:gd name="T11" fmla="*/ 2147483647 h 216"/>
                <a:gd name="T12" fmla="*/ 2147483647 w 136"/>
                <a:gd name="T13" fmla="*/ 2147483647 h 216"/>
                <a:gd name="T14" fmla="*/ 2147483647 w 136"/>
                <a:gd name="T15" fmla="*/ 2147483647 h 216"/>
                <a:gd name="T16" fmla="*/ 2147483647 w 136"/>
                <a:gd name="T17" fmla="*/ 2147483647 h 216"/>
                <a:gd name="T18" fmla="*/ 0 w 136"/>
                <a:gd name="T19" fmla="*/ 2147483647 h 216"/>
                <a:gd name="T20" fmla="*/ 2147483647 w 136"/>
                <a:gd name="T21" fmla="*/ 2147483647 h 216"/>
                <a:gd name="T22" fmla="*/ 0 w 136"/>
                <a:gd name="T23" fmla="*/ 2147483647 h 216"/>
                <a:gd name="T24" fmla="*/ 2147483647 w 136"/>
                <a:gd name="T25" fmla="*/ 2147483647 h 216"/>
                <a:gd name="T26" fmla="*/ 2147483647 w 136"/>
                <a:gd name="T27" fmla="*/ 2147483647 h 216"/>
                <a:gd name="T28" fmla="*/ 2147483647 w 136"/>
                <a:gd name="T29" fmla="*/ 2147483647 h 216"/>
                <a:gd name="T30" fmla="*/ 2147483647 w 136"/>
                <a:gd name="T31" fmla="*/ 2147483647 h 216"/>
                <a:gd name="T32" fmla="*/ 2147483647 w 136"/>
                <a:gd name="T33" fmla="*/ 2147483647 h 216"/>
                <a:gd name="T34" fmla="*/ 2147483647 w 136"/>
                <a:gd name="T35" fmla="*/ 2147483647 h 216"/>
                <a:gd name="T36" fmla="*/ 2147483647 w 136"/>
                <a:gd name="T37" fmla="*/ 2147483647 h 216"/>
                <a:gd name="T38" fmla="*/ 2147483647 w 136"/>
                <a:gd name="T39" fmla="*/ 2147483647 h 216"/>
                <a:gd name="T40" fmla="*/ 2147483647 w 136"/>
                <a:gd name="T41" fmla="*/ 2147483647 h 216"/>
                <a:gd name="T42" fmla="*/ 2147483647 w 136"/>
                <a:gd name="T43" fmla="*/ 2147483647 h 216"/>
                <a:gd name="T44" fmla="*/ 2147483647 w 136"/>
                <a:gd name="T45" fmla="*/ 2147483647 h 216"/>
                <a:gd name="T46" fmla="*/ 2147483647 w 136"/>
                <a:gd name="T47" fmla="*/ 2147483647 h 216"/>
                <a:gd name="T48" fmla="*/ 2147483647 w 136"/>
                <a:gd name="T49" fmla="*/ 2147483647 h 216"/>
                <a:gd name="T50" fmla="*/ 2147483647 w 136"/>
                <a:gd name="T51" fmla="*/ 2147483647 h 216"/>
                <a:gd name="T52" fmla="*/ 2147483647 w 136"/>
                <a:gd name="T53" fmla="*/ 2147483647 h 216"/>
                <a:gd name="T54" fmla="*/ 2147483647 w 136"/>
                <a:gd name="T55" fmla="*/ 2147483647 h 216"/>
                <a:gd name="T56" fmla="*/ 2147483647 w 136"/>
                <a:gd name="T57" fmla="*/ 2147483647 h 216"/>
                <a:gd name="T58" fmla="*/ 2147483647 w 136"/>
                <a:gd name="T59" fmla="*/ 0 h 216"/>
                <a:gd name="T60" fmla="*/ 2147483647 w 136"/>
                <a:gd name="T61" fmla="*/ 2147483647 h 216"/>
                <a:gd name="T62" fmla="*/ 2147483647 w 136"/>
                <a:gd name="T63" fmla="*/ 2147483647 h 21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36"/>
                <a:gd name="T97" fmla="*/ 0 h 216"/>
                <a:gd name="T98" fmla="*/ 136 w 136"/>
                <a:gd name="T99" fmla="*/ 216 h 21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36" h="216">
                  <a:moveTo>
                    <a:pt x="88" y="8"/>
                  </a:moveTo>
                  <a:lnTo>
                    <a:pt x="64" y="16"/>
                  </a:lnTo>
                  <a:lnTo>
                    <a:pt x="64" y="32"/>
                  </a:lnTo>
                  <a:lnTo>
                    <a:pt x="72" y="56"/>
                  </a:lnTo>
                  <a:lnTo>
                    <a:pt x="72" y="64"/>
                  </a:lnTo>
                  <a:lnTo>
                    <a:pt x="64" y="72"/>
                  </a:lnTo>
                  <a:lnTo>
                    <a:pt x="56" y="64"/>
                  </a:lnTo>
                  <a:lnTo>
                    <a:pt x="48" y="56"/>
                  </a:lnTo>
                  <a:lnTo>
                    <a:pt x="32" y="48"/>
                  </a:lnTo>
                  <a:lnTo>
                    <a:pt x="0" y="64"/>
                  </a:lnTo>
                  <a:lnTo>
                    <a:pt x="8" y="64"/>
                  </a:lnTo>
                  <a:lnTo>
                    <a:pt x="0" y="64"/>
                  </a:lnTo>
                  <a:lnTo>
                    <a:pt x="32" y="80"/>
                  </a:lnTo>
                  <a:lnTo>
                    <a:pt x="32" y="96"/>
                  </a:lnTo>
                  <a:lnTo>
                    <a:pt x="32" y="112"/>
                  </a:lnTo>
                  <a:lnTo>
                    <a:pt x="24" y="144"/>
                  </a:lnTo>
                  <a:lnTo>
                    <a:pt x="16" y="160"/>
                  </a:lnTo>
                  <a:lnTo>
                    <a:pt x="24" y="160"/>
                  </a:lnTo>
                  <a:lnTo>
                    <a:pt x="24" y="216"/>
                  </a:lnTo>
                  <a:lnTo>
                    <a:pt x="32" y="216"/>
                  </a:lnTo>
                  <a:lnTo>
                    <a:pt x="32" y="208"/>
                  </a:lnTo>
                  <a:lnTo>
                    <a:pt x="64" y="184"/>
                  </a:lnTo>
                  <a:lnTo>
                    <a:pt x="72" y="160"/>
                  </a:lnTo>
                  <a:lnTo>
                    <a:pt x="64" y="128"/>
                  </a:lnTo>
                  <a:lnTo>
                    <a:pt x="80" y="104"/>
                  </a:lnTo>
                  <a:lnTo>
                    <a:pt x="120" y="80"/>
                  </a:lnTo>
                  <a:lnTo>
                    <a:pt x="128" y="64"/>
                  </a:lnTo>
                  <a:lnTo>
                    <a:pt x="136" y="48"/>
                  </a:lnTo>
                  <a:lnTo>
                    <a:pt x="128" y="16"/>
                  </a:lnTo>
                  <a:lnTo>
                    <a:pt x="128" y="0"/>
                  </a:lnTo>
                  <a:lnTo>
                    <a:pt x="120" y="8"/>
                  </a:lnTo>
                  <a:lnTo>
                    <a:pt x="88"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92" name="Freeform 742"/>
            <p:cNvSpPr>
              <a:spLocks/>
            </p:cNvSpPr>
            <p:nvPr/>
          </p:nvSpPr>
          <p:spPr bwMode="auto">
            <a:xfrm>
              <a:off x="3132648" y="3492177"/>
              <a:ext cx="136014" cy="143811"/>
            </a:xfrm>
            <a:custGeom>
              <a:avLst/>
              <a:gdLst>
                <a:gd name="T0" fmla="*/ 2147483647 w 128"/>
                <a:gd name="T1" fmla="*/ 2147483647 h 136"/>
                <a:gd name="T2" fmla="*/ 2147483647 w 128"/>
                <a:gd name="T3" fmla="*/ 0 h 136"/>
                <a:gd name="T4" fmla="*/ 2147483647 w 128"/>
                <a:gd name="T5" fmla="*/ 0 h 136"/>
                <a:gd name="T6" fmla="*/ 2147483647 w 128"/>
                <a:gd name="T7" fmla="*/ 2147483647 h 136"/>
                <a:gd name="T8" fmla="*/ 2147483647 w 128"/>
                <a:gd name="T9" fmla="*/ 2147483647 h 136"/>
                <a:gd name="T10" fmla="*/ 2147483647 w 128"/>
                <a:gd name="T11" fmla="*/ 2147483647 h 136"/>
                <a:gd name="T12" fmla="*/ 2147483647 w 128"/>
                <a:gd name="T13" fmla="*/ 0 h 136"/>
                <a:gd name="T14" fmla="*/ 0 w 128"/>
                <a:gd name="T15" fmla="*/ 0 h 136"/>
                <a:gd name="T16" fmla="*/ 2147483647 w 128"/>
                <a:gd name="T17" fmla="*/ 2147483647 h 136"/>
                <a:gd name="T18" fmla="*/ 0 w 128"/>
                <a:gd name="T19" fmla="*/ 2147483647 h 136"/>
                <a:gd name="T20" fmla="*/ 2147483647 w 128"/>
                <a:gd name="T21" fmla="*/ 2147483647 h 136"/>
                <a:gd name="T22" fmla="*/ 2147483647 w 128"/>
                <a:gd name="T23" fmla="*/ 2147483647 h 136"/>
                <a:gd name="T24" fmla="*/ 2147483647 w 128"/>
                <a:gd name="T25" fmla="*/ 2147483647 h 136"/>
                <a:gd name="T26" fmla="*/ 2147483647 w 128"/>
                <a:gd name="T27" fmla="*/ 2147483647 h 136"/>
                <a:gd name="T28" fmla="*/ 2147483647 w 128"/>
                <a:gd name="T29" fmla="*/ 2147483647 h 136"/>
                <a:gd name="T30" fmla="*/ 2147483647 w 128"/>
                <a:gd name="T31" fmla="*/ 2147483647 h 136"/>
                <a:gd name="T32" fmla="*/ 2147483647 w 128"/>
                <a:gd name="T33" fmla="*/ 2147483647 h 136"/>
                <a:gd name="T34" fmla="*/ 2147483647 w 128"/>
                <a:gd name="T35" fmla="*/ 2147483647 h 136"/>
                <a:gd name="T36" fmla="*/ 2147483647 w 128"/>
                <a:gd name="T37" fmla="*/ 2147483647 h 136"/>
                <a:gd name="T38" fmla="*/ 2147483647 w 128"/>
                <a:gd name="T39" fmla="*/ 2147483647 h 136"/>
                <a:gd name="T40" fmla="*/ 2147483647 w 128"/>
                <a:gd name="T41" fmla="*/ 2147483647 h 136"/>
                <a:gd name="T42" fmla="*/ 2147483647 w 128"/>
                <a:gd name="T43" fmla="*/ 2147483647 h 136"/>
                <a:gd name="T44" fmla="*/ 2147483647 w 128"/>
                <a:gd name="T45" fmla="*/ 2147483647 h 136"/>
                <a:gd name="T46" fmla="*/ 2147483647 w 128"/>
                <a:gd name="T47" fmla="*/ 2147483647 h 136"/>
                <a:gd name="T48" fmla="*/ 2147483647 w 128"/>
                <a:gd name="T49" fmla="*/ 2147483647 h 1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8"/>
                <a:gd name="T76" fmla="*/ 0 h 136"/>
                <a:gd name="T77" fmla="*/ 128 w 128"/>
                <a:gd name="T78" fmla="*/ 136 h 1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8" h="136">
                  <a:moveTo>
                    <a:pt x="96" y="24"/>
                  </a:moveTo>
                  <a:lnTo>
                    <a:pt x="56" y="0"/>
                  </a:lnTo>
                  <a:lnTo>
                    <a:pt x="48" y="0"/>
                  </a:lnTo>
                  <a:lnTo>
                    <a:pt x="48" y="8"/>
                  </a:lnTo>
                  <a:lnTo>
                    <a:pt x="48" y="16"/>
                  </a:lnTo>
                  <a:lnTo>
                    <a:pt x="32" y="16"/>
                  </a:lnTo>
                  <a:lnTo>
                    <a:pt x="24" y="0"/>
                  </a:lnTo>
                  <a:lnTo>
                    <a:pt x="0" y="0"/>
                  </a:lnTo>
                  <a:lnTo>
                    <a:pt x="8" y="32"/>
                  </a:lnTo>
                  <a:lnTo>
                    <a:pt x="0" y="40"/>
                  </a:lnTo>
                  <a:lnTo>
                    <a:pt x="8" y="72"/>
                  </a:lnTo>
                  <a:lnTo>
                    <a:pt x="16" y="96"/>
                  </a:lnTo>
                  <a:lnTo>
                    <a:pt x="32" y="104"/>
                  </a:lnTo>
                  <a:lnTo>
                    <a:pt x="56" y="104"/>
                  </a:lnTo>
                  <a:lnTo>
                    <a:pt x="56" y="112"/>
                  </a:lnTo>
                  <a:lnTo>
                    <a:pt x="64" y="136"/>
                  </a:lnTo>
                  <a:lnTo>
                    <a:pt x="88" y="128"/>
                  </a:lnTo>
                  <a:lnTo>
                    <a:pt x="120" y="128"/>
                  </a:lnTo>
                  <a:lnTo>
                    <a:pt x="128" y="120"/>
                  </a:lnTo>
                  <a:lnTo>
                    <a:pt x="120" y="112"/>
                  </a:lnTo>
                  <a:lnTo>
                    <a:pt x="120" y="72"/>
                  </a:lnTo>
                  <a:lnTo>
                    <a:pt x="112" y="56"/>
                  </a:lnTo>
                  <a:lnTo>
                    <a:pt x="120" y="48"/>
                  </a:lnTo>
                  <a:lnTo>
                    <a:pt x="96" y="32"/>
                  </a:lnTo>
                  <a:lnTo>
                    <a:pt x="96"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93" name="Freeform 743"/>
            <p:cNvSpPr>
              <a:spLocks/>
            </p:cNvSpPr>
            <p:nvPr/>
          </p:nvSpPr>
          <p:spPr bwMode="auto">
            <a:xfrm>
              <a:off x="2895273" y="3559750"/>
              <a:ext cx="161137" cy="161137"/>
            </a:xfrm>
            <a:custGeom>
              <a:avLst/>
              <a:gdLst>
                <a:gd name="T0" fmla="*/ 2147483647 w 152"/>
                <a:gd name="T1" fmla="*/ 2147483647 h 152"/>
                <a:gd name="T2" fmla="*/ 2147483647 w 152"/>
                <a:gd name="T3" fmla="*/ 2147483647 h 152"/>
                <a:gd name="T4" fmla="*/ 2147483647 w 152"/>
                <a:gd name="T5" fmla="*/ 2147483647 h 152"/>
                <a:gd name="T6" fmla="*/ 2147483647 w 152"/>
                <a:gd name="T7" fmla="*/ 2147483647 h 152"/>
                <a:gd name="T8" fmla="*/ 2147483647 w 152"/>
                <a:gd name="T9" fmla="*/ 2147483647 h 152"/>
                <a:gd name="T10" fmla="*/ 2147483647 w 152"/>
                <a:gd name="T11" fmla="*/ 2147483647 h 152"/>
                <a:gd name="T12" fmla="*/ 2147483647 w 152"/>
                <a:gd name="T13" fmla="*/ 2147483647 h 152"/>
                <a:gd name="T14" fmla="*/ 2147483647 w 152"/>
                <a:gd name="T15" fmla="*/ 2147483647 h 152"/>
                <a:gd name="T16" fmla="*/ 2147483647 w 152"/>
                <a:gd name="T17" fmla="*/ 2147483647 h 152"/>
                <a:gd name="T18" fmla="*/ 2147483647 w 152"/>
                <a:gd name="T19" fmla="*/ 2147483647 h 152"/>
                <a:gd name="T20" fmla="*/ 2147483647 w 152"/>
                <a:gd name="T21" fmla="*/ 2147483647 h 152"/>
                <a:gd name="T22" fmla="*/ 2147483647 w 152"/>
                <a:gd name="T23" fmla="*/ 2147483647 h 152"/>
                <a:gd name="T24" fmla="*/ 2147483647 w 152"/>
                <a:gd name="T25" fmla="*/ 2147483647 h 152"/>
                <a:gd name="T26" fmla="*/ 2147483647 w 152"/>
                <a:gd name="T27" fmla="*/ 2147483647 h 152"/>
                <a:gd name="T28" fmla="*/ 2147483647 w 152"/>
                <a:gd name="T29" fmla="*/ 2147483647 h 152"/>
                <a:gd name="T30" fmla="*/ 2147483647 w 152"/>
                <a:gd name="T31" fmla="*/ 2147483647 h 152"/>
                <a:gd name="T32" fmla="*/ 2147483647 w 152"/>
                <a:gd name="T33" fmla="*/ 0 h 152"/>
                <a:gd name="T34" fmla="*/ 2147483647 w 152"/>
                <a:gd name="T35" fmla="*/ 0 h 152"/>
                <a:gd name="T36" fmla="*/ 0 w 152"/>
                <a:gd name="T37" fmla="*/ 2147483647 h 152"/>
                <a:gd name="T38" fmla="*/ 2147483647 w 152"/>
                <a:gd name="T39" fmla="*/ 2147483647 h 152"/>
                <a:gd name="T40" fmla="*/ 2147483647 w 152"/>
                <a:gd name="T41" fmla="*/ 2147483647 h 152"/>
                <a:gd name="T42" fmla="*/ 0 w 152"/>
                <a:gd name="T43" fmla="*/ 2147483647 h 152"/>
                <a:gd name="T44" fmla="*/ 0 w 152"/>
                <a:gd name="T45" fmla="*/ 2147483647 h 152"/>
                <a:gd name="T46" fmla="*/ 2147483647 w 152"/>
                <a:gd name="T47" fmla="*/ 2147483647 h 152"/>
                <a:gd name="T48" fmla="*/ 2147483647 w 152"/>
                <a:gd name="T49" fmla="*/ 2147483647 h 1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2"/>
                <a:gd name="T76" fmla="*/ 0 h 152"/>
                <a:gd name="T77" fmla="*/ 152 w 152"/>
                <a:gd name="T78" fmla="*/ 152 h 1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2" h="152">
                  <a:moveTo>
                    <a:pt x="16" y="144"/>
                  </a:moveTo>
                  <a:lnTo>
                    <a:pt x="72" y="144"/>
                  </a:lnTo>
                  <a:lnTo>
                    <a:pt x="80" y="152"/>
                  </a:lnTo>
                  <a:lnTo>
                    <a:pt x="112" y="152"/>
                  </a:lnTo>
                  <a:lnTo>
                    <a:pt x="136" y="144"/>
                  </a:lnTo>
                  <a:lnTo>
                    <a:pt x="128" y="128"/>
                  </a:lnTo>
                  <a:lnTo>
                    <a:pt x="128" y="88"/>
                  </a:lnTo>
                  <a:lnTo>
                    <a:pt x="152" y="80"/>
                  </a:lnTo>
                  <a:lnTo>
                    <a:pt x="152" y="64"/>
                  </a:lnTo>
                  <a:lnTo>
                    <a:pt x="144" y="64"/>
                  </a:lnTo>
                  <a:lnTo>
                    <a:pt x="152" y="64"/>
                  </a:lnTo>
                  <a:lnTo>
                    <a:pt x="128" y="64"/>
                  </a:lnTo>
                  <a:lnTo>
                    <a:pt x="120" y="16"/>
                  </a:lnTo>
                  <a:lnTo>
                    <a:pt x="96" y="16"/>
                  </a:lnTo>
                  <a:lnTo>
                    <a:pt x="80" y="24"/>
                  </a:lnTo>
                  <a:lnTo>
                    <a:pt x="72" y="24"/>
                  </a:lnTo>
                  <a:lnTo>
                    <a:pt x="48" y="0"/>
                  </a:lnTo>
                  <a:lnTo>
                    <a:pt x="16" y="0"/>
                  </a:lnTo>
                  <a:lnTo>
                    <a:pt x="0" y="8"/>
                  </a:lnTo>
                  <a:lnTo>
                    <a:pt x="8" y="56"/>
                  </a:lnTo>
                  <a:lnTo>
                    <a:pt x="16" y="80"/>
                  </a:lnTo>
                  <a:lnTo>
                    <a:pt x="0" y="112"/>
                  </a:lnTo>
                  <a:lnTo>
                    <a:pt x="0" y="144"/>
                  </a:lnTo>
                  <a:lnTo>
                    <a:pt x="8" y="136"/>
                  </a:lnTo>
                  <a:lnTo>
                    <a:pt x="16" y="14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94" name="Freeform 744"/>
            <p:cNvSpPr>
              <a:spLocks/>
            </p:cNvSpPr>
            <p:nvPr/>
          </p:nvSpPr>
          <p:spPr bwMode="auto">
            <a:xfrm>
              <a:off x="2895273" y="3407276"/>
              <a:ext cx="246038" cy="246038"/>
            </a:xfrm>
            <a:custGeom>
              <a:avLst/>
              <a:gdLst>
                <a:gd name="T0" fmla="*/ 2147483647 w 232"/>
                <a:gd name="T1" fmla="*/ 2147483647 h 232"/>
                <a:gd name="T2" fmla="*/ 2147483647 w 232"/>
                <a:gd name="T3" fmla="*/ 2147483647 h 232"/>
                <a:gd name="T4" fmla="*/ 2147483647 w 232"/>
                <a:gd name="T5" fmla="*/ 2147483647 h 232"/>
                <a:gd name="T6" fmla="*/ 2147483647 w 232"/>
                <a:gd name="T7" fmla="*/ 2147483647 h 232"/>
                <a:gd name="T8" fmla="*/ 2147483647 w 232"/>
                <a:gd name="T9" fmla="*/ 2147483647 h 232"/>
                <a:gd name="T10" fmla="*/ 2147483647 w 232"/>
                <a:gd name="T11" fmla="*/ 2147483647 h 232"/>
                <a:gd name="T12" fmla="*/ 0 w 232"/>
                <a:gd name="T13" fmla="*/ 2147483647 h 232"/>
                <a:gd name="T14" fmla="*/ 0 w 232"/>
                <a:gd name="T15" fmla="*/ 2147483647 h 232"/>
                <a:gd name="T16" fmla="*/ 2147483647 w 232"/>
                <a:gd name="T17" fmla="*/ 2147483647 h 232"/>
                <a:gd name="T18" fmla="*/ 2147483647 w 232"/>
                <a:gd name="T19" fmla="*/ 2147483647 h 232"/>
                <a:gd name="T20" fmla="*/ 2147483647 w 232"/>
                <a:gd name="T21" fmla="*/ 2147483647 h 232"/>
                <a:gd name="T22" fmla="*/ 2147483647 w 232"/>
                <a:gd name="T23" fmla="*/ 2147483647 h 232"/>
                <a:gd name="T24" fmla="*/ 2147483647 w 232"/>
                <a:gd name="T25" fmla="*/ 2147483647 h 232"/>
                <a:gd name="T26" fmla="*/ 2147483647 w 232"/>
                <a:gd name="T27" fmla="*/ 2147483647 h 232"/>
                <a:gd name="T28" fmla="*/ 2147483647 w 232"/>
                <a:gd name="T29" fmla="*/ 2147483647 h 232"/>
                <a:gd name="T30" fmla="*/ 2147483647 w 232"/>
                <a:gd name="T31" fmla="*/ 2147483647 h 232"/>
                <a:gd name="T32" fmla="*/ 2147483647 w 232"/>
                <a:gd name="T33" fmla="*/ 2147483647 h 232"/>
                <a:gd name="T34" fmla="*/ 2147483647 w 232"/>
                <a:gd name="T35" fmla="*/ 2147483647 h 232"/>
                <a:gd name="T36" fmla="*/ 2147483647 w 232"/>
                <a:gd name="T37" fmla="*/ 2147483647 h 232"/>
                <a:gd name="T38" fmla="*/ 2147483647 w 232"/>
                <a:gd name="T39" fmla="*/ 2147483647 h 232"/>
                <a:gd name="T40" fmla="*/ 2147483647 w 232"/>
                <a:gd name="T41" fmla="*/ 2147483647 h 232"/>
                <a:gd name="T42" fmla="*/ 2147483647 w 232"/>
                <a:gd name="T43" fmla="*/ 2147483647 h 232"/>
                <a:gd name="T44" fmla="*/ 2147483647 w 232"/>
                <a:gd name="T45" fmla="*/ 2147483647 h 232"/>
                <a:gd name="T46" fmla="*/ 2147483647 w 232"/>
                <a:gd name="T47" fmla="*/ 2147483647 h 232"/>
                <a:gd name="T48" fmla="*/ 2147483647 w 232"/>
                <a:gd name="T49" fmla="*/ 2147483647 h 232"/>
                <a:gd name="T50" fmla="*/ 2147483647 w 232"/>
                <a:gd name="T51" fmla="*/ 2147483647 h 232"/>
                <a:gd name="T52" fmla="*/ 2147483647 w 232"/>
                <a:gd name="T53" fmla="*/ 2147483647 h 232"/>
                <a:gd name="T54" fmla="*/ 2147483647 w 232"/>
                <a:gd name="T55" fmla="*/ 2147483647 h 232"/>
                <a:gd name="T56" fmla="*/ 2147483647 w 232"/>
                <a:gd name="T57" fmla="*/ 2147483647 h 232"/>
                <a:gd name="T58" fmla="*/ 2147483647 w 232"/>
                <a:gd name="T59" fmla="*/ 2147483647 h 232"/>
                <a:gd name="T60" fmla="*/ 2147483647 w 232"/>
                <a:gd name="T61" fmla="*/ 2147483647 h 232"/>
                <a:gd name="T62" fmla="*/ 2147483647 w 232"/>
                <a:gd name="T63" fmla="*/ 2147483647 h 232"/>
                <a:gd name="T64" fmla="*/ 2147483647 w 232"/>
                <a:gd name="T65" fmla="*/ 0 h 232"/>
                <a:gd name="T66" fmla="*/ 2147483647 w 232"/>
                <a:gd name="T67" fmla="*/ 0 h 232"/>
                <a:gd name="T68" fmla="*/ 2147483647 w 232"/>
                <a:gd name="T69" fmla="*/ 2147483647 h 232"/>
                <a:gd name="T70" fmla="*/ 2147483647 w 232"/>
                <a:gd name="T71" fmla="*/ 0 h 232"/>
                <a:gd name="T72" fmla="*/ 2147483647 w 232"/>
                <a:gd name="T73" fmla="*/ 2147483647 h 232"/>
                <a:gd name="T74" fmla="*/ 2147483647 w 232"/>
                <a:gd name="T75" fmla="*/ 2147483647 h 23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32"/>
                <a:gd name="T115" fmla="*/ 0 h 232"/>
                <a:gd name="T116" fmla="*/ 232 w 232"/>
                <a:gd name="T117" fmla="*/ 232 h 23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32" h="232">
                  <a:moveTo>
                    <a:pt x="80" y="24"/>
                  </a:moveTo>
                  <a:lnTo>
                    <a:pt x="72" y="72"/>
                  </a:lnTo>
                  <a:lnTo>
                    <a:pt x="56" y="80"/>
                  </a:lnTo>
                  <a:lnTo>
                    <a:pt x="40" y="112"/>
                  </a:lnTo>
                  <a:lnTo>
                    <a:pt x="24" y="128"/>
                  </a:lnTo>
                  <a:lnTo>
                    <a:pt x="8" y="128"/>
                  </a:lnTo>
                  <a:lnTo>
                    <a:pt x="0" y="136"/>
                  </a:lnTo>
                  <a:lnTo>
                    <a:pt x="0" y="152"/>
                  </a:lnTo>
                  <a:lnTo>
                    <a:pt x="16" y="144"/>
                  </a:lnTo>
                  <a:lnTo>
                    <a:pt x="48" y="144"/>
                  </a:lnTo>
                  <a:lnTo>
                    <a:pt x="72" y="168"/>
                  </a:lnTo>
                  <a:lnTo>
                    <a:pt x="80" y="168"/>
                  </a:lnTo>
                  <a:lnTo>
                    <a:pt x="96" y="160"/>
                  </a:lnTo>
                  <a:lnTo>
                    <a:pt x="120" y="160"/>
                  </a:lnTo>
                  <a:lnTo>
                    <a:pt x="128" y="208"/>
                  </a:lnTo>
                  <a:lnTo>
                    <a:pt x="152" y="208"/>
                  </a:lnTo>
                  <a:lnTo>
                    <a:pt x="168" y="208"/>
                  </a:lnTo>
                  <a:lnTo>
                    <a:pt x="192" y="224"/>
                  </a:lnTo>
                  <a:lnTo>
                    <a:pt x="216" y="232"/>
                  </a:lnTo>
                  <a:lnTo>
                    <a:pt x="216" y="224"/>
                  </a:lnTo>
                  <a:lnTo>
                    <a:pt x="208" y="208"/>
                  </a:lnTo>
                  <a:lnTo>
                    <a:pt x="208" y="200"/>
                  </a:lnTo>
                  <a:lnTo>
                    <a:pt x="216" y="176"/>
                  </a:lnTo>
                  <a:lnTo>
                    <a:pt x="224" y="168"/>
                  </a:lnTo>
                  <a:lnTo>
                    <a:pt x="216" y="144"/>
                  </a:lnTo>
                  <a:lnTo>
                    <a:pt x="216" y="120"/>
                  </a:lnTo>
                  <a:lnTo>
                    <a:pt x="208" y="96"/>
                  </a:lnTo>
                  <a:lnTo>
                    <a:pt x="216" y="72"/>
                  </a:lnTo>
                  <a:lnTo>
                    <a:pt x="232" y="40"/>
                  </a:lnTo>
                  <a:lnTo>
                    <a:pt x="232" y="16"/>
                  </a:lnTo>
                  <a:lnTo>
                    <a:pt x="224" y="8"/>
                  </a:lnTo>
                  <a:lnTo>
                    <a:pt x="200" y="8"/>
                  </a:lnTo>
                  <a:lnTo>
                    <a:pt x="192" y="0"/>
                  </a:lnTo>
                  <a:lnTo>
                    <a:pt x="160" y="0"/>
                  </a:lnTo>
                  <a:lnTo>
                    <a:pt x="128" y="8"/>
                  </a:lnTo>
                  <a:lnTo>
                    <a:pt x="104" y="0"/>
                  </a:lnTo>
                  <a:lnTo>
                    <a:pt x="80" y="8"/>
                  </a:lnTo>
                  <a:lnTo>
                    <a:pt x="80"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95" name="Freeform 745"/>
            <p:cNvSpPr>
              <a:spLocks/>
            </p:cNvSpPr>
            <p:nvPr/>
          </p:nvSpPr>
          <p:spPr bwMode="auto">
            <a:xfrm>
              <a:off x="3175098" y="3237476"/>
              <a:ext cx="194924" cy="187127"/>
            </a:xfrm>
            <a:custGeom>
              <a:avLst/>
              <a:gdLst>
                <a:gd name="T0" fmla="*/ 2147483647 w 184"/>
                <a:gd name="T1" fmla="*/ 2147483647 h 176"/>
                <a:gd name="T2" fmla="*/ 2147483647 w 184"/>
                <a:gd name="T3" fmla="*/ 2147483647 h 176"/>
                <a:gd name="T4" fmla="*/ 2147483647 w 184"/>
                <a:gd name="T5" fmla="*/ 2147483647 h 176"/>
                <a:gd name="T6" fmla="*/ 2147483647 w 184"/>
                <a:gd name="T7" fmla="*/ 2147483647 h 176"/>
                <a:gd name="T8" fmla="*/ 2147483647 w 184"/>
                <a:gd name="T9" fmla="*/ 2147483647 h 176"/>
                <a:gd name="T10" fmla="*/ 2147483647 w 184"/>
                <a:gd name="T11" fmla="*/ 2147483647 h 176"/>
                <a:gd name="T12" fmla="*/ 2147483647 w 184"/>
                <a:gd name="T13" fmla="*/ 2147483647 h 176"/>
                <a:gd name="T14" fmla="*/ 2147483647 w 184"/>
                <a:gd name="T15" fmla="*/ 2147483647 h 176"/>
                <a:gd name="T16" fmla="*/ 2147483647 w 184"/>
                <a:gd name="T17" fmla="*/ 2147483647 h 176"/>
                <a:gd name="T18" fmla="*/ 2147483647 w 184"/>
                <a:gd name="T19" fmla="*/ 2147483647 h 176"/>
                <a:gd name="T20" fmla="*/ 2147483647 w 184"/>
                <a:gd name="T21" fmla="*/ 2147483647 h 176"/>
                <a:gd name="T22" fmla="*/ 2147483647 w 184"/>
                <a:gd name="T23" fmla="*/ 2147483647 h 176"/>
                <a:gd name="T24" fmla="*/ 2147483647 w 184"/>
                <a:gd name="T25" fmla="*/ 2147483647 h 176"/>
                <a:gd name="T26" fmla="*/ 2147483647 w 184"/>
                <a:gd name="T27" fmla="*/ 2147483647 h 176"/>
                <a:gd name="T28" fmla="*/ 2147483647 w 184"/>
                <a:gd name="T29" fmla="*/ 0 h 176"/>
                <a:gd name="T30" fmla="*/ 2147483647 w 184"/>
                <a:gd name="T31" fmla="*/ 0 h 176"/>
                <a:gd name="T32" fmla="*/ 2147483647 w 184"/>
                <a:gd name="T33" fmla="*/ 2147483647 h 176"/>
                <a:gd name="T34" fmla="*/ 2147483647 w 184"/>
                <a:gd name="T35" fmla="*/ 2147483647 h 176"/>
                <a:gd name="T36" fmla="*/ 2147483647 w 184"/>
                <a:gd name="T37" fmla="*/ 2147483647 h 176"/>
                <a:gd name="T38" fmla="*/ 2147483647 w 184"/>
                <a:gd name="T39" fmla="*/ 2147483647 h 176"/>
                <a:gd name="T40" fmla="*/ 2147483647 w 184"/>
                <a:gd name="T41" fmla="*/ 2147483647 h 176"/>
                <a:gd name="T42" fmla="*/ 0 w 184"/>
                <a:gd name="T43" fmla="*/ 2147483647 h 176"/>
                <a:gd name="T44" fmla="*/ 0 w 184"/>
                <a:gd name="T45" fmla="*/ 2147483647 h 176"/>
                <a:gd name="T46" fmla="*/ 2147483647 w 184"/>
                <a:gd name="T47" fmla="*/ 2147483647 h 176"/>
                <a:gd name="T48" fmla="*/ 2147483647 w 184"/>
                <a:gd name="T49" fmla="*/ 2147483647 h 176"/>
                <a:gd name="T50" fmla="*/ 2147483647 w 184"/>
                <a:gd name="T51" fmla="*/ 2147483647 h 176"/>
                <a:gd name="T52" fmla="*/ 2147483647 w 184"/>
                <a:gd name="T53" fmla="*/ 2147483647 h 176"/>
                <a:gd name="T54" fmla="*/ 2147483647 w 184"/>
                <a:gd name="T55" fmla="*/ 2147483647 h 176"/>
                <a:gd name="T56" fmla="*/ 2147483647 w 184"/>
                <a:gd name="T57" fmla="*/ 2147483647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4"/>
                <a:gd name="T88" fmla="*/ 0 h 176"/>
                <a:gd name="T89" fmla="*/ 184 w 184"/>
                <a:gd name="T90" fmla="*/ 176 h 1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4" h="176">
                  <a:moveTo>
                    <a:pt x="88" y="176"/>
                  </a:moveTo>
                  <a:lnTo>
                    <a:pt x="96" y="176"/>
                  </a:lnTo>
                  <a:lnTo>
                    <a:pt x="104" y="176"/>
                  </a:lnTo>
                  <a:lnTo>
                    <a:pt x="112" y="176"/>
                  </a:lnTo>
                  <a:lnTo>
                    <a:pt x="128" y="168"/>
                  </a:lnTo>
                  <a:lnTo>
                    <a:pt x="152" y="160"/>
                  </a:lnTo>
                  <a:lnTo>
                    <a:pt x="184" y="128"/>
                  </a:lnTo>
                  <a:lnTo>
                    <a:pt x="160" y="120"/>
                  </a:lnTo>
                  <a:lnTo>
                    <a:pt x="128" y="104"/>
                  </a:lnTo>
                  <a:lnTo>
                    <a:pt x="120" y="96"/>
                  </a:lnTo>
                  <a:lnTo>
                    <a:pt x="136" y="88"/>
                  </a:lnTo>
                  <a:lnTo>
                    <a:pt x="128" y="80"/>
                  </a:lnTo>
                  <a:lnTo>
                    <a:pt x="96" y="32"/>
                  </a:lnTo>
                  <a:lnTo>
                    <a:pt x="80" y="24"/>
                  </a:lnTo>
                  <a:lnTo>
                    <a:pt x="64" y="0"/>
                  </a:lnTo>
                  <a:lnTo>
                    <a:pt x="56" y="0"/>
                  </a:lnTo>
                  <a:lnTo>
                    <a:pt x="48" y="8"/>
                  </a:lnTo>
                  <a:lnTo>
                    <a:pt x="40" y="56"/>
                  </a:lnTo>
                  <a:lnTo>
                    <a:pt x="32" y="80"/>
                  </a:lnTo>
                  <a:lnTo>
                    <a:pt x="16" y="96"/>
                  </a:lnTo>
                  <a:lnTo>
                    <a:pt x="8" y="120"/>
                  </a:lnTo>
                  <a:lnTo>
                    <a:pt x="0" y="120"/>
                  </a:lnTo>
                  <a:lnTo>
                    <a:pt x="0" y="128"/>
                  </a:lnTo>
                  <a:lnTo>
                    <a:pt x="16" y="144"/>
                  </a:lnTo>
                  <a:lnTo>
                    <a:pt x="24" y="152"/>
                  </a:lnTo>
                  <a:lnTo>
                    <a:pt x="32" y="160"/>
                  </a:lnTo>
                  <a:lnTo>
                    <a:pt x="32" y="168"/>
                  </a:lnTo>
                  <a:lnTo>
                    <a:pt x="48" y="168"/>
                  </a:lnTo>
                  <a:lnTo>
                    <a:pt x="88" y="17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96" name="Freeform 746"/>
            <p:cNvSpPr>
              <a:spLocks/>
            </p:cNvSpPr>
            <p:nvPr/>
          </p:nvSpPr>
          <p:spPr bwMode="auto">
            <a:xfrm>
              <a:off x="3183761" y="3415940"/>
              <a:ext cx="110024" cy="127351"/>
            </a:xfrm>
            <a:custGeom>
              <a:avLst/>
              <a:gdLst>
                <a:gd name="T0" fmla="*/ 2147483647 w 104"/>
                <a:gd name="T1" fmla="*/ 2147483647 h 120"/>
                <a:gd name="T2" fmla="*/ 2147483647 w 104"/>
                <a:gd name="T3" fmla="*/ 2147483647 h 120"/>
                <a:gd name="T4" fmla="*/ 2147483647 w 104"/>
                <a:gd name="T5" fmla="*/ 2147483647 h 120"/>
                <a:gd name="T6" fmla="*/ 2147483647 w 104"/>
                <a:gd name="T7" fmla="*/ 2147483647 h 120"/>
                <a:gd name="T8" fmla="*/ 2147483647 w 104"/>
                <a:gd name="T9" fmla="*/ 2147483647 h 120"/>
                <a:gd name="T10" fmla="*/ 2147483647 w 104"/>
                <a:gd name="T11" fmla="*/ 2147483647 h 120"/>
                <a:gd name="T12" fmla="*/ 2147483647 w 104"/>
                <a:gd name="T13" fmla="*/ 0 h 120"/>
                <a:gd name="T14" fmla="*/ 2147483647 w 104"/>
                <a:gd name="T15" fmla="*/ 0 h 120"/>
                <a:gd name="T16" fmla="*/ 2147483647 w 104"/>
                <a:gd name="T17" fmla="*/ 0 h 120"/>
                <a:gd name="T18" fmla="*/ 0 w 104"/>
                <a:gd name="T19" fmla="*/ 2147483647 h 120"/>
                <a:gd name="T20" fmla="*/ 2147483647 w 104"/>
                <a:gd name="T21" fmla="*/ 2147483647 h 120"/>
                <a:gd name="T22" fmla="*/ 2147483647 w 104"/>
                <a:gd name="T23" fmla="*/ 2147483647 h 120"/>
                <a:gd name="T24" fmla="*/ 0 w 104"/>
                <a:gd name="T25" fmla="*/ 2147483647 h 120"/>
                <a:gd name="T26" fmla="*/ 2147483647 w 104"/>
                <a:gd name="T27" fmla="*/ 2147483647 h 120"/>
                <a:gd name="T28" fmla="*/ 2147483647 w 104"/>
                <a:gd name="T29" fmla="*/ 2147483647 h 120"/>
                <a:gd name="T30" fmla="*/ 2147483647 w 104"/>
                <a:gd name="T31" fmla="*/ 2147483647 h 120"/>
                <a:gd name="T32" fmla="*/ 2147483647 w 104"/>
                <a:gd name="T33" fmla="*/ 2147483647 h 120"/>
                <a:gd name="T34" fmla="*/ 2147483647 w 104"/>
                <a:gd name="T35" fmla="*/ 2147483647 h 120"/>
                <a:gd name="T36" fmla="*/ 2147483647 w 104"/>
                <a:gd name="T37" fmla="*/ 2147483647 h 120"/>
                <a:gd name="T38" fmla="*/ 2147483647 w 104"/>
                <a:gd name="T39" fmla="*/ 2147483647 h 120"/>
                <a:gd name="T40" fmla="*/ 2147483647 w 104"/>
                <a:gd name="T41" fmla="*/ 2147483647 h 120"/>
                <a:gd name="T42" fmla="*/ 2147483647 w 104"/>
                <a:gd name="T43" fmla="*/ 2147483647 h 1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4"/>
                <a:gd name="T67" fmla="*/ 0 h 120"/>
                <a:gd name="T68" fmla="*/ 104 w 104"/>
                <a:gd name="T69" fmla="*/ 120 h 1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4" h="120">
                  <a:moveTo>
                    <a:pt x="96" y="24"/>
                  </a:moveTo>
                  <a:lnTo>
                    <a:pt x="104" y="16"/>
                  </a:lnTo>
                  <a:lnTo>
                    <a:pt x="104" y="8"/>
                  </a:lnTo>
                  <a:lnTo>
                    <a:pt x="96" y="8"/>
                  </a:lnTo>
                  <a:lnTo>
                    <a:pt x="88" y="8"/>
                  </a:lnTo>
                  <a:lnTo>
                    <a:pt x="80" y="8"/>
                  </a:lnTo>
                  <a:lnTo>
                    <a:pt x="40" y="0"/>
                  </a:lnTo>
                  <a:lnTo>
                    <a:pt x="24" y="0"/>
                  </a:lnTo>
                  <a:lnTo>
                    <a:pt x="16" y="0"/>
                  </a:lnTo>
                  <a:lnTo>
                    <a:pt x="0" y="8"/>
                  </a:lnTo>
                  <a:lnTo>
                    <a:pt x="8" y="16"/>
                  </a:lnTo>
                  <a:lnTo>
                    <a:pt x="8" y="32"/>
                  </a:lnTo>
                  <a:lnTo>
                    <a:pt x="0" y="48"/>
                  </a:lnTo>
                  <a:lnTo>
                    <a:pt x="8" y="72"/>
                  </a:lnTo>
                  <a:lnTo>
                    <a:pt x="48" y="96"/>
                  </a:lnTo>
                  <a:lnTo>
                    <a:pt x="48" y="104"/>
                  </a:lnTo>
                  <a:lnTo>
                    <a:pt x="72" y="120"/>
                  </a:lnTo>
                  <a:lnTo>
                    <a:pt x="72" y="112"/>
                  </a:lnTo>
                  <a:lnTo>
                    <a:pt x="88" y="88"/>
                  </a:lnTo>
                  <a:lnTo>
                    <a:pt x="104" y="80"/>
                  </a:lnTo>
                  <a:lnTo>
                    <a:pt x="96" y="64"/>
                  </a:lnTo>
                  <a:lnTo>
                    <a:pt x="96"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97" name="Freeform 747"/>
            <p:cNvSpPr>
              <a:spLocks/>
            </p:cNvSpPr>
            <p:nvPr/>
          </p:nvSpPr>
          <p:spPr bwMode="auto">
            <a:xfrm>
              <a:off x="3065074" y="3687101"/>
              <a:ext cx="101361" cy="102227"/>
            </a:xfrm>
            <a:custGeom>
              <a:avLst/>
              <a:gdLst>
                <a:gd name="T0" fmla="*/ 2147483647 w 96"/>
                <a:gd name="T1" fmla="*/ 2147483647 h 96"/>
                <a:gd name="T2" fmla="*/ 2147483647 w 96"/>
                <a:gd name="T3" fmla="*/ 2147483647 h 96"/>
                <a:gd name="T4" fmla="*/ 2147483647 w 96"/>
                <a:gd name="T5" fmla="*/ 2147483647 h 96"/>
                <a:gd name="T6" fmla="*/ 0 w 96"/>
                <a:gd name="T7" fmla="*/ 2147483647 h 96"/>
                <a:gd name="T8" fmla="*/ 2147483647 w 96"/>
                <a:gd name="T9" fmla="*/ 2147483647 h 96"/>
                <a:gd name="T10" fmla="*/ 2147483647 w 96"/>
                <a:gd name="T11" fmla="*/ 2147483647 h 96"/>
                <a:gd name="T12" fmla="*/ 2147483647 w 96"/>
                <a:gd name="T13" fmla="*/ 2147483647 h 96"/>
                <a:gd name="T14" fmla="*/ 2147483647 w 96"/>
                <a:gd name="T15" fmla="*/ 2147483647 h 96"/>
                <a:gd name="T16" fmla="*/ 2147483647 w 96"/>
                <a:gd name="T17" fmla="*/ 2147483647 h 96"/>
                <a:gd name="T18" fmla="*/ 2147483647 w 96"/>
                <a:gd name="T19" fmla="*/ 2147483647 h 96"/>
                <a:gd name="T20" fmla="*/ 2147483647 w 96"/>
                <a:gd name="T21" fmla="*/ 2147483647 h 96"/>
                <a:gd name="T22" fmla="*/ 2147483647 w 96"/>
                <a:gd name="T23" fmla="*/ 2147483647 h 96"/>
                <a:gd name="T24" fmla="*/ 2147483647 w 96"/>
                <a:gd name="T25" fmla="*/ 2147483647 h 96"/>
                <a:gd name="T26" fmla="*/ 2147483647 w 96"/>
                <a:gd name="T27" fmla="*/ 2147483647 h 96"/>
                <a:gd name="T28" fmla="*/ 2147483647 w 96"/>
                <a:gd name="T29" fmla="*/ 2147483647 h 96"/>
                <a:gd name="T30" fmla="*/ 2147483647 w 96"/>
                <a:gd name="T31" fmla="*/ 0 h 96"/>
                <a:gd name="T32" fmla="*/ 2147483647 w 96"/>
                <a:gd name="T33" fmla="*/ 2147483647 h 96"/>
                <a:gd name="T34" fmla="*/ 2147483647 w 96"/>
                <a:gd name="T35" fmla="*/ 2147483647 h 9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6"/>
                <a:gd name="T55" fmla="*/ 0 h 96"/>
                <a:gd name="T56" fmla="*/ 96 w 96"/>
                <a:gd name="T57" fmla="*/ 96 h 9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6" h="96">
                  <a:moveTo>
                    <a:pt x="40" y="24"/>
                  </a:moveTo>
                  <a:lnTo>
                    <a:pt x="24" y="32"/>
                  </a:lnTo>
                  <a:lnTo>
                    <a:pt x="8" y="32"/>
                  </a:lnTo>
                  <a:lnTo>
                    <a:pt x="0" y="32"/>
                  </a:lnTo>
                  <a:lnTo>
                    <a:pt x="8" y="32"/>
                  </a:lnTo>
                  <a:lnTo>
                    <a:pt x="16" y="48"/>
                  </a:lnTo>
                  <a:lnTo>
                    <a:pt x="24" y="64"/>
                  </a:lnTo>
                  <a:lnTo>
                    <a:pt x="32" y="64"/>
                  </a:lnTo>
                  <a:lnTo>
                    <a:pt x="40" y="80"/>
                  </a:lnTo>
                  <a:lnTo>
                    <a:pt x="56" y="88"/>
                  </a:lnTo>
                  <a:lnTo>
                    <a:pt x="80" y="96"/>
                  </a:lnTo>
                  <a:lnTo>
                    <a:pt x="88" y="80"/>
                  </a:lnTo>
                  <a:lnTo>
                    <a:pt x="96" y="48"/>
                  </a:lnTo>
                  <a:lnTo>
                    <a:pt x="96" y="32"/>
                  </a:lnTo>
                  <a:lnTo>
                    <a:pt x="96" y="16"/>
                  </a:lnTo>
                  <a:lnTo>
                    <a:pt x="64" y="0"/>
                  </a:lnTo>
                  <a:lnTo>
                    <a:pt x="56" y="8"/>
                  </a:lnTo>
                  <a:lnTo>
                    <a:pt x="40"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98" name="Freeform 748"/>
            <p:cNvSpPr>
              <a:spLocks/>
            </p:cNvSpPr>
            <p:nvPr/>
          </p:nvSpPr>
          <p:spPr bwMode="auto">
            <a:xfrm>
              <a:off x="3031287" y="3424603"/>
              <a:ext cx="177597" cy="296285"/>
            </a:xfrm>
            <a:custGeom>
              <a:avLst/>
              <a:gdLst>
                <a:gd name="T0" fmla="*/ 2147483647 w 168"/>
                <a:gd name="T1" fmla="*/ 2147483647 h 280"/>
                <a:gd name="T2" fmla="*/ 2147483647 w 168"/>
                <a:gd name="T3" fmla="*/ 2147483647 h 280"/>
                <a:gd name="T4" fmla="*/ 2147483647 w 168"/>
                <a:gd name="T5" fmla="*/ 2147483647 h 280"/>
                <a:gd name="T6" fmla="*/ 2147483647 w 168"/>
                <a:gd name="T7" fmla="*/ 2147483647 h 280"/>
                <a:gd name="T8" fmla="*/ 2147483647 w 168"/>
                <a:gd name="T9" fmla="*/ 2147483647 h 280"/>
                <a:gd name="T10" fmla="*/ 2147483647 w 168"/>
                <a:gd name="T11" fmla="*/ 2147483647 h 280"/>
                <a:gd name="T12" fmla="*/ 2147483647 w 168"/>
                <a:gd name="T13" fmla="*/ 2147483647 h 280"/>
                <a:gd name="T14" fmla="*/ 2147483647 w 168"/>
                <a:gd name="T15" fmla="*/ 2147483647 h 280"/>
                <a:gd name="T16" fmla="*/ 2147483647 w 168"/>
                <a:gd name="T17" fmla="*/ 2147483647 h 280"/>
                <a:gd name="T18" fmla="*/ 2147483647 w 168"/>
                <a:gd name="T19" fmla="*/ 2147483647 h 280"/>
                <a:gd name="T20" fmla="*/ 2147483647 w 168"/>
                <a:gd name="T21" fmla="*/ 2147483647 h 280"/>
                <a:gd name="T22" fmla="*/ 2147483647 w 168"/>
                <a:gd name="T23" fmla="*/ 2147483647 h 280"/>
                <a:gd name="T24" fmla="*/ 2147483647 w 168"/>
                <a:gd name="T25" fmla="*/ 2147483647 h 280"/>
                <a:gd name="T26" fmla="*/ 2147483647 w 168"/>
                <a:gd name="T27" fmla="*/ 2147483647 h 280"/>
                <a:gd name="T28" fmla="*/ 2147483647 w 168"/>
                <a:gd name="T29" fmla="*/ 2147483647 h 280"/>
                <a:gd name="T30" fmla="*/ 0 w 168"/>
                <a:gd name="T31" fmla="*/ 2147483647 h 280"/>
                <a:gd name="T32" fmla="*/ 0 w 168"/>
                <a:gd name="T33" fmla="*/ 2147483647 h 280"/>
                <a:gd name="T34" fmla="*/ 2147483647 w 168"/>
                <a:gd name="T35" fmla="*/ 2147483647 h 280"/>
                <a:gd name="T36" fmla="*/ 2147483647 w 168"/>
                <a:gd name="T37" fmla="*/ 2147483647 h 280"/>
                <a:gd name="T38" fmla="*/ 2147483647 w 168"/>
                <a:gd name="T39" fmla="*/ 2147483647 h 280"/>
                <a:gd name="T40" fmla="*/ 2147483647 w 168"/>
                <a:gd name="T41" fmla="*/ 2147483647 h 280"/>
                <a:gd name="T42" fmla="*/ 2147483647 w 168"/>
                <a:gd name="T43" fmla="*/ 2147483647 h 280"/>
                <a:gd name="T44" fmla="*/ 2147483647 w 168"/>
                <a:gd name="T45" fmla="*/ 2147483647 h 280"/>
                <a:gd name="T46" fmla="*/ 2147483647 w 168"/>
                <a:gd name="T47" fmla="*/ 2147483647 h 280"/>
                <a:gd name="T48" fmla="*/ 2147483647 w 168"/>
                <a:gd name="T49" fmla="*/ 2147483647 h 280"/>
                <a:gd name="T50" fmla="*/ 2147483647 w 168"/>
                <a:gd name="T51" fmla="*/ 2147483647 h 280"/>
                <a:gd name="T52" fmla="*/ 2147483647 w 168"/>
                <a:gd name="T53" fmla="*/ 2147483647 h 280"/>
                <a:gd name="T54" fmla="*/ 2147483647 w 168"/>
                <a:gd name="T55" fmla="*/ 2147483647 h 280"/>
                <a:gd name="T56" fmla="*/ 2147483647 w 168"/>
                <a:gd name="T57" fmla="*/ 2147483647 h 280"/>
                <a:gd name="T58" fmla="*/ 2147483647 w 168"/>
                <a:gd name="T59" fmla="*/ 2147483647 h 280"/>
                <a:gd name="T60" fmla="*/ 2147483647 w 168"/>
                <a:gd name="T61" fmla="*/ 2147483647 h 280"/>
                <a:gd name="T62" fmla="*/ 2147483647 w 168"/>
                <a:gd name="T63" fmla="*/ 2147483647 h 280"/>
                <a:gd name="T64" fmla="*/ 2147483647 w 168"/>
                <a:gd name="T65" fmla="*/ 2147483647 h 280"/>
                <a:gd name="T66" fmla="*/ 2147483647 w 168"/>
                <a:gd name="T67" fmla="*/ 2147483647 h 280"/>
                <a:gd name="T68" fmla="*/ 2147483647 w 168"/>
                <a:gd name="T69" fmla="*/ 2147483647 h 280"/>
                <a:gd name="T70" fmla="*/ 2147483647 w 168"/>
                <a:gd name="T71" fmla="*/ 2147483647 h 280"/>
                <a:gd name="T72" fmla="*/ 2147483647 w 168"/>
                <a:gd name="T73" fmla="*/ 2147483647 h 280"/>
                <a:gd name="T74" fmla="*/ 2147483647 w 168"/>
                <a:gd name="T75" fmla="*/ 2147483647 h 280"/>
                <a:gd name="T76" fmla="*/ 2147483647 w 168"/>
                <a:gd name="T77" fmla="*/ 2147483647 h 280"/>
                <a:gd name="T78" fmla="*/ 2147483647 w 168"/>
                <a:gd name="T79" fmla="*/ 2147483647 h 280"/>
                <a:gd name="T80" fmla="*/ 2147483647 w 168"/>
                <a:gd name="T81" fmla="*/ 2147483647 h 280"/>
                <a:gd name="T82" fmla="*/ 2147483647 w 168"/>
                <a:gd name="T83" fmla="*/ 2147483647 h 280"/>
                <a:gd name="T84" fmla="*/ 2147483647 w 168"/>
                <a:gd name="T85" fmla="*/ 2147483647 h 280"/>
                <a:gd name="T86" fmla="*/ 2147483647 w 168"/>
                <a:gd name="T87" fmla="*/ 2147483647 h 280"/>
                <a:gd name="T88" fmla="*/ 2147483647 w 168"/>
                <a:gd name="T89" fmla="*/ 2147483647 h 280"/>
                <a:gd name="T90" fmla="*/ 2147483647 w 168"/>
                <a:gd name="T91" fmla="*/ 2147483647 h 280"/>
                <a:gd name="T92" fmla="*/ 2147483647 w 168"/>
                <a:gd name="T93" fmla="*/ 2147483647 h 280"/>
                <a:gd name="T94" fmla="*/ 2147483647 w 168"/>
                <a:gd name="T95" fmla="*/ 2147483647 h 280"/>
                <a:gd name="T96" fmla="*/ 2147483647 w 168"/>
                <a:gd name="T97" fmla="*/ 2147483647 h 280"/>
                <a:gd name="T98" fmla="*/ 2147483647 w 168"/>
                <a:gd name="T99" fmla="*/ 2147483647 h 280"/>
                <a:gd name="T100" fmla="*/ 2147483647 w 168"/>
                <a:gd name="T101" fmla="*/ 2147483647 h 280"/>
                <a:gd name="T102" fmla="*/ 2147483647 w 168"/>
                <a:gd name="T103" fmla="*/ 2147483647 h 280"/>
                <a:gd name="T104" fmla="*/ 2147483647 w 168"/>
                <a:gd name="T105" fmla="*/ 0 h 280"/>
                <a:gd name="T106" fmla="*/ 2147483647 w 168"/>
                <a:gd name="T107" fmla="*/ 0 h 280"/>
                <a:gd name="T108" fmla="*/ 2147483647 w 168"/>
                <a:gd name="T109" fmla="*/ 2147483647 h 280"/>
                <a:gd name="T110" fmla="*/ 2147483647 w 168"/>
                <a:gd name="T111" fmla="*/ 0 h 280"/>
                <a:gd name="T112" fmla="*/ 2147483647 w 168"/>
                <a:gd name="T113" fmla="*/ 2147483647 h 28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68"/>
                <a:gd name="T172" fmla="*/ 0 h 280"/>
                <a:gd name="T173" fmla="*/ 168 w 168"/>
                <a:gd name="T174" fmla="*/ 280 h 28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68" h="280">
                  <a:moveTo>
                    <a:pt x="104" y="24"/>
                  </a:moveTo>
                  <a:lnTo>
                    <a:pt x="88" y="56"/>
                  </a:lnTo>
                  <a:lnTo>
                    <a:pt x="80" y="80"/>
                  </a:lnTo>
                  <a:lnTo>
                    <a:pt x="88" y="104"/>
                  </a:lnTo>
                  <a:lnTo>
                    <a:pt x="88" y="128"/>
                  </a:lnTo>
                  <a:lnTo>
                    <a:pt x="96" y="152"/>
                  </a:lnTo>
                  <a:lnTo>
                    <a:pt x="88" y="160"/>
                  </a:lnTo>
                  <a:lnTo>
                    <a:pt x="80" y="184"/>
                  </a:lnTo>
                  <a:lnTo>
                    <a:pt x="80" y="192"/>
                  </a:lnTo>
                  <a:lnTo>
                    <a:pt x="88" y="208"/>
                  </a:lnTo>
                  <a:lnTo>
                    <a:pt x="88" y="216"/>
                  </a:lnTo>
                  <a:lnTo>
                    <a:pt x="64" y="208"/>
                  </a:lnTo>
                  <a:lnTo>
                    <a:pt x="40" y="192"/>
                  </a:lnTo>
                  <a:lnTo>
                    <a:pt x="24" y="192"/>
                  </a:lnTo>
                  <a:lnTo>
                    <a:pt x="24" y="208"/>
                  </a:lnTo>
                  <a:lnTo>
                    <a:pt x="0" y="216"/>
                  </a:lnTo>
                  <a:lnTo>
                    <a:pt x="0" y="256"/>
                  </a:lnTo>
                  <a:lnTo>
                    <a:pt x="8" y="272"/>
                  </a:lnTo>
                  <a:lnTo>
                    <a:pt x="24" y="272"/>
                  </a:lnTo>
                  <a:lnTo>
                    <a:pt x="32" y="280"/>
                  </a:lnTo>
                  <a:lnTo>
                    <a:pt x="24" y="280"/>
                  </a:lnTo>
                  <a:lnTo>
                    <a:pt x="32" y="280"/>
                  </a:lnTo>
                  <a:lnTo>
                    <a:pt x="40" y="280"/>
                  </a:lnTo>
                  <a:lnTo>
                    <a:pt x="56" y="280"/>
                  </a:lnTo>
                  <a:lnTo>
                    <a:pt x="72" y="272"/>
                  </a:lnTo>
                  <a:lnTo>
                    <a:pt x="88" y="256"/>
                  </a:lnTo>
                  <a:lnTo>
                    <a:pt x="96" y="248"/>
                  </a:lnTo>
                  <a:lnTo>
                    <a:pt x="128" y="232"/>
                  </a:lnTo>
                  <a:lnTo>
                    <a:pt x="144" y="240"/>
                  </a:lnTo>
                  <a:lnTo>
                    <a:pt x="152" y="248"/>
                  </a:lnTo>
                  <a:lnTo>
                    <a:pt x="160" y="256"/>
                  </a:lnTo>
                  <a:lnTo>
                    <a:pt x="168" y="248"/>
                  </a:lnTo>
                  <a:lnTo>
                    <a:pt x="168" y="240"/>
                  </a:lnTo>
                  <a:lnTo>
                    <a:pt x="160" y="216"/>
                  </a:lnTo>
                  <a:lnTo>
                    <a:pt x="160" y="200"/>
                  </a:lnTo>
                  <a:lnTo>
                    <a:pt x="152" y="176"/>
                  </a:lnTo>
                  <a:lnTo>
                    <a:pt x="152" y="168"/>
                  </a:lnTo>
                  <a:lnTo>
                    <a:pt x="128" y="168"/>
                  </a:lnTo>
                  <a:lnTo>
                    <a:pt x="112" y="160"/>
                  </a:lnTo>
                  <a:lnTo>
                    <a:pt x="104" y="136"/>
                  </a:lnTo>
                  <a:lnTo>
                    <a:pt x="96" y="104"/>
                  </a:lnTo>
                  <a:lnTo>
                    <a:pt x="104" y="96"/>
                  </a:lnTo>
                  <a:lnTo>
                    <a:pt x="96" y="64"/>
                  </a:lnTo>
                  <a:lnTo>
                    <a:pt x="120" y="64"/>
                  </a:lnTo>
                  <a:lnTo>
                    <a:pt x="128" y="80"/>
                  </a:lnTo>
                  <a:lnTo>
                    <a:pt x="144" y="80"/>
                  </a:lnTo>
                  <a:lnTo>
                    <a:pt x="144" y="72"/>
                  </a:lnTo>
                  <a:lnTo>
                    <a:pt x="144" y="64"/>
                  </a:lnTo>
                  <a:lnTo>
                    <a:pt x="152" y="64"/>
                  </a:lnTo>
                  <a:lnTo>
                    <a:pt x="144" y="40"/>
                  </a:lnTo>
                  <a:lnTo>
                    <a:pt x="152" y="24"/>
                  </a:lnTo>
                  <a:lnTo>
                    <a:pt x="152" y="8"/>
                  </a:lnTo>
                  <a:lnTo>
                    <a:pt x="144" y="0"/>
                  </a:lnTo>
                  <a:lnTo>
                    <a:pt x="136" y="0"/>
                  </a:lnTo>
                  <a:lnTo>
                    <a:pt x="112" y="8"/>
                  </a:lnTo>
                  <a:lnTo>
                    <a:pt x="104" y="0"/>
                  </a:lnTo>
                  <a:lnTo>
                    <a:pt x="104"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199" name="Freeform 749"/>
            <p:cNvSpPr>
              <a:spLocks/>
            </p:cNvSpPr>
            <p:nvPr/>
          </p:nvSpPr>
          <p:spPr bwMode="auto">
            <a:xfrm>
              <a:off x="2665696" y="3272129"/>
              <a:ext cx="101360" cy="76237"/>
            </a:xfrm>
            <a:custGeom>
              <a:avLst/>
              <a:gdLst>
                <a:gd name="T0" fmla="*/ 2147483647 w 96"/>
                <a:gd name="T1" fmla="*/ 2147483647 h 72"/>
                <a:gd name="T2" fmla="*/ 2147483647 w 96"/>
                <a:gd name="T3" fmla="*/ 2147483647 h 72"/>
                <a:gd name="T4" fmla="*/ 2147483647 w 96"/>
                <a:gd name="T5" fmla="*/ 2147483647 h 72"/>
                <a:gd name="T6" fmla="*/ 2147483647 w 96"/>
                <a:gd name="T7" fmla="*/ 2147483647 h 72"/>
                <a:gd name="T8" fmla="*/ 2147483647 w 96"/>
                <a:gd name="T9" fmla="*/ 2147483647 h 72"/>
                <a:gd name="T10" fmla="*/ 2147483647 w 96"/>
                <a:gd name="T11" fmla="*/ 2147483647 h 72"/>
                <a:gd name="T12" fmla="*/ 2147483647 w 96"/>
                <a:gd name="T13" fmla="*/ 0 h 72"/>
                <a:gd name="T14" fmla="*/ 2147483647 w 96"/>
                <a:gd name="T15" fmla="*/ 0 h 72"/>
                <a:gd name="T16" fmla="*/ 2147483647 w 96"/>
                <a:gd name="T17" fmla="*/ 2147483647 h 72"/>
                <a:gd name="T18" fmla="*/ 2147483647 w 96"/>
                <a:gd name="T19" fmla="*/ 2147483647 h 72"/>
                <a:gd name="T20" fmla="*/ 0 w 96"/>
                <a:gd name="T21" fmla="*/ 2147483647 h 72"/>
                <a:gd name="T22" fmla="*/ 0 w 96"/>
                <a:gd name="T23" fmla="*/ 2147483647 h 72"/>
                <a:gd name="T24" fmla="*/ 0 w 96"/>
                <a:gd name="T25" fmla="*/ 2147483647 h 72"/>
                <a:gd name="T26" fmla="*/ 0 w 96"/>
                <a:gd name="T27" fmla="*/ 2147483647 h 72"/>
                <a:gd name="T28" fmla="*/ 2147483647 w 96"/>
                <a:gd name="T29" fmla="*/ 2147483647 h 72"/>
                <a:gd name="T30" fmla="*/ 2147483647 w 96"/>
                <a:gd name="T31" fmla="*/ 2147483647 h 72"/>
                <a:gd name="T32" fmla="*/ 2147483647 w 96"/>
                <a:gd name="T33" fmla="*/ 2147483647 h 72"/>
                <a:gd name="T34" fmla="*/ 2147483647 w 96"/>
                <a:gd name="T35" fmla="*/ 2147483647 h 72"/>
                <a:gd name="T36" fmla="*/ 2147483647 w 96"/>
                <a:gd name="T37" fmla="*/ 214748364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2"/>
                <a:gd name="T59" fmla="*/ 96 w 96"/>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2">
                  <a:moveTo>
                    <a:pt x="72" y="56"/>
                  </a:moveTo>
                  <a:lnTo>
                    <a:pt x="80" y="56"/>
                  </a:lnTo>
                  <a:lnTo>
                    <a:pt x="88" y="40"/>
                  </a:lnTo>
                  <a:lnTo>
                    <a:pt x="96" y="32"/>
                  </a:lnTo>
                  <a:lnTo>
                    <a:pt x="88" y="32"/>
                  </a:lnTo>
                  <a:lnTo>
                    <a:pt x="72" y="16"/>
                  </a:lnTo>
                  <a:lnTo>
                    <a:pt x="64" y="0"/>
                  </a:lnTo>
                  <a:lnTo>
                    <a:pt x="56" y="0"/>
                  </a:lnTo>
                  <a:lnTo>
                    <a:pt x="32" y="16"/>
                  </a:lnTo>
                  <a:lnTo>
                    <a:pt x="16" y="32"/>
                  </a:lnTo>
                  <a:lnTo>
                    <a:pt x="0" y="48"/>
                  </a:lnTo>
                  <a:lnTo>
                    <a:pt x="0" y="56"/>
                  </a:lnTo>
                  <a:lnTo>
                    <a:pt x="0" y="64"/>
                  </a:lnTo>
                  <a:lnTo>
                    <a:pt x="0" y="72"/>
                  </a:lnTo>
                  <a:lnTo>
                    <a:pt x="24" y="72"/>
                  </a:lnTo>
                  <a:lnTo>
                    <a:pt x="24" y="56"/>
                  </a:lnTo>
                  <a:lnTo>
                    <a:pt x="48" y="56"/>
                  </a:lnTo>
                  <a:lnTo>
                    <a:pt x="64" y="56"/>
                  </a:lnTo>
                  <a:lnTo>
                    <a:pt x="72" y="5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00" name="Freeform 750"/>
            <p:cNvSpPr>
              <a:spLocks/>
            </p:cNvSpPr>
            <p:nvPr/>
          </p:nvSpPr>
          <p:spPr bwMode="auto">
            <a:xfrm>
              <a:off x="2990570" y="3720888"/>
              <a:ext cx="126484" cy="127351"/>
            </a:xfrm>
            <a:custGeom>
              <a:avLst/>
              <a:gdLst>
                <a:gd name="T0" fmla="*/ 2147483647 w 120"/>
                <a:gd name="T1" fmla="*/ 2147483647 h 120"/>
                <a:gd name="T2" fmla="*/ 2147483647 w 120"/>
                <a:gd name="T3" fmla="*/ 2147483647 h 120"/>
                <a:gd name="T4" fmla="*/ 2147483647 w 120"/>
                <a:gd name="T5" fmla="*/ 2147483647 h 120"/>
                <a:gd name="T6" fmla="*/ 2147483647 w 120"/>
                <a:gd name="T7" fmla="*/ 0 h 120"/>
                <a:gd name="T8" fmla="*/ 2147483647 w 120"/>
                <a:gd name="T9" fmla="*/ 0 h 120"/>
                <a:gd name="T10" fmla="*/ 2147483647 w 120"/>
                <a:gd name="T11" fmla="*/ 2147483647 h 120"/>
                <a:gd name="T12" fmla="*/ 2147483647 w 120"/>
                <a:gd name="T13" fmla="*/ 0 h 120"/>
                <a:gd name="T14" fmla="*/ 2147483647 w 120"/>
                <a:gd name="T15" fmla="*/ 0 h 120"/>
                <a:gd name="T16" fmla="*/ 2147483647 w 120"/>
                <a:gd name="T17" fmla="*/ 0 h 120"/>
                <a:gd name="T18" fmla="*/ 2147483647 w 120"/>
                <a:gd name="T19" fmla="*/ 2147483647 h 120"/>
                <a:gd name="T20" fmla="*/ 2147483647 w 120"/>
                <a:gd name="T21" fmla="*/ 2147483647 h 120"/>
                <a:gd name="T22" fmla="*/ 0 w 120"/>
                <a:gd name="T23" fmla="*/ 2147483647 h 120"/>
                <a:gd name="T24" fmla="*/ 0 w 120"/>
                <a:gd name="T25" fmla="*/ 2147483647 h 120"/>
                <a:gd name="T26" fmla="*/ 2147483647 w 120"/>
                <a:gd name="T27" fmla="*/ 2147483647 h 120"/>
                <a:gd name="T28" fmla="*/ 2147483647 w 120"/>
                <a:gd name="T29" fmla="*/ 2147483647 h 120"/>
                <a:gd name="T30" fmla="*/ 2147483647 w 120"/>
                <a:gd name="T31" fmla="*/ 2147483647 h 120"/>
                <a:gd name="T32" fmla="*/ 2147483647 w 120"/>
                <a:gd name="T33" fmla="*/ 2147483647 h 120"/>
                <a:gd name="T34" fmla="*/ 2147483647 w 120"/>
                <a:gd name="T35" fmla="*/ 2147483647 h 120"/>
                <a:gd name="T36" fmla="*/ 2147483647 w 120"/>
                <a:gd name="T37" fmla="*/ 2147483647 h 120"/>
                <a:gd name="T38" fmla="*/ 2147483647 w 120"/>
                <a:gd name="T39" fmla="*/ 2147483647 h 120"/>
                <a:gd name="T40" fmla="*/ 2147483647 w 120"/>
                <a:gd name="T41" fmla="*/ 2147483647 h 120"/>
                <a:gd name="T42" fmla="*/ 2147483647 w 120"/>
                <a:gd name="T43" fmla="*/ 2147483647 h 1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0"/>
                <a:gd name="T67" fmla="*/ 0 h 120"/>
                <a:gd name="T68" fmla="*/ 120 w 120"/>
                <a:gd name="T69" fmla="*/ 120 h 1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0" h="120">
                  <a:moveTo>
                    <a:pt x="96" y="32"/>
                  </a:moveTo>
                  <a:lnTo>
                    <a:pt x="88" y="32"/>
                  </a:lnTo>
                  <a:lnTo>
                    <a:pt x="80" y="16"/>
                  </a:lnTo>
                  <a:lnTo>
                    <a:pt x="72" y="0"/>
                  </a:lnTo>
                  <a:lnTo>
                    <a:pt x="64" y="0"/>
                  </a:lnTo>
                  <a:lnTo>
                    <a:pt x="56" y="8"/>
                  </a:lnTo>
                  <a:lnTo>
                    <a:pt x="64" y="0"/>
                  </a:lnTo>
                  <a:lnTo>
                    <a:pt x="56" y="0"/>
                  </a:lnTo>
                  <a:lnTo>
                    <a:pt x="48" y="0"/>
                  </a:lnTo>
                  <a:lnTo>
                    <a:pt x="16" y="8"/>
                  </a:lnTo>
                  <a:lnTo>
                    <a:pt x="8" y="56"/>
                  </a:lnTo>
                  <a:lnTo>
                    <a:pt x="0" y="56"/>
                  </a:lnTo>
                  <a:lnTo>
                    <a:pt x="0" y="96"/>
                  </a:lnTo>
                  <a:lnTo>
                    <a:pt x="8" y="112"/>
                  </a:lnTo>
                  <a:lnTo>
                    <a:pt x="16" y="120"/>
                  </a:lnTo>
                  <a:lnTo>
                    <a:pt x="24" y="120"/>
                  </a:lnTo>
                  <a:lnTo>
                    <a:pt x="48" y="104"/>
                  </a:lnTo>
                  <a:lnTo>
                    <a:pt x="64" y="104"/>
                  </a:lnTo>
                  <a:lnTo>
                    <a:pt x="96" y="80"/>
                  </a:lnTo>
                  <a:lnTo>
                    <a:pt x="120" y="56"/>
                  </a:lnTo>
                  <a:lnTo>
                    <a:pt x="104" y="48"/>
                  </a:lnTo>
                  <a:lnTo>
                    <a:pt x="96"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01" name="Freeform 751"/>
            <p:cNvSpPr>
              <a:spLocks/>
            </p:cNvSpPr>
            <p:nvPr/>
          </p:nvSpPr>
          <p:spPr bwMode="auto">
            <a:xfrm>
              <a:off x="2665696" y="3272129"/>
              <a:ext cx="101360" cy="76237"/>
            </a:xfrm>
            <a:custGeom>
              <a:avLst/>
              <a:gdLst>
                <a:gd name="T0" fmla="*/ 2147483647 w 96"/>
                <a:gd name="T1" fmla="*/ 2147483647 h 72"/>
                <a:gd name="T2" fmla="*/ 2147483647 w 96"/>
                <a:gd name="T3" fmla="*/ 2147483647 h 72"/>
                <a:gd name="T4" fmla="*/ 2147483647 w 96"/>
                <a:gd name="T5" fmla="*/ 2147483647 h 72"/>
                <a:gd name="T6" fmla="*/ 2147483647 w 96"/>
                <a:gd name="T7" fmla="*/ 2147483647 h 72"/>
                <a:gd name="T8" fmla="*/ 2147483647 w 96"/>
                <a:gd name="T9" fmla="*/ 2147483647 h 72"/>
                <a:gd name="T10" fmla="*/ 2147483647 w 96"/>
                <a:gd name="T11" fmla="*/ 2147483647 h 72"/>
                <a:gd name="T12" fmla="*/ 2147483647 w 96"/>
                <a:gd name="T13" fmla="*/ 0 h 72"/>
                <a:gd name="T14" fmla="*/ 2147483647 w 96"/>
                <a:gd name="T15" fmla="*/ 0 h 72"/>
                <a:gd name="T16" fmla="*/ 2147483647 w 96"/>
                <a:gd name="T17" fmla="*/ 2147483647 h 72"/>
                <a:gd name="T18" fmla="*/ 2147483647 w 96"/>
                <a:gd name="T19" fmla="*/ 2147483647 h 72"/>
                <a:gd name="T20" fmla="*/ 0 w 96"/>
                <a:gd name="T21" fmla="*/ 2147483647 h 72"/>
                <a:gd name="T22" fmla="*/ 0 w 96"/>
                <a:gd name="T23" fmla="*/ 2147483647 h 72"/>
                <a:gd name="T24" fmla="*/ 0 w 96"/>
                <a:gd name="T25" fmla="*/ 2147483647 h 72"/>
                <a:gd name="T26" fmla="*/ 0 w 96"/>
                <a:gd name="T27" fmla="*/ 2147483647 h 72"/>
                <a:gd name="T28" fmla="*/ 2147483647 w 96"/>
                <a:gd name="T29" fmla="*/ 2147483647 h 72"/>
                <a:gd name="T30" fmla="*/ 2147483647 w 96"/>
                <a:gd name="T31" fmla="*/ 2147483647 h 72"/>
                <a:gd name="T32" fmla="*/ 2147483647 w 96"/>
                <a:gd name="T33" fmla="*/ 2147483647 h 72"/>
                <a:gd name="T34" fmla="*/ 2147483647 w 96"/>
                <a:gd name="T35" fmla="*/ 2147483647 h 72"/>
                <a:gd name="T36" fmla="*/ 2147483647 w 96"/>
                <a:gd name="T37" fmla="*/ 214748364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2"/>
                <a:gd name="T59" fmla="*/ 96 w 96"/>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2">
                  <a:moveTo>
                    <a:pt x="72" y="56"/>
                  </a:moveTo>
                  <a:lnTo>
                    <a:pt x="80" y="56"/>
                  </a:lnTo>
                  <a:lnTo>
                    <a:pt x="88" y="40"/>
                  </a:lnTo>
                  <a:lnTo>
                    <a:pt x="96" y="32"/>
                  </a:lnTo>
                  <a:lnTo>
                    <a:pt x="88" y="32"/>
                  </a:lnTo>
                  <a:lnTo>
                    <a:pt x="72" y="16"/>
                  </a:lnTo>
                  <a:lnTo>
                    <a:pt x="64" y="0"/>
                  </a:lnTo>
                  <a:lnTo>
                    <a:pt x="56" y="0"/>
                  </a:lnTo>
                  <a:lnTo>
                    <a:pt x="32" y="16"/>
                  </a:lnTo>
                  <a:lnTo>
                    <a:pt x="16" y="32"/>
                  </a:lnTo>
                  <a:lnTo>
                    <a:pt x="0" y="48"/>
                  </a:lnTo>
                  <a:lnTo>
                    <a:pt x="0" y="56"/>
                  </a:lnTo>
                  <a:lnTo>
                    <a:pt x="0" y="64"/>
                  </a:lnTo>
                  <a:lnTo>
                    <a:pt x="0" y="72"/>
                  </a:lnTo>
                  <a:lnTo>
                    <a:pt x="24" y="72"/>
                  </a:lnTo>
                  <a:lnTo>
                    <a:pt x="24" y="56"/>
                  </a:lnTo>
                  <a:lnTo>
                    <a:pt x="48" y="56"/>
                  </a:lnTo>
                  <a:lnTo>
                    <a:pt x="64" y="56"/>
                  </a:lnTo>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02" name="Freeform 752"/>
            <p:cNvSpPr>
              <a:spLocks/>
            </p:cNvSpPr>
            <p:nvPr/>
          </p:nvSpPr>
          <p:spPr bwMode="auto">
            <a:xfrm>
              <a:off x="2665696" y="3272129"/>
              <a:ext cx="101360" cy="76237"/>
            </a:xfrm>
            <a:custGeom>
              <a:avLst/>
              <a:gdLst>
                <a:gd name="T0" fmla="*/ 2147483647 w 96"/>
                <a:gd name="T1" fmla="*/ 2147483647 h 72"/>
                <a:gd name="T2" fmla="*/ 2147483647 w 96"/>
                <a:gd name="T3" fmla="*/ 2147483647 h 72"/>
                <a:gd name="T4" fmla="*/ 2147483647 w 96"/>
                <a:gd name="T5" fmla="*/ 2147483647 h 72"/>
                <a:gd name="T6" fmla="*/ 2147483647 w 96"/>
                <a:gd name="T7" fmla="*/ 2147483647 h 72"/>
                <a:gd name="T8" fmla="*/ 2147483647 w 96"/>
                <a:gd name="T9" fmla="*/ 2147483647 h 72"/>
                <a:gd name="T10" fmla="*/ 2147483647 w 96"/>
                <a:gd name="T11" fmla="*/ 2147483647 h 72"/>
                <a:gd name="T12" fmla="*/ 2147483647 w 96"/>
                <a:gd name="T13" fmla="*/ 0 h 72"/>
                <a:gd name="T14" fmla="*/ 2147483647 w 96"/>
                <a:gd name="T15" fmla="*/ 0 h 72"/>
                <a:gd name="T16" fmla="*/ 2147483647 w 96"/>
                <a:gd name="T17" fmla="*/ 2147483647 h 72"/>
                <a:gd name="T18" fmla="*/ 2147483647 w 96"/>
                <a:gd name="T19" fmla="*/ 2147483647 h 72"/>
                <a:gd name="T20" fmla="*/ 0 w 96"/>
                <a:gd name="T21" fmla="*/ 2147483647 h 72"/>
                <a:gd name="T22" fmla="*/ 0 w 96"/>
                <a:gd name="T23" fmla="*/ 2147483647 h 72"/>
                <a:gd name="T24" fmla="*/ 0 w 96"/>
                <a:gd name="T25" fmla="*/ 2147483647 h 72"/>
                <a:gd name="T26" fmla="*/ 0 w 96"/>
                <a:gd name="T27" fmla="*/ 2147483647 h 72"/>
                <a:gd name="T28" fmla="*/ 2147483647 w 96"/>
                <a:gd name="T29" fmla="*/ 2147483647 h 72"/>
                <a:gd name="T30" fmla="*/ 2147483647 w 96"/>
                <a:gd name="T31" fmla="*/ 2147483647 h 72"/>
                <a:gd name="T32" fmla="*/ 2147483647 w 96"/>
                <a:gd name="T33" fmla="*/ 2147483647 h 72"/>
                <a:gd name="T34" fmla="*/ 2147483647 w 96"/>
                <a:gd name="T35" fmla="*/ 2147483647 h 72"/>
                <a:gd name="T36" fmla="*/ 2147483647 w 96"/>
                <a:gd name="T37" fmla="*/ 214748364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2"/>
                <a:gd name="T59" fmla="*/ 96 w 96"/>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2">
                  <a:moveTo>
                    <a:pt x="72" y="56"/>
                  </a:moveTo>
                  <a:lnTo>
                    <a:pt x="80" y="56"/>
                  </a:lnTo>
                  <a:lnTo>
                    <a:pt x="88" y="40"/>
                  </a:lnTo>
                  <a:lnTo>
                    <a:pt x="96" y="32"/>
                  </a:lnTo>
                  <a:lnTo>
                    <a:pt x="88" y="32"/>
                  </a:lnTo>
                  <a:lnTo>
                    <a:pt x="72" y="16"/>
                  </a:lnTo>
                  <a:lnTo>
                    <a:pt x="64" y="0"/>
                  </a:lnTo>
                  <a:lnTo>
                    <a:pt x="56" y="0"/>
                  </a:lnTo>
                  <a:lnTo>
                    <a:pt x="32" y="16"/>
                  </a:lnTo>
                  <a:lnTo>
                    <a:pt x="16" y="32"/>
                  </a:lnTo>
                  <a:lnTo>
                    <a:pt x="0" y="48"/>
                  </a:lnTo>
                  <a:lnTo>
                    <a:pt x="0" y="56"/>
                  </a:lnTo>
                  <a:lnTo>
                    <a:pt x="0" y="64"/>
                  </a:lnTo>
                  <a:lnTo>
                    <a:pt x="0" y="72"/>
                  </a:lnTo>
                  <a:lnTo>
                    <a:pt x="24" y="72"/>
                  </a:lnTo>
                  <a:lnTo>
                    <a:pt x="24" y="56"/>
                  </a:lnTo>
                  <a:lnTo>
                    <a:pt x="48" y="56"/>
                  </a:lnTo>
                  <a:lnTo>
                    <a:pt x="64" y="56"/>
                  </a:lnTo>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03" name="Freeform 753"/>
            <p:cNvSpPr>
              <a:spLocks/>
            </p:cNvSpPr>
            <p:nvPr/>
          </p:nvSpPr>
          <p:spPr bwMode="auto">
            <a:xfrm>
              <a:off x="2733270" y="3331039"/>
              <a:ext cx="8663" cy="867"/>
            </a:xfrm>
            <a:custGeom>
              <a:avLst/>
              <a:gdLst>
                <a:gd name="T0" fmla="*/ 0 w 8"/>
                <a:gd name="T1" fmla="*/ 0 h 1943"/>
                <a:gd name="T2" fmla="*/ 2147483647 w 8"/>
                <a:gd name="T3" fmla="*/ 0 h 1943"/>
                <a:gd name="T4" fmla="*/ 0 w 8"/>
                <a:gd name="T5" fmla="*/ 0 h 1943"/>
                <a:gd name="T6" fmla="*/ 0 60000 65536"/>
                <a:gd name="T7" fmla="*/ 0 60000 65536"/>
                <a:gd name="T8" fmla="*/ 0 60000 65536"/>
                <a:gd name="T9" fmla="*/ 0 w 8"/>
                <a:gd name="T10" fmla="*/ 0 h 1943"/>
                <a:gd name="T11" fmla="*/ 8 w 8"/>
                <a:gd name="T12" fmla="*/ 1943 h 1943"/>
              </a:gdLst>
              <a:ahLst/>
              <a:cxnLst>
                <a:cxn ang="T6">
                  <a:pos x="T0" y="T1"/>
                </a:cxn>
                <a:cxn ang="T7">
                  <a:pos x="T2" y="T3"/>
                </a:cxn>
                <a:cxn ang="T8">
                  <a:pos x="T4" y="T5"/>
                </a:cxn>
              </a:cxnLst>
              <a:rect l="T9" t="T10" r="T11" b="T12"/>
              <a:pathLst>
                <a:path w="8" h="1943">
                  <a:moveTo>
                    <a:pt x="0" y="0"/>
                  </a:moveTo>
                  <a:lnTo>
                    <a:pt x="8" y="0"/>
                  </a:lnTo>
                  <a:lnTo>
                    <a:pt x="0" y="0"/>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04" name="Freeform 754"/>
            <p:cNvSpPr>
              <a:spLocks/>
            </p:cNvSpPr>
            <p:nvPr/>
          </p:nvSpPr>
          <p:spPr bwMode="auto">
            <a:xfrm>
              <a:off x="2733270" y="3331039"/>
              <a:ext cx="8663" cy="867"/>
            </a:xfrm>
            <a:custGeom>
              <a:avLst/>
              <a:gdLst>
                <a:gd name="T0" fmla="*/ 0 w 8"/>
                <a:gd name="T1" fmla="*/ 0 h 1943"/>
                <a:gd name="T2" fmla="*/ 0 w 8"/>
                <a:gd name="T3" fmla="*/ 0 h 1943"/>
                <a:gd name="T4" fmla="*/ 2147483647 w 8"/>
                <a:gd name="T5" fmla="*/ 0 h 1943"/>
                <a:gd name="T6" fmla="*/ 0 60000 65536"/>
                <a:gd name="T7" fmla="*/ 0 60000 65536"/>
                <a:gd name="T8" fmla="*/ 0 60000 65536"/>
                <a:gd name="T9" fmla="*/ 0 w 8"/>
                <a:gd name="T10" fmla="*/ 0 h 1943"/>
                <a:gd name="T11" fmla="*/ 8 w 8"/>
                <a:gd name="T12" fmla="*/ 1943 h 1943"/>
              </a:gdLst>
              <a:ahLst/>
              <a:cxnLst>
                <a:cxn ang="T6">
                  <a:pos x="T0" y="T1"/>
                </a:cxn>
                <a:cxn ang="T7">
                  <a:pos x="T2" y="T3"/>
                </a:cxn>
                <a:cxn ang="T8">
                  <a:pos x="T4" y="T5"/>
                </a:cxn>
              </a:cxnLst>
              <a:rect l="T9" t="T10" r="T11" b="T12"/>
              <a:pathLst>
                <a:path w="8" h="1943">
                  <a:moveTo>
                    <a:pt x="0" y="0"/>
                  </a:moveTo>
                  <a:lnTo>
                    <a:pt x="0" y="0"/>
                  </a:lnTo>
                  <a:lnTo>
                    <a:pt x="8" y="0"/>
                  </a:lnTo>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05" name="Freeform 755"/>
            <p:cNvSpPr>
              <a:spLocks/>
            </p:cNvSpPr>
            <p:nvPr/>
          </p:nvSpPr>
          <p:spPr bwMode="auto">
            <a:xfrm>
              <a:off x="2733270" y="3331039"/>
              <a:ext cx="8663" cy="867"/>
            </a:xfrm>
            <a:custGeom>
              <a:avLst/>
              <a:gdLst>
                <a:gd name="T0" fmla="*/ 0 w 8"/>
                <a:gd name="T1" fmla="*/ 0 h 1943"/>
                <a:gd name="T2" fmla="*/ 0 w 8"/>
                <a:gd name="T3" fmla="*/ 0 h 1943"/>
                <a:gd name="T4" fmla="*/ 2147483647 w 8"/>
                <a:gd name="T5" fmla="*/ 0 h 1943"/>
                <a:gd name="T6" fmla="*/ 0 60000 65536"/>
                <a:gd name="T7" fmla="*/ 0 60000 65536"/>
                <a:gd name="T8" fmla="*/ 0 60000 65536"/>
                <a:gd name="T9" fmla="*/ 0 w 8"/>
                <a:gd name="T10" fmla="*/ 0 h 1943"/>
                <a:gd name="T11" fmla="*/ 8 w 8"/>
                <a:gd name="T12" fmla="*/ 1943 h 1943"/>
              </a:gdLst>
              <a:ahLst/>
              <a:cxnLst>
                <a:cxn ang="T6">
                  <a:pos x="T0" y="T1"/>
                </a:cxn>
                <a:cxn ang="T7">
                  <a:pos x="T2" y="T3"/>
                </a:cxn>
                <a:cxn ang="T8">
                  <a:pos x="T4" y="T5"/>
                </a:cxn>
              </a:cxnLst>
              <a:rect l="T9" t="T10" r="T11" b="T12"/>
              <a:pathLst>
                <a:path w="8" h="1943">
                  <a:moveTo>
                    <a:pt x="0" y="0"/>
                  </a:moveTo>
                  <a:lnTo>
                    <a:pt x="0" y="0"/>
                  </a:lnTo>
                  <a:lnTo>
                    <a:pt x="8" y="0"/>
                  </a:lnTo>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06" name="Freeform 756"/>
            <p:cNvSpPr>
              <a:spLocks/>
            </p:cNvSpPr>
            <p:nvPr/>
          </p:nvSpPr>
          <p:spPr bwMode="auto">
            <a:xfrm>
              <a:off x="2690820" y="3331039"/>
              <a:ext cx="51114" cy="76237"/>
            </a:xfrm>
            <a:custGeom>
              <a:avLst/>
              <a:gdLst>
                <a:gd name="T0" fmla="*/ 2147483647 w 48"/>
                <a:gd name="T1" fmla="*/ 2147483647 h 72"/>
                <a:gd name="T2" fmla="*/ 2147483647 w 48"/>
                <a:gd name="T3" fmla="*/ 0 h 72"/>
                <a:gd name="T4" fmla="*/ 2147483647 w 48"/>
                <a:gd name="T5" fmla="*/ 0 h 72"/>
                <a:gd name="T6" fmla="*/ 0 w 48"/>
                <a:gd name="T7" fmla="*/ 0 h 72"/>
                <a:gd name="T8" fmla="*/ 0 w 48"/>
                <a:gd name="T9" fmla="*/ 2147483647 h 72"/>
                <a:gd name="T10" fmla="*/ 2147483647 w 48"/>
                <a:gd name="T11" fmla="*/ 2147483647 h 72"/>
                <a:gd name="T12" fmla="*/ 0 w 48"/>
                <a:gd name="T13" fmla="*/ 2147483647 h 72"/>
                <a:gd name="T14" fmla="*/ 0 w 48"/>
                <a:gd name="T15" fmla="*/ 2147483647 h 72"/>
                <a:gd name="T16" fmla="*/ 0 w 48"/>
                <a:gd name="T17" fmla="*/ 2147483647 h 72"/>
                <a:gd name="T18" fmla="*/ 2147483647 w 48"/>
                <a:gd name="T19" fmla="*/ 2147483647 h 72"/>
                <a:gd name="T20" fmla="*/ 2147483647 w 48"/>
                <a:gd name="T21" fmla="*/ 2147483647 h 72"/>
                <a:gd name="T22" fmla="*/ 2147483647 w 48"/>
                <a:gd name="T23" fmla="*/ 2147483647 h 72"/>
                <a:gd name="T24" fmla="*/ 2147483647 w 48"/>
                <a:gd name="T25" fmla="*/ 2147483647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
                <a:gd name="T40" fmla="*/ 0 h 72"/>
                <a:gd name="T41" fmla="*/ 48 w 48"/>
                <a:gd name="T42" fmla="*/ 72 h 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 h="72">
                  <a:moveTo>
                    <a:pt x="40" y="8"/>
                  </a:moveTo>
                  <a:lnTo>
                    <a:pt x="40" y="0"/>
                  </a:lnTo>
                  <a:lnTo>
                    <a:pt x="24" y="0"/>
                  </a:lnTo>
                  <a:lnTo>
                    <a:pt x="0" y="0"/>
                  </a:lnTo>
                  <a:lnTo>
                    <a:pt x="0" y="16"/>
                  </a:lnTo>
                  <a:lnTo>
                    <a:pt x="8" y="32"/>
                  </a:lnTo>
                  <a:lnTo>
                    <a:pt x="0" y="48"/>
                  </a:lnTo>
                  <a:lnTo>
                    <a:pt x="0" y="56"/>
                  </a:lnTo>
                  <a:lnTo>
                    <a:pt x="0" y="72"/>
                  </a:lnTo>
                  <a:lnTo>
                    <a:pt x="24" y="72"/>
                  </a:lnTo>
                  <a:lnTo>
                    <a:pt x="48" y="64"/>
                  </a:lnTo>
                  <a:lnTo>
                    <a:pt x="40" y="24"/>
                  </a:lnTo>
                  <a:lnTo>
                    <a:pt x="40"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07" name="Freeform 757"/>
            <p:cNvSpPr>
              <a:spLocks/>
            </p:cNvSpPr>
            <p:nvPr/>
          </p:nvSpPr>
          <p:spPr bwMode="auto">
            <a:xfrm>
              <a:off x="2767057" y="3279926"/>
              <a:ext cx="162004" cy="144677"/>
            </a:xfrm>
            <a:custGeom>
              <a:avLst/>
              <a:gdLst>
                <a:gd name="T0" fmla="*/ 2147483647 w 153"/>
                <a:gd name="T1" fmla="*/ 2147483647 h 136"/>
                <a:gd name="T2" fmla="*/ 2147483647 w 153"/>
                <a:gd name="T3" fmla="*/ 2147483647 h 136"/>
                <a:gd name="T4" fmla="*/ 2147483647 w 153"/>
                <a:gd name="T5" fmla="*/ 2147483647 h 136"/>
                <a:gd name="T6" fmla="*/ 2147483647 w 153"/>
                <a:gd name="T7" fmla="*/ 2147483647 h 136"/>
                <a:gd name="T8" fmla="*/ 2147483647 w 153"/>
                <a:gd name="T9" fmla="*/ 2147483647 h 136"/>
                <a:gd name="T10" fmla="*/ 2147483647 w 153"/>
                <a:gd name="T11" fmla="*/ 2147483647 h 136"/>
                <a:gd name="T12" fmla="*/ 2147483647 w 153"/>
                <a:gd name="T13" fmla="*/ 2147483647 h 136"/>
                <a:gd name="T14" fmla="*/ 2147483647 w 153"/>
                <a:gd name="T15" fmla="*/ 2147483647 h 136"/>
                <a:gd name="T16" fmla="*/ 2147483647 w 153"/>
                <a:gd name="T17" fmla="*/ 0 h 136"/>
                <a:gd name="T18" fmla="*/ 2147483647 w 153"/>
                <a:gd name="T19" fmla="*/ 2147483647 h 136"/>
                <a:gd name="T20" fmla="*/ 2147483647 w 153"/>
                <a:gd name="T21" fmla="*/ 2147483647 h 136"/>
                <a:gd name="T22" fmla="*/ 2147483647 w 153"/>
                <a:gd name="T23" fmla="*/ 2147483647 h 136"/>
                <a:gd name="T24" fmla="*/ 2147483647 w 153"/>
                <a:gd name="T25" fmla="*/ 2147483647 h 136"/>
                <a:gd name="T26" fmla="*/ 2147483647 w 153"/>
                <a:gd name="T27" fmla="*/ 2147483647 h 136"/>
                <a:gd name="T28" fmla="*/ 2147483647 w 153"/>
                <a:gd name="T29" fmla="*/ 2147483647 h 136"/>
                <a:gd name="T30" fmla="*/ 2147483647 w 153"/>
                <a:gd name="T31" fmla="*/ 2147483647 h 136"/>
                <a:gd name="T32" fmla="*/ 2147483647 w 153"/>
                <a:gd name="T33" fmla="*/ 2147483647 h 136"/>
                <a:gd name="T34" fmla="*/ 2147483647 w 153"/>
                <a:gd name="T35" fmla="*/ 2147483647 h 136"/>
                <a:gd name="T36" fmla="*/ 0 w 153"/>
                <a:gd name="T37" fmla="*/ 2147483647 h 136"/>
                <a:gd name="T38" fmla="*/ 0 w 153"/>
                <a:gd name="T39" fmla="*/ 2147483647 h 136"/>
                <a:gd name="T40" fmla="*/ 2147483647 w 153"/>
                <a:gd name="T41" fmla="*/ 2147483647 h 136"/>
                <a:gd name="T42" fmla="*/ 2147483647 w 153"/>
                <a:gd name="T43" fmla="*/ 2147483647 h 136"/>
                <a:gd name="T44" fmla="*/ 2147483647 w 153"/>
                <a:gd name="T45" fmla="*/ 2147483647 h 136"/>
                <a:gd name="T46" fmla="*/ 2147483647 w 153"/>
                <a:gd name="T47" fmla="*/ 2147483647 h 136"/>
                <a:gd name="T48" fmla="*/ 2147483647 w 153"/>
                <a:gd name="T49" fmla="*/ 2147483647 h 136"/>
                <a:gd name="T50" fmla="*/ 2147483647 w 153"/>
                <a:gd name="T51" fmla="*/ 2147483647 h 1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3"/>
                <a:gd name="T79" fmla="*/ 0 h 136"/>
                <a:gd name="T80" fmla="*/ 153 w 153"/>
                <a:gd name="T81" fmla="*/ 136 h 1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3" h="136">
                  <a:moveTo>
                    <a:pt x="81" y="96"/>
                  </a:moveTo>
                  <a:lnTo>
                    <a:pt x="105" y="104"/>
                  </a:lnTo>
                  <a:lnTo>
                    <a:pt x="121" y="80"/>
                  </a:lnTo>
                  <a:lnTo>
                    <a:pt x="137" y="48"/>
                  </a:lnTo>
                  <a:lnTo>
                    <a:pt x="137" y="32"/>
                  </a:lnTo>
                  <a:lnTo>
                    <a:pt x="153" y="32"/>
                  </a:lnTo>
                  <a:lnTo>
                    <a:pt x="153" y="16"/>
                  </a:lnTo>
                  <a:lnTo>
                    <a:pt x="145" y="16"/>
                  </a:lnTo>
                  <a:lnTo>
                    <a:pt x="137" y="0"/>
                  </a:lnTo>
                  <a:lnTo>
                    <a:pt x="121" y="16"/>
                  </a:lnTo>
                  <a:lnTo>
                    <a:pt x="97" y="16"/>
                  </a:lnTo>
                  <a:lnTo>
                    <a:pt x="73" y="16"/>
                  </a:lnTo>
                  <a:lnTo>
                    <a:pt x="57" y="24"/>
                  </a:lnTo>
                  <a:lnTo>
                    <a:pt x="32" y="16"/>
                  </a:lnTo>
                  <a:lnTo>
                    <a:pt x="16" y="16"/>
                  </a:lnTo>
                  <a:lnTo>
                    <a:pt x="8" y="32"/>
                  </a:lnTo>
                  <a:lnTo>
                    <a:pt x="8" y="40"/>
                  </a:lnTo>
                  <a:lnTo>
                    <a:pt x="8" y="56"/>
                  </a:lnTo>
                  <a:lnTo>
                    <a:pt x="0" y="88"/>
                  </a:lnTo>
                  <a:lnTo>
                    <a:pt x="0" y="104"/>
                  </a:lnTo>
                  <a:lnTo>
                    <a:pt x="16" y="104"/>
                  </a:lnTo>
                  <a:lnTo>
                    <a:pt x="32" y="128"/>
                  </a:lnTo>
                  <a:lnTo>
                    <a:pt x="49" y="128"/>
                  </a:lnTo>
                  <a:lnTo>
                    <a:pt x="65" y="136"/>
                  </a:lnTo>
                  <a:lnTo>
                    <a:pt x="73" y="112"/>
                  </a:lnTo>
                  <a:lnTo>
                    <a:pt x="81" y="9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08" name="Freeform 758"/>
            <p:cNvSpPr>
              <a:spLocks/>
            </p:cNvSpPr>
            <p:nvPr/>
          </p:nvSpPr>
          <p:spPr bwMode="auto">
            <a:xfrm>
              <a:off x="2929060" y="3331039"/>
              <a:ext cx="169801" cy="102227"/>
            </a:xfrm>
            <a:custGeom>
              <a:avLst/>
              <a:gdLst>
                <a:gd name="T0" fmla="*/ 2147483647 w 160"/>
                <a:gd name="T1" fmla="*/ 2147483647 h 96"/>
                <a:gd name="T2" fmla="*/ 2147483647 w 160"/>
                <a:gd name="T3" fmla="*/ 2147483647 h 96"/>
                <a:gd name="T4" fmla="*/ 2147483647 w 160"/>
                <a:gd name="T5" fmla="*/ 2147483647 h 96"/>
                <a:gd name="T6" fmla="*/ 2147483647 w 160"/>
                <a:gd name="T7" fmla="*/ 2147483647 h 96"/>
                <a:gd name="T8" fmla="*/ 0 w 160"/>
                <a:gd name="T9" fmla="*/ 2147483647 h 96"/>
                <a:gd name="T10" fmla="*/ 2147483647 w 160"/>
                <a:gd name="T11" fmla="*/ 2147483647 h 96"/>
                <a:gd name="T12" fmla="*/ 2147483647 w 160"/>
                <a:gd name="T13" fmla="*/ 2147483647 h 96"/>
                <a:gd name="T14" fmla="*/ 2147483647 w 160"/>
                <a:gd name="T15" fmla="*/ 2147483647 h 96"/>
                <a:gd name="T16" fmla="*/ 2147483647 w 160"/>
                <a:gd name="T17" fmla="*/ 2147483647 h 96"/>
                <a:gd name="T18" fmla="*/ 2147483647 w 160"/>
                <a:gd name="T19" fmla="*/ 2147483647 h 96"/>
                <a:gd name="T20" fmla="*/ 2147483647 w 160"/>
                <a:gd name="T21" fmla="*/ 2147483647 h 96"/>
                <a:gd name="T22" fmla="*/ 2147483647 w 160"/>
                <a:gd name="T23" fmla="*/ 2147483647 h 96"/>
                <a:gd name="T24" fmla="*/ 2147483647 w 160"/>
                <a:gd name="T25" fmla="*/ 2147483647 h 96"/>
                <a:gd name="T26" fmla="*/ 2147483647 w 160"/>
                <a:gd name="T27" fmla="*/ 2147483647 h 96"/>
                <a:gd name="T28" fmla="*/ 2147483647 w 160"/>
                <a:gd name="T29" fmla="*/ 2147483647 h 96"/>
                <a:gd name="T30" fmla="*/ 2147483647 w 160"/>
                <a:gd name="T31" fmla="*/ 2147483647 h 96"/>
                <a:gd name="T32" fmla="*/ 2147483647 w 160"/>
                <a:gd name="T33" fmla="*/ 2147483647 h 96"/>
                <a:gd name="T34" fmla="*/ 2147483647 w 160"/>
                <a:gd name="T35" fmla="*/ 2147483647 h 96"/>
                <a:gd name="T36" fmla="*/ 2147483647 w 160"/>
                <a:gd name="T37" fmla="*/ 0 h 96"/>
                <a:gd name="T38" fmla="*/ 2147483647 w 160"/>
                <a:gd name="T39" fmla="*/ 2147483647 h 96"/>
                <a:gd name="T40" fmla="*/ 2147483647 w 160"/>
                <a:gd name="T41" fmla="*/ 2147483647 h 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0"/>
                <a:gd name="T64" fmla="*/ 0 h 96"/>
                <a:gd name="T65" fmla="*/ 160 w 160"/>
                <a:gd name="T66" fmla="*/ 96 h 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0" h="96">
                  <a:moveTo>
                    <a:pt x="48" y="24"/>
                  </a:moveTo>
                  <a:lnTo>
                    <a:pt x="48" y="32"/>
                  </a:lnTo>
                  <a:lnTo>
                    <a:pt x="24" y="40"/>
                  </a:lnTo>
                  <a:lnTo>
                    <a:pt x="8" y="48"/>
                  </a:lnTo>
                  <a:lnTo>
                    <a:pt x="0" y="72"/>
                  </a:lnTo>
                  <a:lnTo>
                    <a:pt x="8" y="88"/>
                  </a:lnTo>
                  <a:lnTo>
                    <a:pt x="8" y="96"/>
                  </a:lnTo>
                  <a:lnTo>
                    <a:pt x="24" y="88"/>
                  </a:lnTo>
                  <a:lnTo>
                    <a:pt x="40" y="88"/>
                  </a:lnTo>
                  <a:lnTo>
                    <a:pt x="48" y="96"/>
                  </a:lnTo>
                  <a:lnTo>
                    <a:pt x="48" y="80"/>
                  </a:lnTo>
                  <a:lnTo>
                    <a:pt x="72" y="72"/>
                  </a:lnTo>
                  <a:lnTo>
                    <a:pt x="96" y="80"/>
                  </a:lnTo>
                  <a:lnTo>
                    <a:pt x="128" y="72"/>
                  </a:lnTo>
                  <a:lnTo>
                    <a:pt x="160" y="72"/>
                  </a:lnTo>
                  <a:lnTo>
                    <a:pt x="136" y="48"/>
                  </a:lnTo>
                  <a:lnTo>
                    <a:pt x="120" y="40"/>
                  </a:lnTo>
                  <a:lnTo>
                    <a:pt x="112" y="16"/>
                  </a:lnTo>
                  <a:lnTo>
                    <a:pt x="104" y="0"/>
                  </a:lnTo>
                  <a:lnTo>
                    <a:pt x="72" y="24"/>
                  </a:lnTo>
                  <a:lnTo>
                    <a:pt x="48"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09" name="Freeform 759"/>
            <p:cNvSpPr>
              <a:spLocks/>
            </p:cNvSpPr>
            <p:nvPr/>
          </p:nvSpPr>
          <p:spPr bwMode="auto">
            <a:xfrm>
              <a:off x="2767057" y="3279926"/>
              <a:ext cx="162004" cy="144677"/>
            </a:xfrm>
            <a:custGeom>
              <a:avLst/>
              <a:gdLst>
                <a:gd name="T0" fmla="*/ 2147483647 w 153"/>
                <a:gd name="T1" fmla="*/ 2147483647 h 136"/>
                <a:gd name="T2" fmla="*/ 2147483647 w 153"/>
                <a:gd name="T3" fmla="*/ 2147483647 h 136"/>
                <a:gd name="T4" fmla="*/ 2147483647 w 153"/>
                <a:gd name="T5" fmla="*/ 2147483647 h 136"/>
                <a:gd name="T6" fmla="*/ 2147483647 w 153"/>
                <a:gd name="T7" fmla="*/ 2147483647 h 136"/>
                <a:gd name="T8" fmla="*/ 2147483647 w 153"/>
                <a:gd name="T9" fmla="*/ 2147483647 h 136"/>
                <a:gd name="T10" fmla="*/ 2147483647 w 153"/>
                <a:gd name="T11" fmla="*/ 2147483647 h 136"/>
                <a:gd name="T12" fmla="*/ 2147483647 w 153"/>
                <a:gd name="T13" fmla="*/ 2147483647 h 136"/>
                <a:gd name="T14" fmla="*/ 2147483647 w 153"/>
                <a:gd name="T15" fmla="*/ 2147483647 h 136"/>
                <a:gd name="T16" fmla="*/ 2147483647 w 153"/>
                <a:gd name="T17" fmla="*/ 0 h 136"/>
                <a:gd name="T18" fmla="*/ 2147483647 w 153"/>
                <a:gd name="T19" fmla="*/ 0 h 136"/>
                <a:gd name="T20" fmla="*/ 2147483647 w 153"/>
                <a:gd name="T21" fmla="*/ 2147483647 h 136"/>
                <a:gd name="T22" fmla="*/ 2147483647 w 153"/>
                <a:gd name="T23" fmla="*/ 2147483647 h 136"/>
                <a:gd name="T24" fmla="*/ 2147483647 w 153"/>
                <a:gd name="T25" fmla="*/ 2147483647 h 136"/>
                <a:gd name="T26" fmla="*/ 2147483647 w 153"/>
                <a:gd name="T27" fmla="*/ 2147483647 h 136"/>
                <a:gd name="T28" fmla="*/ 2147483647 w 153"/>
                <a:gd name="T29" fmla="*/ 2147483647 h 136"/>
                <a:gd name="T30" fmla="*/ 2147483647 w 153"/>
                <a:gd name="T31" fmla="*/ 2147483647 h 136"/>
                <a:gd name="T32" fmla="*/ 2147483647 w 153"/>
                <a:gd name="T33" fmla="*/ 2147483647 h 136"/>
                <a:gd name="T34" fmla="*/ 2147483647 w 153"/>
                <a:gd name="T35" fmla="*/ 2147483647 h 136"/>
                <a:gd name="T36" fmla="*/ 2147483647 w 153"/>
                <a:gd name="T37" fmla="*/ 2147483647 h 136"/>
                <a:gd name="T38" fmla="*/ 0 w 153"/>
                <a:gd name="T39" fmla="*/ 2147483647 h 136"/>
                <a:gd name="T40" fmla="*/ 0 w 153"/>
                <a:gd name="T41" fmla="*/ 2147483647 h 136"/>
                <a:gd name="T42" fmla="*/ 2147483647 w 153"/>
                <a:gd name="T43" fmla="*/ 2147483647 h 136"/>
                <a:gd name="T44" fmla="*/ 2147483647 w 153"/>
                <a:gd name="T45" fmla="*/ 2147483647 h 136"/>
                <a:gd name="T46" fmla="*/ 2147483647 w 153"/>
                <a:gd name="T47" fmla="*/ 2147483647 h 136"/>
                <a:gd name="T48" fmla="*/ 2147483647 w 153"/>
                <a:gd name="T49" fmla="*/ 2147483647 h 136"/>
                <a:gd name="T50" fmla="*/ 2147483647 w 153"/>
                <a:gd name="T51" fmla="*/ 2147483647 h 136"/>
                <a:gd name="T52" fmla="*/ 2147483647 w 153"/>
                <a:gd name="T53" fmla="*/ 2147483647 h 1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3"/>
                <a:gd name="T82" fmla="*/ 0 h 136"/>
                <a:gd name="T83" fmla="*/ 153 w 153"/>
                <a:gd name="T84" fmla="*/ 136 h 1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3" h="136">
                  <a:moveTo>
                    <a:pt x="81" y="96"/>
                  </a:moveTo>
                  <a:lnTo>
                    <a:pt x="105" y="104"/>
                  </a:lnTo>
                  <a:lnTo>
                    <a:pt x="121" y="80"/>
                  </a:lnTo>
                  <a:lnTo>
                    <a:pt x="137" y="48"/>
                  </a:lnTo>
                  <a:lnTo>
                    <a:pt x="137" y="32"/>
                  </a:lnTo>
                  <a:lnTo>
                    <a:pt x="153" y="32"/>
                  </a:lnTo>
                  <a:lnTo>
                    <a:pt x="153" y="16"/>
                  </a:lnTo>
                  <a:lnTo>
                    <a:pt x="145" y="16"/>
                  </a:lnTo>
                  <a:lnTo>
                    <a:pt x="137" y="0"/>
                  </a:lnTo>
                  <a:lnTo>
                    <a:pt x="121" y="16"/>
                  </a:lnTo>
                  <a:lnTo>
                    <a:pt x="97" y="16"/>
                  </a:lnTo>
                  <a:lnTo>
                    <a:pt x="73" y="16"/>
                  </a:lnTo>
                  <a:lnTo>
                    <a:pt x="57" y="24"/>
                  </a:lnTo>
                  <a:lnTo>
                    <a:pt x="32" y="16"/>
                  </a:lnTo>
                  <a:lnTo>
                    <a:pt x="16" y="16"/>
                  </a:lnTo>
                  <a:lnTo>
                    <a:pt x="8" y="32"/>
                  </a:lnTo>
                  <a:lnTo>
                    <a:pt x="8" y="40"/>
                  </a:lnTo>
                  <a:lnTo>
                    <a:pt x="8" y="56"/>
                  </a:lnTo>
                  <a:lnTo>
                    <a:pt x="0" y="88"/>
                  </a:lnTo>
                  <a:lnTo>
                    <a:pt x="0" y="104"/>
                  </a:lnTo>
                  <a:lnTo>
                    <a:pt x="16" y="104"/>
                  </a:lnTo>
                  <a:lnTo>
                    <a:pt x="32" y="128"/>
                  </a:lnTo>
                  <a:lnTo>
                    <a:pt x="49" y="128"/>
                  </a:lnTo>
                  <a:lnTo>
                    <a:pt x="65" y="136"/>
                  </a:lnTo>
                  <a:lnTo>
                    <a:pt x="73" y="112"/>
                  </a:lnTo>
                  <a:lnTo>
                    <a:pt x="81" y="9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10" name="Freeform 760"/>
            <p:cNvSpPr>
              <a:spLocks/>
            </p:cNvSpPr>
            <p:nvPr/>
          </p:nvSpPr>
          <p:spPr bwMode="auto">
            <a:xfrm>
              <a:off x="2929060" y="3331039"/>
              <a:ext cx="169801" cy="102227"/>
            </a:xfrm>
            <a:custGeom>
              <a:avLst/>
              <a:gdLst>
                <a:gd name="T0" fmla="*/ 2147483647 w 160"/>
                <a:gd name="T1" fmla="*/ 2147483647 h 96"/>
                <a:gd name="T2" fmla="*/ 2147483647 w 160"/>
                <a:gd name="T3" fmla="*/ 2147483647 h 96"/>
                <a:gd name="T4" fmla="*/ 2147483647 w 160"/>
                <a:gd name="T5" fmla="*/ 2147483647 h 96"/>
                <a:gd name="T6" fmla="*/ 2147483647 w 160"/>
                <a:gd name="T7" fmla="*/ 2147483647 h 96"/>
                <a:gd name="T8" fmla="*/ 0 w 160"/>
                <a:gd name="T9" fmla="*/ 2147483647 h 96"/>
                <a:gd name="T10" fmla="*/ 2147483647 w 160"/>
                <a:gd name="T11" fmla="*/ 2147483647 h 96"/>
                <a:gd name="T12" fmla="*/ 2147483647 w 160"/>
                <a:gd name="T13" fmla="*/ 2147483647 h 96"/>
                <a:gd name="T14" fmla="*/ 2147483647 w 160"/>
                <a:gd name="T15" fmla="*/ 2147483647 h 96"/>
                <a:gd name="T16" fmla="*/ 2147483647 w 160"/>
                <a:gd name="T17" fmla="*/ 2147483647 h 96"/>
                <a:gd name="T18" fmla="*/ 2147483647 w 160"/>
                <a:gd name="T19" fmla="*/ 2147483647 h 96"/>
                <a:gd name="T20" fmla="*/ 2147483647 w 160"/>
                <a:gd name="T21" fmla="*/ 2147483647 h 96"/>
                <a:gd name="T22" fmla="*/ 2147483647 w 160"/>
                <a:gd name="T23" fmla="*/ 2147483647 h 96"/>
                <a:gd name="T24" fmla="*/ 2147483647 w 160"/>
                <a:gd name="T25" fmla="*/ 2147483647 h 96"/>
                <a:gd name="T26" fmla="*/ 2147483647 w 160"/>
                <a:gd name="T27" fmla="*/ 2147483647 h 96"/>
                <a:gd name="T28" fmla="*/ 2147483647 w 160"/>
                <a:gd name="T29" fmla="*/ 2147483647 h 96"/>
                <a:gd name="T30" fmla="*/ 2147483647 w 160"/>
                <a:gd name="T31" fmla="*/ 2147483647 h 96"/>
                <a:gd name="T32" fmla="*/ 2147483647 w 160"/>
                <a:gd name="T33" fmla="*/ 2147483647 h 96"/>
                <a:gd name="T34" fmla="*/ 2147483647 w 160"/>
                <a:gd name="T35" fmla="*/ 2147483647 h 96"/>
                <a:gd name="T36" fmla="*/ 2147483647 w 160"/>
                <a:gd name="T37" fmla="*/ 2147483647 h 96"/>
                <a:gd name="T38" fmla="*/ 2147483647 w 160"/>
                <a:gd name="T39" fmla="*/ 0 h 96"/>
                <a:gd name="T40" fmla="*/ 2147483647 w 160"/>
                <a:gd name="T41" fmla="*/ 2147483647 h 96"/>
                <a:gd name="T42" fmla="*/ 2147483647 w 160"/>
                <a:gd name="T43" fmla="*/ 2147483647 h 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60"/>
                <a:gd name="T67" fmla="*/ 0 h 96"/>
                <a:gd name="T68" fmla="*/ 160 w 160"/>
                <a:gd name="T69" fmla="*/ 96 h 9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60" h="96">
                  <a:moveTo>
                    <a:pt x="48" y="24"/>
                  </a:moveTo>
                  <a:lnTo>
                    <a:pt x="48" y="32"/>
                  </a:lnTo>
                  <a:lnTo>
                    <a:pt x="24" y="40"/>
                  </a:lnTo>
                  <a:lnTo>
                    <a:pt x="8" y="48"/>
                  </a:lnTo>
                  <a:lnTo>
                    <a:pt x="0" y="72"/>
                  </a:lnTo>
                  <a:lnTo>
                    <a:pt x="8" y="88"/>
                  </a:lnTo>
                  <a:lnTo>
                    <a:pt x="8" y="96"/>
                  </a:lnTo>
                  <a:lnTo>
                    <a:pt x="24" y="88"/>
                  </a:lnTo>
                  <a:lnTo>
                    <a:pt x="40" y="88"/>
                  </a:lnTo>
                  <a:lnTo>
                    <a:pt x="48" y="96"/>
                  </a:lnTo>
                  <a:lnTo>
                    <a:pt x="48" y="80"/>
                  </a:lnTo>
                  <a:lnTo>
                    <a:pt x="72" y="72"/>
                  </a:lnTo>
                  <a:lnTo>
                    <a:pt x="96" y="80"/>
                  </a:lnTo>
                  <a:lnTo>
                    <a:pt x="128" y="72"/>
                  </a:lnTo>
                  <a:lnTo>
                    <a:pt x="160" y="72"/>
                  </a:lnTo>
                  <a:lnTo>
                    <a:pt x="136" y="48"/>
                  </a:lnTo>
                  <a:lnTo>
                    <a:pt x="120" y="40"/>
                  </a:lnTo>
                  <a:lnTo>
                    <a:pt x="112" y="16"/>
                  </a:lnTo>
                  <a:lnTo>
                    <a:pt x="104" y="0"/>
                  </a:lnTo>
                  <a:lnTo>
                    <a:pt x="72" y="24"/>
                  </a:lnTo>
                  <a:lnTo>
                    <a:pt x="48" y="24"/>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11" name="Freeform 761"/>
            <p:cNvSpPr>
              <a:spLocks/>
            </p:cNvSpPr>
            <p:nvPr/>
          </p:nvSpPr>
          <p:spPr bwMode="auto">
            <a:xfrm>
              <a:off x="2877947" y="3424603"/>
              <a:ext cx="102227" cy="127351"/>
            </a:xfrm>
            <a:custGeom>
              <a:avLst/>
              <a:gdLst>
                <a:gd name="T0" fmla="*/ 2147483647 w 96"/>
                <a:gd name="T1" fmla="*/ 2147483647 h 120"/>
                <a:gd name="T2" fmla="*/ 2147483647 w 96"/>
                <a:gd name="T3" fmla="*/ 2147483647 h 120"/>
                <a:gd name="T4" fmla="*/ 2147483647 w 96"/>
                <a:gd name="T5" fmla="*/ 2147483647 h 120"/>
                <a:gd name="T6" fmla="*/ 2147483647 w 96"/>
                <a:gd name="T7" fmla="*/ 2147483647 h 120"/>
                <a:gd name="T8" fmla="*/ 2147483647 w 96"/>
                <a:gd name="T9" fmla="*/ 2147483647 h 120"/>
                <a:gd name="T10" fmla="*/ 2147483647 w 96"/>
                <a:gd name="T11" fmla="*/ 0 h 120"/>
                <a:gd name="T12" fmla="*/ 2147483647 w 96"/>
                <a:gd name="T13" fmla="*/ 0 h 120"/>
                <a:gd name="T14" fmla="*/ 2147483647 w 96"/>
                <a:gd name="T15" fmla="*/ 2147483647 h 120"/>
                <a:gd name="T16" fmla="*/ 2147483647 w 96"/>
                <a:gd name="T17" fmla="*/ 2147483647 h 120"/>
                <a:gd name="T18" fmla="*/ 2147483647 w 96"/>
                <a:gd name="T19" fmla="*/ 2147483647 h 120"/>
                <a:gd name="T20" fmla="*/ 2147483647 w 96"/>
                <a:gd name="T21" fmla="*/ 2147483647 h 120"/>
                <a:gd name="T22" fmla="*/ 2147483647 w 96"/>
                <a:gd name="T23" fmla="*/ 2147483647 h 120"/>
                <a:gd name="T24" fmla="*/ 2147483647 w 96"/>
                <a:gd name="T25" fmla="*/ 2147483647 h 120"/>
                <a:gd name="T26" fmla="*/ 2147483647 w 96"/>
                <a:gd name="T27" fmla="*/ 2147483647 h 120"/>
                <a:gd name="T28" fmla="*/ 2147483647 w 96"/>
                <a:gd name="T29" fmla="*/ 2147483647 h 120"/>
                <a:gd name="T30" fmla="*/ 2147483647 w 96"/>
                <a:gd name="T31" fmla="*/ 2147483647 h 120"/>
                <a:gd name="T32" fmla="*/ 2147483647 w 96"/>
                <a:gd name="T33" fmla="*/ 2147483647 h 120"/>
                <a:gd name="T34" fmla="*/ 0 w 96"/>
                <a:gd name="T35" fmla="*/ 2147483647 h 120"/>
                <a:gd name="T36" fmla="*/ 2147483647 w 96"/>
                <a:gd name="T37" fmla="*/ 2147483647 h 120"/>
                <a:gd name="T38" fmla="*/ 2147483647 w 96"/>
                <a:gd name="T39" fmla="*/ 2147483647 h 120"/>
                <a:gd name="T40" fmla="*/ 2147483647 w 96"/>
                <a:gd name="T41" fmla="*/ 2147483647 h 120"/>
                <a:gd name="T42" fmla="*/ 2147483647 w 96"/>
                <a:gd name="T43" fmla="*/ 2147483647 h 1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96"/>
                <a:gd name="T67" fmla="*/ 0 h 120"/>
                <a:gd name="T68" fmla="*/ 96 w 96"/>
                <a:gd name="T69" fmla="*/ 120 h 1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96" h="120">
                  <a:moveTo>
                    <a:pt x="40" y="112"/>
                  </a:moveTo>
                  <a:lnTo>
                    <a:pt x="56" y="96"/>
                  </a:lnTo>
                  <a:lnTo>
                    <a:pt x="72" y="64"/>
                  </a:lnTo>
                  <a:lnTo>
                    <a:pt x="88" y="56"/>
                  </a:lnTo>
                  <a:lnTo>
                    <a:pt x="96" y="8"/>
                  </a:lnTo>
                  <a:lnTo>
                    <a:pt x="88" y="0"/>
                  </a:lnTo>
                  <a:lnTo>
                    <a:pt x="72" y="0"/>
                  </a:lnTo>
                  <a:lnTo>
                    <a:pt x="56" y="8"/>
                  </a:lnTo>
                  <a:lnTo>
                    <a:pt x="48" y="16"/>
                  </a:lnTo>
                  <a:lnTo>
                    <a:pt x="40" y="24"/>
                  </a:lnTo>
                  <a:lnTo>
                    <a:pt x="32" y="24"/>
                  </a:lnTo>
                  <a:lnTo>
                    <a:pt x="32" y="32"/>
                  </a:lnTo>
                  <a:lnTo>
                    <a:pt x="40" y="40"/>
                  </a:lnTo>
                  <a:lnTo>
                    <a:pt x="32" y="56"/>
                  </a:lnTo>
                  <a:lnTo>
                    <a:pt x="32" y="80"/>
                  </a:lnTo>
                  <a:lnTo>
                    <a:pt x="16" y="80"/>
                  </a:lnTo>
                  <a:lnTo>
                    <a:pt x="8" y="88"/>
                  </a:lnTo>
                  <a:lnTo>
                    <a:pt x="0" y="96"/>
                  </a:lnTo>
                  <a:lnTo>
                    <a:pt x="8" y="104"/>
                  </a:lnTo>
                  <a:lnTo>
                    <a:pt x="16" y="120"/>
                  </a:lnTo>
                  <a:lnTo>
                    <a:pt x="24" y="112"/>
                  </a:lnTo>
                  <a:lnTo>
                    <a:pt x="40" y="11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12" name="Freeform 762"/>
            <p:cNvSpPr>
              <a:spLocks/>
            </p:cNvSpPr>
            <p:nvPr/>
          </p:nvSpPr>
          <p:spPr bwMode="auto">
            <a:xfrm>
              <a:off x="2852823" y="3449727"/>
              <a:ext cx="67574" cy="76237"/>
            </a:xfrm>
            <a:custGeom>
              <a:avLst/>
              <a:gdLst>
                <a:gd name="T0" fmla="*/ 2147483647 w 64"/>
                <a:gd name="T1" fmla="*/ 2147483647 h 72"/>
                <a:gd name="T2" fmla="*/ 2147483647 w 64"/>
                <a:gd name="T3" fmla="*/ 2147483647 h 72"/>
                <a:gd name="T4" fmla="*/ 2147483647 w 64"/>
                <a:gd name="T5" fmla="*/ 2147483647 h 72"/>
                <a:gd name="T6" fmla="*/ 2147483647 w 64"/>
                <a:gd name="T7" fmla="*/ 2147483647 h 72"/>
                <a:gd name="T8" fmla="*/ 2147483647 w 64"/>
                <a:gd name="T9" fmla="*/ 2147483647 h 72"/>
                <a:gd name="T10" fmla="*/ 2147483647 w 64"/>
                <a:gd name="T11" fmla="*/ 0 h 72"/>
                <a:gd name="T12" fmla="*/ 2147483647 w 64"/>
                <a:gd name="T13" fmla="*/ 0 h 72"/>
                <a:gd name="T14" fmla="*/ 0 w 64"/>
                <a:gd name="T15" fmla="*/ 0 h 72"/>
                <a:gd name="T16" fmla="*/ 0 w 64"/>
                <a:gd name="T17" fmla="*/ 2147483647 h 72"/>
                <a:gd name="T18" fmla="*/ 0 w 64"/>
                <a:gd name="T19" fmla="*/ 2147483647 h 72"/>
                <a:gd name="T20" fmla="*/ 2147483647 w 64"/>
                <a:gd name="T21" fmla="*/ 2147483647 h 72"/>
                <a:gd name="T22" fmla="*/ 2147483647 w 64"/>
                <a:gd name="T23" fmla="*/ 2147483647 h 72"/>
                <a:gd name="T24" fmla="*/ 2147483647 w 64"/>
                <a:gd name="T25" fmla="*/ 2147483647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72"/>
                <a:gd name="T41" fmla="*/ 64 w 64"/>
                <a:gd name="T42" fmla="*/ 72 h 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72">
                  <a:moveTo>
                    <a:pt x="40" y="56"/>
                  </a:moveTo>
                  <a:lnTo>
                    <a:pt x="56" y="56"/>
                  </a:lnTo>
                  <a:lnTo>
                    <a:pt x="56" y="32"/>
                  </a:lnTo>
                  <a:lnTo>
                    <a:pt x="64" y="16"/>
                  </a:lnTo>
                  <a:lnTo>
                    <a:pt x="56" y="8"/>
                  </a:lnTo>
                  <a:lnTo>
                    <a:pt x="56" y="0"/>
                  </a:lnTo>
                  <a:lnTo>
                    <a:pt x="32" y="0"/>
                  </a:lnTo>
                  <a:lnTo>
                    <a:pt x="0" y="0"/>
                  </a:lnTo>
                  <a:lnTo>
                    <a:pt x="0" y="16"/>
                  </a:lnTo>
                  <a:lnTo>
                    <a:pt x="0" y="40"/>
                  </a:lnTo>
                  <a:lnTo>
                    <a:pt x="24" y="72"/>
                  </a:lnTo>
                  <a:lnTo>
                    <a:pt x="32" y="64"/>
                  </a:lnTo>
                  <a:lnTo>
                    <a:pt x="40" y="5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13" name="Freeform 763"/>
            <p:cNvSpPr>
              <a:spLocks/>
            </p:cNvSpPr>
            <p:nvPr/>
          </p:nvSpPr>
          <p:spPr bwMode="auto">
            <a:xfrm>
              <a:off x="2836363" y="3313713"/>
              <a:ext cx="101361" cy="136014"/>
            </a:xfrm>
            <a:custGeom>
              <a:avLst/>
              <a:gdLst>
                <a:gd name="T0" fmla="*/ 2147483647 w 96"/>
                <a:gd name="T1" fmla="*/ 2147483647 h 128"/>
                <a:gd name="T2" fmla="*/ 2147483647 w 96"/>
                <a:gd name="T3" fmla="*/ 2147483647 h 128"/>
                <a:gd name="T4" fmla="*/ 2147483647 w 96"/>
                <a:gd name="T5" fmla="*/ 2147483647 h 128"/>
                <a:gd name="T6" fmla="*/ 2147483647 w 96"/>
                <a:gd name="T7" fmla="*/ 2147483647 h 128"/>
                <a:gd name="T8" fmla="*/ 2147483647 w 96"/>
                <a:gd name="T9" fmla="*/ 2147483647 h 128"/>
                <a:gd name="T10" fmla="*/ 2147483647 w 96"/>
                <a:gd name="T11" fmla="*/ 2147483647 h 128"/>
                <a:gd name="T12" fmla="*/ 2147483647 w 96"/>
                <a:gd name="T13" fmla="*/ 2147483647 h 128"/>
                <a:gd name="T14" fmla="*/ 2147483647 w 96"/>
                <a:gd name="T15" fmla="*/ 2147483647 h 128"/>
                <a:gd name="T16" fmla="*/ 2147483647 w 96"/>
                <a:gd name="T17" fmla="*/ 0 h 128"/>
                <a:gd name="T18" fmla="*/ 2147483647 w 96"/>
                <a:gd name="T19" fmla="*/ 0 h 128"/>
                <a:gd name="T20" fmla="*/ 2147483647 w 96"/>
                <a:gd name="T21" fmla="*/ 2147483647 h 128"/>
                <a:gd name="T22" fmla="*/ 2147483647 w 96"/>
                <a:gd name="T23" fmla="*/ 2147483647 h 128"/>
                <a:gd name="T24" fmla="*/ 2147483647 w 96"/>
                <a:gd name="T25" fmla="*/ 2147483647 h 128"/>
                <a:gd name="T26" fmla="*/ 2147483647 w 96"/>
                <a:gd name="T27" fmla="*/ 2147483647 h 128"/>
                <a:gd name="T28" fmla="*/ 2147483647 w 96"/>
                <a:gd name="T29" fmla="*/ 2147483647 h 128"/>
                <a:gd name="T30" fmla="*/ 0 w 96"/>
                <a:gd name="T31" fmla="*/ 2147483647 h 128"/>
                <a:gd name="T32" fmla="*/ 2147483647 w 96"/>
                <a:gd name="T33" fmla="*/ 2147483647 h 128"/>
                <a:gd name="T34" fmla="*/ 2147483647 w 96"/>
                <a:gd name="T35" fmla="*/ 2147483647 h 128"/>
                <a:gd name="T36" fmla="*/ 2147483647 w 96"/>
                <a:gd name="T37" fmla="*/ 2147483647 h 128"/>
                <a:gd name="T38" fmla="*/ 2147483647 w 96"/>
                <a:gd name="T39" fmla="*/ 2147483647 h 128"/>
                <a:gd name="T40" fmla="*/ 2147483647 w 96"/>
                <a:gd name="T41" fmla="*/ 2147483647 h 1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128"/>
                <a:gd name="T65" fmla="*/ 96 w 96"/>
                <a:gd name="T66" fmla="*/ 128 h 1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128">
                  <a:moveTo>
                    <a:pt x="96" y="112"/>
                  </a:moveTo>
                  <a:lnTo>
                    <a:pt x="96" y="104"/>
                  </a:lnTo>
                  <a:lnTo>
                    <a:pt x="88" y="88"/>
                  </a:lnTo>
                  <a:lnTo>
                    <a:pt x="96" y="64"/>
                  </a:lnTo>
                  <a:lnTo>
                    <a:pt x="88" y="64"/>
                  </a:lnTo>
                  <a:lnTo>
                    <a:pt x="80" y="40"/>
                  </a:lnTo>
                  <a:lnTo>
                    <a:pt x="80" y="32"/>
                  </a:lnTo>
                  <a:lnTo>
                    <a:pt x="96" y="24"/>
                  </a:lnTo>
                  <a:lnTo>
                    <a:pt x="88" y="0"/>
                  </a:lnTo>
                  <a:lnTo>
                    <a:pt x="72" y="0"/>
                  </a:lnTo>
                  <a:lnTo>
                    <a:pt x="72" y="16"/>
                  </a:lnTo>
                  <a:lnTo>
                    <a:pt x="56" y="48"/>
                  </a:lnTo>
                  <a:lnTo>
                    <a:pt x="40" y="72"/>
                  </a:lnTo>
                  <a:lnTo>
                    <a:pt x="16" y="64"/>
                  </a:lnTo>
                  <a:lnTo>
                    <a:pt x="8" y="80"/>
                  </a:lnTo>
                  <a:lnTo>
                    <a:pt x="0" y="104"/>
                  </a:lnTo>
                  <a:lnTo>
                    <a:pt x="16" y="104"/>
                  </a:lnTo>
                  <a:lnTo>
                    <a:pt x="16" y="128"/>
                  </a:lnTo>
                  <a:lnTo>
                    <a:pt x="48" y="128"/>
                  </a:lnTo>
                  <a:lnTo>
                    <a:pt x="72" y="128"/>
                  </a:lnTo>
                  <a:lnTo>
                    <a:pt x="96" y="11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14" name="Freeform 764"/>
            <p:cNvSpPr>
              <a:spLocks/>
            </p:cNvSpPr>
            <p:nvPr/>
          </p:nvSpPr>
          <p:spPr bwMode="auto">
            <a:xfrm>
              <a:off x="2852823" y="3449727"/>
              <a:ext cx="67574" cy="76237"/>
            </a:xfrm>
            <a:custGeom>
              <a:avLst/>
              <a:gdLst>
                <a:gd name="T0" fmla="*/ 2147483647 w 64"/>
                <a:gd name="T1" fmla="*/ 2147483647 h 72"/>
                <a:gd name="T2" fmla="*/ 2147483647 w 64"/>
                <a:gd name="T3" fmla="*/ 2147483647 h 72"/>
                <a:gd name="T4" fmla="*/ 2147483647 w 64"/>
                <a:gd name="T5" fmla="*/ 2147483647 h 72"/>
                <a:gd name="T6" fmla="*/ 2147483647 w 64"/>
                <a:gd name="T7" fmla="*/ 2147483647 h 72"/>
                <a:gd name="T8" fmla="*/ 2147483647 w 64"/>
                <a:gd name="T9" fmla="*/ 2147483647 h 72"/>
                <a:gd name="T10" fmla="*/ 2147483647 w 64"/>
                <a:gd name="T11" fmla="*/ 0 h 72"/>
                <a:gd name="T12" fmla="*/ 2147483647 w 64"/>
                <a:gd name="T13" fmla="*/ 0 h 72"/>
                <a:gd name="T14" fmla="*/ 0 w 64"/>
                <a:gd name="T15" fmla="*/ 0 h 72"/>
                <a:gd name="T16" fmla="*/ 0 w 64"/>
                <a:gd name="T17" fmla="*/ 2147483647 h 72"/>
                <a:gd name="T18" fmla="*/ 0 w 64"/>
                <a:gd name="T19" fmla="*/ 2147483647 h 72"/>
                <a:gd name="T20" fmla="*/ 2147483647 w 64"/>
                <a:gd name="T21" fmla="*/ 2147483647 h 72"/>
                <a:gd name="T22" fmla="*/ 2147483647 w 64"/>
                <a:gd name="T23" fmla="*/ 2147483647 h 72"/>
                <a:gd name="T24" fmla="*/ 2147483647 w 64"/>
                <a:gd name="T25" fmla="*/ 2147483647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72"/>
                <a:gd name="T41" fmla="*/ 64 w 64"/>
                <a:gd name="T42" fmla="*/ 72 h 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72">
                  <a:moveTo>
                    <a:pt x="40" y="56"/>
                  </a:moveTo>
                  <a:lnTo>
                    <a:pt x="56" y="56"/>
                  </a:lnTo>
                  <a:lnTo>
                    <a:pt x="56" y="32"/>
                  </a:lnTo>
                  <a:lnTo>
                    <a:pt x="64" y="16"/>
                  </a:lnTo>
                  <a:lnTo>
                    <a:pt x="56" y="8"/>
                  </a:lnTo>
                  <a:lnTo>
                    <a:pt x="56" y="0"/>
                  </a:lnTo>
                  <a:lnTo>
                    <a:pt x="32" y="0"/>
                  </a:lnTo>
                  <a:lnTo>
                    <a:pt x="0" y="0"/>
                  </a:lnTo>
                  <a:lnTo>
                    <a:pt x="0" y="16"/>
                  </a:lnTo>
                  <a:lnTo>
                    <a:pt x="0" y="40"/>
                  </a:lnTo>
                  <a:lnTo>
                    <a:pt x="24" y="72"/>
                  </a:lnTo>
                  <a:lnTo>
                    <a:pt x="32" y="64"/>
                  </a:lnTo>
                  <a:lnTo>
                    <a:pt x="40" y="56"/>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15" name="Freeform 765"/>
            <p:cNvSpPr>
              <a:spLocks/>
            </p:cNvSpPr>
            <p:nvPr/>
          </p:nvSpPr>
          <p:spPr bwMode="auto">
            <a:xfrm>
              <a:off x="2836363" y="3313713"/>
              <a:ext cx="101361" cy="136014"/>
            </a:xfrm>
            <a:custGeom>
              <a:avLst/>
              <a:gdLst>
                <a:gd name="T0" fmla="*/ 2147483647 w 96"/>
                <a:gd name="T1" fmla="*/ 2147483647 h 128"/>
                <a:gd name="T2" fmla="*/ 2147483647 w 96"/>
                <a:gd name="T3" fmla="*/ 2147483647 h 128"/>
                <a:gd name="T4" fmla="*/ 2147483647 w 96"/>
                <a:gd name="T5" fmla="*/ 2147483647 h 128"/>
                <a:gd name="T6" fmla="*/ 2147483647 w 96"/>
                <a:gd name="T7" fmla="*/ 2147483647 h 128"/>
                <a:gd name="T8" fmla="*/ 2147483647 w 96"/>
                <a:gd name="T9" fmla="*/ 2147483647 h 128"/>
                <a:gd name="T10" fmla="*/ 2147483647 w 96"/>
                <a:gd name="T11" fmla="*/ 2147483647 h 128"/>
                <a:gd name="T12" fmla="*/ 2147483647 w 96"/>
                <a:gd name="T13" fmla="*/ 2147483647 h 128"/>
                <a:gd name="T14" fmla="*/ 2147483647 w 96"/>
                <a:gd name="T15" fmla="*/ 2147483647 h 128"/>
                <a:gd name="T16" fmla="*/ 2147483647 w 96"/>
                <a:gd name="T17" fmla="*/ 0 h 128"/>
                <a:gd name="T18" fmla="*/ 2147483647 w 96"/>
                <a:gd name="T19" fmla="*/ 0 h 128"/>
                <a:gd name="T20" fmla="*/ 2147483647 w 96"/>
                <a:gd name="T21" fmla="*/ 0 h 128"/>
                <a:gd name="T22" fmla="*/ 2147483647 w 96"/>
                <a:gd name="T23" fmla="*/ 2147483647 h 128"/>
                <a:gd name="T24" fmla="*/ 2147483647 w 96"/>
                <a:gd name="T25" fmla="*/ 2147483647 h 128"/>
                <a:gd name="T26" fmla="*/ 2147483647 w 96"/>
                <a:gd name="T27" fmla="*/ 2147483647 h 128"/>
                <a:gd name="T28" fmla="*/ 2147483647 w 96"/>
                <a:gd name="T29" fmla="*/ 2147483647 h 128"/>
                <a:gd name="T30" fmla="*/ 2147483647 w 96"/>
                <a:gd name="T31" fmla="*/ 2147483647 h 128"/>
                <a:gd name="T32" fmla="*/ 0 w 96"/>
                <a:gd name="T33" fmla="*/ 2147483647 h 128"/>
                <a:gd name="T34" fmla="*/ 2147483647 w 96"/>
                <a:gd name="T35" fmla="*/ 2147483647 h 128"/>
                <a:gd name="T36" fmla="*/ 2147483647 w 96"/>
                <a:gd name="T37" fmla="*/ 2147483647 h 128"/>
                <a:gd name="T38" fmla="*/ 2147483647 w 96"/>
                <a:gd name="T39" fmla="*/ 2147483647 h 128"/>
                <a:gd name="T40" fmla="*/ 2147483647 w 96"/>
                <a:gd name="T41" fmla="*/ 2147483647 h 1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128"/>
                <a:gd name="T65" fmla="*/ 96 w 96"/>
                <a:gd name="T66" fmla="*/ 128 h 1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128">
                  <a:moveTo>
                    <a:pt x="96" y="112"/>
                  </a:moveTo>
                  <a:lnTo>
                    <a:pt x="96" y="104"/>
                  </a:lnTo>
                  <a:lnTo>
                    <a:pt x="88" y="88"/>
                  </a:lnTo>
                  <a:lnTo>
                    <a:pt x="96" y="64"/>
                  </a:lnTo>
                  <a:lnTo>
                    <a:pt x="88" y="64"/>
                  </a:lnTo>
                  <a:lnTo>
                    <a:pt x="80" y="40"/>
                  </a:lnTo>
                  <a:lnTo>
                    <a:pt x="80" y="32"/>
                  </a:lnTo>
                  <a:lnTo>
                    <a:pt x="96" y="24"/>
                  </a:lnTo>
                  <a:lnTo>
                    <a:pt x="88" y="0"/>
                  </a:lnTo>
                  <a:lnTo>
                    <a:pt x="72" y="0"/>
                  </a:lnTo>
                  <a:lnTo>
                    <a:pt x="72" y="16"/>
                  </a:lnTo>
                  <a:lnTo>
                    <a:pt x="56" y="48"/>
                  </a:lnTo>
                  <a:lnTo>
                    <a:pt x="40" y="72"/>
                  </a:lnTo>
                  <a:lnTo>
                    <a:pt x="16" y="64"/>
                  </a:lnTo>
                  <a:lnTo>
                    <a:pt x="8" y="80"/>
                  </a:lnTo>
                  <a:lnTo>
                    <a:pt x="0" y="104"/>
                  </a:lnTo>
                  <a:lnTo>
                    <a:pt x="16" y="104"/>
                  </a:lnTo>
                  <a:lnTo>
                    <a:pt x="16" y="128"/>
                  </a:lnTo>
                  <a:lnTo>
                    <a:pt x="48" y="128"/>
                  </a:lnTo>
                  <a:lnTo>
                    <a:pt x="72" y="128"/>
                  </a:lnTo>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16" name="Freeform 766"/>
            <p:cNvSpPr>
              <a:spLocks/>
            </p:cNvSpPr>
            <p:nvPr/>
          </p:nvSpPr>
          <p:spPr bwMode="auto">
            <a:xfrm>
              <a:off x="2836363" y="3313713"/>
              <a:ext cx="101361" cy="136014"/>
            </a:xfrm>
            <a:custGeom>
              <a:avLst/>
              <a:gdLst>
                <a:gd name="T0" fmla="*/ 2147483647 w 96"/>
                <a:gd name="T1" fmla="*/ 2147483647 h 128"/>
                <a:gd name="T2" fmla="*/ 2147483647 w 96"/>
                <a:gd name="T3" fmla="*/ 2147483647 h 128"/>
                <a:gd name="T4" fmla="*/ 2147483647 w 96"/>
                <a:gd name="T5" fmla="*/ 2147483647 h 128"/>
                <a:gd name="T6" fmla="*/ 2147483647 w 96"/>
                <a:gd name="T7" fmla="*/ 2147483647 h 128"/>
                <a:gd name="T8" fmla="*/ 2147483647 w 96"/>
                <a:gd name="T9" fmla="*/ 2147483647 h 128"/>
                <a:gd name="T10" fmla="*/ 2147483647 w 96"/>
                <a:gd name="T11" fmla="*/ 2147483647 h 128"/>
                <a:gd name="T12" fmla="*/ 2147483647 w 96"/>
                <a:gd name="T13" fmla="*/ 2147483647 h 128"/>
                <a:gd name="T14" fmla="*/ 2147483647 w 96"/>
                <a:gd name="T15" fmla="*/ 2147483647 h 128"/>
                <a:gd name="T16" fmla="*/ 2147483647 w 96"/>
                <a:gd name="T17" fmla="*/ 0 h 128"/>
                <a:gd name="T18" fmla="*/ 2147483647 w 96"/>
                <a:gd name="T19" fmla="*/ 0 h 128"/>
                <a:gd name="T20" fmla="*/ 2147483647 w 96"/>
                <a:gd name="T21" fmla="*/ 0 h 128"/>
                <a:gd name="T22" fmla="*/ 2147483647 w 96"/>
                <a:gd name="T23" fmla="*/ 2147483647 h 128"/>
                <a:gd name="T24" fmla="*/ 2147483647 w 96"/>
                <a:gd name="T25" fmla="*/ 2147483647 h 128"/>
                <a:gd name="T26" fmla="*/ 2147483647 w 96"/>
                <a:gd name="T27" fmla="*/ 2147483647 h 128"/>
                <a:gd name="T28" fmla="*/ 2147483647 w 96"/>
                <a:gd name="T29" fmla="*/ 2147483647 h 128"/>
                <a:gd name="T30" fmla="*/ 2147483647 w 96"/>
                <a:gd name="T31" fmla="*/ 2147483647 h 128"/>
                <a:gd name="T32" fmla="*/ 0 w 96"/>
                <a:gd name="T33" fmla="*/ 2147483647 h 128"/>
                <a:gd name="T34" fmla="*/ 2147483647 w 96"/>
                <a:gd name="T35" fmla="*/ 2147483647 h 128"/>
                <a:gd name="T36" fmla="*/ 2147483647 w 96"/>
                <a:gd name="T37" fmla="*/ 2147483647 h 128"/>
                <a:gd name="T38" fmla="*/ 2147483647 w 96"/>
                <a:gd name="T39" fmla="*/ 2147483647 h 128"/>
                <a:gd name="T40" fmla="*/ 2147483647 w 96"/>
                <a:gd name="T41" fmla="*/ 2147483647 h 1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128"/>
                <a:gd name="T65" fmla="*/ 96 w 96"/>
                <a:gd name="T66" fmla="*/ 128 h 1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128">
                  <a:moveTo>
                    <a:pt x="96" y="112"/>
                  </a:moveTo>
                  <a:lnTo>
                    <a:pt x="96" y="104"/>
                  </a:lnTo>
                  <a:lnTo>
                    <a:pt x="88" y="88"/>
                  </a:lnTo>
                  <a:lnTo>
                    <a:pt x="96" y="64"/>
                  </a:lnTo>
                  <a:lnTo>
                    <a:pt x="88" y="64"/>
                  </a:lnTo>
                  <a:lnTo>
                    <a:pt x="80" y="40"/>
                  </a:lnTo>
                  <a:lnTo>
                    <a:pt x="80" y="32"/>
                  </a:lnTo>
                  <a:lnTo>
                    <a:pt x="96" y="24"/>
                  </a:lnTo>
                  <a:lnTo>
                    <a:pt x="88" y="0"/>
                  </a:lnTo>
                  <a:lnTo>
                    <a:pt x="72" y="0"/>
                  </a:lnTo>
                  <a:lnTo>
                    <a:pt x="72" y="16"/>
                  </a:lnTo>
                  <a:lnTo>
                    <a:pt x="56" y="48"/>
                  </a:lnTo>
                  <a:lnTo>
                    <a:pt x="40" y="72"/>
                  </a:lnTo>
                  <a:lnTo>
                    <a:pt x="16" y="64"/>
                  </a:lnTo>
                  <a:lnTo>
                    <a:pt x="8" y="80"/>
                  </a:lnTo>
                  <a:lnTo>
                    <a:pt x="0" y="104"/>
                  </a:lnTo>
                  <a:lnTo>
                    <a:pt x="16" y="104"/>
                  </a:lnTo>
                  <a:lnTo>
                    <a:pt x="16" y="128"/>
                  </a:lnTo>
                  <a:lnTo>
                    <a:pt x="48" y="128"/>
                  </a:lnTo>
                  <a:lnTo>
                    <a:pt x="72" y="128"/>
                  </a:lnTo>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17" name="Freeform 767"/>
            <p:cNvSpPr>
              <a:spLocks/>
            </p:cNvSpPr>
            <p:nvPr/>
          </p:nvSpPr>
          <p:spPr bwMode="auto">
            <a:xfrm>
              <a:off x="2741933" y="3305916"/>
              <a:ext cx="33787" cy="84900"/>
            </a:xfrm>
            <a:custGeom>
              <a:avLst/>
              <a:gdLst>
                <a:gd name="T0" fmla="*/ 2147483647 w 32"/>
                <a:gd name="T1" fmla="*/ 2147483647 h 80"/>
                <a:gd name="T2" fmla="*/ 2147483647 w 32"/>
                <a:gd name="T3" fmla="*/ 2147483647 h 80"/>
                <a:gd name="T4" fmla="*/ 2147483647 w 32"/>
                <a:gd name="T5" fmla="*/ 2147483647 h 80"/>
                <a:gd name="T6" fmla="*/ 2147483647 w 32"/>
                <a:gd name="T7" fmla="*/ 0 h 80"/>
                <a:gd name="T8" fmla="*/ 2147483647 w 32"/>
                <a:gd name="T9" fmla="*/ 2147483647 h 80"/>
                <a:gd name="T10" fmla="*/ 2147483647 w 32"/>
                <a:gd name="T11" fmla="*/ 2147483647 h 80"/>
                <a:gd name="T12" fmla="*/ 0 w 32"/>
                <a:gd name="T13" fmla="*/ 2147483647 h 80"/>
                <a:gd name="T14" fmla="*/ 0 w 32"/>
                <a:gd name="T15" fmla="*/ 2147483647 h 80"/>
                <a:gd name="T16" fmla="*/ 2147483647 w 32"/>
                <a:gd name="T17" fmla="*/ 2147483647 h 80"/>
                <a:gd name="T18" fmla="*/ 2147483647 w 32"/>
                <a:gd name="T19" fmla="*/ 2147483647 h 80"/>
                <a:gd name="T20" fmla="*/ 2147483647 w 32"/>
                <a:gd name="T21" fmla="*/ 2147483647 h 80"/>
                <a:gd name="T22" fmla="*/ 2147483647 w 32"/>
                <a:gd name="T23" fmla="*/ 2147483647 h 80"/>
                <a:gd name="T24" fmla="*/ 2147483647 w 32"/>
                <a:gd name="T25" fmla="*/ 2147483647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
                <a:gd name="T40" fmla="*/ 0 h 80"/>
                <a:gd name="T41" fmla="*/ 32 w 32"/>
                <a:gd name="T42" fmla="*/ 80 h 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 h="80">
                  <a:moveTo>
                    <a:pt x="32" y="32"/>
                  </a:moveTo>
                  <a:lnTo>
                    <a:pt x="32" y="16"/>
                  </a:lnTo>
                  <a:lnTo>
                    <a:pt x="32" y="8"/>
                  </a:lnTo>
                  <a:lnTo>
                    <a:pt x="24" y="0"/>
                  </a:lnTo>
                  <a:lnTo>
                    <a:pt x="16" y="8"/>
                  </a:lnTo>
                  <a:lnTo>
                    <a:pt x="8" y="24"/>
                  </a:lnTo>
                  <a:lnTo>
                    <a:pt x="0" y="24"/>
                  </a:lnTo>
                  <a:lnTo>
                    <a:pt x="0" y="32"/>
                  </a:lnTo>
                  <a:lnTo>
                    <a:pt x="8" y="64"/>
                  </a:lnTo>
                  <a:lnTo>
                    <a:pt x="16" y="80"/>
                  </a:lnTo>
                  <a:lnTo>
                    <a:pt x="24" y="80"/>
                  </a:lnTo>
                  <a:lnTo>
                    <a:pt x="24" y="64"/>
                  </a:lnTo>
                  <a:lnTo>
                    <a:pt x="32"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18" name="Freeform 768"/>
            <p:cNvSpPr>
              <a:spLocks/>
            </p:cNvSpPr>
            <p:nvPr/>
          </p:nvSpPr>
          <p:spPr bwMode="auto">
            <a:xfrm>
              <a:off x="2733270" y="3331039"/>
              <a:ext cx="25123" cy="67574"/>
            </a:xfrm>
            <a:custGeom>
              <a:avLst/>
              <a:gdLst>
                <a:gd name="T0" fmla="*/ 2147483647 w 24"/>
                <a:gd name="T1" fmla="*/ 2147483647 h 64"/>
                <a:gd name="T2" fmla="*/ 2147483647 w 24"/>
                <a:gd name="T3" fmla="*/ 0 h 64"/>
                <a:gd name="T4" fmla="*/ 0 w 24"/>
                <a:gd name="T5" fmla="*/ 0 h 64"/>
                <a:gd name="T6" fmla="*/ 0 w 24"/>
                <a:gd name="T7" fmla="*/ 2147483647 h 64"/>
                <a:gd name="T8" fmla="*/ 0 w 24"/>
                <a:gd name="T9" fmla="*/ 2147483647 h 64"/>
                <a:gd name="T10" fmla="*/ 2147483647 w 24"/>
                <a:gd name="T11" fmla="*/ 2147483647 h 64"/>
                <a:gd name="T12" fmla="*/ 2147483647 w 24"/>
                <a:gd name="T13" fmla="*/ 2147483647 h 64"/>
                <a:gd name="T14" fmla="*/ 2147483647 w 24"/>
                <a:gd name="T15" fmla="*/ 2147483647 h 64"/>
                <a:gd name="T16" fmla="*/ 2147483647 w 24"/>
                <a:gd name="T17" fmla="*/ 2147483647 h 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
                <a:gd name="T28" fmla="*/ 0 h 64"/>
                <a:gd name="T29" fmla="*/ 24 w 24"/>
                <a:gd name="T30" fmla="*/ 64 h 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 h="64">
                  <a:moveTo>
                    <a:pt x="8" y="8"/>
                  </a:moveTo>
                  <a:lnTo>
                    <a:pt x="8" y="0"/>
                  </a:lnTo>
                  <a:lnTo>
                    <a:pt x="0" y="0"/>
                  </a:lnTo>
                  <a:lnTo>
                    <a:pt x="0" y="8"/>
                  </a:lnTo>
                  <a:lnTo>
                    <a:pt x="0" y="24"/>
                  </a:lnTo>
                  <a:lnTo>
                    <a:pt x="8" y="64"/>
                  </a:lnTo>
                  <a:lnTo>
                    <a:pt x="24" y="56"/>
                  </a:lnTo>
                  <a:lnTo>
                    <a:pt x="16" y="40"/>
                  </a:lnTo>
                  <a:lnTo>
                    <a:pt x="8"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19" name="Freeform 769"/>
            <p:cNvSpPr>
              <a:spLocks/>
            </p:cNvSpPr>
            <p:nvPr/>
          </p:nvSpPr>
          <p:spPr bwMode="auto">
            <a:xfrm>
              <a:off x="2741933" y="3305916"/>
              <a:ext cx="33787" cy="84900"/>
            </a:xfrm>
            <a:custGeom>
              <a:avLst/>
              <a:gdLst>
                <a:gd name="T0" fmla="*/ 2147483647 w 32"/>
                <a:gd name="T1" fmla="*/ 2147483647 h 80"/>
                <a:gd name="T2" fmla="*/ 2147483647 w 32"/>
                <a:gd name="T3" fmla="*/ 2147483647 h 80"/>
                <a:gd name="T4" fmla="*/ 2147483647 w 32"/>
                <a:gd name="T5" fmla="*/ 2147483647 h 80"/>
                <a:gd name="T6" fmla="*/ 2147483647 w 32"/>
                <a:gd name="T7" fmla="*/ 2147483647 h 80"/>
                <a:gd name="T8" fmla="*/ 2147483647 w 32"/>
                <a:gd name="T9" fmla="*/ 0 h 80"/>
                <a:gd name="T10" fmla="*/ 2147483647 w 32"/>
                <a:gd name="T11" fmla="*/ 2147483647 h 80"/>
                <a:gd name="T12" fmla="*/ 2147483647 w 32"/>
                <a:gd name="T13" fmla="*/ 2147483647 h 80"/>
                <a:gd name="T14" fmla="*/ 0 w 32"/>
                <a:gd name="T15" fmla="*/ 2147483647 h 80"/>
                <a:gd name="T16" fmla="*/ 0 w 32"/>
                <a:gd name="T17" fmla="*/ 2147483647 h 80"/>
                <a:gd name="T18" fmla="*/ 2147483647 w 32"/>
                <a:gd name="T19" fmla="*/ 2147483647 h 80"/>
                <a:gd name="T20" fmla="*/ 2147483647 w 32"/>
                <a:gd name="T21" fmla="*/ 2147483647 h 80"/>
                <a:gd name="T22" fmla="*/ 2147483647 w 32"/>
                <a:gd name="T23" fmla="*/ 2147483647 h 80"/>
                <a:gd name="T24" fmla="*/ 2147483647 w 32"/>
                <a:gd name="T25" fmla="*/ 2147483647 h 80"/>
                <a:gd name="T26" fmla="*/ 2147483647 w 32"/>
                <a:gd name="T27" fmla="*/ 2147483647 h 80"/>
                <a:gd name="T28" fmla="*/ 2147483647 w 32"/>
                <a:gd name="T29" fmla="*/ 214748364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80"/>
                <a:gd name="T47" fmla="*/ 32 w 32"/>
                <a:gd name="T48" fmla="*/ 80 h 8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80">
                  <a:moveTo>
                    <a:pt x="32" y="32"/>
                  </a:moveTo>
                  <a:lnTo>
                    <a:pt x="32" y="16"/>
                  </a:lnTo>
                  <a:lnTo>
                    <a:pt x="32" y="8"/>
                  </a:lnTo>
                  <a:lnTo>
                    <a:pt x="24" y="0"/>
                  </a:lnTo>
                  <a:lnTo>
                    <a:pt x="16" y="8"/>
                  </a:lnTo>
                  <a:lnTo>
                    <a:pt x="8" y="24"/>
                  </a:lnTo>
                  <a:lnTo>
                    <a:pt x="0" y="24"/>
                  </a:lnTo>
                  <a:lnTo>
                    <a:pt x="0" y="32"/>
                  </a:lnTo>
                  <a:lnTo>
                    <a:pt x="8" y="64"/>
                  </a:lnTo>
                  <a:lnTo>
                    <a:pt x="16" y="80"/>
                  </a:lnTo>
                  <a:lnTo>
                    <a:pt x="24" y="80"/>
                  </a:lnTo>
                  <a:lnTo>
                    <a:pt x="24" y="64"/>
                  </a:lnTo>
                  <a:lnTo>
                    <a:pt x="32" y="32"/>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20" name="Freeform 770"/>
            <p:cNvSpPr>
              <a:spLocks/>
            </p:cNvSpPr>
            <p:nvPr/>
          </p:nvSpPr>
          <p:spPr bwMode="auto">
            <a:xfrm>
              <a:off x="2733270" y="3331039"/>
              <a:ext cx="25123" cy="67574"/>
            </a:xfrm>
            <a:custGeom>
              <a:avLst/>
              <a:gdLst>
                <a:gd name="T0" fmla="*/ 2147483647 w 24"/>
                <a:gd name="T1" fmla="*/ 2147483647 h 64"/>
                <a:gd name="T2" fmla="*/ 2147483647 w 24"/>
                <a:gd name="T3" fmla="*/ 0 h 64"/>
                <a:gd name="T4" fmla="*/ 0 w 24"/>
                <a:gd name="T5" fmla="*/ 0 h 64"/>
                <a:gd name="T6" fmla="*/ 0 w 24"/>
                <a:gd name="T7" fmla="*/ 0 h 64"/>
                <a:gd name="T8" fmla="*/ 0 w 24"/>
                <a:gd name="T9" fmla="*/ 2147483647 h 64"/>
                <a:gd name="T10" fmla="*/ 0 w 24"/>
                <a:gd name="T11" fmla="*/ 2147483647 h 64"/>
                <a:gd name="T12" fmla="*/ 2147483647 w 24"/>
                <a:gd name="T13" fmla="*/ 2147483647 h 64"/>
                <a:gd name="T14" fmla="*/ 2147483647 w 24"/>
                <a:gd name="T15" fmla="*/ 2147483647 h 64"/>
                <a:gd name="T16" fmla="*/ 2147483647 w 24"/>
                <a:gd name="T17" fmla="*/ 2147483647 h 64"/>
                <a:gd name="T18" fmla="*/ 2147483647 w 24"/>
                <a:gd name="T19" fmla="*/ 2147483647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
                <a:gd name="T31" fmla="*/ 0 h 64"/>
                <a:gd name="T32" fmla="*/ 24 w 24"/>
                <a:gd name="T33" fmla="*/ 64 h 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 h="64">
                  <a:moveTo>
                    <a:pt x="8" y="8"/>
                  </a:moveTo>
                  <a:lnTo>
                    <a:pt x="8" y="0"/>
                  </a:lnTo>
                  <a:lnTo>
                    <a:pt x="0" y="0"/>
                  </a:lnTo>
                  <a:lnTo>
                    <a:pt x="0" y="8"/>
                  </a:lnTo>
                  <a:lnTo>
                    <a:pt x="0" y="24"/>
                  </a:lnTo>
                  <a:lnTo>
                    <a:pt x="8" y="64"/>
                  </a:lnTo>
                  <a:lnTo>
                    <a:pt x="24" y="56"/>
                  </a:lnTo>
                  <a:lnTo>
                    <a:pt x="16" y="40"/>
                  </a:lnTo>
                  <a:lnTo>
                    <a:pt x="8" y="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21" name="Freeform 771"/>
            <p:cNvSpPr>
              <a:spLocks/>
            </p:cNvSpPr>
            <p:nvPr/>
          </p:nvSpPr>
          <p:spPr bwMode="auto">
            <a:xfrm>
              <a:off x="2886610" y="3704428"/>
              <a:ext cx="178464" cy="177597"/>
            </a:xfrm>
            <a:custGeom>
              <a:avLst/>
              <a:gdLst>
                <a:gd name="T0" fmla="*/ 2147483647 w 168"/>
                <a:gd name="T1" fmla="*/ 2147483647 h 168"/>
                <a:gd name="T2" fmla="*/ 2147483647 w 168"/>
                <a:gd name="T3" fmla="*/ 2147483647 h 168"/>
                <a:gd name="T4" fmla="*/ 2147483647 w 168"/>
                <a:gd name="T5" fmla="*/ 2147483647 h 168"/>
                <a:gd name="T6" fmla="*/ 2147483647 w 168"/>
                <a:gd name="T7" fmla="*/ 2147483647 h 168"/>
                <a:gd name="T8" fmla="*/ 2147483647 w 168"/>
                <a:gd name="T9" fmla="*/ 2147483647 h 168"/>
                <a:gd name="T10" fmla="*/ 2147483647 w 168"/>
                <a:gd name="T11" fmla="*/ 2147483647 h 168"/>
                <a:gd name="T12" fmla="*/ 2147483647 w 168"/>
                <a:gd name="T13" fmla="*/ 2147483647 h 168"/>
                <a:gd name="T14" fmla="*/ 2147483647 w 168"/>
                <a:gd name="T15" fmla="*/ 2147483647 h 168"/>
                <a:gd name="T16" fmla="*/ 2147483647 w 168"/>
                <a:gd name="T17" fmla="*/ 2147483647 h 168"/>
                <a:gd name="T18" fmla="*/ 2147483647 w 168"/>
                <a:gd name="T19" fmla="*/ 2147483647 h 168"/>
                <a:gd name="T20" fmla="*/ 2147483647 w 168"/>
                <a:gd name="T21" fmla="*/ 2147483647 h 168"/>
                <a:gd name="T22" fmla="*/ 2147483647 w 168"/>
                <a:gd name="T23" fmla="*/ 2147483647 h 168"/>
                <a:gd name="T24" fmla="*/ 2147483647 w 168"/>
                <a:gd name="T25" fmla="*/ 2147483647 h 168"/>
                <a:gd name="T26" fmla="*/ 2147483647 w 168"/>
                <a:gd name="T27" fmla="*/ 2147483647 h 168"/>
                <a:gd name="T28" fmla="*/ 2147483647 w 168"/>
                <a:gd name="T29" fmla="*/ 2147483647 h 168"/>
                <a:gd name="T30" fmla="*/ 2147483647 w 168"/>
                <a:gd name="T31" fmla="*/ 2147483647 h 168"/>
                <a:gd name="T32" fmla="*/ 2147483647 w 168"/>
                <a:gd name="T33" fmla="*/ 2147483647 h 168"/>
                <a:gd name="T34" fmla="*/ 2147483647 w 168"/>
                <a:gd name="T35" fmla="*/ 0 h 168"/>
                <a:gd name="T36" fmla="*/ 2147483647 w 168"/>
                <a:gd name="T37" fmla="*/ 2147483647 h 168"/>
                <a:gd name="T38" fmla="*/ 0 w 168"/>
                <a:gd name="T39" fmla="*/ 2147483647 h 168"/>
                <a:gd name="T40" fmla="*/ 2147483647 w 168"/>
                <a:gd name="T41" fmla="*/ 2147483647 h 168"/>
                <a:gd name="T42" fmla="*/ 2147483647 w 168"/>
                <a:gd name="T43" fmla="*/ 2147483647 h 168"/>
                <a:gd name="T44" fmla="*/ 2147483647 w 168"/>
                <a:gd name="T45" fmla="*/ 2147483647 h 168"/>
                <a:gd name="T46" fmla="*/ 2147483647 w 168"/>
                <a:gd name="T47" fmla="*/ 2147483647 h 168"/>
                <a:gd name="T48" fmla="*/ 2147483647 w 168"/>
                <a:gd name="T49" fmla="*/ 2147483647 h 168"/>
                <a:gd name="T50" fmla="*/ 2147483647 w 168"/>
                <a:gd name="T51" fmla="*/ 2147483647 h 16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8"/>
                <a:gd name="T79" fmla="*/ 0 h 168"/>
                <a:gd name="T80" fmla="*/ 168 w 168"/>
                <a:gd name="T81" fmla="*/ 168 h 16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8" h="168">
                  <a:moveTo>
                    <a:pt x="88" y="168"/>
                  </a:moveTo>
                  <a:lnTo>
                    <a:pt x="96" y="168"/>
                  </a:lnTo>
                  <a:lnTo>
                    <a:pt x="104" y="112"/>
                  </a:lnTo>
                  <a:lnTo>
                    <a:pt x="104" y="72"/>
                  </a:lnTo>
                  <a:lnTo>
                    <a:pt x="112" y="72"/>
                  </a:lnTo>
                  <a:lnTo>
                    <a:pt x="120" y="24"/>
                  </a:lnTo>
                  <a:lnTo>
                    <a:pt x="152" y="16"/>
                  </a:lnTo>
                  <a:lnTo>
                    <a:pt x="160" y="16"/>
                  </a:lnTo>
                  <a:lnTo>
                    <a:pt x="168" y="16"/>
                  </a:lnTo>
                  <a:lnTo>
                    <a:pt x="160" y="8"/>
                  </a:lnTo>
                  <a:lnTo>
                    <a:pt x="144" y="8"/>
                  </a:lnTo>
                  <a:lnTo>
                    <a:pt x="144" y="16"/>
                  </a:lnTo>
                  <a:lnTo>
                    <a:pt x="144" y="8"/>
                  </a:lnTo>
                  <a:lnTo>
                    <a:pt x="120" y="16"/>
                  </a:lnTo>
                  <a:lnTo>
                    <a:pt x="88" y="16"/>
                  </a:lnTo>
                  <a:lnTo>
                    <a:pt x="80" y="8"/>
                  </a:lnTo>
                  <a:lnTo>
                    <a:pt x="24" y="8"/>
                  </a:lnTo>
                  <a:lnTo>
                    <a:pt x="16" y="0"/>
                  </a:lnTo>
                  <a:lnTo>
                    <a:pt x="8" y="8"/>
                  </a:lnTo>
                  <a:lnTo>
                    <a:pt x="0" y="32"/>
                  </a:lnTo>
                  <a:lnTo>
                    <a:pt x="32" y="88"/>
                  </a:lnTo>
                  <a:lnTo>
                    <a:pt x="32" y="96"/>
                  </a:lnTo>
                  <a:lnTo>
                    <a:pt x="40" y="152"/>
                  </a:lnTo>
                  <a:lnTo>
                    <a:pt x="64" y="168"/>
                  </a:lnTo>
                  <a:lnTo>
                    <a:pt x="64" y="160"/>
                  </a:lnTo>
                  <a:lnTo>
                    <a:pt x="88" y="16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22" name="Freeform 772"/>
            <p:cNvSpPr>
              <a:spLocks/>
            </p:cNvSpPr>
            <p:nvPr/>
          </p:nvSpPr>
          <p:spPr bwMode="auto">
            <a:xfrm>
              <a:off x="2741933" y="3221016"/>
              <a:ext cx="42450" cy="51113"/>
            </a:xfrm>
            <a:custGeom>
              <a:avLst/>
              <a:gdLst>
                <a:gd name="T0" fmla="*/ 0 w 40"/>
                <a:gd name="T1" fmla="*/ 2147483647 h 48"/>
                <a:gd name="T2" fmla="*/ 2147483647 w 40"/>
                <a:gd name="T3" fmla="*/ 2147483647 h 48"/>
                <a:gd name="T4" fmla="*/ 2147483647 w 40"/>
                <a:gd name="T5" fmla="*/ 2147483647 h 48"/>
                <a:gd name="T6" fmla="*/ 2147483647 w 40"/>
                <a:gd name="T7" fmla="*/ 2147483647 h 48"/>
                <a:gd name="T8" fmla="*/ 2147483647 w 40"/>
                <a:gd name="T9" fmla="*/ 0 h 48"/>
                <a:gd name="T10" fmla="*/ 0 w 40"/>
                <a:gd name="T11" fmla="*/ 2147483647 h 48"/>
                <a:gd name="T12" fmla="*/ 0 60000 65536"/>
                <a:gd name="T13" fmla="*/ 0 60000 65536"/>
                <a:gd name="T14" fmla="*/ 0 60000 65536"/>
                <a:gd name="T15" fmla="*/ 0 60000 65536"/>
                <a:gd name="T16" fmla="*/ 0 60000 65536"/>
                <a:gd name="T17" fmla="*/ 0 60000 65536"/>
                <a:gd name="T18" fmla="*/ 0 w 40"/>
                <a:gd name="T19" fmla="*/ 0 h 48"/>
                <a:gd name="T20" fmla="*/ 40 w 40"/>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40" h="48">
                  <a:moveTo>
                    <a:pt x="0" y="48"/>
                  </a:moveTo>
                  <a:lnTo>
                    <a:pt x="16" y="48"/>
                  </a:lnTo>
                  <a:lnTo>
                    <a:pt x="40" y="40"/>
                  </a:lnTo>
                  <a:lnTo>
                    <a:pt x="40" y="32"/>
                  </a:lnTo>
                  <a:lnTo>
                    <a:pt x="40" y="0"/>
                  </a:lnTo>
                  <a:lnTo>
                    <a:pt x="0" y="4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23" name="Freeform 774"/>
            <p:cNvSpPr>
              <a:spLocks/>
            </p:cNvSpPr>
            <p:nvPr/>
          </p:nvSpPr>
          <p:spPr bwMode="auto">
            <a:xfrm>
              <a:off x="2886610" y="3704428"/>
              <a:ext cx="178464" cy="177597"/>
            </a:xfrm>
            <a:custGeom>
              <a:avLst/>
              <a:gdLst>
                <a:gd name="T0" fmla="*/ 2147483647 w 168"/>
                <a:gd name="T1" fmla="*/ 2147483647 h 168"/>
                <a:gd name="T2" fmla="*/ 2147483647 w 168"/>
                <a:gd name="T3" fmla="*/ 2147483647 h 168"/>
                <a:gd name="T4" fmla="*/ 2147483647 w 168"/>
                <a:gd name="T5" fmla="*/ 2147483647 h 168"/>
                <a:gd name="T6" fmla="*/ 2147483647 w 168"/>
                <a:gd name="T7" fmla="*/ 2147483647 h 168"/>
                <a:gd name="T8" fmla="*/ 2147483647 w 168"/>
                <a:gd name="T9" fmla="*/ 2147483647 h 168"/>
                <a:gd name="T10" fmla="*/ 2147483647 w 168"/>
                <a:gd name="T11" fmla="*/ 2147483647 h 168"/>
                <a:gd name="T12" fmla="*/ 2147483647 w 168"/>
                <a:gd name="T13" fmla="*/ 2147483647 h 168"/>
                <a:gd name="T14" fmla="*/ 2147483647 w 168"/>
                <a:gd name="T15" fmla="*/ 2147483647 h 168"/>
                <a:gd name="T16" fmla="*/ 2147483647 w 168"/>
                <a:gd name="T17" fmla="*/ 2147483647 h 168"/>
                <a:gd name="T18" fmla="*/ 2147483647 w 168"/>
                <a:gd name="T19" fmla="*/ 2147483647 h 168"/>
                <a:gd name="T20" fmla="*/ 2147483647 w 168"/>
                <a:gd name="T21" fmla="*/ 2147483647 h 168"/>
                <a:gd name="T22" fmla="*/ 2147483647 w 168"/>
                <a:gd name="T23" fmla="*/ 2147483647 h 168"/>
                <a:gd name="T24" fmla="*/ 2147483647 w 168"/>
                <a:gd name="T25" fmla="*/ 2147483647 h 168"/>
                <a:gd name="T26" fmla="*/ 2147483647 w 168"/>
                <a:gd name="T27" fmla="*/ 2147483647 h 168"/>
                <a:gd name="T28" fmla="*/ 2147483647 w 168"/>
                <a:gd name="T29" fmla="*/ 2147483647 h 168"/>
                <a:gd name="T30" fmla="*/ 2147483647 w 168"/>
                <a:gd name="T31" fmla="*/ 2147483647 h 168"/>
                <a:gd name="T32" fmla="*/ 2147483647 w 168"/>
                <a:gd name="T33" fmla="*/ 2147483647 h 168"/>
                <a:gd name="T34" fmla="*/ 2147483647 w 168"/>
                <a:gd name="T35" fmla="*/ 2147483647 h 168"/>
                <a:gd name="T36" fmla="*/ 2147483647 w 168"/>
                <a:gd name="T37" fmla="*/ 2147483647 h 168"/>
                <a:gd name="T38" fmla="*/ 2147483647 w 168"/>
                <a:gd name="T39" fmla="*/ 0 h 168"/>
                <a:gd name="T40" fmla="*/ 2147483647 w 168"/>
                <a:gd name="T41" fmla="*/ 2147483647 h 168"/>
                <a:gd name="T42" fmla="*/ 0 w 168"/>
                <a:gd name="T43" fmla="*/ 2147483647 h 168"/>
                <a:gd name="T44" fmla="*/ 2147483647 w 168"/>
                <a:gd name="T45" fmla="*/ 2147483647 h 168"/>
                <a:gd name="T46" fmla="*/ 2147483647 w 168"/>
                <a:gd name="T47" fmla="*/ 2147483647 h 168"/>
                <a:gd name="T48" fmla="*/ 2147483647 w 168"/>
                <a:gd name="T49" fmla="*/ 2147483647 h 168"/>
                <a:gd name="T50" fmla="*/ 2147483647 w 168"/>
                <a:gd name="T51" fmla="*/ 2147483647 h 168"/>
                <a:gd name="T52" fmla="*/ 2147483647 w 168"/>
                <a:gd name="T53" fmla="*/ 2147483647 h 168"/>
                <a:gd name="T54" fmla="*/ 2147483647 w 168"/>
                <a:gd name="T55" fmla="*/ 2147483647 h 16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68"/>
                <a:gd name="T85" fmla="*/ 0 h 168"/>
                <a:gd name="T86" fmla="*/ 168 w 168"/>
                <a:gd name="T87" fmla="*/ 168 h 16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68" h="168">
                  <a:moveTo>
                    <a:pt x="88" y="168"/>
                  </a:moveTo>
                  <a:lnTo>
                    <a:pt x="96" y="168"/>
                  </a:lnTo>
                  <a:lnTo>
                    <a:pt x="104" y="112"/>
                  </a:lnTo>
                  <a:lnTo>
                    <a:pt x="104" y="72"/>
                  </a:lnTo>
                  <a:lnTo>
                    <a:pt x="112" y="72"/>
                  </a:lnTo>
                  <a:lnTo>
                    <a:pt x="120" y="24"/>
                  </a:lnTo>
                  <a:lnTo>
                    <a:pt x="152" y="16"/>
                  </a:lnTo>
                  <a:lnTo>
                    <a:pt x="160" y="16"/>
                  </a:lnTo>
                  <a:lnTo>
                    <a:pt x="168" y="16"/>
                  </a:lnTo>
                  <a:lnTo>
                    <a:pt x="160" y="8"/>
                  </a:lnTo>
                  <a:lnTo>
                    <a:pt x="144" y="8"/>
                  </a:lnTo>
                  <a:lnTo>
                    <a:pt x="144" y="16"/>
                  </a:lnTo>
                  <a:lnTo>
                    <a:pt x="144" y="8"/>
                  </a:lnTo>
                  <a:lnTo>
                    <a:pt x="120" y="16"/>
                  </a:lnTo>
                  <a:lnTo>
                    <a:pt x="88" y="16"/>
                  </a:lnTo>
                  <a:lnTo>
                    <a:pt x="80" y="8"/>
                  </a:lnTo>
                  <a:lnTo>
                    <a:pt x="24" y="8"/>
                  </a:lnTo>
                  <a:lnTo>
                    <a:pt x="16" y="0"/>
                  </a:lnTo>
                  <a:lnTo>
                    <a:pt x="8" y="8"/>
                  </a:lnTo>
                  <a:lnTo>
                    <a:pt x="0" y="32"/>
                  </a:lnTo>
                  <a:lnTo>
                    <a:pt x="32" y="88"/>
                  </a:lnTo>
                  <a:lnTo>
                    <a:pt x="32" y="96"/>
                  </a:lnTo>
                  <a:lnTo>
                    <a:pt x="40" y="152"/>
                  </a:lnTo>
                  <a:lnTo>
                    <a:pt x="64" y="168"/>
                  </a:lnTo>
                  <a:lnTo>
                    <a:pt x="64" y="160"/>
                  </a:lnTo>
                  <a:lnTo>
                    <a:pt x="88" y="168"/>
                  </a:lnTo>
                  <a:close/>
                </a:path>
              </a:pathLst>
            </a:custGeom>
            <a:grpFill/>
            <a:ln w="6350"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24" name="Freeform 775"/>
            <p:cNvSpPr>
              <a:spLocks/>
            </p:cNvSpPr>
            <p:nvPr/>
          </p:nvSpPr>
          <p:spPr bwMode="auto">
            <a:xfrm>
              <a:off x="468684" y="2099985"/>
              <a:ext cx="364725" cy="499872"/>
            </a:xfrm>
            <a:custGeom>
              <a:avLst/>
              <a:gdLst>
                <a:gd name="T0" fmla="*/ 2147483647 w 344"/>
                <a:gd name="T1" fmla="*/ 2147483647 h 472"/>
                <a:gd name="T2" fmla="*/ 2147483647 w 344"/>
                <a:gd name="T3" fmla="*/ 2147483647 h 472"/>
                <a:gd name="T4" fmla="*/ 2147483647 w 344"/>
                <a:gd name="T5" fmla="*/ 2147483647 h 472"/>
                <a:gd name="T6" fmla="*/ 2147483647 w 344"/>
                <a:gd name="T7" fmla="*/ 2147483647 h 472"/>
                <a:gd name="T8" fmla="*/ 2147483647 w 344"/>
                <a:gd name="T9" fmla="*/ 2147483647 h 472"/>
                <a:gd name="T10" fmla="*/ 2147483647 w 344"/>
                <a:gd name="T11" fmla="*/ 2147483647 h 472"/>
                <a:gd name="T12" fmla="*/ 2147483647 w 344"/>
                <a:gd name="T13" fmla="*/ 2147483647 h 472"/>
                <a:gd name="T14" fmla="*/ 2147483647 w 344"/>
                <a:gd name="T15" fmla="*/ 0 h 472"/>
                <a:gd name="T16" fmla="*/ 2147483647 w 344"/>
                <a:gd name="T17" fmla="*/ 2147483647 h 472"/>
                <a:gd name="T18" fmla="*/ 2147483647 w 344"/>
                <a:gd name="T19" fmla="*/ 2147483647 h 472"/>
                <a:gd name="T20" fmla="*/ 2147483647 w 344"/>
                <a:gd name="T21" fmla="*/ 2147483647 h 472"/>
                <a:gd name="T22" fmla="*/ 2147483647 w 344"/>
                <a:gd name="T23" fmla="*/ 2147483647 h 472"/>
                <a:gd name="T24" fmla="*/ 2147483647 w 344"/>
                <a:gd name="T25" fmla="*/ 2147483647 h 472"/>
                <a:gd name="T26" fmla="*/ 2147483647 w 344"/>
                <a:gd name="T27" fmla="*/ 2147483647 h 472"/>
                <a:gd name="T28" fmla="*/ 2147483647 w 344"/>
                <a:gd name="T29" fmla="*/ 2147483647 h 472"/>
                <a:gd name="T30" fmla="*/ 2147483647 w 344"/>
                <a:gd name="T31" fmla="*/ 2147483647 h 472"/>
                <a:gd name="T32" fmla="*/ 2147483647 w 344"/>
                <a:gd name="T33" fmla="*/ 2147483647 h 472"/>
                <a:gd name="T34" fmla="*/ 2147483647 w 344"/>
                <a:gd name="T35" fmla="*/ 2147483647 h 472"/>
                <a:gd name="T36" fmla="*/ 2147483647 w 344"/>
                <a:gd name="T37" fmla="*/ 2147483647 h 472"/>
                <a:gd name="T38" fmla="*/ 0 w 344"/>
                <a:gd name="T39" fmla="*/ 2147483647 h 472"/>
                <a:gd name="T40" fmla="*/ 2147483647 w 344"/>
                <a:gd name="T41" fmla="*/ 2147483647 h 472"/>
                <a:gd name="T42" fmla="*/ 2147483647 w 344"/>
                <a:gd name="T43" fmla="*/ 2147483647 h 472"/>
                <a:gd name="T44" fmla="*/ 2147483647 w 344"/>
                <a:gd name="T45" fmla="*/ 2147483647 h 472"/>
                <a:gd name="T46" fmla="*/ 2147483647 w 344"/>
                <a:gd name="T47" fmla="*/ 2147483647 h 472"/>
                <a:gd name="T48" fmla="*/ 2147483647 w 344"/>
                <a:gd name="T49" fmla="*/ 2147483647 h 472"/>
                <a:gd name="T50" fmla="*/ 2147483647 w 344"/>
                <a:gd name="T51" fmla="*/ 2147483647 h 472"/>
                <a:gd name="T52" fmla="*/ 2147483647 w 344"/>
                <a:gd name="T53" fmla="*/ 2147483647 h 472"/>
                <a:gd name="T54" fmla="*/ 2147483647 w 344"/>
                <a:gd name="T55" fmla="*/ 2147483647 h 472"/>
                <a:gd name="T56" fmla="*/ 2147483647 w 344"/>
                <a:gd name="T57" fmla="*/ 2147483647 h 472"/>
                <a:gd name="T58" fmla="*/ 2147483647 w 344"/>
                <a:gd name="T59" fmla="*/ 2147483647 h 472"/>
                <a:gd name="T60" fmla="*/ 2147483647 w 344"/>
                <a:gd name="T61" fmla="*/ 2147483647 h 472"/>
                <a:gd name="T62" fmla="*/ 2147483647 w 344"/>
                <a:gd name="T63" fmla="*/ 2147483647 h 472"/>
                <a:gd name="T64" fmla="*/ 2147483647 w 344"/>
                <a:gd name="T65" fmla="*/ 2147483647 h 472"/>
                <a:gd name="T66" fmla="*/ 2147483647 w 344"/>
                <a:gd name="T67" fmla="*/ 2147483647 h 472"/>
                <a:gd name="T68" fmla="*/ 2147483647 w 344"/>
                <a:gd name="T69" fmla="*/ 2147483647 h 472"/>
                <a:gd name="T70" fmla="*/ 2147483647 w 344"/>
                <a:gd name="T71" fmla="*/ 2147483647 h 472"/>
                <a:gd name="T72" fmla="*/ 2147483647 w 344"/>
                <a:gd name="T73" fmla="*/ 2147483647 h 472"/>
                <a:gd name="T74" fmla="*/ 2147483647 w 344"/>
                <a:gd name="T75" fmla="*/ 2147483647 h 472"/>
                <a:gd name="T76" fmla="*/ 2147483647 w 344"/>
                <a:gd name="T77" fmla="*/ 2147483647 h 472"/>
                <a:gd name="T78" fmla="*/ 2147483647 w 344"/>
                <a:gd name="T79" fmla="*/ 2147483647 h 472"/>
                <a:gd name="T80" fmla="*/ 2147483647 w 344"/>
                <a:gd name="T81" fmla="*/ 2147483647 h 472"/>
                <a:gd name="T82" fmla="*/ 2147483647 w 344"/>
                <a:gd name="T83" fmla="*/ 2147483647 h 472"/>
                <a:gd name="T84" fmla="*/ 2147483647 w 344"/>
                <a:gd name="T85" fmla="*/ 2147483647 h 472"/>
                <a:gd name="T86" fmla="*/ 2147483647 w 344"/>
                <a:gd name="T87" fmla="*/ 2147483647 h 472"/>
                <a:gd name="T88" fmla="*/ 2147483647 w 344"/>
                <a:gd name="T89" fmla="*/ 2147483647 h 472"/>
                <a:gd name="T90" fmla="*/ 2147483647 w 344"/>
                <a:gd name="T91" fmla="*/ 2147483647 h 472"/>
                <a:gd name="T92" fmla="*/ 2147483647 w 344"/>
                <a:gd name="T93" fmla="*/ 2147483647 h 472"/>
                <a:gd name="T94" fmla="*/ 2147483647 w 344"/>
                <a:gd name="T95" fmla="*/ 2147483647 h 47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44"/>
                <a:gd name="T145" fmla="*/ 0 h 472"/>
                <a:gd name="T146" fmla="*/ 344 w 344"/>
                <a:gd name="T147" fmla="*/ 472 h 47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44" h="472">
                  <a:moveTo>
                    <a:pt x="336" y="64"/>
                  </a:moveTo>
                  <a:lnTo>
                    <a:pt x="328" y="48"/>
                  </a:lnTo>
                  <a:lnTo>
                    <a:pt x="288" y="56"/>
                  </a:lnTo>
                  <a:lnTo>
                    <a:pt x="240" y="32"/>
                  </a:lnTo>
                  <a:lnTo>
                    <a:pt x="216" y="32"/>
                  </a:lnTo>
                  <a:lnTo>
                    <a:pt x="192" y="24"/>
                  </a:lnTo>
                  <a:lnTo>
                    <a:pt x="192" y="8"/>
                  </a:lnTo>
                  <a:lnTo>
                    <a:pt x="152" y="0"/>
                  </a:lnTo>
                  <a:lnTo>
                    <a:pt x="136" y="16"/>
                  </a:lnTo>
                  <a:lnTo>
                    <a:pt x="104" y="24"/>
                  </a:lnTo>
                  <a:lnTo>
                    <a:pt x="80" y="40"/>
                  </a:lnTo>
                  <a:lnTo>
                    <a:pt x="64" y="80"/>
                  </a:lnTo>
                  <a:lnTo>
                    <a:pt x="32" y="88"/>
                  </a:lnTo>
                  <a:lnTo>
                    <a:pt x="32" y="112"/>
                  </a:lnTo>
                  <a:lnTo>
                    <a:pt x="56" y="144"/>
                  </a:lnTo>
                  <a:lnTo>
                    <a:pt x="80" y="160"/>
                  </a:lnTo>
                  <a:lnTo>
                    <a:pt x="80" y="176"/>
                  </a:lnTo>
                  <a:lnTo>
                    <a:pt x="64" y="184"/>
                  </a:lnTo>
                  <a:lnTo>
                    <a:pt x="40" y="176"/>
                  </a:lnTo>
                  <a:lnTo>
                    <a:pt x="0" y="200"/>
                  </a:lnTo>
                  <a:lnTo>
                    <a:pt x="16" y="216"/>
                  </a:lnTo>
                  <a:lnTo>
                    <a:pt x="32" y="232"/>
                  </a:lnTo>
                  <a:lnTo>
                    <a:pt x="64" y="232"/>
                  </a:lnTo>
                  <a:lnTo>
                    <a:pt x="96" y="232"/>
                  </a:lnTo>
                  <a:lnTo>
                    <a:pt x="80" y="264"/>
                  </a:lnTo>
                  <a:lnTo>
                    <a:pt x="48" y="272"/>
                  </a:lnTo>
                  <a:lnTo>
                    <a:pt x="24" y="288"/>
                  </a:lnTo>
                  <a:lnTo>
                    <a:pt x="24" y="312"/>
                  </a:lnTo>
                  <a:lnTo>
                    <a:pt x="48" y="328"/>
                  </a:lnTo>
                  <a:lnTo>
                    <a:pt x="56" y="352"/>
                  </a:lnTo>
                  <a:lnTo>
                    <a:pt x="72" y="360"/>
                  </a:lnTo>
                  <a:lnTo>
                    <a:pt x="80" y="384"/>
                  </a:lnTo>
                  <a:lnTo>
                    <a:pt x="104" y="384"/>
                  </a:lnTo>
                  <a:lnTo>
                    <a:pt x="144" y="384"/>
                  </a:lnTo>
                  <a:lnTo>
                    <a:pt x="120" y="416"/>
                  </a:lnTo>
                  <a:lnTo>
                    <a:pt x="64" y="472"/>
                  </a:lnTo>
                  <a:lnTo>
                    <a:pt x="128" y="432"/>
                  </a:lnTo>
                  <a:lnTo>
                    <a:pt x="184" y="376"/>
                  </a:lnTo>
                  <a:lnTo>
                    <a:pt x="176" y="368"/>
                  </a:lnTo>
                  <a:lnTo>
                    <a:pt x="208" y="328"/>
                  </a:lnTo>
                  <a:lnTo>
                    <a:pt x="216" y="344"/>
                  </a:lnTo>
                  <a:lnTo>
                    <a:pt x="224" y="360"/>
                  </a:lnTo>
                  <a:lnTo>
                    <a:pt x="248" y="344"/>
                  </a:lnTo>
                  <a:lnTo>
                    <a:pt x="272" y="328"/>
                  </a:lnTo>
                  <a:lnTo>
                    <a:pt x="288" y="336"/>
                  </a:lnTo>
                  <a:lnTo>
                    <a:pt x="344" y="344"/>
                  </a:lnTo>
                  <a:lnTo>
                    <a:pt x="344" y="64"/>
                  </a:lnTo>
                  <a:lnTo>
                    <a:pt x="336" y="64"/>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25" name="Freeform 777"/>
            <p:cNvSpPr>
              <a:spLocks/>
            </p:cNvSpPr>
            <p:nvPr/>
          </p:nvSpPr>
          <p:spPr bwMode="auto">
            <a:xfrm>
              <a:off x="1054323" y="2728940"/>
              <a:ext cx="771033" cy="398512"/>
            </a:xfrm>
            <a:custGeom>
              <a:avLst/>
              <a:gdLst>
                <a:gd name="T0" fmla="*/ 2147483647 w 728"/>
                <a:gd name="T1" fmla="*/ 2147483647 h 376"/>
                <a:gd name="T2" fmla="*/ 2147483647 w 728"/>
                <a:gd name="T3" fmla="*/ 2147483647 h 376"/>
                <a:gd name="T4" fmla="*/ 2147483647 w 728"/>
                <a:gd name="T5" fmla="*/ 2147483647 h 376"/>
                <a:gd name="T6" fmla="*/ 2147483647 w 728"/>
                <a:gd name="T7" fmla="*/ 2147483647 h 376"/>
                <a:gd name="T8" fmla="*/ 2147483647 w 728"/>
                <a:gd name="T9" fmla="*/ 2147483647 h 376"/>
                <a:gd name="T10" fmla="*/ 2147483647 w 728"/>
                <a:gd name="T11" fmla="*/ 2147483647 h 376"/>
                <a:gd name="T12" fmla="*/ 2147483647 w 728"/>
                <a:gd name="T13" fmla="*/ 2147483647 h 376"/>
                <a:gd name="T14" fmla="*/ 2147483647 w 728"/>
                <a:gd name="T15" fmla="*/ 2147483647 h 376"/>
                <a:gd name="T16" fmla="*/ 2147483647 w 728"/>
                <a:gd name="T17" fmla="*/ 2147483647 h 376"/>
                <a:gd name="T18" fmla="*/ 2147483647 w 728"/>
                <a:gd name="T19" fmla="*/ 2147483647 h 376"/>
                <a:gd name="T20" fmla="*/ 2147483647 w 728"/>
                <a:gd name="T21" fmla="*/ 2147483647 h 376"/>
                <a:gd name="T22" fmla="*/ 2147483647 w 728"/>
                <a:gd name="T23" fmla="*/ 2147483647 h 376"/>
                <a:gd name="T24" fmla="*/ 2147483647 w 728"/>
                <a:gd name="T25" fmla="*/ 2147483647 h 376"/>
                <a:gd name="T26" fmla="*/ 2147483647 w 728"/>
                <a:gd name="T27" fmla="*/ 2147483647 h 376"/>
                <a:gd name="T28" fmla="*/ 2147483647 w 728"/>
                <a:gd name="T29" fmla="*/ 2147483647 h 376"/>
                <a:gd name="T30" fmla="*/ 2147483647 w 728"/>
                <a:gd name="T31" fmla="*/ 2147483647 h 376"/>
                <a:gd name="T32" fmla="*/ 2147483647 w 728"/>
                <a:gd name="T33" fmla="*/ 2147483647 h 376"/>
                <a:gd name="T34" fmla="*/ 2147483647 w 728"/>
                <a:gd name="T35" fmla="*/ 2147483647 h 376"/>
                <a:gd name="T36" fmla="*/ 2147483647 w 728"/>
                <a:gd name="T37" fmla="*/ 2147483647 h 376"/>
                <a:gd name="T38" fmla="*/ 2147483647 w 728"/>
                <a:gd name="T39" fmla="*/ 2147483647 h 376"/>
                <a:gd name="T40" fmla="*/ 2147483647 w 728"/>
                <a:gd name="T41" fmla="*/ 2147483647 h 376"/>
                <a:gd name="T42" fmla="*/ 2147483647 w 728"/>
                <a:gd name="T43" fmla="*/ 2147483647 h 376"/>
                <a:gd name="T44" fmla="*/ 2147483647 w 728"/>
                <a:gd name="T45" fmla="*/ 2147483647 h 376"/>
                <a:gd name="T46" fmla="*/ 2147483647 w 728"/>
                <a:gd name="T47" fmla="*/ 2147483647 h 376"/>
                <a:gd name="T48" fmla="*/ 2147483647 w 728"/>
                <a:gd name="T49" fmla="*/ 0 h 376"/>
                <a:gd name="T50" fmla="*/ 2147483647 w 728"/>
                <a:gd name="T51" fmla="*/ 2147483647 h 376"/>
                <a:gd name="T52" fmla="*/ 2147483647 w 728"/>
                <a:gd name="T53" fmla="*/ 2147483647 h 376"/>
                <a:gd name="T54" fmla="*/ 2147483647 w 728"/>
                <a:gd name="T55" fmla="*/ 2147483647 h 376"/>
                <a:gd name="T56" fmla="*/ 0 w 728"/>
                <a:gd name="T57" fmla="*/ 2147483647 h 376"/>
                <a:gd name="T58" fmla="*/ 2147483647 w 728"/>
                <a:gd name="T59" fmla="*/ 2147483647 h 376"/>
                <a:gd name="T60" fmla="*/ 2147483647 w 728"/>
                <a:gd name="T61" fmla="*/ 2147483647 h 376"/>
                <a:gd name="T62" fmla="*/ 2147483647 w 728"/>
                <a:gd name="T63" fmla="*/ 2147483647 h 376"/>
                <a:gd name="T64" fmla="*/ 2147483647 w 728"/>
                <a:gd name="T65" fmla="*/ 2147483647 h 3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28"/>
                <a:gd name="T100" fmla="*/ 0 h 376"/>
                <a:gd name="T101" fmla="*/ 728 w 728"/>
                <a:gd name="T102" fmla="*/ 376 h 3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28" h="376">
                  <a:moveTo>
                    <a:pt x="168" y="288"/>
                  </a:moveTo>
                  <a:lnTo>
                    <a:pt x="200" y="288"/>
                  </a:lnTo>
                  <a:lnTo>
                    <a:pt x="208" y="280"/>
                  </a:lnTo>
                  <a:lnTo>
                    <a:pt x="232" y="288"/>
                  </a:lnTo>
                  <a:lnTo>
                    <a:pt x="264" y="320"/>
                  </a:lnTo>
                  <a:lnTo>
                    <a:pt x="288" y="312"/>
                  </a:lnTo>
                  <a:lnTo>
                    <a:pt x="304" y="328"/>
                  </a:lnTo>
                  <a:lnTo>
                    <a:pt x="312" y="344"/>
                  </a:lnTo>
                  <a:lnTo>
                    <a:pt x="328" y="360"/>
                  </a:lnTo>
                  <a:lnTo>
                    <a:pt x="352" y="368"/>
                  </a:lnTo>
                  <a:lnTo>
                    <a:pt x="352" y="336"/>
                  </a:lnTo>
                  <a:lnTo>
                    <a:pt x="368" y="320"/>
                  </a:lnTo>
                  <a:lnTo>
                    <a:pt x="376" y="312"/>
                  </a:lnTo>
                  <a:lnTo>
                    <a:pt x="416" y="312"/>
                  </a:lnTo>
                  <a:lnTo>
                    <a:pt x="440" y="312"/>
                  </a:lnTo>
                  <a:lnTo>
                    <a:pt x="472" y="304"/>
                  </a:lnTo>
                  <a:lnTo>
                    <a:pt x="496" y="304"/>
                  </a:lnTo>
                  <a:lnTo>
                    <a:pt x="512" y="304"/>
                  </a:lnTo>
                  <a:lnTo>
                    <a:pt x="520" y="320"/>
                  </a:lnTo>
                  <a:lnTo>
                    <a:pt x="528" y="352"/>
                  </a:lnTo>
                  <a:lnTo>
                    <a:pt x="552" y="376"/>
                  </a:lnTo>
                  <a:lnTo>
                    <a:pt x="560" y="376"/>
                  </a:lnTo>
                  <a:lnTo>
                    <a:pt x="560" y="336"/>
                  </a:lnTo>
                  <a:lnTo>
                    <a:pt x="544" y="296"/>
                  </a:lnTo>
                  <a:lnTo>
                    <a:pt x="560" y="272"/>
                  </a:lnTo>
                  <a:lnTo>
                    <a:pt x="584" y="264"/>
                  </a:lnTo>
                  <a:lnTo>
                    <a:pt x="616" y="224"/>
                  </a:lnTo>
                  <a:lnTo>
                    <a:pt x="616" y="200"/>
                  </a:lnTo>
                  <a:lnTo>
                    <a:pt x="608" y="176"/>
                  </a:lnTo>
                  <a:lnTo>
                    <a:pt x="624" y="184"/>
                  </a:lnTo>
                  <a:lnTo>
                    <a:pt x="624" y="168"/>
                  </a:lnTo>
                  <a:lnTo>
                    <a:pt x="632" y="168"/>
                  </a:lnTo>
                  <a:lnTo>
                    <a:pt x="640" y="160"/>
                  </a:lnTo>
                  <a:lnTo>
                    <a:pt x="648" y="144"/>
                  </a:lnTo>
                  <a:lnTo>
                    <a:pt x="664" y="136"/>
                  </a:lnTo>
                  <a:lnTo>
                    <a:pt x="688" y="128"/>
                  </a:lnTo>
                  <a:lnTo>
                    <a:pt x="688" y="96"/>
                  </a:lnTo>
                  <a:lnTo>
                    <a:pt x="728" y="72"/>
                  </a:lnTo>
                  <a:lnTo>
                    <a:pt x="720" y="32"/>
                  </a:lnTo>
                  <a:lnTo>
                    <a:pt x="704" y="32"/>
                  </a:lnTo>
                  <a:lnTo>
                    <a:pt x="672" y="72"/>
                  </a:lnTo>
                  <a:lnTo>
                    <a:pt x="632" y="80"/>
                  </a:lnTo>
                  <a:lnTo>
                    <a:pt x="616" y="80"/>
                  </a:lnTo>
                  <a:lnTo>
                    <a:pt x="584" y="104"/>
                  </a:lnTo>
                  <a:lnTo>
                    <a:pt x="536" y="120"/>
                  </a:lnTo>
                  <a:lnTo>
                    <a:pt x="536" y="96"/>
                  </a:lnTo>
                  <a:lnTo>
                    <a:pt x="512" y="48"/>
                  </a:lnTo>
                  <a:lnTo>
                    <a:pt x="440" y="16"/>
                  </a:lnTo>
                  <a:lnTo>
                    <a:pt x="416" y="8"/>
                  </a:lnTo>
                  <a:lnTo>
                    <a:pt x="376" y="0"/>
                  </a:lnTo>
                  <a:lnTo>
                    <a:pt x="24" y="0"/>
                  </a:lnTo>
                  <a:lnTo>
                    <a:pt x="32" y="24"/>
                  </a:lnTo>
                  <a:lnTo>
                    <a:pt x="16" y="32"/>
                  </a:lnTo>
                  <a:lnTo>
                    <a:pt x="24" y="16"/>
                  </a:lnTo>
                  <a:lnTo>
                    <a:pt x="0" y="8"/>
                  </a:lnTo>
                  <a:lnTo>
                    <a:pt x="8" y="48"/>
                  </a:lnTo>
                  <a:lnTo>
                    <a:pt x="8" y="80"/>
                  </a:lnTo>
                  <a:lnTo>
                    <a:pt x="0" y="112"/>
                  </a:lnTo>
                  <a:lnTo>
                    <a:pt x="8" y="136"/>
                  </a:lnTo>
                  <a:lnTo>
                    <a:pt x="8" y="152"/>
                  </a:lnTo>
                  <a:lnTo>
                    <a:pt x="24" y="192"/>
                  </a:lnTo>
                  <a:lnTo>
                    <a:pt x="40" y="224"/>
                  </a:lnTo>
                  <a:lnTo>
                    <a:pt x="56" y="240"/>
                  </a:lnTo>
                  <a:lnTo>
                    <a:pt x="88" y="264"/>
                  </a:lnTo>
                  <a:lnTo>
                    <a:pt x="96" y="272"/>
                  </a:lnTo>
                  <a:lnTo>
                    <a:pt x="128" y="272"/>
                  </a:lnTo>
                  <a:lnTo>
                    <a:pt x="168" y="288"/>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26" name="Freeform 779"/>
            <p:cNvSpPr>
              <a:spLocks/>
            </p:cNvSpPr>
            <p:nvPr/>
          </p:nvSpPr>
          <p:spPr bwMode="auto">
            <a:xfrm>
              <a:off x="1054323" y="2728940"/>
              <a:ext cx="771033" cy="398512"/>
            </a:xfrm>
            <a:custGeom>
              <a:avLst/>
              <a:gdLst>
                <a:gd name="T0" fmla="*/ 2147483647 w 728"/>
                <a:gd name="T1" fmla="*/ 2147483647 h 376"/>
                <a:gd name="T2" fmla="*/ 2147483647 w 728"/>
                <a:gd name="T3" fmla="*/ 2147483647 h 376"/>
                <a:gd name="T4" fmla="*/ 2147483647 w 728"/>
                <a:gd name="T5" fmla="*/ 2147483647 h 376"/>
                <a:gd name="T6" fmla="*/ 2147483647 w 728"/>
                <a:gd name="T7" fmla="*/ 2147483647 h 376"/>
                <a:gd name="T8" fmla="*/ 2147483647 w 728"/>
                <a:gd name="T9" fmla="*/ 2147483647 h 376"/>
                <a:gd name="T10" fmla="*/ 2147483647 w 728"/>
                <a:gd name="T11" fmla="*/ 2147483647 h 376"/>
                <a:gd name="T12" fmla="*/ 2147483647 w 728"/>
                <a:gd name="T13" fmla="*/ 2147483647 h 376"/>
                <a:gd name="T14" fmla="*/ 2147483647 w 728"/>
                <a:gd name="T15" fmla="*/ 2147483647 h 376"/>
                <a:gd name="T16" fmla="*/ 2147483647 w 728"/>
                <a:gd name="T17" fmla="*/ 2147483647 h 376"/>
                <a:gd name="T18" fmla="*/ 2147483647 w 728"/>
                <a:gd name="T19" fmla="*/ 2147483647 h 376"/>
                <a:gd name="T20" fmla="*/ 2147483647 w 728"/>
                <a:gd name="T21" fmla="*/ 2147483647 h 376"/>
                <a:gd name="T22" fmla="*/ 2147483647 w 728"/>
                <a:gd name="T23" fmla="*/ 2147483647 h 376"/>
                <a:gd name="T24" fmla="*/ 2147483647 w 728"/>
                <a:gd name="T25" fmla="*/ 2147483647 h 376"/>
                <a:gd name="T26" fmla="*/ 2147483647 w 728"/>
                <a:gd name="T27" fmla="*/ 2147483647 h 376"/>
                <a:gd name="T28" fmla="*/ 2147483647 w 728"/>
                <a:gd name="T29" fmla="*/ 2147483647 h 376"/>
                <a:gd name="T30" fmla="*/ 2147483647 w 728"/>
                <a:gd name="T31" fmla="*/ 2147483647 h 376"/>
                <a:gd name="T32" fmla="*/ 2147483647 w 728"/>
                <a:gd name="T33" fmla="*/ 2147483647 h 376"/>
                <a:gd name="T34" fmla="*/ 2147483647 w 728"/>
                <a:gd name="T35" fmla="*/ 2147483647 h 376"/>
                <a:gd name="T36" fmla="*/ 2147483647 w 728"/>
                <a:gd name="T37" fmla="*/ 2147483647 h 376"/>
                <a:gd name="T38" fmla="*/ 2147483647 w 728"/>
                <a:gd name="T39" fmla="*/ 2147483647 h 376"/>
                <a:gd name="T40" fmla="*/ 2147483647 w 728"/>
                <a:gd name="T41" fmla="*/ 2147483647 h 376"/>
                <a:gd name="T42" fmla="*/ 2147483647 w 728"/>
                <a:gd name="T43" fmla="*/ 2147483647 h 376"/>
                <a:gd name="T44" fmla="*/ 2147483647 w 728"/>
                <a:gd name="T45" fmla="*/ 2147483647 h 376"/>
                <a:gd name="T46" fmla="*/ 2147483647 w 728"/>
                <a:gd name="T47" fmla="*/ 2147483647 h 376"/>
                <a:gd name="T48" fmla="*/ 2147483647 w 728"/>
                <a:gd name="T49" fmla="*/ 2147483647 h 376"/>
                <a:gd name="T50" fmla="*/ 2147483647 w 728"/>
                <a:gd name="T51" fmla="*/ 0 h 376"/>
                <a:gd name="T52" fmla="*/ 2147483647 w 728"/>
                <a:gd name="T53" fmla="*/ 2147483647 h 376"/>
                <a:gd name="T54" fmla="*/ 2147483647 w 728"/>
                <a:gd name="T55" fmla="*/ 2147483647 h 376"/>
                <a:gd name="T56" fmla="*/ 2147483647 w 728"/>
                <a:gd name="T57" fmla="*/ 2147483647 h 376"/>
                <a:gd name="T58" fmla="*/ 0 w 728"/>
                <a:gd name="T59" fmla="*/ 2147483647 h 376"/>
                <a:gd name="T60" fmla="*/ 2147483647 w 728"/>
                <a:gd name="T61" fmla="*/ 2147483647 h 376"/>
                <a:gd name="T62" fmla="*/ 2147483647 w 728"/>
                <a:gd name="T63" fmla="*/ 2147483647 h 376"/>
                <a:gd name="T64" fmla="*/ 2147483647 w 728"/>
                <a:gd name="T65" fmla="*/ 2147483647 h 376"/>
                <a:gd name="T66" fmla="*/ 2147483647 w 728"/>
                <a:gd name="T67" fmla="*/ 2147483647 h 3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28"/>
                <a:gd name="T103" fmla="*/ 0 h 376"/>
                <a:gd name="T104" fmla="*/ 728 w 728"/>
                <a:gd name="T105" fmla="*/ 376 h 3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28" h="376">
                  <a:moveTo>
                    <a:pt x="168" y="288"/>
                  </a:moveTo>
                  <a:lnTo>
                    <a:pt x="200" y="288"/>
                  </a:lnTo>
                  <a:lnTo>
                    <a:pt x="208" y="280"/>
                  </a:lnTo>
                  <a:lnTo>
                    <a:pt x="232" y="288"/>
                  </a:lnTo>
                  <a:lnTo>
                    <a:pt x="264" y="320"/>
                  </a:lnTo>
                  <a:lnTo>
                    <a:pt x="288" y="312"/>
                  </a:lnTo>
                  <a:lnTo>
                    <a:pt x="304" y="328"/>
                  </a:lnTo>
                  <a:lnTo>
                    <a:pt x="312" y="344"/>
                  </a:lnTo>
                  <a:lnTo>
                    <a:pt x="328" y="360"/>
                  </a:lnTo>
                  <a:lnTo>
                    <a:pt x="352" y="368"/>
                  </a:lnTo>
                  <a:lnTo>
                    <a:pt x="352" y="336"/>
                  </a:lnTo>
                  <a:lnTo>
                    <a:pt x="368" y="320"/>
                  </a:lnTo>
                  <a:lnTo>
                    <a:pt x="376" y="312"/>
                  </a:lnTo>
                  <a:lnTo>
                    <a:pt x="416" y="312"/>
                  </a:lnTo>
                  <a:lnTo>
                    <a:pt x="440" y="312"/>
                  </a:lnTo>
                  <a:lnTo>
                    <a:pt x="472" y="304"/>
                  </a:lnTo>
                  <a:lnTo>
                    <a:pt x="496" y="304"/>
                  </a:lnTo>
                  <a:lnTo>
                    <a:pt x="512" y="304"/>
                  </a:lnTo>
                  <a:lnTo>
                    <a:pt x="520" y="320"/>
                  </a:lnTo>
                  <a:lnTo>
                    <a:pt x="528" y="352"/>
                  </a:lnTo>
                  <a:lnTo>
                    <a:pt x="552" y="376"/>
                  </a:lnTo>
                  <a:lnTo>
                    <a:pt x="560" y="376"/>
                  </a:lnTo>
                  <a:lnTo>
                    <a:pt x="560" y="336"/>
                  </a:lnTo>
                  <a:lnTo>
                    <a:pt x="544" y="296"/>
                  </a:lnTo>
                  <a:lnTo>
                    <a:pt x="560" y="272"/>
                  </a:lnTo>
                  <a:lnTo>
                    <a:pt x="584" y="264"/>
                  </a:lnTo>
                  <a:lnTo>
                    <a:pt x="616" y="224"/>
                  </a:lnTo>
                  <a:lnTo>
                    <a:pt x="616" y="200"/>
                  </a:lnTo>
                  <a:lnTo>
                    <a:pt x="608" y="176"/>
                  </a:lnTo>
                  <a:lnTo>
                    <a:pt x="624" y="184"/>
                  </a:lnTo>
                  <a:lnTo>
                    <a:pt x="624" y="168"/>
                  </a:lnTo>
                  <a:lnTo>
                    <a:pt x="632" y="168"/>
                  </a:lnTo>
                  <a:lnTo>
                    <a:pt x="640" y="160"/>
                  </a:lnTo>
                  <a:lnTo>
                    <a:pt x="648" y="144"/>
                  </a:lnTo>
                  <a:lnTo>
                    <a:pt x="664" y="136"/>
                  </a:lnTo>
                  <a:lnTo>
                    <a:pt x="688" y="128"/>
                  </a:lnTo>
                  <a:lnTo>
                    <a:pt x="688" y="96"/>
                  </a:lnTo>
                  <a:lnTo>
                    <a:pt x="728" y="72"/>
                  </a:lnTo>
                  <a:lnTo>
                    <a:pt x="720" y="32"/>
                  </a:lnTo>
                  <a:lnTo>
                    <a:pt x="704" y="32"/>
                  </a:lnTo>
                  <a:lnTo>
                    <a:pt x="672" y="72"/>
                  </a:lnTo>
                  <a:lnTo>
                    <a:pt x="632" y="80"/>
                  </a:lnTo>
                  <a:lnTo>
                    <a:pt x="616" y="80"/>
                  </a:lnTo>
                  <a:lnTo>
                    <a:pt x="584" y="104"/>
                  </a:lnTo>
                  <a:lnTo>
                    <a:pt x="536" y="120"/>
                  </a:lnTo>
                  <a:lnTo>
                    <a:pt x="536" y="96"/>
                  </a:lnTo>
                  <a:lnTo>
                    <a:pt x="512" y="48"/>
                  </a:lnTo>
                  <a:lnTo>
                    <a:pt x="440" y="16"/>
                  </a:lnTo>
                  <a:lnTo>
                    <a:pt x="416" y="8"/>
                  </a:lnTo>
                  <a:lnTo>
                    <a:pt x="376" y="0"/>
                  </a:lnTo>
                  <a:lnTo>
                    <a:pt x="24" y="0"/>
                  </a:lnTo>
                  <a:lnTo>
                    <a:pt x="32" y="24"/>
                  </a:lnTo>
                  <a:lnTo>
                    <a:pt x="16" y="32"/>
                  </a:lnTo>
                  <a:lnTo>
                    <a:pt x="24" y="16"/>
                  </a:lnTo>
                  <a:lnTo>
                    <a:pt x="0" y="8"/>
                  </a:lnTo>
                  <a:lnTo>
                    <a:pt x="8" y="48"/>
                  </a:lnTo>
                  <a:lnTo>
                    <a:pt x="8" y="80"/>
                  </a:lnTo>
                  <a:lnTo>
                    <a:pt x="0" y="112"/>
                  </a:lnTo>
                  <a:lnTo>
                    <a:pt x="8" y="136"/>
                  </a:lnTo>
                  <a:lnTo>
                    <a:pt x="8" y="152"/>
                  </a:lnTo>
                  <a:lnTo>
                    <a:pt x="24" y="192"/>
                  </a:lnTo>
                  <a:lnTo>
                    <a:pt x="40" y="224"/>
                  </a:lnTo>
                  <a:lnTo>
                    <a:pt x="56" y="240"/>
                  </a:lnTo>
                  <a:lnTo>
                    <a:pt x="88" y="264"/>
                  </a:lnTo>
                  <a:lnTo>
                    <a:pt x="96" y="272"/>
                  </a:lnTo>
                  <a:lnTo>
                    <a:pt x="128" y="272"/>
                  </a:lnTo>
                  <a:lnTo>
                    <a:pt x="168" y="288"/>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27" name="Freeform 780"/>
            <p:cNvSpPr>
              <a:spLocks/>
            </p:cNvSpPr>
            <p:nvPr/>
          </p:nvSpPr>
          <p:spPr bwMode="auto">
            <a:xfrm>
              <a:off x="1545532" y="3272129"/>
              <a:ext cx="59777" cy="58910"/>
            </a:xfrm>
            <a:custGeom>
              <a:avLst/>
              <a:gdLst>
                <a:gd name="T0" fmla="*/ 2147483647 w 56"/>
                <a:gd name="T1" fmla="*/ 2147483647 h 56"/>
                <a:gd name="T2" fmla="*/ 2147483647 w 56"/>
                <a:gd name="T3" fmla="*/ 2147483647 h 56"/>
                <a:gd name="T4" fmla="*/ 2147483647 w 56"/>
                <a:gd name="T5" fmla="*/ 0 h 56"/>
                <a:gd name="T6" fmla="*/ 2147483647 w 56"/>
                <a:gd name="T7" fmla="*/ 2147483647 h 56"/>
                <a:gd name="T8" fmla="*/ 0 w 56"/>
                <a:gd name="T9" fmla="*/ 2147483647 h 56"/>
                <a:gd name="T10" fmla="*/ 2147483647 w 56"/>
                <a:gd name="T11" fmla="*/ 2147483647 h 56"/>
                <a:gd name="T12" fmla="*/ 2147483647 w 56"/>
                <a:gd name="T13" fmla="*/ 2147483647 h 56"/>
                <a:gd name="T14" fmla="*/ 2147483647 w 56"/>
                <a:gd name="T15" fmla="*/ 2147483647 h 56"/>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6"/>
                <a:gd name="T26" fmla="*/ 56 w 56"/>
                <a:gd name="T27" fmla="*/ 56 h 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6">
                  <a:moveTo>
                    <a:pt x="56" y="56"/>
                  </a:moveTo>
                  <a:lnTo>
                    <a:pt x="56" y="48"/>
                  </a:lnTo>
                  <a:lnTo>
                    <a:pt x="56" y="0"/>
                  </a:lnTo>
                  <a:lnTo>
                    <a:pt x="32" y="16"/>
                  </a:lnTo>
                  <a:lnTo>
                    <a:pt x="0" y="24"/>
                  </a:lnTo>
                  <a:lnTo>
                    <a:pt x="24" y="56"/>
                  </a:lnTo>
                  <a:lnTo>
                    <a:pt x="40" y="56"/>
                  </a:lnTo>
                  <a:lnTo>
                    <a:pt x="56" y="56"/>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28" name="Freeform 781"/>
            <p:cNvSpPr>
              <a:spLocks/>
            </p:cNvSpPr>
            <p:nvPr/>
          </p:nvSpPr>
          <p:spPr bwMode="auto">
            <a:xfrm>
              <a:off x="1571521" y="3331039"/>
              <a:ext cx="50247" cy="33787"/>
            </a:xfrm>
            <a:custGeom>
              <a:avLst/>
              <a:gdLst>
                <a:gd name="T0" fmla="*/ 2147483647 w 48"/>
                <a:gd name="T1" fmla="*/ 0 h 32"/>
                <a:gd name="T2" fmla="*/ 2147483647 w 48"/>
                <a:gd name="T3" fmla="*/ 0 h 32"/>
                <a:gd name="T4" fmla="*/ 0 w 48"/>
                <a:gd name="T5" fmla="*/ 0 h 32"/>
                <a:gd name="T6" fmla="*/ 2147483647 w 48"/>
                <a:gd name="T7" fmla="*/ 2147483647 h 32"/>
                <a:gd name="T8" fmla="*/ 2147483647 w 48"/>
                <a:gd name="T9" fmla="*/ 2147483647 h 32"/>
                <a:gd name="T10" fmla="*/ 2147483647 w 48"/>
                <a:gd name="T11" fmla="*/ 2147483647 h 32"/>
                <a:gd name="T12" fmla="*/ 2147483647 w 48"/>
                <a:gd name="T13" fmla="*/ 0 h 32"/>
                <a:gd name="T14" fmla="*/ 0 60000 65536"/>
                <a:gd name="T15" fmla="*/ 0 60000 65536"/>
                <a:gd name="T16" fmla="*/ 0 60000 65536"/>
                <a:gd name="T17" fmla="*/ 0 60000 65536"/>
                <a:gd name="T18" fmla="*/ 0 60000 65536"/>
                <a:gd name="T19" fmla="*/ 0 60000 65536"/>
                <a:gd name="T20" fmla="*/ 0 60000 65536"/>
                <a:gd name="T21" fmla="*/ 0 w 48"/>
                <a:gd name="T22" fmla="*/ 0 h 32"/>
                <a:gd name="T23" fmla="*/ 48 w 48"/>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2">
                  <a:moveTo>
                    <a:pt x="32" y="0"/>
                  </a:moveTo>
                  <a:lnTo>
                    <a:pt x="16" y="0"/>
                  </a:lnTo>
                  <a:lnTo>
                    <a:pt x="0" y="0"/>
                  </a:lnTo>
                  <a:lnTo>
                    <a:pt x="8" y="8"/>
                  </a:lnTo>
                  <a:lnTo>
                    <a:pt x="40" y="32"/>
                  </a:lnTo>
                  <a:lnTo>
                    <a:pt x="48" y="16"/>
                  </a:lnTo>
                  <a:lnTo>
                    <a:pt x="32" y="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29" name="Freeform 782"/>
            <p:cNvSpPr>
              <a:spLocks/>
            </p:cNvSpPr>
            <p:nvPr/>
          </p:nvSpPr>
          <p:spPr bwMode="auto">
            <a:xfrm>
              <a:off x="1613972" y="3348366"/>
              <a:ext cx="76237" cy="33787"/>
            </a:xfrm>
            <a:custGeom>
              <a:avLst/>
              <a:gdLst>
                <a:gd name="T0" fmla="*/ 2147483647 w 72"/>
                <a:gd name="T1" fmla="*/ 2147483647 h 32"/>
                <a:gd name="T2" fmla="*/ 2147483647 w 72"/>
                <a:gd name="T3" fmla="*/ 2147483647 h 32"/>
                <a:gd name="T4" fmla="*/ 2147483647 w 72"/>
                <a:gd name="T5" fmla="*/ 2147483647 h 32"/>
                <a:gd name="T6" fmla="*/ 2147483647 w 72"/>
                <a:gd name="T7" fmla="*/ 0 h 32"/>
                <a:gd name="T8" fmla="*/ 0 w 72"/>
                <a:gd name="T9" fmla="*/ 2147483647 h 32"/>
                <a:gd name="T10" fmla="*/ 2147483647 w 72"/>
                <a:gd name="T11" fmla="*/ 2147483647 h 32"/>
                <a:gd name="T12" fmla="*/ 2147483647 w 72"/>
                <a:gd name="T13" fmla="*/ 2147483647 h 32"/>
                <a:gd name="T14" fmla="*/ 2147483647 w 72"/>
                <a:gd name="T15" fmla="*/ 2147483647 h 32"/>
                <a:gd name="T16" fmla="*/ 2147483647 w 72"/>
                <a:gd name="T17" fmla="*/ 2147483647 h 32"/>
                <a:gd name="T18" fmla="*/ 2147483647 w 72"/>
                <a:gd name="T19" fmla="*/ 2147483647 h 32"/>
                <a:gd name="T20" fmla="*/ 2147483647 w 72"/>
                <a:gd name="T21" fmla="*/ 2147483647 h 32"/>
                <a:gd name="T22" fmla="*/ 2147483647 w 72"/>
                <a:gd name="T23" fmla="*/ 2147483647 h 32"/>
                <a:gd name="T24" fmla="*/ 2147483647 w 72"/>
                <a:gd name="T25" fmla="*/ 2147483647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32"/>
                <a:gd name="T41" fmla="*/ 72 w 72"/>
                <a:gd name="T42" fmla="*/ 32 h 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32">
                  <a:moveTo>
                    <a:pt x="56" y="8"/>
                  </a:moveTo>
                  <a:lnTo>
                    <a:pt x="40" y="8"/>
                  </a:lnTo>
                  <a:lnTo>
                    <a:pt x="8" y="8"/>
                  </a:lnTo>
                  <a:lnTo>
                    <a:pt x="8" y="0"/>
                  </a:lnTo>
                  <a:lnTo>
                    <a:pt x="0" y="16"/>
                  </a:lnTo>
                  <a:lnTo>
                    <a:pt x="16" y="32"/>
                  </a:lnTo>
                  <a:lnTo>
                    <a:pt x="24" y="32"/>
                  </a:lnTo>
                  <a:lnTo>
                    <a:pt x="32" y="24"/>
                  </a:lnTo>
                  <a:lnTo>
                    <a:pt x="40" y="16"/>
                  </a:lnTo>
                  <a:lnTo>
                    <a:pt x="56" y="16"/>
                  </a:lnTo>
                  <a:lnTo>
                    <a:pt x="64" y="32"/>
                  </a:lnTo>
                  <a:lnTo>
                    <a:pt x="72" y="16"/>
                  </a:lnTo>
                  <a:lnTo>
                    <a:pt x="56" y="8"/>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30" name="Freeform 783"/>
            <p:cNvSpPr>
              <a:spLocks/>
            </p:cNvSpPr>
            <p:nvPr/>
          </p:nvSpPr>
          <p:spPr bwMode="auto">
            <a:xfrm>
              <a:off x="1664219" y="3313713"/>
              <a:ext cx="161137" cy="169801"/>
            </a:xfrm>
            <a:custGeom>
              <a:avLst/>
              <a:gdLst>
                <a:gd name="T0" fmla="*/ 2147483647 w 152"/>
                <a:gd name="T1" fmla="*/ 2147483647 h 160"/>
                <a:gd name="T2" fmla="*/ 2147483647 w 152"/>
                <a:gd name="T3" fmla="*/ 2147483647 h 160"/>
                <a:gd name="T4" fmla="*/ 2147483647 w 152"/>
                <a:gd name="T5" fmla="*/ 2147483647 h 160"/>
                <a:gd name="T6" fmla="*/ 2147483647 w 152"/>
                <a:gd name="T7" fmla="*/ 2147483647 h 160"/>
                <a:gd name="T8" fmla="*/ 2147483647 w 152"/>
                <a:gd name="T9" fmla="*/ 2147483647 h 160"/>
                <a:gd name="T10" fmla="*/ 2147483647 w 152"/>
                <a:gd name="T11" fmla="*/ 2147483647 h 160"/>
                <a:gd name="T12" fmla="*/ 2147483647 w 152"/>
                <a:gd name="T13" fmla="*/ 2147483647 h 160"/>
                <a:gd name="T14" fmla="*/ 2147483647 w 152"/>
                <a:gd name="T15" fmla="*/ 2147483647 h 160"/>
                <a:gd name="T16" fmla="*/ 2147483647 w 152"/>
                <a:gd name="T17" fmla="*/ 0 h 160"/>
                <a:gd name="T18" fmla="*/ 2147483647 w 152"/>
                <a:gd name="T19" fmla="*/ 2147483647 h 160"/>
                <a:gd name="T20" fmla="*/ 2147483647 w 152"/>
                <a:gd name="T21" fmla="*/ 2147483647 h 160"/>
                <a:gd name="T22" fmla="*/ 2147483647 w 152"/>
                <a:gd name="T23" fmla="*/ 2147483647 h 160"/>
                <a:gd name="T24" fmla="*/ 2147483647 w 152"/>
                <a:gd name="T25" fmla="*/ 2147483647 h 160"/>
                <a:gd name="T26" fmla="*/ 2147483647 w 152"/>
                <a:gd name="T27" fmla="*/ 2147483647 h 160"/>
                <a:gd name="T28" fmla="*/ 2147483647 w 152"/>
                <a:gd name="T29" fmla="*/ 2147483647 h 160"/>
                <a:gd name="T30" fmla="*/ 2147483647 w 152"/>
                <a:gd name="T31" fmla="*/ 2147483647 h 160"/>
                <a:gd name="T32" fmla="*/ 2147483647 w 152"/>
                <a:gd name="T33" fmla="*/ 2147483647 h 160"/>
                <a:gd name="T34" fmla="*/ 2147483647 w 152"/>
                <a:gd name="T35" fmla="*/ 2147483647 h 160"/>
                <a:gd name="T36" fmla="*/ 2147483647 w 152"/>
                <a:gd name="T37" fmla="*/ 2147483647 h 160"/>
                <a:gd name="T38" fmla="*/ 2147483647 w 152"/>
                <a:gd name="T39" fmla="*/ 2147483647 h 160"/>
                <a:gd name="T40" fmla="*/ 0 w 152"/>
                <a:gd name="T41" fmla="*/ 2147483647 h 160"/>
                <a:gd name="T42" fmla="*/ 2147483647 w 152"/>
                <a:gd name="T43" fmla="*/ 2147483647 h 160"/>
                <a:gd name="T44" fmla="*/ 2147483647 w 152"/>
                <a:gd name="T45" fmla="*/ 2147483647 h 160"/>
                <a:gd name="T46" fmla="*/ 2147483647 w 152"/>
                <a:gd name="T47" fmla="*/ 2147483647 h 1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2"/>
                <a:gd name="T73" fmla="*/ 0 h 160"/>
                <a:gd name="T74" fmla="*/ 152 w 152"/>
                <a:gd name="T75" fmla="*/ 160 h 1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2" h="160">
                  <a:moveTo>
                    <a:pt x="152" y="136"/>
                  </a:moveTo>
                  <a:lnTo>
                    <a:pt x="152" y="104"/>
                  </a:lnTo>
                  <a:lnTo>
                    <a:pt x="144" y="88"/>
                  </a:lnTo>
                  <a:lnTo>
                    <a:pt x="144" y="80"/>
                  </a:lnTo>
                  <a:lnTo>
                    <a:pt x="128" y="80"/>
                  </a:lnTo>
                  <a:lnTo>
                    <a:pt x="88" y="64"/>
                  </a:lnTo>
                  <a:lnTo>
                    <a:pt x="80" y="40"/>
                  </a:lnTo>
                  <a:lnTo>
                    <a:pt x="80" y="8"/>
                  </a:lnTo>
                  <a:lnTo>
                    <a:pt x="96" y="0"/>
                  </a:lnTo>
                  <a:lnTo>
                    <a:pt x="72" y="8"/>
                  </a:lnTo>
                  <a:lnTo>
                    <a:pt x="56" y="16"/>
                  </a:lnTo>
                  <a:lnTo>
                    <a:pt x="48" y="32"/>
                  </a:lnTo>
                  <a:lnTo>
                    <a:pt x="40" y="40"/>
                  </a:lnTo>
                  <a:lnTo>
                    <a:pt x="24" y="48"/>
                  </a:lnTo>
                  <a:lnTo>
                    <a:pt x="16" y="64"/>
                  </a:lnTo>
                  <a:lnTo>
                    <a:pt x="16" y="72"/>
                  </a:lnTo>
                  <a:lnTo>
                    <a:pt x="24" y="88"/>
                  </a:lnTo>
                  <a:lnTo>
                    <a:pt x="24" y="104"/>
                  </a:lnTo>
                  <a:lnTo>
                    <a:pt x="24" y="120"/>
                  </a:lnTo>
                  <a:lnTo>
                    <a:pt x="8" y="128"/>
                  </a:lnTo>
                  <a:lnTo>
                    <a:pt x="0" y="136"/>
                  </a:lnTo>
                  <a:lnTo>
                    <a:pt x="32" y="152"/>
                  </a:lnTo>
                  <a:lnTo>
                    <a:pt x="48" y="160"/>
                  </a:lnTo>
                  <a:lnTo>
                    <a:pt x="152" y="136"/>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31" name="Freeform 784"/>
            <p:cNvSpPr>
              <a:spLocks/>
            </p:cNvSpPr>
            <p:nvPr/>
          </p:nvSpPr>
          <p:spPr bwMode="auto">
            <a:xfrm>
              <a:off x="1715332" y="3458390"/>
              <a:ext cx="110024" cy="76237"/>
            </a:xfrm>
            <a:custGeom>
              <a:avLst/>
              <a:gdLst>
                <a:gd name="T0" fmla="*/ 0 w 104"/>
                <a:gd name="T1" fmla="*/ 2147483647 h 72"/>
                <a:gd name="T2" fmla="*/ 2147483647 w 104"/>
                <a:gd name="T3" fmla="*/ 2147483647 h 72"/>
                <a:gd name="T4" fmla="*/ 2147483647 w 104"/>
                <a:gd name="T5" fmla="*/ 2147483647 h 72"/>
                <a:gd name="T6" fmla="*/ 2147483647 w 104"/>
                <a:gd name="T7" fmla="*/ 2147483647 h 72"/>
                <a:gd name="T8" fmla="*/ 2147483647 w 104"/>
                <a:gd name="T9" fmla="*/ 2147483647 h 72"/>
                <a:gd name="T10" fmla="*/ 2147483647 w 104"/>
                <a:gd name="T11" fmla="*/ 2147483647 h 72"/>
                <a:gd name="T12" fmla="*/ 2147483647 w 104"/>
                <a:gd name="T13" fmla="*/ 2147483647 h 72"/>
                <a:gd name="T14" fmla="*/ 2147483647 w 104"/>
                <a:gd name="T15" fmla="*/ 2147483647 h 72"/>
                <a:gd name="T16" fmla="*/ 2147483647 w 104"/>
                <a:gd name="T17" fmla="*/ 2147483647 h 72"/>
                <a:gd name="T18" fmla="*/ 2147483647 w 104"/>
                <a:gd name="T19" fmla="*/ 2147483647 h 72"/>
                <a:gd name="T20" fmla="*/ 2147483647 w 104"/>
                <a:gd name="T21" fmla="*/ 0 h 72"/>
                <a:gd name="T22" fmla="*/ 0 w 104"/>
                <a:gd name="T23" fmla="*/ 2147483647 h 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
                <a:gd name="T37" fmla="*/ 0 h 72"/>
                <a:gd name="T38" fmla="*/ 104 w 104"/>
                <a:gd name="T39" fmla="*/ 72 h 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 h="72">
                  <a:moveTo>
                    <a:pt x="0" y="24"/>
                  </a:moveTo>
                  <a:lnTo>
                    <a:pt x="24" y="40"/>
                  </a:lnTo>
                  <a:lnTo>
                    <a:pt x="32" y="48"/>
                  </a:lnTo>
                  <a:lnTo>
                    <a:pt x="48" y="48"/>
                  </a:lnTo>
                  <a:lnTo>
                    <a:pt x="56" y="64"/>
                  </a:lnTo>
                  <a:lnTo>
                    <a:pt x="64" y="56"/>
                  </a:lnTo>
                  <a:lnTo>
                    <a:pt x="56" y="64"/>
                  </a:lnTo>
                  <a:lnTo>
                    <a:pt x="64" y="72"/>
                  </a:lnTo>
                  <a:lnTo>
                    <a:pt x="72" y="24"/>
                  </a:lnTo>
                  <a:lnTo>
                    <a:pt x="72" y="8"/>
                  </a:lnTo>
                  <a:lnTo>
                    <a:pt x="104" y="0"/>
                  </a:lnTo>
                  <a:lnTo>
                    <a:pt x="0" y="24"/>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32" name="Freeform 785"/>
            <p:cNvSpPr>
              <a:spLocks/>
            </p:cNvSpPr>
            <p:nvPr/>
          </p:nvSpPr>
          <p:spPr bwMode="auto">
            <a:xfrm>
              <a:off x="1715332" y="3458390"/>
              <a:ext cx="110024" cy="76237"/>
            </a:xfrm>
            <a:custGeom>
              <a:avLst/>
              <a:gdLst>
                <a:gd name="T0" fmla="*/ 0 w 104"/>
                <a:gd name="T1" fmla="*/ 2147483647 h 72"/>
                <a:gd name="T2" fmla="*/ 0 w 104"/>
                <a:gd name="T3" fmla="*/ 2147483647 h 72"/>
                <a:gd name="T4" fmla="*/ 2147483647 w 104"/>
                <a:gd name="T5" fmla="*/ 2147483647 h 72"/>
                <a:gd name="T6" fmla="*/ 2147483647 w 104"/>
                <a:gd name="T7" fmla="*/ 2147483647 h 72"/>
                <a:gd name="T8" fmla="*/ 2147483647 w 104"/>
                <a:gd name="T9" fmla="*/ 2147483647 h 72"/>
                <a:gd name="T10" fmla="*/ 2147483647 w 104"/>
                <a:gd name="T11" fmla="*/ 2147483647 h 72"/>
                <a:gd name="T12" fmla="*/ 2147483647 w 104"/>
                <a:gd name="T13" fmla="*/ 2147483647 h 72"/>
                <a:gd name="T14" fmla="*/ 2147483647 w 104"/>
                <a:gd name="T15" fmla="*/ 2147483647 h 72"/>
                <a:gd name="T16" fmla="*/ 2147483647 w 104"/>
                <a:gd name="T17" fmla="*/ 2147483647 h 72"/>
                <a:gd name="T18" fmla="*/ 2147483647 w 104"/>
                <a:gd name="T19" fmla="*/ 2147483647 h 72"/>
                <a:gd name="T20" fmla="*/ 2147483647 w 104"/>
                <a:gd name="T21" fmla="*/ 2147483647 h 72"/>
                <a:gd name="T22" fmla="*/ 2147483647 w 104"/>
                <a:gd name="T23" fmla="*/ 0 h 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
                <a:gd name="T37" fmla="*/ 0 h 72"/>
                <a:gd name="T38" fmla="*/ 104 w 104"/>
                <a:gd name="T39" fmla="*/ 72 h 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 h="72">
                  <a:moveTo>
                    <a:pt x="0" y="24"/>
                  </a:moveTo>
                  <a:lnTo>
                    <a:pt x="0" y="24"/>
                  </a:lnTo>
                  <a:lnTo>
                    <a:pt x="24" y="40"/>
                  </a:lnTo>
                  <a:lnTo>
                    <a:pt x="32" y="48"/>
                  </a:lnTo>
                  <a:lnTo>
                    <a:pt x="48" y="48"/>
                  </a:lnTo>
                  <a:lnTo>
                    <a:pt x="56" y="64"/>
                  </a:lnTo>
                  <a:lnTo>
                    <a:pt x="64" y="56"/>
                  </a:lnTo>
                  <a:lnTo>
                    <a:pt x="56" y="64"/>
                  </a:lnTo>
                  <a:lnTo>
                    <a:pt x="64" y="72"/>
                  </a:lnTo>
                  <a:lnTo>
                    <a:pt x="72" y="24"/>
                  </a:lnTo>
                  <a:lnTo>
                    <a:pt x="72" y="8"/>
                  </a:lnTo>
                  <a:lnTo>
                    <a:pt x="104" y="0"/>
                  </a:lnTo>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33" name="Freeform 786"/>
            <p:cNvSpPr>
              <a:spLocks/>
            </p:cNvSpPr>
            <p:nvPr/>
          </p:nvSpPr>
          <p:spPr bwMode="auto">
            <a:xfrm>
              <a:off x="1715332" y="3458390"/>
              <a:ext cx="110024" cy="76237"/>
            </a:xfrm>
            <a:custGeom>
              <a:avLst/>
              <a:gdLst>
                <a:gd name="T0" fmla="*/ 0 w 104"/>
                <a:gd name="T1" fmla="*/ 2147483647 h 72"/>
                <a:gd name="T2" fmla="*/ 0 w 104"/>
                <a:gd name="T3" fmla="*/ 2147483647 h 72"/>
                <a:gd name="T4" fmla="*/ 2147483647 w 104"/>
                <a:gd name="T5" fmla="*/ 2147483647 h 72"/>
                <a:gd name="T6" fmla="*/ 2147483647 w 104"/>
                <a:gd name="T7" fmla="*/ 2147483647 h 72"/>
                <a:gd name="T8" fmla="*/ 2147483647 w 104"/>
                <a:gd name="T9" fmla="*/ 2147483647 h 72"/>
                <a:gd name="T10" fmla="*/ 2147483647 w 104"/>
                <a:gd name="T11" fmla="*/ 2147483647 h 72"/>
                <a:gd name="T12" fmla="*/ 2147483647 w 104"/>
                <a:gd name="T13" fmla="*/ 2147483647 h 72"/>
                <a:gd name="T14" fmla="*/ 2147483647 w 104"/>
                <a:gd name="T15" fmla="*/ 2147483647 h 72"/>
                <a:gd name="T16" fmla="*/ 2147483647 w 104"/>
                <a:gd name="T17" fmla="*/ 2147483647 h 72"/>
                <a:gd name="T18" fmla="*/ 2147483647 w 104"/>
                <a:gd name="T19" fmla="*/ 2147483647 h 72"/>
                <a:gd name="T20" fmla="*/ 2147483647 w 104"/>
                <a:gd name="T21" fmla="*/ 2147483647 h 72"/>
                <a:gd name="T22" fmla="*/ 2147483647 w 104"/>
                <a:gd name="T23" fmla="*/ 0 h 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
                <a:gd name="T37" fmla="*/ 0 h 72"/>
                <a:gd name="T38" fmla="*/ 104 w 104"/>
                <a:gd name="T39" fmla="*/ 72 h 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 h="72">
                  <a:moveTo>
                    <a:pt x="0" y="24"/>
                  </a:moveTo>
                  <a:lnTo>
                    <a:pt x="0" y="24"/>
                  </a:lnTo>
                  <a:lnTo>
                    <a:pt x="24" y="40"/>
                  </a:lnTo>
                  <a:lnTo>
                    <a:pt x="32" y="48"/>
                  </a:lnTo>
                  <a:lnTo>
                    <a:pt x="48" y="48"/>
                  </a:lnTo>
                  <a:lnTo>
                    <a:pt x="56" y="64"/>
                  </a:lnTo>
                  <a:lnTo>
                    <a:pt x="64" y="56"/>
                  </a:lnTo>
                  <a:lnTo>
                    <a:pt x="56" y="64"/>
                  </a:lnTo>
                  <a:lnTo>
                    <a:pt x="64" y="72"/>
                  </a:lnTo>
                  <a:lnTo>
                    <a:pt x="72" y="24"/>
                  </a:lnTo>
                  <a:lnTo>
                    <a:pt x="72" y="8"/>
                  </a:lnTo>
                  <a:lnTo>
                    <a:pt x="104" y="0"/>
                  </a:lnTo>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34" name="Freeform 787"/>
            <p:cNvSpPr>
              <a:spLocks/>
            </p:cNvSpPr>
            <p:nvPr/>
          </p:nvSpPr>
          <p:spPr bwMode="auto">
            <a:xfrm>
              <a:off x="1902459" y="3364826"/>
              <a:ext cx="67574" cy="93564"/>
            </a:xfrm>
            <a:custGeom>
              <a:avLst/>
              <a:gdLst>
                <a:gd name="T0" fmla="*/ 2147483647 w 64"/>
                <a:gd name="T1" fmla="*/ 2147483647 h 88"/>
                <a:gd name="T2" fmla="*/ 2147483647 w 64"/>
                <a:gd name="T3" fmla="*/ 2147483647 h 88"/>
                <a:gd name="T4" fmla="*/ 2147483647 w 64"/>
                <a:gd name="T5" fmla="*/ 2147483647 h 88"/>
                <a:gd name="T6" fmla="*/ 2147483647 w 64"/>
                <a:gd name="T7" fmla="*/ 2147483647 h 88"/>
                <a:gd name="T8" fmla="*/ 2147483647 w 64"/>
                <a:gd name="T9" fmla="*/ 2147483647 h 88"/>
                <a:gd name="T10" fmla="*/ 2147483647 w 64"/>
                <a:gd name="T11" fmla="*/ 2147483647 h 88"/>
                <a:gd name="T12" fmla="*/ 2147483647 w 64"/>
                <a:gd name="T13" fmla="*/ 2147483647 h 88"/>
                <a:gd name="T14" fmla="*/ 2147483647 w 64"/>
                <a:gd name="T15" fmla="*/ 0 h 88"/>
                <a:gd name="T16" fmla="*/ 2147483647 w 64"/>
                <a:gd name="T17" fmla="*/ 2147483647 h 88"/>
                <a:gd name="T18" fmla="*/ 0 w 64"/>
                <a:gd name="T19" fmla="*/ 2147483647 h 88"/>
                <a:gd name="T20" fmla="*/ 2147483647 w 64"/>
                <a:gd name="T21" fmla="*/ 2147483647 h 88"/>
                <a:gd name="T22" fmla="*/ 2147483647 w 64"/>
                <a:gd name="T23" fmla="*/ 2147483647 h 88"/>
                <a:gd name="T24" fmla="*/ 2147483647 w 64"/>
                <a:gd name="T25" fmla="*/ 2147483647 h 88"/>
                <a:gd name="T26" fmla="*/ 2147483647 w 64"/>
                <a:gd name="T27" fmla="*/ 2147483647 h 88"/>
                <a:gd name="T28" fmla="*/ 2147483647 w 64"/>
                <a:gd name="T29" fmla="*/ 2147483647 h 88"/>
                <a:gd name="T30" fmla="*/ 2147483647 w 64"/>
                <a:gd name="T31" fmla="*/ 2147483647 h 88"/>
                <a:gd name="T32" fmla="*/ 2147483647 w 64"/>
                <a:gd name="T33" fmla="*/ 2147483647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4"/>
                <a:gd name="T52" fmla="*/ 0 h 88"/>
                <a:gd name="T53" fmla="*/ 64 w 64"/>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4" h="88">
                  <a:moveTo>
                    <a:pt x="64" y="80"/>
                  </a:moveTo>
                  <a:lnTo>
                    <a:pt x="56" y="64"/>
                  </a:lnTo>
                  <a:lnTo>
                    <a:pt x="48" y="48"/>
                  </a:lnTo>
                  <a:lnTo>
                    <a:pt x="56" y="40"/>
                  </a:lnTo>
                  <a:lnTo>
                    <a:pt x="64" y="24"/>
                  </a:lnTo>
                  <a:lnTo>
                    <a:pt x="48" y="24"/>
                  </a:lnTo>
                  <a:lnTo>
                    <a:pt x="40" y="8"/>
                  </a:lnTo>
                  <a:lnTo>
                    <a:pt x="24" y="0"/>
                  </a:lnTo>
                  <a:lnTo>
                    <a:pt x="8" y="16"/>
                  </a:lnTo>
                  <a:lnTo>
                    <a:pt x="0" y="24"/>
                  </a:lnTo>
                  <a:lnTo>
                    <a:pt x="8" y="40"/>
                  </a:lnTo>
                  <a:lnTo>
                    <a:pt x="16" y="40"/>
                  </a:lnTo>
                  <a:lnTo>
                    <a:pt x="24" y="56"/>
                  </a:lnTo>
                  <a:lnTo>
                    <a:pt x="16" y="80"/>
                  </a:lnTo>
                  <a:lnTo>
                    <a:pt x="32" y="88"/>
                  </a:lnTo>
                  <a:lnTo>
                    <a:pt x="40" y="88"/>
                  </a:lnTo>
                  <a:lnTo>
                    <a:pt x="64" y="8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35" name="Freeform 788"/>
            <p:cNvSpPr>
              <a:spLocks/>
            </p:cNvSpPr>
            <p:nvPr/>
          </p:nvSpPr>
          <p:spPr bwMode="auto">
            <a:xfrm>
              <a:off x="1995157" y="3398613"/>
              <a:ext cx="42450" cy="51114"/>
            </a:xfrm>
            <a:custGeom>
              <a:avLst/>
              <a:gdLst>
                <a:gd name="T0" fmla="*/ 2147483647 w 40"/>
                <a:gd name="T1" fmla="*/ 2147483647 h 48"/>
                <a:gd name="T2" fmla="*/ 2147483647 w 40"/>
                <a:gd name="T3" fmla="*/ 2147483647 h 48"/>
                <a:gd name="T4" fmla="*/ 2147483647 w 40"/>
                <a:gd name="T5" fmla="*/ 2147483647 h 48"/>
                <a:gd name="T6" fmla="*/ 2147483647 w 40"/>
                <a:gd name="T7" fmla="*/ 2147483647 h 48"/>
                <a:gd name="T8" fmla="*/ 2147483647 w 40"/>
                <a:gd name="T9" fmla="*/ 0 h 48"/>
                <a:gd name="T10" fmla="*/ 2147483647 w 40"/>
                <a:gd name="T11" fmla="*/ 0 h 48"/>
                <a:gd name="T12" fmla="*/ 0 w 40"/>
                <a:gd name="T13" fmla="*/ 2147483647 h 48"/>
                <a:gd name="T14" fmla="*/ 2147483647 w 40"/>
                <a:gd name="T15" fmla="*/ 2147483647 h 48"/>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48"/>
                <a:gd name="T26" fmla="*/ 40 w 40"/>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48">
                  <a:moveTo>
                    <a:pt x="8" y="32"/>
                  </a:moveTo>
                  <a:lnTo>
                    <a:pt x="8" y="48"/>
                  </a:lnTo>
                  <a:lnTo>
                    <a:pt x="24" y="40"/>
                  </a:lnTo>
                  <a:lnTo>
                    <a:pt x="40" y="16"/>
                  </a:lnTo>
                  <a:lnTo>
                    <a:pt x="16" y="0"/>
                  </a:lnTo>
                  <a:lnTo>
                    <a:pt x="8" y="0"/>
                  </a:lnTo>
                  <a:lnTo>
                    <a:pt x="0" y="16"/>
                  </a:lnTo>
                  <a:lnTo>
                    <a:pt x="8" y="32"/>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36" name="Freeform 789"/>
            <p:cNvSpPr>
              <a:spLocks/>
            </p:cNvSpPr>
            <p:nvPr/>
          </p:nvSpPr>
          <p:spPr bwMode="auto">
            <a:xfrm>
              <a:off x="1902459" y="3364826"/>
              <a:ext cx="67574" cy="93564"/>
            </a:xfrm>
            <a:custGeom>
              <a:avLst/>
              <a:gdLst>
                <a:gd name="T0" fmla="*/ 2147483647 w 64"/>
                <a:gd name="T1" fmla="*/ 2147483647 h 88"/>
                <a:gd name="T2" fmla="*/ 2147483647 w 64"/>
                <a:gd name="T3" fmla="*/ 2147483647 h 88"/>
                <a:gd name="T4" fmla="*/ 2147483647 w 64"/>
                <a:gd name="T5" fmla="*/ 2147483647 h 88"/>
                <a:gd name="T6" fmla="*/ 2147483647 w 64"/>
                <a:gd name="T7" fmla="*/ 2147483647 h 88"/>
                <a:gd name="T8" fmla="*/ 2147483647 w 64"/>
                <a:gd name="T9" fmla="*/ 2147483647 h 88"/>
                <a:gd name="T10" fmla="*/ 2147483647 w 64"/>
                <a:gd name="T11" fmla="*/ 2147483647 h 88"/>
                <a:gd name="T12" fmla="*/ 2147483647 w 64"/>
                <a:gd name="T13" fmla="*/ 2147483647 h 88"/>
                <a:gd name="T14" fmla="*/ 2147483647 w 64"/>
                <a:gd name="T15" fmla="*/ 0 h 88"/>
                <a:gd name="T16" fmla="*/ 2147483647 w 64"/>
                <a:gd name="T17" fmla="*/ 2147483647 h 88"/>
                <a:gd name="T18" fmla="*/ 0 w 64"/>
                <a:gd name="T19" fmla="*/ 2147483647 h 88"/>
                <a:gd name="T20" fmla="*/ 2147483647 w 64"/>
                <a:gd name="T21" fmla="*/ 2147483647 h 88"/>
                <a:gd name="T22" fmla="*/ 2147483647 w 64"/>
                <a:gd name="T23" fmla="*/ 2147483647 h 88"/>
                <a:gd name="T24" fmla="*/ 2147483647 w 64"/>
                <a:gd name="T25" fmla="*/ 2147483647 h 88"/>
                <a:gd name="T26" fmla="*/ 2147483647 w 64"/>
                <a:gd name="T27" fmla="*/ 2147483647 h 88"/>
                <a:gd name="T28" fmla="*/ 2147483647 w 64"/>
                <a:gd name="T29" fmla="*/ 2147483647 h 88"/>
                <a:gd name="T30" fmla="*/ 2147483647 w 64"/>
                <a:gd name="T31" fmla="*/ 2147483647 h 88"/>
                <a:gd name="T32" fmla="*/ 2147483647 w 64"/>
                <a:gd name="T33" fmla="*/ 2147483647 h 88"/>
                <a:gd name="T34" fmla="*/ 2147483647 w 64"/>
                <a:gd name="T35" fmla="*/ 2147483647 h 88"/>
                <a:gd name="T36" fmla="*/ 2147483647 w 64"/>
                <a:gd name="T37" fmla="*/ 2147483647 h 88"/>
                <a:gd name="T38" fmla="*/ 2147483647 w 64"/>
                <a:gd name="T39" fmla="*/ 2147483647 h 88"/>
                <a:gd name="T40" fmla="*/ 2147483647 w 64"/>
                <a:gd name="T41" fmla="*/ 2147483647 h 88"/>
                <a:gd name="T42" fmla="*/ 2147483647 w 64"/>
                <a:gd name="T43" fmla="*/ 2147483647 h 88"/>
                <a:gd name="T44" fmla="*/ 2147483647 w 64"/>
                <a:gd name="T45" fmla="*/ 2147483647 h 88"/>
                <a:gd name="T46" fmla="*/ 2147483647 w 64"/>
                <a:gd name="T47" fmla="*/ 2147483647 h 88"/>
                <a:gd name="T48" fmla="*/ 2147483647 w 64"/>
                <a:gd name="T49" fmla="*/ 0 h 88"/>
                <a:gd name="T50" fmla="*/ 2147483647 w 64"/>
                <a:gd name="T51" fmla="*/ 2147483647 h 88"/>
                <a:gd name="T52" fmla="*/ 0 w 64"/>
                <a:gd name="T53" fmla="*/ 2147483647 h 88"/>
                <a:gd name="T54" fmla="*/ 2147483647 w 64"/>
                <a:gd name="T55" fmla="*/ 2147483647 h 88"/>
                <a:gd name="T56" fmla="*/ 2147483647 w 64"/>
                <a:gd name="T57" fmla="*/ 2147483647 h 88"/>
                <a:gd name="T58" fmla="*/ 2147483647 w 64"/>
                <a:gd name="T59" fmla="*/ 2147483647 h 88"/>
                <a:gd name="T60" fmla="*/ 2147483647 w 64"/>
                <a:gd name="T61" fmla="*/ 2147483647 h 88"/>
                <a:gd name="T62" fmla="*/ 2147483647 w 64"/>
                <a:gd name="T63" fmla="*/ 2147483647 h 88"/>
                <a:gd name="T64" fmla="*/ 2147483647 w 64"/>
                <a:gd name="T65" fmla="*/ 2147483647 h 88"/>
                <a:gd name="T66" fmla="*/ 2147483647 w 64"/>
                <a:gd name="T67" fmla="*/ 2147483647 h 88"/>
                <a:gd name="T68" fmla="*/ 2147483647 w 64"/>
                <a:gd name="T69" fmla="*/ 2147483647 h 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4"/>
                <a:gd name="T106" fmla="*/ 0 h 88"/>
                <a:gd name="T107" fmla="*/ 64 w 64"/>
                <a:gd name="T108" fmla="*/ 88 h 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4" h="88">
                  <a:moveTo>
                    <a:pt x="64" y="80"/>
                  </a:moveTo>
                  <a:lnTo>
                    <a:pt x="56" y="64"/>
                  </a:lnTo>
                  <a:lnTo>
                    <a:pt x="48" y="48"/>
                  </a:lnTo>
                  <a:lnTo>
                    <a:pt x="56" y="40"/>
                  </a:lnTo>
                  <a:lnTo>
                    <a:pt x="64" y="24"/>
                  </a:lnTo>
                  <a:lnTo>
                    <a:pt x="48" y="24"/>
                  </a:lnTo>
                  <a:lnTo>
                    <a:pt x="40" y="8"/>
                  </a:lnTo>
                  <a:lnTo>
                    <a:pt x="24" y="0"/>
                  </a:lnTo>
                  <a:lnTo>
                    <a:pt x="8" y="16"/>
                  </a:lnTo>
                  <a:lnTo>
                    <a:pt x="0" y="24"/>
                  </a:lnTo>
                  <a:lnTo>
                    <a:pt x="8" y="40"/>
                  </a:lnTo>
                  <a:lnTo>
                    <a:pt x="16" y="40"/>
                  </a:lnTo>
                  <a:lnTo>
                    <a:pt x="24" y="56"/>
                  </a:lnTo>
                  <a:lnTo>
                    <a:pt x="16" y="80"/>
                  </a:lnTo>
                  <a:lnTo>
                    <a:pt x="32" y="88"/>
                  </a:lnTo>
                  <a:lnTo>
                    <a:pt x="40" y="88"/>
                  </a:lnTo>
                  <a:lnTo>
                    <a:pt x="64" y="80"/>
                  </a:lnTo>
                  <a:lnTo>
                    <a:pt x="56" y="64"/>
                  </a:lnTo>
                  <a:lnTo>
                    <a:pt x="48" y="48"/>
                  </a:lnTo>
                  <a:lnTo>
                    <a:pt x="56" y="40"/>
                  </a:lnTo>
                  <a:lnTo>
                    <a:pt x="64" y="24"/>
                  </a:lnTo>
                  <a:lnTo>
                    <a:pt x="48" y="24"/>
                  </a:lnTo>
                  <a:lnTo>
                    <a:pt x="40" y="8"/>
                  </a:lnTo>
                  <a:lnTo>
                    <a:pt x="24" y="0"/>
                  </a:lnTo>
                  <a:lnTo>
                    <a:pt x="8" y="16"/>
                  </a:lnTo>
                  <a:lnTo>
                    <a:pt x="0" y="24"/>
                  </a:lnTo>
                  <a:lnTo>
                    <a:pt x="8" y="40"/>
                  </a:lnTo>
                  <a:lnTo>
                    <a:pt x="16" y="40"/>
                  </a:lnTo>
                  <a:lnTo>
                    <a:pt x="24" y="56"/>
                  </a:lnTo>
                  <a:lnTo>
                    <a:pt x="16" y="80"/>
                  </a:lnTo>
                  <a:lnTo>
                    <a:pt x="32" y="88"/>
                  </a:lnTo>
                  <a:lnTo>
                    <a:pt x="40" y="88"/>
                  </a:lnTo>
                  <a:lnTo>
                    <a:pt x="64" y="8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37" name="Freeform 790"/>
            <p:cNvSpPr>
              <a:spLocks/>
            </p:cNvSpPr>
            <p:nvPr/>
          </p:nvSpPr>
          <p:spPr bwMode="auto">
            <a:xfrm>
              <a:off x="1995157" y="3398613"/>
              <a:ext cx="42450" cy="51114"/>
            </a:xfrm>
            <a:custGeom>
              <a:avLst/>
              <a:gdLst>
                <a:gd name="T0" fmla="*/ 2147483647 w 40"/>
                <a:gd name="T1" fmla="*/ 2147483647 h 48"/>
                <a:gd name="T2" fmla="*/ 2147483647 w 40"/>
                <a:gd name="T3" fmla="*/ 2147483647 h 48"/>
                <a:gd name="T4" fmla="*/ 2147483647 w 40"/>
                <a:gd name="T5" fmla="*/ 2147483647 h 48"/>
                <a:gd name="T6" fmla="*/ 2147483647 w 40"/>
                <a:gd name="T7" fmla="*/ 2147483647 h 48"/>
                <a:gd name="T8" fmla="*/ 2147483647 w 40"/>
                <a:gd name="T9" fmla="*/ 2147483647 h 48"/>
                <a:gd name="T10" fmla="*/ 2147483647 w 40"/>
                <a:gd name="T11" fmla="*/ 0 h 48"/>
                <a:gd name="T12" fmla="*/ 2147483647 w 40"/>
                <a:gd name="T13" fmla="*/ 0 h 48"/>
                <a:gd name="T14" fmla="*/ 0 w 40"/>
                <a:gd name="T15" fmla="*/ 2147483647 h 48"/>
                <a:gd name="T16" fmla="*/ 2147483647 w 40"/>
                <a:gd name="T17" fmla="*/ 2147483647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
                <a:gd name="T28" fmla="*/ 0 h 48"/>
                <a:gd name="T29" fmla="*/ 40 w 40"/>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 h="48">
                  <a:moveTo>
                    <a:pt x="8" y="32"/>
                  </a:moveTo>
                  <a:lnTo>
                    <a:pt x="8" y="48"/>
                  </a:lnTo>
                  <a:lnTo>
                    <a:pt x="24" y="40"/>
                  </a:lnTo>
                  <a:lnTo>
                    <a:pt x="40" y="16"/>
                  </a:lnTo>
                  <a:lnTo>
                    <a:pt x="16" y="0"/>
                  </a:lnTo>
                  <a:lnTo>
                    <a:pt x="8" y="0"/>
                  </a:lnTo>
                  <a:lnTo>
                    <a:pt x="0" y="16"/>
                  </a:lnTo>
                  <a:lnTo>
                    <a:pt x="8" y="32"/>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38" name="Freeform 791"/>
            <p:cNvSpPr>
              <a:spLocks/>
            </p:cNvSpPr>
            <p:nvPr/>
          </p:nvSpPr>
          <p:spPr bwMode="auto">
            <a:xfrm>
              <a:off x="1741322" y="3780665"/>
              <a:ext cx="262498" cy="542322"/>
            </a:xfrm>
            <a:custGeom>
              <a:avLst/>
              <a:gdLst>
                <a:gd name="T0" fmla="*/ 2147483647 w 248"/>
                <a:gd name="T1" fmla="*/ 2147483647 h 512"/>
                <a:gd name="T2" fmla="*/ 2147483647 w 248"/>
                <a:gd name="T3" fmla="*/ 2147483647 h 512"/>
                <a:gd name="T4" fmla="*/ 2147483647 w 248"/>
                <a:gd name="T5" fmla="*/ 2147483647 h 512"/>
                <a:gd name="T6" fmla="*/ 2147483647 w 248"/>
                <a:gd name="T7" fmla="*/ 2147483647 h 512"/>
                <a:gd name="T8" fmla="*/ 2147483647 w 248"/>
                <a:gd name="T9" fmla="*/ 2147483647 h 512"/>
                <a:gd name="T10" fmla="*/ 2147483647 w 248"/>
                <a:gd name="T11" fmla="*/ 2147483647 h 512"/>
                <a:gd name="T12" fmla="*/ 2147483647 w 248"/>
                <a:gd name="T13" fmla="*/ 2147483647 h 512"/>
                <a:gd name="T14" fmla="*/ 2147483647 w 248"/>
                <a:gd name="T15" fmla="*/ 2147483647 h 512"/>
                <a:gd name="T16" fmla="*/ 2147483647 w 248"/>
                <a:gd name="T17" fmla="*/ 2147483647 h 512"/>
                <a:gd name="T18" fmla="*/ 2147483647 w 248"/>
                <a:gd name="T19" fmla="*/ 2147483647 h 512"/>
                <a:gd name="T20" fmla="*/ 2147483647 w 248"/>
                <a:gd name="T21" fmla="*/ 2147483647 h 512"/>
                <a:gd name="T22" fmla="*/ 2147483647 w 248"/>
                <a:gd name="T23" fmla="*/ 2147483647 h 512"/>
                <a:gd name="T24" fmla="*/ 2147483647 w 248"/>
                <a:gd name="T25" fmla="*/ 2147483647 h 512"/>
                <a:gd name="T26" fmla="*/ 2147483647 w 248"/>
                <a:gd name="T27" fmla="*/ 2147483647 h 512"/>
                <a:gd name="T28" fmla="*/ 2147483647 w 248"/>
                <a:gd name="T29" fmla="*/ 0 h 512"/>
                <a:gd name="T30" fmla="*/ 2147483647 w 248"/>
                <a:gd name="T31" fmla="*/ 0 h 512"/>
                <a:gd name="T32" fmla="*/ 2147483647 w 248"/>
                <a:gd name="T33" fmla="*/ 2147483647 h 512"/>
                <a:gd name="T34" fmla="*/ 2147483647 w 248"/>
                <a:gd name="T35" fmla="*/ 0 h 512"/>
                <a:gd name="T36" fmla="*/ 2147483647 w 248"/>
                <a:gd name="T37" fmla="*/ 0 h 512"/>
                <a:gd name="T38" fmla="*/ 2147483647 w 248"/>
                <a:gd name="T39" fmla="*/ 2147483647 h 512"/>
                <a:gd name="T40" fmla="*/ 2147483647 w 248"/>
                <a:gd name="T41" fmla="*/ 2147483647 h 512"/>
                <a:gd name="T42" fmla="*/ 2147483647 w 248"/>
                <a:gd name="T43" fmla="*/ 2147483647 h 512"/>
                <a:gd name="T44" fmla="*/ 2147483647 w 248"/>
                <a:gd name="T45" fmla="*/ 2147483647 h 512"/>
                <a:gd name="T46" fmla="*/ 2147483647 w 248"/>
                <a:gd name="T47" fmla="*/ 2147483647 h 512"/>
                <a:gd name="T48" fmla="*/ 2147483647 w 248"/>
                <a:gd name="T49" fmla="*/ 2147483647 h 512"/>
                <a:gd name="T50" fmla="*/ 2147483647 w 248"/>
                <a:gd name="T51" fmla="*/ 2147483647 h 512"/>
                <a:gd name="T52" fmla="*/ 2147483647 w 248"/>
                <a:gd name="T53" fmla="*/ 2147483647 h 512"/>
                <a:gd name="T54" fmla="*/ 2147483647 w 248"/>
                <a:gd name="T55" fmla="*/ 2147483647 h 512"/>
                <a:gd name="T56" fmla="*/ 2147483647 w 248"/>
                <a:gd name="T57" fmla="*/ 2147483647 h 512"/>
                <a:gd name="T58" fmla="*/ 2147483647 w 248"/>
                <a:gd name="T59" fmla="*/ 2147483647 h 512"/>
                <a:gd name="T60" fmla="*/ 2147483647 w 248"/>
                <a:gd name="T61" fmla="*/ 2147483647 h 512"/>
                <a:gd name="T62" fmla="*/ 2147483647 w 248"/>
                <a:gd name="T63" fmla="*/ 2147483647 h 512"/>
                <a:gd name="T64" fmla="*/ 0 w 248"/>
                <a:gd name="T65" fmla="*/ 2147483647 h 512"/>
                <a:gd name="T66" fmla="*/ 2147483647 w 248"/>
                <a:gd name="T67" fmla="*/ 2147483647 h 512"/>
                <a:gd name="T68" fmla="*/ 2147483647 w 248"/>
                <a:gd name="T69" fmla="*/ 2147483647 h 512"/>
                <a:gd name="T70" fmla="*/ 2147483647 w 248"/>
                <a:gd name="T71" fmla="*/ 2147483647 h 512"/>
                <a:gd name="T72" fmla="*/ 2147483647 w 248"/>
                <a:gd name="T73" fmla="*/ 2147483647 h 512"/>
                <a:gd name="T74" fmla="*/ 2147483647 w 248"/>
                <a:gd name="T75" fmla="*/ 2147483647 h 512"/>
                <a:gd name="T76" fmla="*/ 2147483647 w 248"/>
                <a:gd name="T77" fmla="*/ 2147483647 h 512"/>
                <a:gd name="T78" fmla="*/ 2147483647 w 248"/>
                <a:gd name="T79" fmla="*/ 2147483647 h 512"/>
                <a:gd name="T80" fmla="*/ 2147483647 w 248"/>
                <a:gd name="T81" fmla="*/ 2147483647 h 512"/>
                <a:gd name="T82" fmla="*/ 2147483647 w 248"/>
                <a:gd name="T83" fmla="*/ 2147483647 h 512"/>
                <a:gd name="T84" fmla="*/ 2147483647 w 248"/>
                <a:gd name="T85" fmla="*/ 2147483647 h 512"/>
                <a:gd name="T86" fmla="*/ 2147483647 w 248"/>
                <a:gd name="T87" fmla="*/ 2147483647 h 512"/>
                <a:gd name="T88" fmla="*/ 2147483647 w 248"/>
                <a:gd name="T89" fmla="*/ 2147483647 h 512"/>
                <a:gd name="T90" fmla="*/ 2147483647 w 248"/>
                <a:gd name="T91" fmla="*/ 2147483647 h 512"/>
                <a:gd name="T92" fmla="*/ 2147483647 w 248"/>
                <a:gd name="T93" fmla="*/ 2147483647 h 512"/>
                <a:gd name="T94" fmla="*/ 2147483647 w 248"/>
                <a:gd name="T95" fmla="*/ 2147483647 h 512"/>
                <a:gd name="T96" fmla="*/ 2147483647 w 248"/>
                <a:gd name="T97" fmla="*/ 2147483647 h 512"/>
                <a:gd name="T98" fmla="*/ 2147483647 w 248"/>
                <a:gd name="T99" fmla="*/ 2147483647 h 512"/>
                <a:gd name="T100" fmla="*/ 2147483647 w 248"/>
                <a:gd name="T101" fmla="*/ 2147483647 h 512"/>
                <a:gd name="T102" fmla="*/ 2147483647 w 248"/>
                <a:gd name="T103" fmla="*/ 2147483647 h 512"/>
                <a:gd name="T104" fmla="*/ 2147483647 w 248"/>
                <a:gd name="T105" fmla="*/ 2147483647 h 512"/>
                <a:gd name="T106" fmla="*/ 2147483647 w 248"/>
                <a:gd name="T107" fmla="*/ 2147483647 h 512"/>
                <a:gd name="T108" fmla="*/ 2147483647 w 248"/>
                <a:gd name="T109" fmla="*/ 2147483647 h 512"/>
                <a:gd name="T110" fmla="*/ 2147483647 w 248"/>
                <a:gd name="T111" fmla="*/ 2147483647 h 512"/>
                <a:gd name="T112" fmla="*/ 2147483647 w 248"/>
                <a:gd name="T113" fmla="*/ 2147483647 h 512"/>
                <a:gd name="T114" fmla="*/ 2147483647 w 248"/>
                <a:gd name="T115" fmla="*/ 2147483647 h 512"/>
                <a:gd name="T116" fmla="*/ 2147483647 w 248"/>
                <a:gd name="T117" fmla="*/ 2147483647 h 512"/>
                <a:gd name="T118" fmla="*/ 2147483647 w 248"/>
                <a:gd name="T119" fmla="*/ 2147483647 h 512"/>
                <a:gd name="T120" fmla="*/ 2147483647 w 248"/>
                <a:gd name="T121" fmla="*/ 2147483647 h 512"/>
                <a:gd name="T122" fmla="*/ 2147483647 w 248"/>
                <a:gd name="T123" fmla="*/ 2147483647 h 51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48"/>
                <a:gd name="T187" fmla="*/ 0 h 512"/>
                <a:gd name="T188" fmla="*/ 248 w 248"/>
                <a:gd name="T189" fmla="*/ 512 h 51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48" h="512">
                  <a:moveTo>
                    <a:pt x="192" y="144"/>
                  </a:moveTo>
                  <a:lnTo>
                    <a:pt x="192" y="128"/>
                  </a:lnTo>
                  <a:lnTo>
                    <a:pt x="200" y="112"/>
                  </a:lnTo>
                  <a:lnTo>
                    <a:pt x="232" y="88"/>
                  </a:lnTo>
                  <a:lnTo>
                    <a:pt x="240" y="80"/>
                  </a:lnTo>
                  <a:lnTo>
                    <a:pt x="248" y="56"/>
                  </a:lnTo>
                  <a:lnTo>
                    <a:pt x="248" y="48"/>
                  </a:lnTo>
                  <a:lnTo>
                    <a:pt x="232" y="56"/>
                  </a:lnTo>
                  <a:lnTo>
                    <a:pt x="208" y="72"/>
                  </a:lnTo>
                  <a:lnTo>
                    <a:pt x="192" y="64"/>
                  </a:lnTo>
                  <a:lnTo>
                    <a:pt x="192" y="40"/>
                  </a:lnTo>
                  <a:lnTo>
                    <a:pt x="184" y="32"/>
                  </a:lnTo>
                  <a:lnTo>
                    <a:pt x="160" y="24"/>
                  </a:lnTo>
                  <a:lnTo>
                    <a:pt x="144" y="16"/>
                  </a:lnTo>
                  <a:lnTo>
                    <a:pt x="136" y="0"/>
                  </a:lnTo>
                  <a:lnTo>
                    <a:pt x="120" y="0"/>
                  </a:lnTo>
                  <a:lnTo>
                    <a:pt x="112" y="8"/>
                  </a:lnTo>
                  <a:lnTo>
                    <a:pt x="96" y="0"/>
                  </a:lnTo>
                  <a:lnTo>
                    <a:pt x="88" y="0"/>
                  </a:lnTo>
                  <a:lnTo>
                    <a:pt x="80" y="8"/>
                  </a:lnTo>
                  <a:lnTo>
                    <a:pt x="80" y="24"/>
                  </a:lnTo>
                  <a:lnTo>
                    <a:pt x="64" y="40"/>
                  </a:lnTo>
                  <a:lnTo>
                    <a:pt x="64" y="64"/>
                  </a:lnTo>
                  <a:lnTo>
                    <a:pt x="56" y="80"/>
                  </a:lnTo>
                  <a:lnTo>
                    <a:pt x="48" y="128"/>
                  </a:lnTo>
                  <a:lnTo>
                    <a:pt x="48" y="168"/>
                  </a:lnTo>
                  <a:lnTo>
                    <a:pt x="24" y="224"/>
                  </a:lnTo>
                  <a:lnTo>
                    <a:pt x="24" y="280"/>
                  </a:lnTo>
                  <a:lnTo>
                    <a:pt x="24" y="304"/>
                  </a:lnTo>
                  <a:lnTo>
                    <a:pt x="16" y="336"/>
                  </a:lnTo>
                  <a:lnTo>
                    <a:pt x="24" y="352"/>
                  </a:lnTo>
                  <a:lnTo>
                    <a:pt x="16" y="416"/>
                  </a:lnTo>
                  <a:lnTo>
                    <a:pt x="0" y="440"/>
                  </a:lnTo>
                  <a:lnTo>
                    <a:pt x="8" y="464"/>
                  </a:lnTo>
                  <a:lnTo>
                    <a:pt x="16" y="488"/>
                  </a:lnTo>
                  <a:lnTo>
                    <a:pt x="80" y="512"/>
                  </a:lnTo>
                  <a:lnTo>
                    <a:pt x="64" y="496"/>
                  </a:lnTo>
                  <a:lnTo>
                    <a:pt x="56" y="472"/>
                  </a:lnTo>
                  <a:lnTo>
                    <a:pt x="64" y="448"/>
                  </a:lnTo>
                  <a:lnTo>
                    <a:pt x="80" y="424"/>
                  </a:lnTo>
                  <a:lnTo>
                    <a:pt x="88" y="416"/>
                  </a:lnTo>
                  <a:lnTo>
                    <a:pt x="96" y="392"/>
                  </a:lnTo>
                  <a:lnTo>
                    <a:pt x="88" y="384"/>
                  </a:lnTo>
                  <a:lnTo>
                    <a:pt x="80" y="368"/>
                  </a:lnTo>
                  <a:lnTo>
                    <a:pt x="96" y="344"/>
                  </a:lnTo>
                  <a:lnTo>
                    <a:pt x="112" y="328"/>
                  </a:lnTo>
                  <a:lnTo>
                    <a:pt x="120" y="304"/>
                  </a:lnTo>
                  <a:lnTo>
                    <a:pt x="120" y="296"/>
                  </a:lnTo>
                  <a:lnTo>
                    <a:pt x="112" y="296"/>
                  </a:lnTo>
                  <a:lnTo>
                    <a:pt x="112" y="288"/>
                  </a:lnTo>
                  <a:lnTo>
                    <a:pt x="136" y="280"/>
                  </a:lnTo>
                  <a:lnTo>
                    <a:pt x="144" y="264"/>
                  </a:lnTo>
                  <a:lnTo>
                    <a:pt x="152" y="248"/>
                  </a:lnTo>
                  <a:lnTo>
                    <a:pt x="192" y="232"/>
                  </a:lnTo>
                  <a:lnTo>
                    <a:pt x="200" y="224"/>
                  </a:lnTo>
                  <a:lnTo>
                    <a:pt x="208" y="224"/>
                  </a:lnTo>
                  <a:lnTo>
                    <a:pt x="216" y="200"/>
                  </a:lnTo>
                  <a:lnTo>
                    <a:pt x="208" y="184"/>
                  </a:lnTo>
                  <a:lnTo>
                    <a:pt x="192" y="176"/>
                  </a:lnTo>
                  <a:lnTo>
                    <a:pt x="208" y="176"/>
                  </a:lnTo>
                  <a:lnTo>
                    <a:pt x="192" y="168"/>
                  </a:lnTo>
                  <a:lnTo>
                    <a:pt x="192" y="144"/>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39" name="Freeform 792"/>
            <p:cNvSpPr>
              <a:spLocks/>
            </p:cNvSpPr>
            <p:nvPr/>
          </p:nvSpPr>
          <p:spPr bwMode="auto">
            <a:xfrm>
              <a:off x="1885133" y="3746877"/>
              <a:ext cx="118687" cy="110024"/>
            </a:xfrm>
            <a:custGeom>
              <a:avLst/>
              <a:gdLst>
                <a:gd name="T0" fmla="*/ 2147483647 w 112"/>
                <a:gd name="T1" fmla="*/ 0 h 104"/>
                <a:gd name="T2" fmla="*/ 0 w 112"/>
                <a:gd name="T3" fmla="*/ 2147483647 h 104"/>
                <a:gd name="T4" fmla="*/ 0 w 112"/>
                <a:gd name="T5" fmla="*/ 2147483647 h 104"/>
                <a:gd name="T6" fmla="*/ 2147483647 w 112"/>
                <a:gd name="T7" fmla="*/ 2147483647 h 104"/>
                <a:gd name="T8" fmla="*/ 2147483647 w 112"/>
                <a:gd name="T9" fmla="*/ 2147483647 h 104"/>
                <a:gd name="T10" fmla="*/ 2147483647 w 112"/>
                <a:gd name="T11" fmla="*/ 2147483647 h 104"/>
                <a:gd name="T12" fmla="*/ 2147483647 w 112"/>
                <a:gd name="T13" fmla="*/ 2147483647 h 104"/>
                <a:gd name="T14" fmla="*/ 2147483647 w 112"/>
                <a:gd name="T15" fmla="*/ 2147483647 h 104"/>
                <a:gd name="T16" fmla="*/ 2147483647 w 112"/>
                <a:gd name="T17" fmla="*/ 2147483647 h 104"/>
                <a:gd name="T18" fmla="*/ 2147483647 w 112"/>
                <a:gd name="T19" fmla="*/ 2147483647 h 104"/>
                <a:gd name="T20" fmla="*/ 2147483647 w 112"/>
                <a:gd name="T21" fmla="*/ 2147483647 h 104"/>
                <a:gd name="T22" fmla="*/ 2147483647 w 112"/>
                <a:gd name="T23" fmla="*/ 2147483647 h 104"/>
                <a:gd name="T24" fmla="*/ 2147483647 w 112"/>
                <a:gd name="T25" fmla="*/ 2147483647 h 104"/>
                <a:gd name="T26" fmla="*/ 2147483647 w 112"/>
                <a:gd name="T27" fmla="*/ 2147483647 h 104"/>
                <a:gd name="T28" fmla="*/ 2147483647 w 112"/>
                <a:gd name="T29" fmla="*/ 2147483647 h 104"/>
                <a:gd name="T30" fmla="*/ 2147483647 w 112"/>
                <a:gd name="T31" fmla="*/ 2147483647 h 104"/>
                <a:gd name="T32" fmla="*/ 2147483647 w 112"/>
                <a:gd name="T33" fmla="*/ 2147483647 h 104"/>
                <a:gd name="T34" fmla="*/ 2147483647 w 112"/>
                <a:gd name="T35" fmla="*/ 0 h 104"/>
                <a:gd name="T36" fmla="*/ 2147483647 w 112"/>
                <a:gd name="T37" fmla="*/ 0 h 104"/>
                <a:gd name="T38" fmla="*/ 2147483647 w 112"/>
                <a:gd name="T39" fmla="*/ 0 h 10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2"/>
                <a:gd name="T61" fmla="*/ 0 h 104"/>
                <a:gd name="T62" fmla="*/ 112 w 112"/>
                <a:gd name="T63" fmla="*/ 104 h 10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2" h="104">
                  <a:moveTo>
                    <a:pt x="32" y="0"/>
                  </a:moveTo>
                  <a:lnTo>
                    <a:pt x="0" y="24"/>
                  </a:lnTo>
                  <a:lnTo>
                    <a:pt x="0" y="32"/>
                  </a:lnTo>
                  <a:lnTo>
                    <a:pt x="8" y="48"/>
                  </a:lnTo>
                  <a:lnTo>
                    <a:pt x="24" y="56"/>
                  </a:lnTo>
                  <a:lnTo>
                    <a:pt x="48" y="64"/>
                  </a:lnTo>
                  <a:lnTo>
                    <a:pt x="56" y="72"/>
                  </a:lnTo>
                  <a:lnTo>
                    <a:pt x="56" y="96"/>
                  </a:lnTo>
                  <a:lnTo>
                    <a:pt x="72" y="104"/>
                  </a:lnTo>
                  <a:lnTo>
                    <a:pt x="96" y="88"/>
                  </a:lnTo>
                  <a:lnTo>
                    <a:pt x="112" y="80"/>
                  </a:lnTo>
                  <a:lnTo>
                    <a:pt x="104" y="72"/>
                  </a:lnTo>
                  <a:lnTo>
                    <a:pt x="104" y="56"/>
                  </a:lnTo>
                  <a:lnTo>
                    <a:pt x="96" y="56"/>
                  </a:lnTo>
                  <a:lnTo>
                    <a:pt x="80" y="32"/>
                  </a:lnTo>
                  <a:lnTo>
                    <a:pt x="72" y="24"/>
                  </a:lnTo>
                  <a:lnTo>
                    <a:pt x="56" y="8"/>
                  </a:lnTo>
                  <a:lnTo>
                    <a:pt x="56" y="0"/>
                  </a:lnTo>
                  <a:lnTo>
                    <a:pt x="48" y="0"/>
                  </a:lnTo>
                  <a:lnTo>
                    <a:pt x="32" y="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40" name="Freeform 793"/>
            <p:cNvSpPr>
              <a:spLocks/>
            </p:cNvSpPr>
            <p:nvPr/>
          </p:nvSpPr>
          <p:spPr bwMode="auto">
            <a:xfrm>
              <a:off x="1944043" y="3899352"/>
              <a:ext cx="68440" cy="84900"/>
            </a:xfrm>
            <a:custGeom>
              <a:avLst/>
              <a:gdLst>
                <a:gd name="T0" fmla="*/ 2147483647 w 64"/>
                <a:gd name="T1" fmla="*/ 2147483647 h 80"/>
                <a:gd name="T2" fmla="*/ 2147483647 w 64"/>
                <a:gd name="T3" fmla="*/ 2147483647 h 80"/>
                <a:gd name="T4" fmla="*/ 2147483647 w 64"/>
                <a:gd name="T5" fmla="*/ 0 h 80"/>
                <a:gd name="T6" fmla="*/ 0 w 64"/>
                <a:gd name="T7" fmla="*/ 2147483647 h 80"/>
                <a:gd name="T8" fmla="*/ 0 w 64"/>
                <a:gd name="T9" fmla="*/ 2147483647 h 80"/>
                <a:gd name="T10" fmla="*/ 0 w 64"/>
                <a:gd name="T11" fmla="*/ 2147483647 h 80"/>
                <a:gd name="T12" fmla="*/ 2147483647 w 64"/>
                <a:gd name="T13" fmla="*/ 2147483647 h 80"/>
                <a:gd name="T14" fmla="*/ 2147483647 w 64"/>
                <a:gd name="T15" fmla="*/ 2147483647 h 80"/>
                <a:gd name="T16" fmla="*/ 2147483647 w 64"/>
                <a:gd name="T17" fmla="*/ 2147483647 h 80"/>
                <a:gd name="T18" fmla="*/ 2147483647 w 64"/>
                <a:gd name="T19" fmla="*/ 2147483647 h 80"/>
                <a:gd name="T20" fmla="*/ 2147483647 w 64"/>
                <a:gd name="T21" fmla="*/ 2147483647 h 80"/>
                <a:gd name="T22" fmla="*/ 2147483647 w 64"/>
                <a:gd name="T23" fmla="*/ 2147483647 h 80"/>
                <a:gd name="T24" fmla="*/ 2147483647 w 64"/>
                <a:gd name="T25" fmla="*/ 2147483647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80"/>
                <a:gd name="T41" fmla="*/ 64 w 64"/>
                <a:gd name="T42" fmla="*/ 80 h 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80">
                  <a:moveTo>
                    <a:pt x="40" y="16"/>
                  </a:moveTo>
                  <a:lnTo>
                    <a:pt x="24" y="8"/>
                  </a:lnTo>
                  <a:lnTo>
                    <a:pt x="8" y="0"/>
                  </a:lnTo>
                  <a:lnTo>
                    <a:pt x="0" y="16"/>
                  </a:lnTo>
                  <a:lnTo>
                    <a:pt x="0" y="32"/>
                  </a:lnTo>
                  <a:lnTo>
                    <a:pt x="0" y="56"/>
                  </a:lnTo>
                  <a:lnTo>
                    <a:pt x="16" y="64"/>
                  </a:lnTo>
                  <a:lnTo>
                    <a:pt x="24" y="72"/>
                  </a:lnTo>
                  <a:lnTo>
                    <a:pt x="40" y="80"/>
                  </a:lnTo>
                  <a:lnTo>
                    <a:pt x="64" y="64"/>
                  </a:lnTo>
                  <a:lnTo>
                    <a:pt x="64" y="56"/>
                  </a:lnTo>
                  <a:lnTo>
                    <a:pt x="56" y="32"/>
                  </a:lnTo>
                  <a:lnTo>
                    <a:pt x="40" y="16"/>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41" name="Freeform 794"/>
            <p:cNvSpPr>
              <a:spLocks/>
            </p:cNvSpPr>
            <p:nvPr/>
          </p:nvSpPr>
          <p:spPr bwMode="auto">
            <a:xfrm>
              <a:off x="1791569" y="3610864"/>
              <a:ext cx="152474" cy="178464"/>
            </a:xfrm>
            <a:custGeom>
              <a:avLst/>
              <a:gdLst>
                <a:gd name="T0" fmla="*/ 2147483647 w 144"/>
                <a:gd name="T1" fmla="*/ 2147483647 h 168"/>
                <a:gd name="T2" fmla="*/ 2147483647 w 144"/>
                <a:gd name="T3" fmla="*/ 2147483647 h 168"/>
                <a:gd name="T4" fmla="*/ 2147483647 w 144"/>
                <a:gd name="T5" fmla="*/ 2147483647 h 168"/>
                <a:gd name="T6" fmla="*/ 2147483647 w 144"/>
                <a:gd name="T7" fmla="*/ 2147483647 h 168"/>
                <a:gd name="T8" fmla="*/ 2147483647 w 144"/>
                <a:gd name="T9" fmla="*/ 2147483647 h 168"/>
                <a:gd name="T10" fmla="*/ 2147483647 w 144"/>
                <a:gd name="T11" fmla="*/ 2147483647 h 168"/>
                <a:gd name="T12" fmla="*/ 2147483647 w 144"/>
                <a:gd name="T13" fmla="*/ 2147483647 h 168"/>
                <a:gd name="T14" fmla="*/ 2147483647 w 144"/>
                <a:gd name="T15" fmla="*/ 2147483647 h 168"/>
                <a:gd name="T16" fmla="*/ 2147483647 w 144"/>
                <a:gd name="T17" fmla="*/ 2147483647 h 168"/>
                <a:gd name="T18" fmla="*/ 2147483647 w 144"/>
                <a:gd name="T19" fmla="*/ 2147483647 h 168"/>
                <a:gd name="T20" fmla="*/ 2147483647 w 144"/>
                <a:gd name="T21" fmla="*/ 2147483647 h 168"/>
                <a:gd name="T22" fmla="*/ 2147483647 w 144"/>
                <a:gd name="T23" fmla="*/ 2147483647 h 168"/>
                <a:gd name="T24" fmla="*/ 2147483647 w 144"/>
                <a:gd name="T25" fmla="*/ 2147483647 h 168"/>
                <a:gd name="T26" fmla="*/ 2147483647 w 144"/>
                <a:gd name="T27" fmla="*/ 0 h 168"/>
                <a:gd name="T28" fmla="*/ 2147483647 w 144"/>
                <a:gd name="T29" fmla="*/ 2147483647 h 168"/>
                <a:gd name="T30" fmla="*/ 0 w 144"/>
                <a:gd name="T31" fmla="*/ 2147483647 h 168"/>
                <a:gd name="T32" fmla="*/ 2147483647 w 144"/>
                <a:gd name="T33" fmla="*/ 2147483647 h 168"/>
                <a:gd name="T34" fmla="*/ 2147483647 w 144"/>
                <a:gd name="T35" fmla="*/ 2147483647 h 168"/>
                <a:gd name="T36" fmla="*/ 0 w 144"/>
                <a:gd name="T37" fmla="*/ 2147483647 h 168"/>
                <a:gd name="T38" fmla="*/ 0 w 144"/>
                <a:gd name="T39" fmla="*/ 2147483647 h 168"/>
                <a:gd name="T40" fmla="*/ 2147483647 w 144"/>
                <a:gd name="T41" fmla="*/ 2147483647 h 168"/>
                <a:gd name="T42" fmla="*/ 2147483647 w 144"/>
                <a:gd name="T43" fmla="*/ 2147483647 h 168"/>
                <a:gd name="T44" fmla="*/ 2147483647 w 144"/>
                <a:gd name="T45" fmla="*/ 2147483647 h 168"/>
                <a:gd name="T46" fmla="*/ 2147483647 w 144"/>
                <a:gd name="T47" fmla="*/ 2147483647 h 168"/>
                <a:gd name="T48" fmla="*/ 2147483647 w 144"/>
                <a:gd name="T49" fmla="*/ 2147483647 h 168"/>
                <a:gd name="T50" fmla="*/ 2147483647 w 144"/>
                <a:gd name="T51" fmla="*/ 2147483647 h 168"/>
                <a:gd name="T52" fmla="*/ 2147483647 w 144"/>
                <a:gd name="T53" fmla="*/ 2147483647 h 168"/>
                <a:gd name="T54" fmla="*/ 2147483647 w 144"/>
                <a:gd name="T55" fmla="*/ 2147483647 h 168"/>
                <a:gd name="T56" fmla="*/ 2147483647 w 144"/>
                <a:gd name="T57" fmla="*/ 2147483647 h 16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44"/>
                <a:gd name="T88" fmla="*/ 0 h 168"/>
                <a:gd name="T89" fmla="*/ 144 w 144"/>
                <a:gd name="T90" fmla="*/ 168 h 16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44" h="168">
                  <a:moveTo>
                    <a:pt x="88" y="160"/>
                  </a:moveTo>
                  <a:lnTo>
                    <a:pt x="88" y="152"/>
                  </a:lnTo>
                  <a:lnTo>
                    <a:pt x="120" y="128"/>
                  </a:lnTo>
                  <a:lnTo>
                    <a:pt x="136" y="128"/>
                  </a:lnTo>
                  <a:lnTo>
                    <a:pt x="144" y="128"/>
                  </a:lnTo>
                  <a:lnTo>
                    <a:pt x="144" y="104"/>
                  </a:lnTo>
                  <a:lnTo>
                    <a:pt x="144" y="88"/>
                  </a:lnTo>
                  <a:lnTo>
                    <a:pt x="120" y="80"/>
                  </a:lnTo>
                  <a:lnTo>
                    <a:pt x="112" y="72"/>
                  </a:lnTo>
                  <a:lnTo>
                    <a:pt x="112" y="56"/>
                  </a:lnTo>
                  <a:lnTo>
                    <a:pt x="88" y="40"/>
                  </a:lnTo>
                  <a:lnTo>
                    <a:pt x="64" y="32"/>
                  </a:lnTo>
                  <a:lnTo>
                    <a:pt x="56" y="8"/>
                  </a:lnTo>
                  <a:lnTo>
                    <a:pt x="32" y="0"/>
                  </a:lnTo>
                  <a:lnTo>
                    <a:pt x="16" y="16"/>
                  </a:lnTo>
                  <a:lnTo>
                    <a:pt x="0" y="16"/>
                  </a:lnTo>
                  <a:lnTo>
                    <a:pt x="8" y="32"/>
                  </a:lnTo>
                  <a:lnTo>
                    <a:pt x="8" y="64"/>
                  </a:lnTo>
                  <a:lnTo>
                    <a:pt x="0" y="88"/>
                  </a:lnTo>
                  <a:lnTo>
                    <a:pt x="0" y="104"/>
                  </a:lnTo>
                  <a:lnTo>
                    <a:pt x="16" y="112"/>
                  </a:lnTo>
                  <a:lnTo>
                    <a:pt x="8" y="128"/>
                  </a:lnTo>
                  <a:lnTo>
                    <a:pt x="24" y="160"/>
                  </a:lnTo>
                  <a:lnTo>
                    <a:pt x="32" y="168"/>
                  </a:lnTo>
                  <a:lnTo>
                    <a:pt x="40" y="160"/>
                  </a:lnTo>
                  <a:lnTo>
                    <a:pt x="48" y="160"/>
                  </a:lnTo>
                  <a:lnTo>
                    <a:pt x="64" y="168"/>
                  </a:lnTo>
                  <a:lnTo>
                    <a:pt x="72" y="160"/>
                  </a:lnTo>
                  <a:lnTo>
                    <a:pt x="88" y="16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42" name="Freeform 795"/>
            <p:cNvSpPr>
              <a:spLocks/>
            </p:cNvSpPr>
            <p:nvPr/>
          </p:nvSpPr>
          <p:spPr bwMode="auto">
            <a:xfrm>
              <a:off x="1741322" y="3407276"/>
              <a:ext cx="517199" cy="550986"/>
            </a:xfrm>
            <a:custGeom>
              <a:avLst/>
              <a:gdLst>
                <a:gd name="T0" fmla="*/ 2147483647 w 488"/>
                <a:gd name="T1" fmla="*/ 2147483647 h 520"/>
                <a:gd name="T2" fmla="*/ 2147483647 w 488"/>
                <a:gd name="T3" fmla="*/ 2147483647 h 520"/>
                <a:gd name="T4" fmla="*/ 2147483647 w 488"/>
                <a:gd name="T5" fmla="*/ 2147483647 h 520"/>
                <a:gd name="T6" fmla="*/ 2147483647 w 488"/>
                <a:gd name="T7" fmla="*/ 2147483647 h 520"/>
                <a:gd name="T8" fmla="*/ 2147483647 w 488"/>
                <a:gd name="T9" fmla="*/ 2147483647 h 520"/>
                <a:gd name="T10" fmla="*/ 2147483647 w 488"/>
                <a:gd name="T11" fmla="*/ 2147483647 h 520"/>
                <a:gd name="T12" fmla="*/ 2147483647 w 488"/>
                <a:gd name="T13" fmla="*/ 2147483647 h 520"/>
                <a:gd name="T14" fmla="*/ 2147483647 w 488"/>
                <a:gd name="T15" fmla="*/ 2147483647 h 520"/>
                <a:gd name="T16" fmla="*/ 2147483647 w 488"/>
                <a:gd name="T17" fmla="*/ 2147483647 h 520"/>
                <a:gd name="T18" fmla="*/ 2147483647 w 488"/>
                <a:gd name="T19" fmla="*/ 2147483647 h 520"/>
                <a:gd name="T20" fmla="*/ 2147483647 w 488"/>
                <a:gd name="T21" fmla="*/ 2147483647 h 520"/>
                <a:gd name="T22" fmla="*/ 2147483647 w 488"/>
                <a:gd name="T23" fmla="*/ 2147483647 h 520"/>
                <a:gd name="T24" fmla="*/ 2147483647 w 488"/>
                <a:gd name="T25" fmla="*/ 2147483647 h 520"/>
                <a:gd name="T26" fmla="*/ 2147483647 w 488"/>
                <a:gd name="T27" fmla="*/ 2147483647 h 520"/>
                <a:gd name="T28" fmla="*/ 2147483647 w 488"/>
                <a:gd name="T29" fmla="*/ 2147483647 h 520"/>
                <a:gd name="T30" fmla="*/ 2147483647 w 488"/>
                <a:gd name="T31" fmla="*/ 2147483647 h 520"/>
                <a:gd name="T32" fmla="*/ 2147483647 w 488"/>
                <a:gd name="T33" fmla="*/ 2147483647 h 520"/>
                <a:gd name="T34" fmla="*/ 2147483647 w 488"/>
                <a:gd name="T35" fmla="*/ 2147483647 h 520"/>
                <a:gd name="T36" fmla="*/ 2147483647 w 488"/>
                <a:gd name="T37" fmla="*/ 2147483647 h 520"/>
                <a:gd name="T38" fmla="*/ 2147483647 w 488"/>
                <a:gd name="T39" fmla="*/ 2147483647 h 520"/>
                <a:gd name="T40" fmla="*/ 2147483647 w 488"/>
                <a:gd name="T41" fmla="*/ 2147483647 h 520"/>
                <a:gd name="T42" fmla="*/ 2147483647 w 488"/>
                <a:gd name="T43" fmla="*/ 2147483647 h 520"/>
                <a:gd name="T44" fmla="*/ 2147483647 w 488"/>
                <a:gd name="T45" fmla="*/ 2147483647 h 520"/>
                <a:gd name="T46" fmla="*/ 2147483647 w 488"/>
                <a:gd name="T47" fmla="*/ 0 h 520"/>
                <a:gd name="T48" fmla="*/ 2147483647 w 488"/>
                <a:gd name="T49" fmla="*/ 2147483647 h 520"/>
                <a:gd name="T50" fmla="*/ 2147483647 w 488"/>
                <a:gd name="T51" fmla="*/ 2147483647 h 520"/>
                <a:gd name="T52" fmla="*/ 2147483647 w 488"/>
                <a:gd name="T53" fmla="*/ 2147483647 h 520"/>
                <a:gd name="T54" fmla="*/ 2147483647 w 488"/>
                <a:gd name="T55" fmla="*/ 2147483647 h 520"/>
                <a:gd name="T56" fmla="*/ 2147483647 w 488"/>
                <a:gd name="T57" fmla="*/ 2147483647 h 520"/>
                <a:gd name="T58" fmla="*/ 2147483647 w 488"/>
                <a:gd name="T59" fmla="*/ 2147483647 h 520"/>
                <a:gd name="T60" fmla="*/ 0 w 488"/>
                <a:gd name="T61" fmla="*/ 2147483647 h 520"/>
                <a:gd name="T62" fmla="*/ 2147483647 w 488"/>
                <a:gd name="T63" fmla="*/ 2147483647 h 520"/>
                <a:gd name="T64" fmla="*/ 2147483647 w 488"/>
                <a:gd name="T65" fmla="*/ 2147483647 h 520"/>
                <a:gd name="T66" fmla="*/ 2147483647 w 488"/>
                <a:gd name="T67" fmla="*/ 2147483647 h 520"/>
                <a:gd name="T68" fmla="*/ 2147483647 w 488"/>
                <a:gd name="T69" fmla="*/ 2147483647 h 520"/>
                <a:gd name="T70" fmla="*/ 2147483647 w 488"/>
                <a:gd name="T71" fmla="*/ 2147483647 h 520"/>
                <a:gd name="T72" fmla="*/ 2147483647 w 488"/>
                <a:gd name="T73" fmla="*/ 2147483647 h 520"/>
                <a:gd name="T74" fmla="*/ 2147483647 w 488"/>
                <a:gd name="T75" fmla="*/ 2147483647 h 520"/>
                <a:gd name="T76" fmla="*/ 2147483647 w 488"/>
                <a:gd name="T77" fmla="*/ 2147483647 h 52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88"/>
                <a:gd name="T118" fmla="*/ 0 h 520"/>
                <a:gd name="T119" fmla="*/ 488 w 488"/>
                <a:gd name="T120" fmla="*/ 520 h 52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88" h="520">
                  <a:moveTo>
                    <a:pt x="248" y="400"/>
                  </a:moveTo>
                  <a:lnTo>
                    <a:pt x="248" y="408"/>
                  </a:lnTo>
                  <a:lnTo>
                    <a:pt x="240" y="432"/>
                  </a:lnTo>
                  <a:lnTo>
                    <a:pt x="232" y="440"/>
                  </a:lnTo>
                  <a:lnTo>
                    <a:pt x="200" y="464"/>
                  </a:lnTo>
                  <a:lnTo>
                    <a:pt x="208" y="464"/>
                  </a:lnTo>
                  <a:lnTo>
                    <a:pt x="200" y="464"/>
                  </a:lnTo>
                  <a:lnTo>
                    <a:pt x="216" y="472"/>
                  </a:lnTo>
                  <a:lnTo>
                    <a:pt x="232" y="480"/>
                  </a:lnTo>
                  <a:lnTo>
                    <a:pt x="248" y="496"/>
                  </a:lnTo>
                  <a:lnTo>
                    <a:pt x="256" y="520"/>
                  </a:lnTo>
                  <a:lnTo>
                    <a:pt x="264" y="504"/>
                  </a:lnTo>
                  <a:lnTo>
                    <a:pt x="280" y="488"/>
                  </a:lnTo>
                  <a:lnTo>
                    <a:pt x="296" y="472"/>
                  </a:lnTo>
                  <a:lnTo>
                    <a:pt x="312" y="416"/>
                  </a:lnTo>
                  <a:lnTo>
                    <a:pt x="328" y="392"/>
                  </a:lnTo>
                  <a:lnTo>
                    <a:pt x="368" y="368"/>
                  </a:lnTo>
                  <a:lnTo>
                    <a:pt x="400" y="360"/>
                  </a:lnTo>
                  <a:lnTo>
                    <a:pt x="408" y="360"/>
                  </a:lnTo>
                  <a:lnTo>
                    <a:pt x="416" y="344"/>
                  </a:lnTo>
                  <a:lnTo>
                    <a:pt x="416" y="328"/>
                  </a:lnTo>
                  <a:lnTo>
                    <a:pt x="432" y="304"/>
                  </a:lnTo>
                  <a:lnTo>
                    <a:pt x="432" y="296"/>
                  </a:lnTo>
                  <a:lnTo>
                    <a:pt x="440" y="232"/>
                  </a:lnTo>
                  <a:lnTo>
                    <a:pt x="448" y="224"/>
                  </a:lnTo>
                  <a:lnTo>
                    <a:pt x="488" y="176"/>
                  </a:lnTo>
                  <a:lnTo>
                    <a:pt x="488" y="160"/>
                  </a:lnTo>
                  <a:lnTo>
                    <a:pt x="480" y="136"/>
                  </a:lnTo>
                  <a:lnTo>
                    <a:pt x="456" y="128"/>
                  </a:lnTo>
                  <a:lnTo>
                    <a:pt x="424" y="104"/>
                  </a:lnTo>
                  <a:lnTo>
                    <a:pt x="384" y="104"/>
                  </a:lnTo>
                  <a:lnTo>
                    <a:pt x="368" y="96"/>
                  </a:lnTo>
                  <a:lnTo>
                    <a:pt x="360" y="88"/>
                  </a:lnTo>
                  <a:lnTo>
                    <a:pt x="328" y="72"/>
                  </a:lnTo>
                  <a:lnTo>
                    <a:pt x="304" y="56"/>
                  </a:lnTo>
                  <a:lnTo>
                    <a:pt x="296" y="40"/>
                  </a:lnTo>
                  <a:lnTo>
                    <a:pt x="288" y="8"/>
                  </a:lnTo>
                  <a:lnTo>
                    <a:pt x="280" y="8"/>
                  </a:lnTo>
                  <a:lnTo>
                    <a:pt x="264" y="32"/>
                  </a:lnTo>
                  <a:lnTo>
                    <a:pt x="248" y="40"/>
                  </a:lnTo>
                  <a:lnTo>
                    <a:pt x="224" y="40"/>
                  </a:lnTo>
                  <a:lnTo>
                    <a:pt x="216" y="40"/>
                  </a:lnTo>
                  <a:lnTo>
                    <a:pt x="192" y="48"/>
                  </a:lnTo>
                  <a:lnTo>
                    <a:pt x="184" y="48"/>
                  </a:lnTo>
                  <a:lnTo>
                    <a:pt x="168" y="40"/>
                  </a:lnTo>
                  <a:lnTo>
                    <a:pt x="176" y="16"/>
                  </a:lnTo>
                  <a:lnTo>
                    <a:pt x="168" y="0"/>
                  </a:lnTo>
                  <a:lnTo>
                    <a:pt x="160" y="0"/>
                  </a:lnTo>
                  <a:lnTo>
                    <a:pt x="160" y="8"/>
                  </a:lnTo>
                  <a:lnTo>
                    <a:pt x="144" y="16"/>
                  </a:lnTo>
                  <a:lnTo>
                    <a:pt x="112" y="16"/>
                  </a:lnTo>
                  <a:lnTo>
                    <a:pt x="120" y="32"/>
                  </a:lnTo>
                  <a:lnTo>
                    <a:pt x="128" y="48"/>
                  </a:lnTo>
                  <a:lnTo>
                    <a:pt x="88" y="56"/>
                  </a:lnTo>
                  <a:lnTo>
                    <a:pt x="80" y="48"/>
                  </a:lnTo>
                  <a:lnTo>
                    <a:pt x="48" y="56"/>
                  </a:lnTo>
                  <a:lnTo>
                    <a:pt x="48" y="72"/>
                  </a:lnTo>
                  <a:lnTo>
                    <a:pt x="40" y="120"/>
                  </a:lnTo>
                  <a:lnTo>
                    <a:pt x="32" y="112"/>
                  </a:lnTo>
                  <a:lnTo>
                    <a:pt x="32" y="120"/>
                  </a:lnTo>
                  <a:lnTo>
                    <a:pt x="16" y="128"/>
                  </a:lnTo>
                  <a:lnTo>
                    <a:pt x="0" y="152"/>
                  </a:lnTo>
                  <a:lnTo>
                    <a:pt x="0" y="176"/>
                  </a:lnTo>
                  <a:lnTo>
                    <a:pt x="16" y="192"/>
                  </a:lnTo>
                  <a:lnTo>
                    <a:pt x="40" y="184"/>
                  </a:lnTo>
                  <a:lnTo>
                    <a:pt x="40" y="208"/>
                  </a:lnTo>
                  <a:lnTo>
                    <a:pt x="48" y="208"/>
                  </a:lnTo>
                  <a:lnTo>
                    <a:pt x="64" y="208"/>
                  </a:lnTo>
                  <a:lnTo>
                    <a:pt x="80" y="192"/>
                  </a:lnTo>
                  <a:lnTo>
                    <a:pt x="104" y="200"/>
                  </a:lnTo>
                  <a:lnTo>
                    <a:pt x="112" y="224"/>
                  </a:lnTo>
                  <a:lnTo>
                    <a:pt x="136" y="232"/>
                  </a:lnTo>
                  <a:lnTo>
                    <a:pt x="160" y="248"/>
                  </a:lnTo>
                  <a:lnTo>
                    <a:pt x="160" y="264"/>
                  </a:lnTo>
                  <a:lnTo>
                    <a:pt x="168" y="272"/>
                  </a:lnTo>
                  <a:lnTo>
                    <a:pt x="192" y="280"/>
                  </a:lnTo>
                  <a:lnTo>
                    <a:pt x="192" y="296"/>
                  </a:lnTo>
                  <a:lnTo>
                    <a:pt x="192" y="320"/>
                  </a:lnTo>
                  <a:lnTo>
                    <a:pt x="248" y="40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43" name="Freeform 796"/>
            <p:cNvSpPr>
              <a:spLocks/>
            </p:cNvSpPr>
            <p:nvPr/>
          </p:nvSpPr>
          <p:spPr bwMode="auto">
            <a:xfrm>
              <a:off x="1944043" y="3746877"/>
              <a:ext cx="59777" cy="84900"/>
            </a:xfrm>
            <a:custGeom>
              <a:avLst/>
              <a:gdLst>
                <a:gd name="T0" fmla="*/ 0 w 56"/>
                <a:gd name="T1" fmla="*/ 0 h 80"/>
                <a:gd name="T2" fmla="*/ 0 w 56"/>
                <a:gd name="T3" fmla="*/ 2147483647 h 80"/>
                <a:gd name="T4" fmla="*/ 2147483647 w 56"/>
                <a:gd name="T5" fmla="*/ 2147483647 h 80"/>
                <a:gd name="T6" fmla="*/ 2147483647 w 56"/>
                <a:gd name="T7" fmla="*/ 2147483647 h 80"/>
                <a:gd name="T8" fmla="*/ 2147483647 w 56"/>
                <a:gd name="T9" fmla="*/ 2147483647 h 80"/>
                <a:gd name="T10" fmla="*/ 2147483647 w 56"/>
                <a:gd name="T11" fmla="*/ 2147483647 h 80"/>
                <a:gd name="T12" fmla="*/ 2147483647 w 56"/>
                <a:gd name="T13" fmla="*/ 2147483647 h 80"/>
                <a:gd name="T14" fmla="*/ 2147483647 w 56"/>
                <a:gd name="T15" fmla="*/ 2147483647 h 80"/>
                <a:gd name="T16" fmla="*/ 0 w 56"/>
                <a:gd name="T17" fmla="*/ 0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6"/>
                <a:gd name="T28" fmla="*/ 0 h 80"/>
                <a:gd name="T29" fmla="*/ 56 w 56"/>
                <a:gd name="T30" fmla="*/ 80 h 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6" h="80">
                  <a:moveTo>
                    <a:pt x="0" y="0"/>
                  </a:moveTo>
                  <a:lnTo>
                    <a:pt x="0" y="8"/>
                  </a:lnTo>
                  <a:lnTo>
                    <a:pt x="16" y="24"/>
                  </a:lnTo>
                  <a:lnTo>
                    <a:pt x="24" y="32"/>
                  </a:lnTo>
                  <a:lnTo>
                    <a:pt x="40" y="56"/>
                  </a:lnTo>
                  <a:lnTo>
                    <a:pt x="48" y="64"/>
                  </a:lnTo>
                  <a:lnTo>
                    <a:pt x="48" y="72"/>
                  </a:lnTo>
                  <a:lnTo>
                    <a:pt x="56" y="80"/>
                  </a:lnTo>
                  <a:lnTo>
                    <a:pt x="0" y="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44" name="Freeform 797"/>
            <p:cNvSpPr>
              <a:spLocks/>
            </p:cNvSpPr>
            <p:nvPr/>
          </p:nvSpPr>
          <p:spPr bwMode="auto">
            <a:xfrm>
              <a:off x="1944043" y="3899352"/>
              <a:ext cx="68440" cy="84900"/>
            </a:xfrm>
            <a:custGeom>
              <a:avLst/>
              <a:gdLst>
                <a:gd name="T0" fmla="*/ 2147483647 w 64"/>
                <a:gd name="T1" fmla="*/ 2147483647 h 80"/>
                <a:gd name="T2" fmla="*/ 2147483647 w 64"/>
                <a:gd name="T3" fmla="*/ 2147483647 h 80"/>
                <a:gd name="T4" fmla="*/ 2147483647 w 64"/>
                <a:gd name="T5" fmla="*/ 0 h 80"/>
                <a:gd name="T6" fmla="*/ 0 w 64"/>
                <a:gd name="T7" fmla="*/ 2147483647 h 80"/>
                <a:gd name="T8" fmla="*/ 0 w 64"/>
                <a:gd name="T9" fmla="*/ 2147483647 h 80"/>
                <a:gd name="T10" fmla="*/ 0 w 64"/>
                <a:gd name="T11" fmla="*/ 2147483647 h 80"/>
                <a:gd name="T12" fmla="*/ 2147483647 w 64"/>
                <a:gd name="T13" fmla="*/ 2147483647 h 80"/>
                <a:gd name="T14" fmla="*/ 2147483647 w 64"/>
                <a:gd name="T15" fmla="*/ 2147483647 h 80"/>
                <a:gd name="T16" fmla="*/ 2147483647 w 64"/>
                <a:gd name="T17" fmla="*/ 2147483647 h 80"/>
                <a:gd name="T18" fmla="*/ 2147483647 w 64"/>
                <a:gd name="T19" fmla="*/ 2147483647 h 80"/>
                <a:gd name="T20" fmla="*/ 2147483647 w 64"/>
                <a:gd name="T21" fmla="*/ 2147483647 h 80"/>
                <a:gd name="T22" fmla="*/ 2147483647 w 64"/>
                <a:gd name="T23" fmla="*/ 2147483647 h 80"/>
                <a:gd name="T24" fmla="*/ 2147483647 w 64"/>
                <a:gd name="T25" fmla="*/ 2147483647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80"/>
                <a:gd name="T41" fmla="*/ 64 w 64"/>
                <a:gd name="T42" fmla="*/ 80 h 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80">
                  <a:moveTo>
                    <a:pt x="40" y="16"/>
                  </a:moveTo>
                  <a:lnTo>
                    <a:pt x="24" y="8"/>
                  </a:lnTo>
                  <a:lnTo>
                    <a:pt x="8" y="0"/>
                  </a:lnTo>
                  <a:lnTo>
                    <a:pt x="0" y="16"/>
                  </a:lnTo>
                  <a:lnTo>
                    <a:pt x="0" y="32"/>
                  </a:lnTo>
                  <a:lnTo>
                    <a:pt x="0" y="56"/>
                  </a:lnTo>
                  <a:lnTo>
                    <a:pt x="16" y="64"/>
                  </a:lnTo>
                  <a:lnTo>
                    <a:pt x="24" y="72"/>
                  </a:lnTo>
                  <a:lnTo>
                    <a:pt x="40" y="80"/>
                  </a:lnTo>
                  <a:lnTo>
                    <a:pt x="64" y="64"/>
                  </a:lnTo>
                  <a:lnTo>
                    <a:pt x="64" y="56"/>
                  </a:lnTo>
                  <a:lnTo>
                    <a:pt x="56" y="32"/>
                  </a:lnTo>
                  <a:lnTo>
                    <a:pt x="40" y="16"/>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45" name="Freeform 798"/>
            <p:cNvSpPr>
              <a:spLocks/>
            </p:cNvSpPr>
            <p:nvPr/>
          </p:nvSpPr>
          <p:spPr bwMode="auto">
            <a:xfrm>
              <a:off x="1944043" y="3746877"/>
              <a:ext cx="59777" cy="84900"/>
            </a:xfrm>
            <a:custGeom>
              <a:avLst/>
              <a:gdLst>
                <a:gd name="T0" fmla="*/ 0 w 56"/>
                <a:gd name="T1" fmla="*/ 0 h 80"/>
                <a:gd name="T2" fmla="*/ 0 w 56"/>
                <a:gd name="T3" fmla="*/ 2147483647 h 80"/>
                <a:gd name="T4" fmla="*/ 2147483647 w 56"/>
                <a:gd name="T5" fmla="*/ 2147483647 h 80"/>
                <a:gd name="T6" fmla="*/ 2147483647 w 56"/>
                <a:gd name="T7" fmla="*/ 2147483647 h 80"/>
                <a:gd name="T8" fmla="*/ 2147483647 w 56"/>
                <a:gd name="T9" fmla="*/ 2147483647 h 80"/>
                <a:gd name="T10" fmla="*/ 2147483647 w 56"/>
                <a:gd name="T11" fmla="*/ 2147483647 h 80"/>
                <a:gd name="T12" fmla="*/ 2147483647 w 56"/>
                <a:gd name="T13" fmla="*/ 2147483647 h 80"/>
                <a:gd name="T14" fmla="*/ 2147483647 w 56"/>
                <a:gd name="T15" fmla="*/ 2147483647 h 80"/>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80"/>
                <a:gd name="T26" fmla="*/ 56 w 56"/>
                <a:gd name="T27" fmla="*/ 80 h 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80">
                  <a:moveTo>
                    <a:pt x="0" y="0"/>
                  </a:moveTo>
                  <a:lnTo>
                    <a:pt x="0" y="8"/>
                  </a:lnTo>
                  <a:lnTo>
                    <a:pt x="16" y="24"/>
                  </a:lnTo>
                  <a:lnTo>
                    <a:pt x="24" y="32"/>
                  </a:lnTo>
                  <a:lnTo>
                    <a:pt x="40" y="56"/>
                  </a:lnTo>
                  <a:lnTo>
                    <a:pt x="48" y="64"/>
                  </a:lnTo>
                  <a:lnTo>
                    <a:pt x="48" y="72"/>
                  </a:lnTo>
                  <a:lnTo>
                    <a:pt x="56" y="80"/>
                  </a:lnTo>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46" name="Freeform 799"/>
            <p:cNvSpPr>
              <a:spLocks/>
            </p:cNvSpPr>
            <p:nvPr/>
          </p:nvSpPr>
          <p:spPr bwMode="auto">
            <a:xfrm>
              <a:off x="1944043" y="3746877"/>
              <a:ext cx="59777" cy="84900"/>
            </a:xfrm>
            <a:custGeom>
              <a:avLst/>
              <a:gdLst>
                <a:gd name="T0" fmla="*/ 0 w 56"/>
                <a:gd name="T1" fmla="*/ 0 h 80"/>
                <a:gd name="T2" fmla="*/ 0 w 56"/>
                <a:gd name="T3" fmla="*/ 2147483647 h 80"/>
                <a:gd name="T4" fmla="*/ 2147483647 w 56"/>
                <a:gd name="T5" fmla="*/ 2147483647 h 80"/>
                <a:gd name="T6" fmla="*/ 2147483647 w 56"/>
                <a:gd name="T7" fmla="*/ 2147483647 h 80"/>
                <a:gd name="T8" fmla="*/ 2147483647 w 56"/>
                <a:gd name="T9" fmla="*/ 2147483647 h 80"/>
                <a:gd name="T10" fmla="*/ 2147483647 w 56"/>
                <a:gd name="T11" fmla="*/ 2147483647 h 80"/>
                <a:gd name="T12" fmla="*/ 2147483647 w 56"/>
                <a:gd name="T13" fmla="*/ 2147483647 h 80"/>
                <a:gd name="T14" fmla="*/ 2147483647 w 56"/>
                <a:gd name="T15" fmla="*/ 2147483647 h 80"/>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80"/>
                <a:gd name="T26" fmla="*/ 56 w 56"/>
                <a:gd name="T27" fmla="*/ 80 h 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80">
                  <a:moveTo>
                    <a:pt x="0" y="0"/>
                  </a:moveTo>
                  <a:lnTo>
                    <a:pt x="0" y="8"/>
                  </a:lnTo>
                  <a:lnTo>
                    <a:pt x="16" y="24"/>
                  </a:lnTo>
                  <a:lnTo>
                    <a:pt x="24" y="32"/>
                  </a:lnTo>
                  <a:lnTo>
                    <a:pt x="40" y="56"/>
                  </a:lnTo>
                  <a:lnTo>
                    <a:pt x="48" y="64"/>
                  </a:lnTo>
                  <a:lnTo>
                    <a:pt x="48" y="72"/>
                  </a:lnTo>
                  <a:lnTo>
                    <a:pt x="56" y="80"/>
                  </a:lnTo>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47" name="Freeform 800"/>
            <p:cNvSpPr>
              <a:spLocks/>
            </p:cNvSpPr>
            <p:nvPr/>
          </p:nvSpPr>
          <p:spPr bwMode="auto">
            <a:xfrm>
              <a:off x="1952707" y="3390816"/>
              <a:ext cx="51114" cy="58910"/>
            </a:xfrm>
            <a:custGeom>
              <a:avLst/>
              <a:gdLst>
                <a:gd name="T0" fmla="*/ 2147483647 w 48"/>
                <a:gd name="T1" fmla="*/ 2147483647 h 56"/>
                <a:gd name="T2" fmla="*/ 2147483647 w 48"/>
                <a:gd name="T3" fmla="*/ 2147483647 h 56"/>
                <a:gd name="T4" fmla="*/ 2147483647 w 48"/>
                <a:gd name="T5" fmla="*/ 2147483647 h 56"/>
                <a:gd name="T6" fmla="*/ 2147483647 w 48"/>
                <a:gd name="T7" fmla="*/ 2147483647 h 56"/>
                <a:gd name="T8" fmla="*/ 2147483647 w 48"/>
                <a:gd name="T9" fmla="*/ 2147483647 h 56"/>
                <a:gd name="T10" fmla="*/ 2147483647 w 48"/>
                <a:gd name="T11" fmla="*/ 0 h 56"/>
                <a:gd name="T12" fmla="*/ 2147483647 w 48"/>
                <a:gd name="T13" fmla="*/ 2147483647 h 56"/>
                <a:gd name="T14" fmla="*/ 0 w 48"/>
                <a:gd name="T15" fmla="*/ 2147483647 h 56"/>
                <a:gd name="T16" fmla="*/ 2147483647 w 48"/>
                <a:gd name="T17" fmla="*/ 2147483647 h 56"/>
                <a:gd name="T18" fmla="*/ 2147483647 w 48"/>
                <a:gd name="T19" fmla="*/ 2147483647 h 56"/>
                <a:gd name="T20" fmla="*/ 2147483647 w 48"/>
                <a:gd name="T21" fmla="*/ 2147483647 h 56"/>
                <a:gd name="T22" fmla="*/ 2147483647 w 48"/>
                <a:gd name="T23" fmla="*/ 2147483647 h 5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
                <a:gd name="T37" fmla="*/ 0 h 56"/>
                <a:gd name="T38" fmla="*/ 48 w 48"/>
                <a:gd name="T39" fmla="*/ 56 h 5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 h="56">
                  <a:moveTo>
                    <a:pt x="48" y="56"/>
                  </a:moveTo>
                  <a:lnTo>
                    <a:pt x="48" y="40"/>
                  </a:lnTo>
                  <a:lnTo>
                    <a:pt x="40" y="24"/>
                  </a:lnTo>
                  <a:lnTo>
                    <a:pt x="48" y="8"/>
                  </a:lnTo>
                  <a:lnTo>
                    <a:pt x="16" y="8"/>
                  </a:lnTo>
                  <a:lnTo>
                    <a:pt x="16" y="0"/>
                  </a:lnTo>
                  <a:lnTo>
                    <a:pt x="8" y="16"/>
                  </a:lnTo>
                  <a:lnTo>
                    <a:pt x="0" y="24"/>
                  </a:lnTo>
                  <a:lnTo>
                    <a:pt x="8" y="40"/>
                  </a:lnTo>
                  <a:lnTo>
                    <a:pt x="16" y="56"/>
                  </a:lnTo>
                  <a:lnTo>
                    <a:pt x="24" y="56"/>
                  </a:lnTo>
                  <a:lnTo>
                    <a:pt x="48" y="56"/>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48" name="Freeform 801"/>
            <p:cNvSpPr>
              <a:spLocks/>
            </p:cNvSpPr>
            <p:nvPr/>
          </p:nvSpPr>
          <p:spPr bwMode="auto">
            <a:xfrm>
              <a:off x="1749119" y="3313713"/>
              <a:ext cx="178464" cy="153341"/>
            </a:xfrm>
            <a:custGeom>
              <a:avLst/>
              <a:gdLst>
                <a:gd name="T0" fmla="*/ 2147483647 w 168"/>
                <a:gd name="T1" fmla="*/ 2147483647 h 144"/>
                <a:gd name="T2" fmla="*/ 2147483647 w 168"/>
                <a:gd name="T3" fmla="*/ 2147483647 h 144"/>
                <a:gd name="T4" fmla="*/ 2147483647 w 168"/>
                <a:gd name="T5" fmla="*/ 2147483647 h 144"/>
                <a:gd name="T6" fmla="*/ 2147483647 w 168"/>
                <a:gd name="T7" fmla="*/ 2147483647 h 144"/>
                <a:gd name="T8" fmla="*/ 2147483647 w 168"/>
                <a:gd name="T9" fmla="*/ 2147483647 h 144"/>
                <a:gd name="T10" fmla="*/ 2147483647 w 168"/>
                <a:gd name="T11" fmla="*/ 2147483647 h 144"/>
                <a:gd name="T12" fmla="*/ 2147483647 w 168"/>
                <a:gd name="T13" fmla="*/ 2147483647 h 144"/>
                <a:gd name="T14" fmla="*/ 2147483647 w 168"/>
                <a:gd name="T15" fmla="*/ 2147483647 h 144"/>
                <a:gd name="T16" fmla="*/ 2147483647 w 168"/>
                <a:gd name="T17" fmla="*/ 2147483647 h 144"/>
                <a:gd name="T18" fmla="*/ 2147483647 w 168"/>
                <a:gd name="T19" fmla="*/ 2147483647 h 144"/>
                <a:gd name="T20" fmla="*/ 2147483647 w 168"/>
                <a:gd name="T21" fmla="*/ 2147483647 h 144"/>
                <a:gd name="T22" fmla="*/ 2147483647 w 168"/>
                <a:gd name="T23" fmla="*/ 2147483647 h 144"/>
                <a:gd name="T24" fmla="*/ 2147483647 w 168"/>
                <a:gd name="T25" fmla="*/ 0 h 144"/>
                <a:gd name="T26" fmla="*/ 0 w 168"/>
                <a:gd name="T27" fmla="*/ 2147483647 h 144"/>
                <a:gd name="T28" fmla="*/ 0 w 168"/>
                <a:gd name="T29" fmla="*/ 2147483647 h 144"/>
                <a:gd name="T30" fmla="*/ 2147483647 w 168"/>
                <a:gd name="T31" fmla="*/ 2147483647 h 144"/>
                <a:gd name="T32" fmla="*/ 2147483647 w 168"/>
                <a:gd name="T33" fmla="*/ 2147483647 h 144"/>
                <a:gd name="T34" fmla="*/ 2147483647 w 168"/>
                <a:gd name="T35" fmla="*/ 2147483647 h 144"/>
                <a:gd name="T36" fmla="*/ 2147483647 w 168"/>
                <a:gd name="T37" fmla="*/ 2147483647 h 144"/>
                <a:gd name="T38" fmla="*/ 2147483647 w 168"/>
                <a:gd name="T39" fmla="*/ 2147483647 h 144"/>
                <a:gd name="T40" fmla="*/ 2147483647 w 168"/>
                <a:gd name="T41" fmla="*/ 2147483647 h 144"/>
                <a:gd name="T42" fmla="*/ 2147483647 w 168"/>
                <a:gd name="T43" fmla="*/ 2147483647 h 144"/>
                <a:gd name="T44" fmla="*/ 2147483647 w 168"/>
                <a:gd name="T45" fmla="*/ 2147483647 h 144"/>
                <a:gd name="T46" fmla="*/ 2147483647 w 168"/>
                <a:gd name="T47" fmla="*/ 2147483647 h 144"/>
                <a:gd name="T48" fmla="*/ 2147483647 w 168"/>
                <a:gd name="T49" fmla="*/ 2147483647 h 144"/>
                <a:gd name="T50" fmla="*/ 2147483647 w 168"/>
                <a:gd name="T51" fmla="*/ 2147483647 h 144"/>
                <a:gd name="T52" fmla="*/ 2147483647 w 168"/>
                <a:gd name="T53" fmla="*/ 2147483647 h 144"/>
                <a:gd name="T54" fmla="*/ 2147483647 w 168"/>
                <a:gd name="T55" fmla="*/ 2147483647 h 14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68"/>
                <a:gd name="T85" fmla="*/ 0 h 144"/>
                <a:gd name="T86" fmla="*/ 168 w 168"/>
                <a:gd name="T87" fmla="*/ 144 h 14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68" h="144">
                  <a:moveTo>
                    <a:pt x="152" y="88"/>
                  </a:moveTo>
                  <a:lnTo>
                    <a:pt x="144" y="72"/>
                  </a:lnTo>
                  <a:lnTo>
                    <a:pt x="152" y="64"/>
                  </a:lnTo>
                  <a:lnTo>
                    <a:pt x="168" y="48"/>
                  </a:lnTo>
                  <a:lnTo>
                    <a:pt x="152" y="40"/>
                  </a:lnTo>
                  <a:lnTo>
                    <a:pt x="152" y="32"/>
                  </a:lnTo>
                  <a:lnTo>
                    <a:pt x="128" y="24"/>
                  </a:lnTo>
                  <a:lnTo>
                    <a:pt x="88" y="24"/>
                  </a:lnTo>
                  <a:lnTo>
                    <a:pt x="64" y="24"/>
                  </a:lnTo>
                  <a:lnTo>
                    <a:pt x="64" y="16"/>
                  </a:lnTo>
                  <a:lnTo>
                    <a:pt x="40" y="8"/>
                  </a:lnTo>
                  <a:lnTo>
                    <a:pt x="24" y="16"/>
                  </a:lnTo>
                  <a:lnTo>
                    <a:pt x="16" y="0"/>
                  </a:lnTo>
                  <a:lnTo>
                    <a:pt x="0" y="8"/>
                  </a:lnTo>
                  <a:lnTo>
                    <a:pt x="0" y="40"/>
                  </a:lnTo>
                  <a:lnTo>
                    <a:pt x="8" y="64"/>
                  </a:lnTo>
                  <a:lnTo>
                    <a:pt x="48" y="80"/>
                  </a:lnTo>
                  <a:lnTo>
                    <a:pt x="64" y="80"/>
                  </a:lnTo>
                  <a:lnTo>
                    <a:pt x="64" y="88"/>
                  </a:lnTo>
                  <a:lnTo>
                    <a:pt x="72" y="104"/>
                  </a:lnTo>
                  <a:lnTo>
                    <a:pt x="72" y="136"/>
                  </a:lnTo>
                  <a:lnTo>
                    <a:pt x="80" y="144"/>
                  </a:lnTo>
                  <a:lnTo>
                    <a:pt x="120" y="136"/>
                  </a:lnTo>
                  <a:lnTo>
                    <a:pt x="112" y="120"/>
                  </a:lnTo>
                  <a:lnTo>
                    <a:pt x="104" y="104"/>
                  </a:lnTo>
                  <a:lnTo>
                    <a:pt x="136" y="104"/>
                  </a:lnTo>
                  <a:lnTo>
                    <a:pt x="152" y="96"/>
                  </a:lnTo>
                  <a:lnTo>
                    <a:pt x="152" y="88"/>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49" name="Freeform 802"/>
            <p:cNvSpPr>
              <a:spLocks/>
            </p:cNvSpPr>
            <p:nvPr/>
          </p:nvSpPr>
          <p:spPr bwMode="auto">
            <a:xfrm>
              <a:off x="1630432" y="3483513"/>
              <a:ext cx="169801" cy="237374"/>
            </a:xfrm>
            <a:custGeom>
              <a:avLst/>
              <a:gdLst>
                <a:gd name="T0" fmla="*/ 2147483647 w 160"/>
                <a:gd name="T1" fmla="*/ 2147483647 h 224"/>
                <a:gd name="T2" fmla="*/ 2147483647 w 160"/>
                <a:gd name="T3" fmla="*/ 2147483647 h 224"/>
                <a:gd name="T4" fmla="*/ 2147483647 w 160"/>
                <a:gd name="T5" fmla="*/ 2147483647 h 224"/>
                <a:gd name="T6" fmla="*/ 2147483647 w 160"/>
                <a:gd name="T7" fmla="*/ 2147483647 h 224"/>
                <a:gd name="T8" fmla="*/ 2147483647 w 160"/>
                <a:gd name="T9" fmla="*/ 2147483647 h 224"/>
                <a:gd name="T10" fmla="*/ 2147483647 w 160"/>
                <a:gd name="T11" fmla="*/ 2147483647 h 224"/>
                <a:gd name="T12" fmla="*/ 2147483647 w 160"/>
                <a:gd name="T13" fmla="*/ 2147483647 h 224"/>
                <a:gd name="T14" fmla="*/ 2147483647 w 160"/>
                <a:gd name="T15" fmla="*/ 2147483647 h 224"/>
                <a:gd name="T16" fmla="*/ 2147483647 w 160"/>
                <a:gd name="T17" fmla="*/ 2147483647 h 224"/>
                <a:gd name="T18" fmla="*/ 2147483647 w 160"/>
                <a:gd name="T19" fmla="*/ 2147483647 h 224"/>
                <a:gd name="T20" fmla="*/ 2147483647 w 160"/>
                <a:gd name="T21" fmla="*/ 2147483647 h 224"/>
                <a:gd name="T22" fmla="*/ 2147483647 w 160"/>
                <a:gd name="T23" fmla="*/ 2147483647 h 224"/>
                <a:gd name="T24" fmla="*/ 2147483647 w 160"/>
                <a:gd name="T25" fmla="*/ 0 h 224"/>
                <a:gd name="T26" fmla="*/ 2147483647 w 160"/>
                <a:gd name="T27" fmla="*/ 2147483647 h 224"/>
                <a:gd name="T28" fmla="*/ 2147483647 w 160"/>
                <a:gd name="T29" fmla="*/ 2147483647 h 224"/>
                <a:gd name="T30" fmla="*/ 2147483647 w 160"/>
                <a:gd name="T31" fmla="*/ 2147483647 h 224"/>
                <a:gd name="T32" fmla="*/ 2147483647 w 160"/>
                <a:gd name="T33" fmla="*/ 2147483647 h 224"/>
                <a:gd name="T34" fmla="*/ 2147483647 w 160"/>
                <a:gd name="T35" fmla="*/ 2147483647 h 224"/>
                <a:gd name="T36" fmla="*/ 2147483647 w 160"/>
                <a:gd name="T37" fmla="*/ 2147483647 h 224"/>
                <a:gd name="T38" fmla="*/ 0 w 160"/>
                <a:gd name="T39" fmla="*/ 2147483647 h 224"/>
                <a:gd name="T40" fmla="*/ 2147483647 w 160"/>
                <a:gd name="T41" fmla="*/ 2147483647 h 224"/>
                <a:gd name="T42" fmla="*/ 2147483647 w 160"/>
                <a:gd name="T43" fmla="*/ 2147483647 h 224"/>
                <a:gd name="T44" fmla="*/ 2147483647 w 160"/>
                <a:gd name="T45" fmla="*/ 2147483647 h 224"/>
                <a:gd name="T46" fmla="*/ 2147483647 w 160"/>
                <a:gd name="T47" fmla="*/ 2147483647 h 224"/>
                <a:gd name="T48" fmla="*/ 2147483647 w 160"/>
                <a:gd name="T49" fmla="*/ 2147483647 h 224"/>
                <a:gd name="T50" fmla="*/ 2147483647 w 160"/>
                <a:gd name="T51" fmla="*/ 2147483647 h 224"/>
                <a:gd name="T52" fmla="*/ 2147483647 w 160"/>
                <a:gd name="T53" fmla="*/ 2147483647 h 224"/>
                <a:gd name="T54" fmla="*/ 2147483647 w 160"/>
                <a:gd name="T55" fmla="*/ 2147483647 h 224"/>
                <a:gd name="T56" fmla="*/ 2147483647 w 160"/>
                <a:gd name="T57" fmla="*/ 2147483647 h 224"/>
                <a:gd name="T58" fmla="*/ 2147483647 w 160"/>
                <a:gd name="T59" fmla="*/ 2147483647 h 22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0"/>
                <a:gd name="T91" fmla="*/ 0 h 224"/>
                <a:gd name="T92" fmla="*/ 160 w 160"/>
                <a:gd name="T93" fmla="*/ 224 h 22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0" h="224">
                  <a:moveTo>
                    <a:pt x="152" y="136"/>
                  </a:moveTo>
                  <a:lnTo>
                    <a:pt x="144" y="136"/>
                  </a:lnTo>
                  <a:lnTo>
                    <a:pt x="144" y="112"/>
                  </a:lnTo>
                  <a:lnTo>
                    <a:pt x="120" y="120"/>
                  </a:lnTo>
                  <a:lnTo>
                    <a:pt x="104" y="104"/>
                  </a:lnTo>
                  <a:lnTo>
                    <a:pt x="104" y="80"/>
                  </a:lnTo>
                  <a:lnTo>
                    <a:pt x="120" y="56"/>
                  </a:lnTo>
                  <a:lnTo>
                    <a:pt x="136" y="48"/>
                  </a:lnTo>
                  <a:lnTo>
                    <a:pt x="136" y="40"/>
                  </a:lnTo>
                  <a:lnTo>
                    <a:pt x="128" y="24"/>
                  </a:lnTo>
                  <a:lnTo>
                    <a:pt x="112" y="24"/>
                  </a:lnTo>
                  <a:lnTo>
                    <a:pt x="104" y="16"/>
                  </a:lnTo>
                  <a:lnTo>
                    <a:pt x="80" y="0"/>
                  </a:lnTo>
                  <a:lnTo>
                    <a:pt x="72" y="16"/>
                  </a:lnTo>
                  <a:lnTo>
                    <a:pt x="56" y="32"/>
                  </a:lnTo>
                  <a:lnTo>
                    <a:pt x="48" y="40"/>
                  </a:lnTo>
                  <a:lnTo>
                    <a:pt x="32" y="56"/>
                  </a:lnTo>
                  <a:lnTo>
                    <a:pt x="16" y="48"/>
                  </a:lnTo>
                  <a:lnTo>
                    <a:pt x="16" y="40"/>
                  </a:lnTo>
                  <a:lnTo>
                    <a:pt x="0" y="48"/>
                  </a:lnTo>
                  <a:lnTo>
                    <a:pt x="16" y="80"/>
                  </a:lnTo>
                  <a:lnTo>
                    <a:pt x="40" y="120"/>
                  </a:lnTo>
                  <a:lnTo>
                    <a:pt x="64" y="168"/>
                  </a:lnTo>
                  <a:lnTo>
                    <a:pt x="64" y="176"/>
                  </a:lnTo>
                  <a:lnTo>
                    <a:pt x="144" y="224"/>
                  </a:lnTo>
                  <a:lnTo>
                    <a:pt x="152" y="224"/>
                  </a:lnTo>
                  <a:lnTo>
                    <a:pt x="152" y="208"/>
                  </a:lnTo>
                  <a:lnTo>
                    <a:pt x="160" y="184"/>
                  </a:lnTo>
                  <a:lnTo>
                    <a:pt x="160" y="152"/>
                  </a:lnTo>
                  <a:lnTo>
                    <a:pt x="152" y="136"/>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50" name="Freeform 803"/>
            <p:cNvSpPr>
              <a:spLocks/>
            </p:cNvSpPr>
            <p:nvPr/>
          </p:nvSpPr>
          <p:spPr bwMode="auto">
            <a:xfrm>
              <a:off x="1952707" y="3390816"/>
              <a:ext cx="51114" cy="58910"/>
            </a:xfrm>
            <a:custGeom>
              <a:avLst/>
              <a:gdLst>
                <a:gd name="T0" fmla="*/ 2147483647 w 48"/>
                <a:gd name="T1" fmla="*/ 2147483647 h 56"/>
                <a:gd name="T2" fmla="*/ 2147483647 w 48"/>
                <a:gd name="T3" fmla="*/ 2147483647 h 56"/>
                <a:gd name="T4" fmla="*/ 2147483647 w 48"/>
                <a:gd name="T5" fmla="*/ 2147483647 h 56"/>
                <a:gd name="T6" fmla="*/ 2147483647 w 48"/>
                <a:gd name="T7" fmla="*/ 2147483647 h 56"/>
                <a:gd name="T8" fmla="*/ 2147483647 w 48"/>
                <a:gd name="T9" fmla="*/ 2147483647 h 56"/>
                <a:gd name="T10" fmla="*/ 2147483647 w 48"/>
                <a:gd name="T11" fmla="*/ 0 h 56"/>
                <a:gd name="T12" fmla="*/ 2147483647 w 48"/>
                <a:gd name="T13" fmla="*/ 2147483647 h 56"/>
                <a:gd name="T14" fmla="*/ 0 w 48"/>
                <a:gd name="T15" fmla="*/ 2147483647 h 56"/>
                <a:gd name="T16" fmla="*/ 2147483647 w 48"/>
                <a:gd name="T17" fmla="*/ 2147483647 h 56"/>
                <a:gd name="T18" fmla="*/ 2147483647 w 48"/>
                <a:gd name="T19" fmla="*/ 2147483647 h 56"/>
                <a:gd name="T20" fmla="*/ 2147483647 w 48"/>
                <a:gd name="T21" fmla="*/ 2147483647 h 56"/>
                <a:gd name="T22" fmla="*/ 2147483647 w 48"/>
                <a:gd name="T23" fmla="*/ 2147483647 h 56"/>
                <a:gd name="T24" fmla="*/ 2147483647 w 48"/>
                <a:gd name="T25" fmla="*/ 2147483647 h 56"/>
                <a:gd name="T26" fmla="*/ 2147483647 w 48"/>
                <a:gd name="T27" fmla="*/ 2147483647 h 56"/>
                <a:gd name="T28" fmla="*/ 2147483647 w 48"/>
                <a:gd name="T29" fmla="*/ 2147483647 h 56"/>
                <a:gd name="T30" fmla="*/ 2147483647 w 48"/>
                <a:gd name="T31" fmla="*/ 2147483647 h 56"/>
                <a:gd name="T32" fmla="*/ 2147483647 w 48"/>
                <a:gd name="T33" fmla="*/ 2147483647 h 56"/>
                <a:gd name="T34" fmla="*/ 2147483647 w 48"/>
                <a:gd name="T35" fmla="*/ 2147483647 h 56"/>
                <a:gd name="T36" fmla="*/ 2147483647 w 48"/>
                <a:gd name="T37" fmla="*/ 0 h 56"/>
                <a:gd name="T38" fmla="*/ 2147483647 w 48"/>
                <a:gd name="T39" fmla="*/ 2147483647 h 56"/>
                <a:gd name="T40" fmla="*/ 0 w 48"/>
                <a:gd name="T41" fmla="*/ 2147483647 h 56"/>
                <a:gd name="T42" fmla="*/ 2147483647 w 48"/>
                <a:gd name="T43" fmla="*/ 2147483647 h 56"/>
                <a:gd name="T44" fmla="*/ 2147483647 w 48"/>
                <a:gd name="T45" fmla="*/ 2147483647 h 56"/>
                <a:gd name="T46" fmla="*/ 2147483647 w 48"/>
                <a:gd name="T47" fmla="*/ 2147483647 h 56"/>
                <a:gd name="T48" fmla="*/ 2147483647 w 48"/>
                <a:gd name="T49" fmla="*/ 2147483647 h 56"/>
                <a:gd name="T50" fmla="*/ 2147483647 w 48"/>
                <a:gd name="T51" fmla="*/ 2147483647 h 56"/>
                <a:gd name="T52" fmla="*/ 2147483647 w 48"/>
                <a:gd name="T53" fmla="*/ 2147483647 h 5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
                <a:gd name="T82" fmla="*/ 0 h 56"/>
                <a:gd name="T83" fmla="*/ 48 w 48"/>
                <a:gd name="T84" fmla="*/ 56 h 5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 h="56">
                  <a:moveTo>
                    <a:pt x="48" y="56"/>
                  </a:moveTo>
                  <a:lnTo>
                    <a:pt x="48" y="40"/>
                  </a:lnTo>
                  <a:lnTo>
                    <a:pt x="40" y="24"/>
                  </a:lnTo>
                  <a:lnTo>
                    <a:pt x="48" y="8"/>
                  </a:lnTo>
                  <a:lnTo>
                    <a:pt x="16" y="8"/>
                  </a:lnTo>
                  <a:lnTo>
                    <a:pt x="16" y="0"/>
                  </a:lnTo>
                  <a:lnTo>
                    <a:pt x="8" y="16"/>
                  </a:lnTo>
                  <a:lnTo>
                    <a:pt x="0" y="24"/>
                  </a:lnTo>
                  <a:lnTo>
                    <a:pt x="8" y="40"/>
                  </a:lnTo>
                  <a:lnTo>
                    <a:pt x="16" y="56"/>
                  </a:lnTo>
                  <a:lnTo>
                    <a:pt x="24" y="56"/>
                  </a:lnTo>
                  <a:lnTo>
                    <a:pt x="48" y="56"/>
                  </a:lnTo>
                  <a:lnTo>
                    <a:pt x="48" y="40"/>
                  </a:lnTo>
                  <a:lnTo>
                    <a:pt x="40" y="24"/>
                  </a:lnTo>
                  <a:lnTo>
                    <a:pt x="48" y="8"/>
                  </a:lnTo>
                  <a:lnTo>
                    <a:pt x="16" y="8"/>
                  </a:lnTo>
                  <a:lnTo>
                    <a:pt x="16" y="0"/>
                  </a:lnTo>
                  <a:lnTo>
                    <a:pt x="8" y="16"/>
                  </a:lnTo>
                  <a:lnTo>
                    <a:pt x="0" y="24"/>
                  </a:lnTo>
                  <a:lnTo>
                    <a:pt x="8" y="40"/>
                  </a:lnTo>
                  <a:lnTo>
                    <a:pt x="16" y="56"/>
                  </a:lnTo>
                  <a:lnTo>
                    <a:pt x="24" y="56"/>
                  </a:lnTo>
                  <a:lnTo>
                    <a:pt x="48" y="56"/>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51" name="Freeform 804"/>
            <p:cNvSpPr>
              <a:spLocks/>
            </p:cNvSpPr>
            <p:nvPr/>
          </p:nvSpPr>
          <p:spPr bwMode="auto">
            <a:xfrm>
              <a:off x="1630432" y="3483513"/>
              <a:ext cx="169801" cy="237374"/>
            </a:xfrm>
            <a:custGeom>
              <a:avLst/>
              <a:gdLst>
                <a:gd name="T0" fmla="*/ 2147483647 w 160"/>
                <a:gd name="T1" fmla="*/ 2147483647 h 224"/>
                <a:gd name="T2" fmla="*/ 2147483647 w 160"/>
                <a:gd name="T3" fmla="*/ 2147483647 h 224"/>
                <a:gd name="T4" fmla="*/ 2147483647 w 160"/>
                <a:gd name="T5" fmla="*/ 2147483647 h 224"/>
                <a:gd name="T6" fmla="*/ 2147483647 w 160"/>
                <a:gd name="T7" fmla="*/ 2147483647 h 224"/>
                <a:gd name="T8" fmla="*/ 2147483647 w 160"/>
                <a:gd name="T9" fmla="*/ 2147483647 h 224"/>
                <a:gd name="T10" fmla="*/ 2147483647 w 160"/>
                <a:gd name="T11" fmla="*/ 2147483647 h 224"/>
                <a:gd name="T12" fmla="*/ 2147483647 w 160"/>
                <a:gd name="T13" fmla="*/ 2147483647 h 224"/>
                <a:gd name="T14" fmla="*/ 2147483647 w 160"/>
                <a:gd name="T15" fmla="*/ 2147483647 h 224"/>
                <a:gd name="T16" fmla="*/ 2147483647 w 160"/>
                <a:gd name="T17" fmla="*/ 2147483647 h 224"/>
                <a:gd name="T18" fmla="*/ 2147483647 w 160"/>
                <a:gd name="T19" fmla="*/ 2147483647 h 224"/>
                <a:gd name="T20" fmla="*/ 2147483647 w 160"/>
                <a:gd name="T21" fmla="*/ 2147483647 h 224"/>
                <a:gd name="T22" fmla="*/ 2147483647 w 160"/>
                <a:gd name="T23" fmla="*/ 2147483647 h 224"/>
                <a:gd name="T24" fmla="*/ 2147483647 w 160"/>
                <a:gd name="T25" fmla="*/ 2147483647 h 224"/>
                <a:gd name="T26" fmla="*/ 2147483647 w 160"/>
                <a:gd name="T27" fmla="*/ 0 h 224"/>
                <a:gd name="T28" fmla="*/ 2147483647 w 160"/>
                <a:gd name="T29" fmla="*/ 0 h 224"/>
                <a:gd name="T30" fmla="*/ 2147483647 w 160"/>
                <a:gd name="T31" fmla="*/ 2147483647 h 224"/>
                <a:gd name="T32" fmla="*/ 2147483647 w 160"/>
                <a:gd name="T33" fmla="*/ 2147483647 h 224"/>
                <a:gd name="T34" fmla="*/ 2147483647 w 160"/>
                <a:gd name="T35" fmla="*/ 2147483647 h 224"/>
                <a:gd name="T36" fmla="*/ 2147483647 w 160"/>
                <a:gd name="T37" fmla="*/ 2147483647 h 224"/>
                <a:gd name="T38" fmla="*/ 2147483647 w 160"/>
                <a:gd name="T39" fmla="*/ 2147483647 h 224"/>
                <a:gd name="T40" fmla="*/ 2147483647 w 160"/>
                <a:gd name="T41" fmla="*/ 2147483647 h 224"/>
                <a:gd name="T42" fmla="*/ 0 w 160"/>
                <a:gd name="T43" fmla="*/ 2147483647 h 224"/>
                <a:gd name="T44" fmla="*/ 2147483647 w 160"/>
                <a:gd name="T45" fmla="*/ 2147483647 h 224"/>
                <a:gd name="T46" fmla="*/ 2147483647 w 160"/>
                <a:gd name="T47" fmla="*/ 2147483647 h 224"/>
                <a:gd name="T48" fmla="*/ 2147483647 w 160"/>
                <a:gd name="T49" fmla="*/ 2147483647 h 224"/>
                <a:gd name="T50" fmla="*/ 2147483647 w 160"/>
                <a:gd name="T51" fmla="*/ 2147483647 h 224"/>
                <a:gd name="T52" fmla="*/ 2147483647 w 160"/>
                <a:gd name="T53" fmla="*/ 2147483647 h 224"/>
                <a:gd name="T54" fmla="*/ 2147483647 w 160"/>
                <a:gd name="T55" fmla="*/ 2147483647 h 224"/>
                <a:gd name="T56" fmla="*/ 2147483647 w 160"/>
                <a:gd name="T57" fmla="*/ 2147483647 h 224"/>
                <a:gd name="T58" fmla="*/ 2147483647 w 160"/>
                <a:gd name="T59" fmla="*/ 2147483647 h 224"/>
                <a:gd name="T60" fmla="*/ 2147483647 w 160"/>
                <a:gd name="T61" fmla="*/ 2147483647 h 224"/>
                <a:gd name="T62" fmla="*/ 2147483647 w 160"/>
                <a:gd name="T63" fmla="*/ 2147483647 h 224"/>
                <a:gd name="T64" fmla="*/ 2147483647 w 160"/>
                <a:gd name="T65" fmla="*/ 2147483647 h 224"/>
                <a:gd name="T66" fmla="*/ 2147483647 w 160"/>
                <a:gd name="T67" fmla="*/ 2147483647 h 224"/>
                <a:gd name="T68" fmla="*/ 2147483647 w 160"/>
                <a:gd name="T69" fmla="*/ 2147483647 h 224"/>
                <a:gd name="T70" fmla="*/ 2147483647 w 160"/>
                <a:gd name="T71" fmla="*/ 2147483647 h 224"/>
                <a:gd name="T72" fmla="*/ 2147483647 w 160"/>
                <a:gd name="T73" fmla="*/ 2147483647 h 224"/>
                <a:gd name="T74" fmla="*/ 2147483647 w 160"/>
                <a:gd name="T75" fmla="*/ 2147483647 h 224"/>
                <a:gd name="T76" fmla="*/ 2147483647 w 160"/>
                <a:gd name="T77" fmla="*/ 2147483647 h 224"/>
                <a:gd name="T78" fmla="*/ 2147483647 w 160"/>
                <a:gd name="T79" fmla="*/ 2147483647 h 224"/>
                <a:gd name="T80" fmla="*/ 2147483647 w 160"/>
                <a:gd name="T81" fmla="*/ 2147483647 h 224"/>
                <a:gd name="T82" fmla="*/ 2147483647 w 160"/>
                <a:gd name="T83" fmla="*/ 2147483647 h 224"/>
                <a:gd name="T84" fmla="*/ 2147483647 w 160"/>
                <a:gd name="T85" fmla="*/ 2147483647 h 224"/>
                <a:gd name="T86" fmla="*/ 2147483647 w 160"/>
                <a:gd name="T87" fmla="*/ 2147483647 h 224"/>
                <a:gd name="T88" fmla="*/ 2147483647 w 160"/>
                <a:gd name="T89" fmla="*/ 0 h 224"/>
                <a:gd name="T90" fmla="*/ 2147483647 w 160"/>
                <a:gd name="T91" fmla="*/ 0 h 224"/>
                <a:gd name="T92" fmla="*/ 2147483647 w 160"/>
                <a:gd name="T93" fmla="*/ 2147483647 h 224"/>
                <a:gd name="T94" fmla="*/ 2147483647 w 160"/>
                <a:gd name="T95" fmla="*/ 2147483647 h 224"/>
                <a:gd name="T96" fmla="*/ 2147483647 w 160"/>
                <a:gd name="T97" fmla="*/ 2147483647 h 224"/>
                <a:gd name="T98" fmla="*/ 2147483647 w 160"/>
                <a:gd name="T99" fmla="*/ 2147483647 h 224"/>
                <a:gd name="T100" fmla="*/ 2147483647 w 160"/>
                <a:gd name="T101" fmla="*/ 2147483647 h 224"/>
                <a:gd name="T102" fmla="*/ 2147483647 w 160"/>
                <a:gd name="T103" fmla="*/ 2147483647 h 224"/>
                <a:gd name="T104" fmla="*/ 0 w 160"/>
                <a:gd name="T105" fmla="*/ 2147483647 h 224"/>
                <a:gd name="T106" fmla="*/ 2147483647 w 160"/>
                <a:gd name="T107" fmla="*/ 2147483647 h 224"/>
                <a:gd name="T108" fmla="*/ 2147483647 w 160"/>
                <a:gd name="T109" fmla="*/ 2147483647 h 224"/>
                <a:gd name="T110" fmla="*/ 2147483647 w 160"/>
                <a:gd name="T111" fmla="*/ 2147483647 h 224"/>
                <a:gd name="T112" fmla="*/ 2147483647 w 160"/>
                <a:gd name="T113" fmla="*/ 2147483647 h 224"/>
                <a:gd name="T114" fmla="*/ 2147483647 w 160"/>
                <a:gd name="T115" fmla="*/ 2147483647 h 224"/>
                <a:gd name="T116" fmla="*/ 2147483647 w 160"/>
                <a:gd name="T117" fmla="*/ 2147483647 h 224"/>
                <a:gd name="T118" fmla="*/ 2147483647 w 160"/>
                <a:gd name="T119" fmla="*/ 2147483647 h 224"/>
                <a:gd name="T120" fmla="*/ 2147483647 w 160"/>
                <a:gd name="T121" fmla="*/ 2147483647 h 224"/>
                <a:gd name="T122" fmla="*/ 2147483647 w 160"/>
                <a:gd name="T123" fmla="*/ 2147483647 h 224"/>
                <a:gd name="T124" fmla="*/ 2147483647 w 160"/>
                <a:gd name="T125" fmla="*/ 2147483647 h 22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60"/>
                <a:gd name="T190" fmla="*/ 0 h 224"/>
                <a:gd name="T191" fmla="*/ 160 w 160"/>
                <a:gd name="T192" fmla="*/ 224 h 22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60" h="224">
                  <a:moveTo>
                    <a:pt x="152" y="136"/>
                  </a:moveTo>
                  <a:lnTo>
                    <a:pt x="152" y="136"/>
                  </a:lnTo>
                  <a:lnTo>
                    <a:pt x="144" y="136"/>
                  </a:lnTo>
                  <a:lnTo>
                    <a:pt x="144" y="112"/>
                  </a:lnTo>
                  <a:lnTo>
                    <a:pt x="120" y="120"/>
                  </a:lnTo>
                  <a:lnTo>
                    <a:pt x="104" y="104"/>
                  </a:lnTo>
                  <a:lnTo>
                    <a:pt x="104" y="80"/>
                  </a:lnTo>
                  <a:lnTo>
                    <a:pt x="120" y="56"/>
                  </a:lnTo>
                  <a:lnTo>
                    <a:pt x="136" y="48"/>
                  </a:lnTo>
                  <a:lnTo>
                    <a:pt x="136" y="40"/>
                  </a:lnTo>
                  <a:lnTo>
                    <a:pt x="128" y="24"/>
                  </a:lnTo>
                  <a:lnTo>
                    <a:pt x="112" y="24"/>
                  </a:lnTo>
                  <a:lnTo>
                    <a:pt x="104" y="16"/>
                  </a:lnTo>
                  <a:lnTo>
                    <a:pt x="80" y="0"/>
                  </a:lnTo>
                  <a:lnTo>
                    <a:pt x="72" y="16"/>
                  </a:lnTo>
                  <a:lnTo>
                    <a:pt x="56" y="32"/>
                  </a:lnTo>
                  <a:lnTo>
                    <a:pt x="48" y="40"/>
                  </a:lnTo>
                  <a:lnTo>
                    <a:pt x="32" y="56"/>
                  </a:lnTo>
                  <a:lnTo>
                    <a:pt x="16" y="48"/>
                  </a:lnTo>
                  <a:lnTo>
                    <a:pt x="16" y="40"/>
                  </a:lnTo>
                  <a:lnTo>
                    <a:pt x="0" y="48"/>
                  </a:lnTo>
                  <a:lnTo>
                    <a:pt x="16" y="80"/>
                  </a:lnTo>
                  <a:lnTo>
                    <a:pt x="40" y="120"/>
                  </a:lnTo>
                  <a:lnTo>
                    <a:pt x="64" y="168"/>
                  </a:lnTo>
                  <a:lnTo>
                    <a:pt x="64" y="176"/>
                  </a:lnTo>
                  <a:lnTo>
                    <a:pt x="144" y="224"/>
                  </a:lnTo>
                  <a:lnTo>
                    <a:pt x="152" y="224"/>
                  </a:lnTo>
                  <a:lnTo>
                    <a:pt x="152" y="208"/>
                  </a:lnTo>
                  <a:lnTo>
                    <a:pt x="160" y="184"/>
                  </a:lnTo>
                  <a:lnTo>
                    <a:pt x="160" y="152"/>
                  </a:lnTo>
                  <a:lnTo>
                    <a:pt x="152" y="136"/>
                  </a:lnTo>
                  <a:lnTo>
                    <a:pt x="144" y="136"/>
                  </a:lnTo>
                  <a:lnTo>
                    <a:pt x="144" y="112"/>
                  </a:lnTo>
                  <a:lnTo>
                    <a:pt x="120" y="120"/>
                  </a:lnTo>
                  <a:lnTo>
                    <a:pt x="104" y="104"/>
                  </a:lnTo>
                  <a:lnTo>
                    <a:pt x="104" y="80"/>
                  </a:lnTo>
                  <a:lnTo>
                    <a:pt x="120" y="56"/>
                  </a:lnTo>
                  <a:lnTo>
                    <a:pt x="136" y="48"/>
                  </a:lnTo>
                  <a:lnTo>
                    <a:pt x="136" y="40"/>
                  </a:lnTo>
                  <a:lnTo>
                    <a:pt x="128" y="24"/>
                  </a:lnTo>
                  <a:lnTo>
                    <a:pt x="112" y="24"/>
                  </a:lnTo>
                  <a:lnTo>
                    <a:pt x="104" y="16"/>
                  </a:lnTo>
                  <a:lnTo>
                    <a:pt x="80" y="0"/>
                  </a:lnTo>
                  <a:lnTo>
                    <a:pt x="72" y="16"/>
                  </a:lnTo>
                  <a:lnTo>
                    <a:pt x="56" y="32"/>
                  </a:lnTo>
                  <a:lnTo>
                    <a:pt x="48" y="40"/>
                  </a:lnTo>
                  <a:lnTo>
                    <a:pt x="32" y="56"/>
                  </a:lnTo>
                  <a:lnTo>
                    <a:pt x="16" y="48"/>
                  </a:lnTo>
                  <a:lnTo>
                    <a:pt x="16" y="40"/>
                  </a:lnTo>
                  <a:lnTo>
                    <a:pt x="0" y="48"/>
                  </a:lnTo>
                  <a:lnTo>
                    <a:pt x="16" y="80"/>
                  </a:lnTo>
                  <a:lnTo>
                    <a:pt x="40" y="120"/>
                  </a:lnTo>
                  <a:lnTo>
                    <a:pt x="64" y="168"/>
                  </a:lnTo>
                  <a:lnTo>
                    <a:pt x="64" y="176"/>
                  </a:lnTo>
                  <a:lnTo>
                    <a:pt x="144" y="224"/>
                  </a:lnTo>
                  <a:lnTo>
                    <a:pt x="152" y="224"/>
                  </a:lnTo>
                  <a:lnTo>
                    <a:pt x="152" y="208"/>
                  </a:lnTo>
                  <a:lnTo>
                    <a:pt x="160" y="184"/>
                  </a:lnTo>
                  <a:lnTo>
                    <a:pt x="160" y="152"/>
                  </a:lnTo>
                  <a:lnTo>
                    <a:pt x="152" y="136"/>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52" name="Freeform 805"/>
            <p:cNvSpPr>
              <a:spLocks/>
            </p:cNvSpPr>
            <p:nvPr/>
          </p:nvSpPr>
          <p:spPr bwMode="auto">
            <a:xfrm>
              <a:off x="1647759" y="3458390"/>
              <a:ext cx="67574" cy="84900"/>
            </a:xfrm>
            <a:custGeom>
              <a:avLst/>
              <a:gdLst>
                <a:gd name="T0" fmla="*/ 2147483647 w 64"/>
                <a:gd name="T1" fmla="*/ 2147483647 h 80"/>
                <a:gd name="T2" fmla="*/ 2147483647 w 64"/>
                <a:gd name="T3" fmla="*/ 2147483647 h 80"/>
                <a:gd name="T4" fmla="*/ 2147483647 w 64"/>
                <a:gd name="T5" fmla="*/ 2147483647 h 80"/>
                <a:gd name="T6" fmla="*/ 2147483647 w 64"/>
                <a:gd name="T7" fmla="*/ 2147483647 h 80"/>
                <a:gd name="T8" fmla="*/ 2147483647 w 64"/>
                <a:gd name="T9" fmla="*/ 2147483647 h 80"/>
                <a:gd name="T10" fmla="*/ 2147483647 w 64"/>
                <a:gd name="T11" fmla="*/ 2147483647 h 80"/>
                <a:gd name="T12" fmla="*/ 2147483647 w 64"/>
                <a:gd name="T13" fmla="*/ 0 h 80"/>
                <a:gd name="T14" fmla="*/ 2147483647 w 64"/>
                <a:gd name="T15" fmla="*/ 2147483647 h 80"/>
                <a:gd name="T16" fmla="*/ 0 w 64"/>
                <a:gd name="T17" fmla="*/ 2147483647 h 80"/>
                <a:gd name="T18" fmla="*/ 2147483647 w 64"/>
                <a:gd name="T19" fmla="*/ 2147483647 h 80"/>
                <a:gd name="T20" fmla="*/ 0 w 64"/>
                <a:gd name="T21" fmla="*/ 2147483647 h 80"/>
                <a:gd name="T22" fmla="*/ 0 w 64"/>
                <a:gd name="T23" fmla="*/ 2147483647 h 80"/>
                <a:gd name="T24" fmla="*/ 2147483647 w 64"/>
                <a:gd name="T25" fmla="*/ 2147483647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80"/>
                <a:gd name="T41" fmla="*/ 64 w 64"/>
                <a:gd name="T42" fmla="*/ 80 h 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80">
                  <a:moveTo>
                    <a:pt x="16" y="80"/>
                  </a:moveTo>
                  <a:lnTo>
                    <a:pt x="32" y="64"/>
                  </a:lnTo>
                  <a:lnTo>
                    <a:pt x="40" y="56"/>
                  </a:lnTo>
                  <a:lnTo>
                    <a:pt x="56" y="40"/>
                  </a:lnTo>
                  <a:lnTo>
                    <a:pt x="64" y="24"/>
                  </a:lnTo>
                  <a:lnTo>
                    <a:pt x="48" y="16"/>
                  </a:lnTo>
                  <a:lnTo>
                    <a:pt x="16" y="0"/>
                  </a:lnTo>
                  <a:lnTo>
                    <a:pt x="16" y="8"/>
                  </a:lnTo>
                  <a:lnTo>
                    <a:pt x="0" y="48"/>
                  </a:lnTo>
                  <a:lnTo>
                    <a:pt x="8" y="64"/>
                  </a:lnTo>
                  <a:lnTo>
                    <a:pt x="0" y="64"/>
                  </a:lnTo>
                  <a:lnTo>
                    <a:pt x="0" y="72"/>
                  </a:lnTo>
                  <a:lnTo>
                    <a:pt x="16" y="8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53" name="Freeform 806"/>
            <p:cNvSpPr>
              <a:spLocks/>
            </p:cNvSpPr>
            <p:nvPr/>
          </p:nvSpPr>
          <p:spPr bwMode="auto">
            <a:xfrm>
              <a:off x="1529072" y="3263466"/>
              <a:ext cx="76237" cy="33787"/>
            </a:xfrm>
            <a:custGeom>
              <a:avLst/>
              <a:gdLst>
                <a:gd name="T0" fmla="*/ 2147483647 w 72"/>
                <a:gd name="T1" fmla="*/ 2147483647 h 32"/>
                <a:gd name="T2" fmla="*/ 2147483647 w 72"/>
                <a:gd name="T3" fmla="*/ 0 h 32"/>
                <a:gd name="T4" fmla="*/ 2147483647 w 72"/>
                <a:gd name="T5" fmla="*/ 0 h 32"/>
                <a:gd name="T6" fmla="*/ 0 w 72"/>
                <a:gd name="T7" fmla="*/ 2147483647 h 32"/>
                <a:gd name="T8" fmla="*/ 0 w 72"/>
                <a:gd name="T9" fmla="*/ 2147483647 h 32"/>
                <a:gd name="T10" fmla="*/ 2147483647 w 72"/>
                <a:gd name="T11" fmla="*/ 2147483647 h 32"/>
                <a:gd name="T12" fmla="*/ 2147483647 w 72"/>
                <a:gd name="T13" fmla="*/ 2147483647 h 32"/>
                <a:gd name="T14" fmla="*/ 2147483647 w 72"/>
                <a:gd name="T15" fmla="*/ 2147483647 h 32"/>
                <a:gd name="T16" fmla="*/ 0 60000 65536"/>
                <a:gd name="T17" fmla="*/ 0 60000 65536"/>
                <a:gd name="T18" fmla="*/ 0 60000 65536"/>
                <a:gd name="T19" fmla="*/ 0 60000 65536"/>
                <a:gd name="T20" fmla="*/ 0 60000 65536"/>
                <a:gd name="T21" fmla="*/ 0 60000 65536"/>
                <a:gd name="T22" fmla="*/ 0 60000 65536"/>
                <a:gd name="T23" fmla="*/ 0 60000 65536"/>
                <a:gd name="T24" fmla="*/ 0 w 72"/>
                <a:gd name="T25" fmla="*/ 0 h 32"/>
                <a:gd name="T26" fmla="*/ 72 w 72"/>
                <a:gd name="T27" fmla="*/ 32 h 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2" h="32">
                  <a:moveTo>
                    <a:pt x="72" y="8"/>
                  </a:moveTo>
                  <a:lnTo>
                    <a:pt x="32" y="0"/>
                  </a:lnTo>
                  <a:lnTo>
                    <a:pt x="16" y="0"/>
                  </a:lnTo>
                  <a:lnTo>
                    <a:pt x="0" y="8"/>
                  </a:lnTo>
                  <a:lnTo>
                    <a:pt x="0" y="24"/>
                  </a:lnTo>
                  <a:lnTo>
                    <a:pt x="16" y="32"/>
                  </a:lnTo>
                  <a:lnTo>
                    <a:pt x="48" y="24"/>
                  </a:lnTo>
                  <a:lnTo>
                    <a:pt x="72" y="8"/>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54" name="Freeform 807"/>
            <p:cNvSpPr>
              <a:spLocks/>
            </p:cNvSpPr>
            <p:nvPr/>
          </p:nvSpPr>
          <p:spPr bwMode="auto">
            <a:xfrm>
              <a:off x="1486621" y="3237476"/>
              <a:ext cx="58910" cy="51114"/>
            </a:xfrm>
            <a:custGeom>
              <a:avLst/>
              <a:gdLst>
                <a:gd name="T0" fmla="*/ 2147483647 w 56"/>
                <a:gd name="T1" fmla="*/ 2147483647 h 48"/>
                <a:gd name="T2" fmla="*/ 2147483647 w 56"/>
                <a:gd name="T3" fmla="*/ 2147483647 h 48"/>
                <a:gd name="T4" fmla="*/ 2147483647 w 56"/>
                <a:gd name="T5" fmla="*/ 0 h 48"/>
                <a:gd name="T6" fmla="*/ 2147483647 w 56"/>
                <a:gd name="T7" fmla="*/ 0 h 48"/>
                <a:gd name="T8" fmla="*/ 2147483647 w 56"/>
                <a:gd name="T9" fmla="*/ 2147483647 h 48"/>
                <a:gd name="T10" fmla="*/ 2147483647 w 56"/>
                <a:gd name="T11" fmla="*/ 2147483647 h 48"/>
                <a:gd name="T12" fmla="*/ 2147483647 w 56"/>
                <a:gd name="T13" fmla="*/ 2147483647 h 48"/>
                <a:gd name="T14" fmla="*/ 0 w 56"/>
                <a:gd name="T15" fmla="*/ 2147483647 h 48"/>
                <a:gd name="T16" fmla="*/ 0 w 56"/>
                <a:gd name="T17" fmla="*/ 2147483647 h 48"/>
                <a:gd name="T18" fmla="*/ 0 w 56"/>
                <a:gd name="T19" fmla="*/ 2147483647 h 48"/>
                <a:gd name="T20" fmla="*/ 2147483647 w 56"/>
                <a:gd name="T21" fmla="*/ 2147483647 h 48"/>
                <a:gd name="T22" fmla="*/ 2147483647 w 56"/>
                <a:gd name="T23" fmla="*/ 2147483647 h 48"/>
                <a:gd name="T24" fmla="*/ 2147483647 w 56"/>
                <a:gd name="T25" fmla="*/ 2147483647 h 48"/>
                <a:gd name="T26" fmla="*/ 2147483647 w 56"/>
                <a:gd name="T27" fmla="*/ 2147483647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
                <a:gd name="T43" fmla="*/ 0 h 48"/>
                <a:gd name="T44" fmla="*/ 56 w 56"/>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 h="48">
                  <a:moveTo>
                    <a:pt x="56" y="24"/>
                  </a:moveTo>
                  <a:lnTo>
                    <a:pt x="40" y="16"/>
                  </a:lnTo>
                  <a:lnTo>
                    <a:pt x="40" y="0"/>
                  </a:lnTo>
                  <a:lnTo>
                    <a:pt x="24" y="0"/>
                  </a:lnTo>
                  <a:lnTo>
                    <a:pt x="16" y="8"/>
                  </a:lnTo>
                  <a:lnTo>
                    <a:pt x="24" y="24"/>
                  </a:lnTo>
                  <a:lnTo>
                    <a:pt x="8" y="24"/>
                  </a:lnTo>
                  <a:lnTo>
                    <a:pt x="0" y="32"/>
                  </a:lnTo>
                  <a:lnTo>
                    <a:pt x="0" y="40"/>
                  </a:lnTo>
                  <a:lnTo>
                    <a:pt x="0" y="48"/>
                  </a:lnTo>
                  <a:lnTo>
                    <a:pt x="24" y="48"/>
                  </a:lnTo>
                  <a:lnTo>
                    <a:pt x="40" y="48"/>
                  </a:lnTo>
                  <a:lnTo>
                    <a:pt x="40" y="32"/>
                  </a:lnTo>
                  <a:lnTo>
                    <a:pt x="56" y="24"/>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55" name="Freeform 808"/>
            <p:cNvSpPr>
              <a:spLocks/>
            </p:cNvSpPr>
            <p:nvPr/>
          </p:nvSpPr>
          <p:spPr bwMode="auto">
            <a:xfrm>
              <a:off x="1155683" y="3017428"/>
              <a:ext cx="407175" cy="262498"/>
            </a:xfrm>
            <a:custGeom>
              <a:avLst/>
              <a:gdLst>
                <a:gd name="T0" fmla="*/ 2147483647 w 384"/>
                <a:gd name="T1" fmla="*/ 2147483647 h 248"/>
                <a:gd name="T2" fmla="*/ 2147483647 w 384"/>
                <a:gd name="T3" fmla="*/ 2147483647 h 248"/>
                <a:gd name="T4" fmla="*/ 2147483647 w 384"/>
                <a:gd name="T5" fmla="*/ 2147483647 h 248"/>
                <a:gd name="T6" fmla="*/ 2147483647 w 384"/>
                <a:gd name="T7" fmla="*/ 2147483647 h 248"/>
                <a:gd name="T8" fmla="*/ 2147483647 w 384"/>
                <a:gd name="T9" fmla="*/ 2147483647 h 248"/>
                <a:gd name="T10" fmla="*/ 2147483647 w 384"/>
                <a:gd name="T11" fmla="*/ 2147483647 h 248"/>
                <a:gd name="T12" fmla="*/ 2147483647 w 384"/>
                <a:gd name="T13" fmla="*/ 2147483647 h 248"/>
                <a:gd name="T14" fmla="*/ 2147483647 w 384"/>
                <a:gd name="T15" fmla="*/ 2147483647 h 248"/>
                <a:gd name="T16" fmla="*/ 2147483647 w 384"/>
                <a:gd name="T17" fmla="*/ 2147483647 h 248"/>
                <a:gd name="T18" fmla="*/ 2147483647 w 384"/>
                <a:gd name="T19" fmla="*/ 2147483647 h 248"/>
                <a:gd name="T20" fmla="*/ 2147483647 w 384"/>
                <a:gd name="T21" fmla="*/ 2147483647 h 248"/>
                <a:gd name="T22" fmla="*/ 2147483647 w 384"/>
                <a:gd name="T23" fmla="*/ 2147483647 h 248"/>
                <a:gd name="T24" fmla="*/ 2147483647 w 384"/>
                <a:gd name="T25" fmla="*/ 2147483647 h 248"/>
                <a:gd name="T26" fmla="*/ 2147483647 w 384"/>
                <a:gd name="T27" fmla="*/ 2147483647 h 248"/>
                <a:gd name="T28" fmla="*/ 2147483647 w 384"/>
                <a:gd name="T29" fmla="*/ 2147483647 h 248"/>
                <a:gd name="T30" fmla="*/ 2147483647 w 384"/>
                <a:gd name="T31" fmla="*/ 2147483647 h 248"/>
                <a:gd name="T32" fmla="*/ 2147483647 w 384"/>
                <a:gd name="T33" fmla="*/ 2147483647 h 248"/>
                <a:gd name="T34" fmla="*/ 2147483647 w 384"/>
                <a:gd name="T35" fmla="*/ 2147483647 h 248"/>
                <a:gd name="T36" fmla="*/ 2147483647 w 384"/>
                <a:gd name="T37" fmla="*/ 2147483647 h 248"/>
                <a:gd name="T38" fmla="*/ 2147483647 w 384"/>
                <a:gd name="T39" fmla="*/ 2147483647 h 248"/>
                <a:gd name="T40" fmla="*/ 2147483647 w 384"/>
                <a:gd name="T41" fmla="*/ 2147483647 h 248"/>
                <a:gd name="T42" fmla="*/ 2147483647 w 384"/>
                <a:gd name="T43" fmla="*/ 2147483647 h 248"/>
                <a:gd name="T44" fmla="*/ 2147483647 w 384"/>
                <a:gd name="T45" fmla="*/ 2147483647 h 248"/>
                <a:gd name="T46" fmla="*/ 2147483647 w 384"/>
                <a:gd name="T47" fmla="*/ 0 h 248"/>
                <a:gd name="T48" fmla="*/ 0 w 384"/>
                <a:gd name="T49" fmla="*/ 0 h 248"/>
                <a:gd name="T50" fmla="*/ 2147483647 w 384"/>
                <a:gd name="T51" fmla="*/ 2147483647 h 248"/>
                <a:gd name="T52" fmla="*/ 2147483647 w 384"/>
                <a:gd name="T53" fmla="*/ 2147483647 h 248"/>
                <a:gd name="T54" fmla="*/ 2147483647 w 384"/>
                <a:gd name="T55" fmla="*/ 2147483647 h 248"/>
                <a:gd name="T56" fmla="*/ 2147483647 w 384"/>
                <a:gd name="T57" fmla="*/ 2147483647 h 248"/>
                <a:gd name="T58" fmla="*/ 2147483647 w 384"/>
                <a:gd name="T59" fmla="*/ 2147483647 h 248"/>
                <a:gd name="T60" fmla="*/ 2147483647 w 384"/>
                <a:gd name="T61" fmla="*/ 2147483647 h 248"/>
                <a:gd name="T62" fmla="*/ 2147483647 w 384"/>
                <a:gd name="T63" fmla="*/ 2147483647 h 248"/>
                <a:gd name="T64" fmla="*/ 2147483647 w 384"/>
                <a:gd name="T65" fmla="*/ 2147483647 h 248"/>
                <a:gd name="T66" fmla="*/ 2147483647 w 384"/>
                <a:gd name="T67" fmla="*/ 2147483647 h 248"/>
                <a:gd name="T68" fmla="*/ 2147483647 w 384"/>
                <a:gd name="T69" fmla="*/ 2147483647 h 248"/>
                <a:gd name="T70" fmla="*/ 2147483647 w 384"/>
                <a:gd name="T71" fmla="*/ 2147483647 h 248"/>
                <a:gd name="T72" fmla="*/ 2147483647 w 384"/>
                <a:gd name="T73" fmla="*/ 2147483647 h 248"/>
                <a:gd name="T74" fmla="*/ 2147483647 w 384"/>
                <a:gd name="T75" fmla="*/ 2147483647 h 248"/>
                <a:gd name="T76" fmla="*/ 2147483647 w 384"/>
                <a:gd name="T77" fmla="*/ 2147483647 h 248"/>
                <a:gd name="T78" fmla="*/ 2147483647 w 384"/>
                <a:gd name="T79" fmla="*/ 2147483647 h 248"/>
                <a:gd name="T80" fmla="*/ 2147483647 w 384"/>
                <a:gd name="T81" fmla="*/ 2147483647 h 248"/>
                <a:gd name="T82" fmla="*/ 2147483647 w 384"/>
                <a:gd name="T83" fmla="*/ 2147483647 h 248"/>
                <a:gd name="T84" fmla="*/ 2147483647 w 384"/>
                <a:gd name="T85" fmla="*/ 2147483647 h 248"/>
                <a:gd name="T86" fmla="*/ 2147483647 w 384"/>
                <a:gd name="T87" fmla="*/ 2147483647 h 248"/>
                <a:gd name="T88" fmla="*/ 2147483647 w 384"/>
                <a:gd name="T89" fmla="*/ 2147483647 h 248"/>
                <a:gd name="T90" fmla="*/ 2147483647 w 384"/>
                <a:gd name="T91" fmla="*/ 2147483647 h 248"/>
                <a:gd name="T92" fmla="*/ 2147483647 w 384"/>
                <a:gd name="T93" fmla="*/ 2147483647 h 248"/>
                <a:gd name="T94" fmla="*/ 2147483647 w 384"/>
                <a:gd name="T95" fmla="*/ 2147483647 h 248"/>
                <a:gd name="T96" fmla="*/ 2147483647 w 384"/>
                <a:gd name="T97" fmla="*/ 2147483647 h 248"/>
                <a:gd name="T98" fmla="*/ 2147483647 w 384"/>
                <a:gd name="T99" fmla="*/ 2147483647 h 248"/>
                <a:gd name="T100" fmla="*/ 2147483647 w 384"/>
                <a:gd name="T101" fmla="*/ 2147483647 h 248"/>
                <a:gd name="T102" fmla="*/ 2147483647 w 384"/>
                <a:gd name="T103" fmla="*/ 2147483647 h 248"/>
                <a:gd name="T104" fmla="*/ 2147483647 w 384"/>
                <a:gd name="T105" fmla="*/ 2147483647 h 248"/>
                <a:gd name="T106" fmla="*/ 2147483647 w 384"/>
                <a:gd name="T107" fmla="*/ 2147483647 h 248"/>
                <a:gd name="T108" fmla="*/ 2147483647 w 384"/>
                <a:gd name="T109" fmla="*/ 2147483647 h 24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84"/>
                <a:gd name="T166" fmla="*/ 0 h 248"/>
                <a:gd name="T167" fmla="*/ 384 w 384"/>
                <a:gd name="T168" fmla="*/ 248 h 24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84" h="248">
                  <a:moveTo>
                    <a:pt x="320" y="232"/>
                  </a:moveTo>
                  <a:lnTo>
                    <a:pt x="336" y="232"/>
                  </a:lnTo>
                  <a:lnTo>
                    <a:pt x="328" y="216"/>
                  </a:lnTo>
                  <a:lnTo>
                    <a:pt x="336" y="208"/>
                  </a:lnTo>
                  <a:lnTo>
                    <a:pt x="352" y="208"/>
                  </a:lnTo>
                  <a:lnTo>
                    <a:pt x="360" y="200"/>
                  </a:lnTo>
                  <a:lnTo>
                    <a:pt x="376" y="192"/>
                  </a:lnTo>
                  <a:lnTo>
                    <a:pt x="384" y="160"/>
                  </a:lnTo>
                  <a:lnTo>
                    <a:pt x="336" y="168"/>
                  </a:lnTo>
                  <a:lnTo>
                    <a:pt x="312" y="192"/>
                  </a:lnTo>
                  <a:lnTo>
                    <a:pt x="280" y="200"/>
                  </a:lnTo>
                  <a:lnTo>
                    <a:pt x="248" y="160"/>
                  </a:lnTo>
                  <a:lnTo>
                    <a:pt x="248" y="104"/>
                  </a:lnTo>
                  <a:lnTo>
                    <a:pt x="256" y="96"/>
                  </a:lnTo>
                  <a:lnTo>
                    <a:pt x="232" y="88"/>
                  </a:lnTo>
                  <a:lnTo>
                    <a:pt x="216" y="72"/>
                  </a:lnTo>
                  <a:lnTo>
                    <a:pt x="208" y="56"/>
                  </a:lnTo>
                  <a:lnTo>
                    <a:pt x="192" y="40"/>
                  </a:lnTo>
                  <a:lnTo>
                    <a:pt x="168" y="48"/>
                  </a:lnTo>
                  <a:lnTo>
                    <a:pt x="136" y="16"/>
                  </a:lnTo>
                  <a:lnTo>
                    <a:pt x="112" y="8"/>
                  </a:lnTo>
                  <a:lnTo>
                    <a:pt x="104" y="16"/>
                  </a:lnTo>
                  <a:lnTo>
                    <a:pt x="72" y="16"/>
                  </a:lnTo>
                  <a:lnTo>
                    <a:pt x="32" y="0"/>
                  </a:lnTo>
                  <a:lnTo>
                    <a:pt x="0" y="0"/>
                  </a:lnTo>
                  <a:lnTo>
                    <a:pt x="24" y="48"/>
                  </a:lnTo>
                  <a:lnTo>
                    <a:pt x="40" y="72"/>
                  </a:lnTo>
                  <a:lnTo>
                    <a:pt x="32" y="80"/>
                  </a:lnTo>
                  <a:lnTo>
                    <a:pt x="64" y="96"/>
                  </a:lnTo>
                  <a:lnTo>
                    <a:pt x="64" y="120"/>
                  </a:lnTo>
                  <a:lnTo>
                    <a:pt x="80" y="128"/>
                  </a:lnTo>
                  <a:lnTo>
                    <a:pt x="96" y="144"/>
                  </a:lnTo>
                  <a:lnTo>
                    <a:pt x="96" y="128"/>
                  </a:lnTo>
                  <a:lnTo>
                    <a:pt x="80" y="120"/>
                  </a:lnTo>
                  <a:lnTo>
                    <a:pt x="64" y="80"/>
                  </a:lnTo>
                  <a:lnTo>
                    <a:pt x="40" y="40"/>
                  </a:lnTo>
                  <a:lnTo>
                    <a:pt x="32" y="16"/>
                  </a:lnTo>
                  <a:lnTo>
                    <a:pt x="48" y="24"/>
                  </a:lnTo>
                  <a:lnTo>
                    <a:pt x="72" y="64"/>
                  </a:lnTo>
                  <a:lnTo>
                    <a:pt x="80" y="80"/>
                  </a:lnTo>
                  <a:lnTo>
                    <a:pt x="96" y="88"/>
                  </a:lnTo>
                  <a:lnTo>
                    <a:pt x="96" y="104"/>
                  </a:lnTo>
                  <a:lnTo>
                    <a:pt x="112" y="112"/>
                  </a:lnTo>
                  <a:lnTo>
                    <a:pt x="120" y="120"/>
                  </a:lnTo>
                  <a:lnTo>
                    <a:pt x="144" y="144"/>
                  </a:lnTo>
                  <a:lnTo>
                    <a:pt x="144" y="168"/>
                  </a:lnTo>
                  <a:lnTo>
                    <a:pt x="144" y="184"/>
                  </a:lnTo>
                  <a:lnTo>
                    <a:pt x="200" y="216"/>
                  </a:lnTo>
                  <a:lnTo>
                    <a:pt x="224" y="224"/>
                  </a:lnTo>
                  <a:lnTo>
                    <a:pt x="264" y="240"/>
                  </a:lnTo>
                  <a:lnTo>
                    <a:pt x="280" y="232"/>
                  </a:lnTo>
                  <a:lnTo>
                    <a:pt x="288" y="232"/>
                  </a:lnTo>
                  <a:lnTo>
                    <a:pt x="312" y="248"/>
                  </a:lnTo>
                  <a:lnTo>
                    <a:pt x="312" y="240"/>
                  </a:lnTo>
                  <a:lnTo>
                    <a:pt x="320" y="232"/>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56" name="Freeform 809"/>
            <p:cNvSpPr>
              <a:spLocks/>
            </p:cNvSpPr>
            <p:nvPr/>
          </p:nvSpPr>
          <p:spPr bwMode="auto">
            <a:xfrm>
              <a:off x="1647759" y="3458390"/>
              <a:ext cx="67574" cy="84900"/>
            </a:xfrm>
            <a:custGeom>
              <a:avLst/>
              <a:gdLst>
                <a:gd name="T0" fmla="*/ 2147483647 w 64"/>
                <a:gd name="T1" fmla="*/ 2147483647 h 80"/>
                <a:gd name="T2" fmla="*/ 2147483647 w 64"/>
                <a:gd name="T3" fmla="*/ 2147483647 h 80"/>
                <a:gd name="T4" fmla="*/ 2147483647 w 64"/>
                <a:gd name="T5" fmla="*/ 2147483647 h 80"/>
                <a:gd name="T6" fmla="*/ 2147483647 w 64"/>
                <a:gd name="T7" fmla="*/ 2147483647 h 80"/>
                <a:gd name="T8" fmla="*/ 2147483647 w 64"/>
                <a:gd name="T9" fmla="*/ 2147483647 h 80"/>
                <a:gd name="T10" fmla="*/ 2147483647 w 64"/>
                <a:gd name="T11" fmla="*/ 2147483647 h 80"/>
                <a:gd name="T12" fmla="*/ 2147483647 w 64"/>
                <a:gd name="T13" fmla="*/ 0 h 80"/>
                <a:gd name="T14" fmla="*/ 2147483647 w 64"/>
                <a:gd name="T15" fmla="*/ 2147483647 h 80"/>
                <a:gd name="T16" fmla="*/ 0 w 64"/>
                <a:gd name="T17" fmla="*/ 2147483647 h 80"/>
                <a:gd name="T18" fmla="*/ 2147483647 w 64"/>
                <a:gd name="T19" fmla="*/ 2147483647 h 80"/>
                <a:gd name="T20" fmla="*/ 0 w 64"/>
                <a:gd name="T21" fmla="*/ 2147483647 h 80"/>
                <a:gd name="T22" fmla="*/ 0 w 64"/>
                <a:gd name="T23" fmla="*/ 2147483647 h 80"/>
                <a:gd name="T24" fmla="*/ 2147483647 w 64"/>
                <a:gd name="T25" fmla="*/ 2147483647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80"/>
                <a:gd name="T41" fmla="*/ 64 w 64"/>
                <a:gd name="T42" fmla="*/ 80 h 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80">
                  <a:moveTo>
                    <a:pt x="16" y="80"/>
                  </a:moveTo>
                  <a:lnTo>
                    <a:pt x="32" y="64"/>
                  </a:lnTo>
                  <a:lnTo>
                    <a:pt x="40" y="56"/>
                  </a:lnTo>
                  <a:lnTo>
                    <a:pt x="56" y="40"/>
                  </a:lnTo>
                  <a:lnTo>
                    <a:pt x="64" y="24"/>
                  </a:lnTo>
                  <a:lnTo>
                    <a:pt x="48" y="16"/>
                  </a:lnTo>
                  <a:lnTo>
                    <a:pt x="16" y="0"/>
                  </a:lnTo>
                  <a:lnTo>
                    <a:pt x="16" y="8"/>
                  </a:lnTo>
                  <a:lnTo>
                    <a:pt x="0" y="48"/>
                  </a:lnTo>
                  <a:lnTo>
                    <a:pt x="8" y="64"/>
                  </a:lnTo>
                  <a:lnTo>
                    <a:pt x="0" y="64"/>
                  </a:lnTo>
                  <a:lnTo>
                    <a:pt x="0" y="72"/>
                  </a:lnTo>
                  <a:lnTo>
                    <a:pt x="16" y="80"/>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57" name="Freeform 810"/>
            <p:cNvSpPr>
              <a:spLocks/>
            </p:cNvSpPr>
            <p:nvPr/>
          </p:nvSpPr>
          <p:spPr bwMode="auto">
            <a:xfrm>
              <a:off x="1155683" y="3017428"/>
              <a:ext cx="407175" cy="262498"/>
            </a:xfrm>
            <a:custGeom>
              <a:avLst/>
              <a:gdLst>
                <a:gd name="T0" fmla="*/ 2147483647 w 384"/>
                <a:gd name="T1" fmla="*/ 2147483647 h 248"/>
                <a:gd name="T2" fmla="*/ 2147483647 w 384"/>
                <a:gd name="T3" fmla="*/ 2147483647 h 248"/>
                <a:gd name="T4" fmla="*/ 2147483647 w 384"/>
                <a:gd name="T5" fmla="*/ 2147483647 h 248"/>
                <a:gd name="T6" fmla="*/ 2147483647 w 384"/>
                <a:gd name="T7" fmla="*/ 2147483647 h 248"/>
                <a:gd name="T8" fmla="*/ 2147483647 w 384"/>
                <a:gd name="T9" fmla="*/ 2147483647 h 248"/>
                <a:gd name="T10" fmla="*/ 2147483647 w 384"/>
                <a:gd name="T11" fmla="*/ 2147483647 h 248"/>
                <a:gd name="T12" fmla="*/ 2147483647 w 384"/>
                <a:gd name="T13" fmla="*/ 2147483647 h 248"/>
                <a:gd name="T14" fmla="*/ 2147483647 w 384"/>
                <a:gd name="T15" fmla="*/ 2147483647 h 248"/>
                <a:gd name="T16" fmla="*/ 2147483647 w 384"/>
                <a:gd name="T17" fmla="*/ 2147483647 h 248"/>
                <a:gd name="T18" fmla="*/ 2147483647 w 384"/>
                <a:gd name="T19" fmla="*/ 2147483647 h 248"/>
                <a:gd name="T20" fmla="*/ 2147483647 w 384"/>
                <a:gd name="T21" fmla="*/ 2147483647 h 248"/>
                <a:gd name="T22" fmla="*/ 2147483647 w 384"/>
                <a:gd name="T23" fmla="*/ 2147483647 h 248"/>
                <a:gd name="T24" fmla="*/ 2147483647 w 384"/>
                <a:gd name="T25" fmla="*/ 2147483647 h 248"/>
                <a:gd name="T26" fmla="*/ 2147483647 w 384"/>
                <a:gd name="T27" fmla="*/ 2147483647 h 248"/>
                <a:gd name="T28" fmla="*/ 2147483647 w 384"/>
                <a:gd name="T29" fmla="*/ 2147483647 h 248"/>
                <a:gd name="T30" fmla="*/ 2147483647 w 384"/>
                <a:gd name="T31" fmla="*/ 2147483647 h 248"/>
                <a:gd name="T32" fmla="*/ 2147483647 w 384"/>
                <a:gd name="T33" fmla="*/ 2147483647 h 248"/>
                <a:gd name="T34" fmla="*/ 2147483647 w 384"/>
                <a:gd name="T35" fmla="*/ 2147483647 h 248"/>
                <a:gd name="T36" fmla="*/ 2147483647 w 384"/>
                <a:gd name="T37" fmla="*/ 2147483647 h 248"/>
                <a:gd name="T38" fmla="*/ 2147483647 w 384"/>
                <a:gd name="T39" fmla="*/ 2147483647 h 248"/>
                <a:gd name="T40" fmla="*/ 2147483647 w 384"/>
                <a:gd name="T41" fmla="*/ 2147483647 h 248"/>
                <a:gd name="T42" fmla="*/ 2147483647 w 384"/>
                <a:gd name="T43" fmla="*/ 2147483647 h 248"/>
                <a:gd name="T44" fmla="*/ 2147483647 w 384"/>
                <a:gd name="T45" fmla="*/ 2147483647 h 248"/>
                <a:gd name="T46" fmla="*/ 2147483647 w 384"/>
                <a:gd name="T47" fmla="*/ 2147483647 h 248"/>
                <a:gd name="T48" fmla="*/ 2147483647 w 384"/>
                <a:gd name="T49" fmla="*/ 0 h 248"/>
                <a:gd name="T50" fmla="*/ 0 w 384"/>
                <a:gd name="T51" fmla="*/ 0 h 248"/>
                <a:gd name="T52" fmla="*/ 2147483647 w 384"/>
                <a:gd name="T53" fmla="*/ 2147483647 h 248"/>
                <a:gd name="T54" fmla="*/ 2147483647 w 384"/>
                <a:gd name="T55" fmla="*/ 2147483647 h 248"/>
                <a:gd name="T56" fmla="*/ 2147483647 w 384"/>
                <a:gd name="T57" fmla="*/ 2147483647 h 248"/>
                <a:gd name="T58" fmla="*/ 2147483647 w 384"/>
                <a:gd name="T59" fmla="*/ 2147483647 h 248"/>
                <a:gd name="T60" fmla="*/ 2147483647 w 384"/>
                <a:gd name="T61" fmla="*/ 2147483647 h 248"/>
                <a:gd name="T62" fmla="*/ 2147483647 w 384"/>
                <a:gd name="T63" fmla="*/ 2147483647 h 248"/>
                <a:gd name="T64" fmla="*/ 2147483647 w 384"/>
                <a:gd name="T65" fmla="*/ 2147483647 h 248"/>
                <a:gd name="T66" fmla="*/ 2147483647 w 384"/>
                <a:gd name="T67" fmla="*/ 2147483647 h 248"/>
                <a:gd name="T68" fmla="*/ 2147483647 w 384"/>
                <a:gd name="T69" fmla="*/ 2147483647 h 248"/>
                <a:gd name="T70" fmla="*/ 2147483647 w 384"/>
                <a:gd name="T71" fmla="*/ 2147483647 h 248"/>
                <a:gd name="T72" fmla="*/ 2147483647 w 384"/>
                <a:gd name="T73" fmla="*/ 2147483647 h 248"/>
                <a:gd name="T74" fmla="*/ 2147483647 w 384"/>
                <a:gd name="T75" fmla="*/ 2147483647 h 248"/>
                <a:gd name="T76" fmla="*/ 2147483647 w 384"/>
                <a:gd name="T77" fmla="*/ 2147483647 h 248"/>
                <a:gd name="T78" fmla="*/ 2147483647 w 384"/>
                <a:gd name="T79" fmla="*/ 2147483647 h 248"/>
                <a:gd name="T80" fmla="*/ 2147483647 w 384"/>
                <a:gd name="T81" fmla="*/ 2147483647 h 248"/>
                <a:gd name="T82" fmla="*/ 2147483647 w 384"/>
                <a:gd name="T83" fmla="*/ 2147483647 h 248"/>
                <a:gd name="T84" fmla="*/ 2147483647 w 384"/>
                <a:gd name="T85" fmla="*/ 2147483647 h 248"/>
                <a:gd name="T86" fmla="*/ 2147483647 w 384"/>
                <a:gd name="T87" fmla="*/ 2147483647 h 248"/>
                <a:gd name="T88" fmla="*/ 2147483647 w 384"/>
                <a:gd name="T89" fmla="*/ 2147483647 h 248"/>
                <a:gd name="T90" fmla="*/ 2147483647 w 384"/>
                <a:gd name="T91" fmla="*/ 2147483647 h 248"/>
                <a:gd name="T92" fmla="*/ 2147483647 w 384"/>
                <a:gd name="T93" fmla="*/ 2147483647 h 248"/>
                <a:gd name="T94" fmla="*/ 2147483647 w 384"/>
                <a:gd name="T95" fmla="*/ 2147483647 h 248"/>
                <a:gd name="T96" fmla="*/ 2147483647 w 384"/>
                <a:gd name="T97" fmla="*/ 2147483647 h 248"/>
                <a:gd name="T98" fmla="*/ 2147483647 w 384"/>
                <a:gd name="T99" fmla="*/ 2147483647 h 248"/>
                <a:gd name="T100" fmla="*/ 2147483647 w 384"/>
                <a:gd name="T101" fmla="*/ 2147483647 h 248"/>
                <a:gd name="T102" fmla="*/ 2147483647 w 384"/>
                <a:gd name="T103" fmla="*/ 2147483647 h 248"/>
                <a:gd name="T104" fmla="*/ 2147483647 w 384"/>
                <a:gd name="T105" fmla="*/ 2147483647 h 248"/>
                <a:gd name="T106" fmla="*/ 2147483647 w 384"/>
                <a:gd name="T107" fmla="*/ 2147483647 h 248"/>
                <a:gd name="T108" fmla="*/ 2147483647 w 384"/>
                <a:gd name="T109" fmla="*/ 2147483647 h 248"/>
                <a:gd name="T110" fmla="*/ 2147483647 w 384"/>
                <a:gd name="T111" fmla="*/ 2147483647 h 2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84"/>
                <a:gd name="T169" fmla="*/ 0 h 248"/>
                <a:gd name="T170" fmla="*/ 384 w 384"/>
                <a:gd name="T171" fmla="*/ 248 h 2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84" h="248">
                  <a:moveTo>
                    <a:pt x="320" y="232"/>
                  </a:moveTo>
                  <a:lnTo>
                    <a:pt x="336" y="232"/>
                  </a:lnTo>
                  <a:lnTo>
                    <a:pt x="328" y="216"/>
                  </a:lnTo>
                  <a:lnTo>
                    <a:pt x="336" y="208"/>
                  </a:lnTo>
                  <a:lnTo>
                    <a:pt x="352" y="208"/>
                  </a:lnTo>
                  <a:lnTo>
                    <a:pt x="360" y="200"/>
                  </a:lnTo>
                  <a:lnTo>
                    <a:pt x="376" y="192"/>
                  </a:lnTo>
                  <a:lnTo>
                    <a:pt x="384" y="160"/>
                  </a:lnTo>
                  <a:lnTo>
                    <a:pt x="336" y="168"/>
                  </a:lnTo>
                  <a:lnTo>
                    <a:pt x="312" y="192"/>
                  </a:lnTo>
                  <a:lnTo>
                    <a:pt x="280" y="200"/>
                  </a:lnTo>
                  <a:lnTo>
                    <a:pt x="248" y="160"/>
                  </a:lnTo>
                  <a:lnTo>
                    <a:pt x="248" y="104"/>
                  </a:lnTo>
                  <a:lnTo>
                    <a:pt x="256" y="96"/>
                  </a:lnTo>
                  <a:lnTo>
                    <a:pt x="232" y="88"/>
                  </a:lnTo>
                  <a:lnTo>
                    <a:pt x="216" y="72"/>
                  </a:lnTo>
                  <a:lnTo>
                    <a:pt x="208" y="56"/>
                  </a:lnTo>
                  <a:lnTo>
                    <a:pt x="192" y="40"/>
                  </a:lnTo>
                  <a:lnTo>
                    <a:pt x="168" y="48"/>
                  </a:lnTo>
                  <a:lnTo>
                    <a:pt x="136" y="16"/>
                  </a:lnTo>
                  <a:lnTo>
                    <a:pt x="112" y="8"/>
                  </a:lnTo>
                  <a:lnTo>
                    <a:pt x="104" y="16"/>
                  </a:lnTo>
                  <a:lnTo>
                    <a:pt x="72" y="16"/>
                  </a:lnTo>
                  <a:lnTo>
                    <a:pt x="32" y="0"/>
                  </a:lnTo>
                  <a:lnTo>
                    <a:pt x="0" y="0"/>
                  </a:lnTo>
                  <a:lnTo>
                    <a:pt x="24" y="48"/>
                  </a:lnTo>
                  <a:lnTo>
                    <a:pt x="40" y="72"/>
                  </a:lnTo>
                  <a:lnTo>
                    <a:pt x="32" y="80"/>
                  </a:lnTo>
                  <a:lnTo>
                    <a:pt x="64" y="96"/>
                  </a:lnTo>
                  <a:lnTo>
                    <a:pt x="64" y="120"/>
                  </a:lnTo>
                  <a:lnTo>
                    <a:pt x="80" y="128"/>
                  </a:lnTo>
                  <a:lnTo>
                    <a:pt x="96" y="144"/>
                  </a:lnTo>
                  <a:lnTo>
                    <a:pt x="96" y="128"/>
                  </a:lnTo>
                  <a:lnTo>
                    <a:pt x="80" y="120"/>
                  </a:lnTo>
                  <a:lnTo>
                    <a:pt x="64" y="80"/>
                  </a:lnTo>
                  <a:lnTo>
                    <a:pt x="40" y="40"/>
                  </a:lnTo>
                  <a:lnTo>
                    <a:pt x="32" y="16"/>
                  </a:lnTo>
                  <a:lnTo>
                    <a:pt x="48" y="24"/>
                  </a:lnTo>
                  <a:lnTo>
                    <a:pt x="72" y="64"/>
                  </a:lnTo>
                  <a:lnTo>
                    <a:pt x="80" y="80"/>
                  </a:lnTo>
                  <a:lnTo>
                    <a:pt x="96" y="88"/>
                  </a:lnTo>
                  <a:lnTo>
                    <a:pt x="96" y="104"/>
                  </a:lnTo>
                  <a:lnTo>
                    <a:pt x="112" y="112"/>
                  </a:lnTo>
                  <a:lnTo>
                    <a:pt x="120" y="120"/>
                  </a:lnTo>
                  <a:lnTo>
                    <a:pt x="144" y="144"/>
                  </a:lnTo>
                  <a:lnTo>
                    <a:pt x="144" y="168"/>
                  </a:lnTo>
                  <a:lnTo>
                    <a:pt x="144" y="184"/>
                  </a:lnTo>
                  <a:lnTo>
                    <a:pt x="200" y="216"/>
                  </a:lnTo>
                  <a:lnTo>
                    <a:pt x="224" y="224"/>
                  </a:lnTo>
                  <a:lnTo>
                    <a:pt x="264" y="240"/>
                  </a:lnTo>
                  <a:lnTo>
                    <a:pt x="280" y="232"/>
                  </a:lnTo>
                  <a:lnTo>
                    <a:pt x="288" y="232"/>
                  </a:lnTo>
                  <a:lnTo>
                    <a:pt x="312" y="248"/>
                  </a:lnTo>
                  <a:lnTo>
                    <a:pt x="312" y="240"/>
                  </a:lnTo>
                  <a:lnTo>
                    <a:pt x="320" y="232"/>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sp>
          <p:nvSpPr>
            <p:cNvPr id="258" name="Freeform 778"/>
            <p:cNvSpPr>
              <a:spLocks/>
            </p:cNvSpPr>
            <p:nvPr/>
          </p:nvSpPr>
          <p:spPr bwMode="auto">
            <a:xfrm>
              <a:off x="836874" y="2067064"/>
              <a:ext cx="1145288" cy="789226"/>
            </a:xfrm>
            <a:custGeom>
              <a:avLst/>
              <a:gdLst>
                <a:gd name="T0" fmla="*/ 2147483647 w 1080"/>
                <a:gd name="T1" fmla="*/ 2147483647 h 744"/>
                <a:gd name="T2" fmla="*/ 2147483647 w 1080"/>
                <a:gd name="T3" fmla="*/ 2147483647 h 744"/>
                <a:gd name="T4" fmla="*/ 2147483647 w 1080"/>
                <a:gd name="T5" fmla="*/ 2147483647 h 744"/>
                <a:gd name="T6" fmla="*/ 2147483647 w 1080"/>
                <a:gd name="T7" fmla="*/ 2147483647 h 744"/>
                <a:gd name="T8" fmla="*/ 2147483647 w 1080"/>
                <a:gd name="T9" fmla="*/ 2147483647 h 744"/>
                <a:gd name="T10" fmla="*/ 2147483647 w 1080"/>
                <a:gd name="T11" fmla="*/ 2147483647 h 744"/>
                <a:gd name="T12" fmla="*/ 2147483647 w 1080"/>
                <a:gd name="T13" fmla="*/ 2147483647 h 744"/>
                <a:gd name="T14" fmla="*/ 2147483647 w 1080"/>
                <a:gd name="T15" fmla="*/ 2147483647 h 744"/>
                <a:gd name="T16" fmla="*/ 2147483647 w 1080"/>
                <a:gd name="T17" fmla="*/ 2147483647 h 744"/>
                <a:gd name="T18" fmla="*/ 2147483647 w 1080"/>
                <a:gd name="T19" fmla="*/ 2147483647 h 744"/>
                <a:gd name="T20" fmla="*/ 2147483647 w 1080"/>
                <a:gd name="T21" fmla="*/ 2147483647 h 744"/>
                <a:gd name="T22" fmla="*/ 2147483647 w 1080"/>
                <a:gd name="T23" fmla="*/ 2147483647 h 744"/>
                <a:gd name="T24" fmla="*/ 2147483647 w 1080"/>
                <a:gd name="T25" fmla="*/ 2147483647 h 744"/>
                <a:gd name="T26" fmla="*/ 2147483647 w 1080"/>
                <a:gd name="T27" fmla="*/ 2147483647 h 744"/>
                <a:gd name="T28" fmla="*/ 2147483647 w 1080"/>
                <a:gd name="T29" fmla="*/ 2147483647 h 744"/>
                <a:gd name="T30" fmla="*/ 2147483647 w 1080"/>
                <a:gd name="T31" fmla="*/ 2147483647 h 744"/>
                <a:gd name="T32" fmla="*/ 2147483647 w 1080"/>
                <a:gd name="T33" fmla="*/ 2147483647 h 744"/>
                <a:gd name="T34" fmla="*/ 2147483647 w 1080"/>
                <a:gd name="T35" fmla="*/ 2147483647 h 744"/>
                <a:gd name="T36" fmla="*/ 2147483647 w 1080"/>
                <a:gd name="T37" fmla="*/ 2147483647 h 744"/>
                <a:gd name="T38" fmla="*/ 2147483647 w 1080"/>
                <a:gd name="T39" fmla="*/ 2147483647 h 744"/>
                <a:gd name="T40" fmla="*/ 2147483647 w 1080"/>
                <a:gd name="T41" fmla="*/ 2147483647 h 744"/>
                <a:gd name="T42" fmla="*/ 2147483647 w 1080"/>
                <a:gd name="T43" fmla="*/ 2147483647 h 744"/>
                <a:gd name="T44" fmla="*/ 2147483647 w 1080"/>
                <a:gd name="T45" fmla="*/ 2147483647 h 744"/>
                <a:gd name="T46" fmla="*/ 2147483647 w 1080"/>
                <a:gd name="T47" fmla="*/ 2147483647 h 744"/>
                <a:gd name="T48" fmla="*/ 2147483647 w 1080"/>
                <a:gd name="T49" fmla="*/ 2147483647 h 744"/>
                <a:gd name="T50" fmla="*/ 2147483647 w 1080"/>
                <a:gd name="T51" fmla="*/ 2147483647 h 744"/>
                <a:gd name="T52" fmla="*/ 2147483647 w 1080"/>
                <a:gd name="T53" fmla="*/ 2147483647 h 744"/>
                <a:gd name="T54" fmla="*/ 2147483647 w 1080"/>
                <a:gd name="T55" fmla="*/ 2147483647 h 744"/>
                <a:gd name="T56" fmla="*/ 2147483647 w 1080"/>
                <a:gd name="T57" fmla="*/ 2147483647 h 744"/>
                <a:gd name="T58" fmla="*/ 2147483647 w 1080"/>
                <a:gd name="T59" fmla="*/ 2147483647 h 744"/>
                <a:gd name="T60" fmla="*/ 2147483647 w 1080"/>
                <a:gd name="T61" fmla="*/ 2147483647 h 744"/>
                <a:gd name="T62" fmla="*/ 2147483647 w 1080"/>
                <a:gd name="T63" fmla="*/ 2147483647 h 744"/>
                <a:gd name="T64" fmla="*/ 2147483647 w 1080"/>
                <a:gd name="T65" fmla="*/ 2147483647 h 744"/>
                <a:gd name="T66" fmla="*/ 2147483647 w 1080"/>
                <a:gd name="T67" fmla="*/ 2147483647 h 744"/>
                <a:gd name="T68" fmla="*/ 2147483647 w 1080"/>
                <a:gd name="T69" fmla="*/ 2147483647 h 744"/>
                <a:gd name="T70" fmla="*/ 2147483647 w 1080"/>
                <a:gd name="T71" fmla="*/ 2147483647 h 744"/>
                <a:gd name="T72" fmla="*/ 2147483647 w 1080"/>
                <a:gd name="T73" fmla="*/ 2147483647 h 744"/>
                <a:gd name="T74" fmla="*/ 2147483647 w 1080"/>
                <a:gd name="T75" fmla="*/ 2147483647 h 744"/>
                <a:gd name="T76" fmla="*/ 2147483647 w 1080"/>
                <a:gd name="T77" fmla="*/ 2147483647 h 744"/>
                <a:gd name="T78" fmla="*/ 2147483647 w 1080"/>
                <a:gd name="T79" fmla="*/ 2147483647 h 744"/>
                <a:gd name="T80" fmla="*/ 2147483647 w 1080"/>
                <a:gd name="T81" fmla="*/ 0 h 744"/>
                <a:gd name="T82" fmla="*/ 2147483647 w 1080"/>
                <a:gd name="T83" fmla="*/ 2147483647 h 744"/>
                <a:gd name="T84" fmla="*/ 2147483647 w 1080"/>
                <a:gd name="T85" fmla="*/ 2147483647 h 744"/>
                <a:gd name="T86" fmla="*/ 2147483647 w 1080"/>
                <a:gd name="T87" fmla="*/ 2147483647 h 744"/>
                <a:gd name="T88" fmla="*/ 2147483647 w 1080"/>
                <a:gd name="T89" fmla="*/ 2147483647 h 744"/>
                <a:gd name="T90" fmla="*/ 2147483647 w 1080"/>
                <a:gd name="T91" fmla="*/ 2147483647 h 744"/>
                <a:gd name="T92" fmla="*/ 2147483647 w 1080"/>
                <a:gd name="T93" fmla="*/ 2147483647 h 744"/>
                <a:gd name="T94" fmla="*/ 2147483647 w 1080"/>
                <a:gd name="T95" fmla="*/ 2147483647 h 744"/>
                <a:gd name="T96" fmla="*/ 2147483647 w 1080"/>
                <a:gd name="T97" fmla="*/ 2147483647 h 744"/>
                <a:gd name="T98" fmla="*/ 2147483647 w 1080"/>
                <a:gd name="T99" fmla="*/ 2147483647 h 744"/>
                <a:gd name="T100" fmla="*/ 2147483647 w 1080"/>
                <a:gd name="T101" fmla="*/ 2147483647 h 744"/>
                <a:gd name="T102" fmla="*/ 2147483647 w 1080"/>
                <a:gd name="T103" fmla="*/ 2147483647 h 744"/>
                <a:gd name="T104" fmla="*/ 2147483647 w 1080"/>
                <a:gd name="T105" fmla="*/ 2147483647 h 744"/>
                <a:gd name="T106" fmla="*/ 2147483647 w 1080"/>
                <a:gd name="T107" fmla="*/ 2147483647 h 744"/>
                <a:gd name="T108" fmla="*/ 2147483647 w 1080"/>
                <a:gd name="T109" fmla="*/ 2147483647 h 744"/>
                <a:gd name="T110" fmla="*/ 0 w 1080"/>
                <a:gd name="T111" fmla="*/ 2147483647 h 744"/>
                <a:gd name="T112" fmla="*/ 2147483647 w 1080"/>
                <a:gd name="T113" fmla="*/ 2147483647 h 744"/>
                <a:gd name="T114" fmla="*/ 2147483647 w 1080"/>
                <a:gd name="T115" fmla="*/ 2147483647 h 744"/>
                <a:gd name="T116" fmla="*/ 2147483647 w 1080"/>
                <a:gd name="T117" fmla="*/ 2147483647 h 744"/>
                <a:gd name="T118" fmla="*/ 2147483647 w 1080"/>
                <a:gd name="T119" fmla="*/ 2147483647 h 744"/>
                <a:gd name="T120" fmla="*/ 2147483647 w 1080"/>
                <a:gd name="T121" fmla="*/ 2147483647 h 744"/>
                <a:gd name="T122" fmla="*/ 2147483647 w 1080"/>
                <a:gd name="T123" fmla="*/ 2147483647 h 74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080"/>
                <a:gd name="T187" fmla="*/ 0 h 744"/>
                <a:gd name="T188" fmla="*/ 1080 w 1080"/>
                <a:gd name="T189" fmla="*/ 744 h 74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080" h="744">
                  <a:moveTo>
                    <a:pt x="624" y="632"/>
                  </a:moveTo>
                  <a:lnTo>
                    <a:pt x="648" y="640"/>
                  </a:lnTo>
                  <a:lnTo>
                    <a:pt x="720" y="672"/>
                  </a:lnTo>
                  <a:lnTo>
                    <a:pt x="744" y="720"/>
                  </a:lnTo>
                  <a:lnTo>
                    <a:pt x="744" y="744"/>
                  </a:lnTo>
                  <a:lnTo>
                    <a:pt x="792" y="728"/>
                  </a:lnTo>
                  <a:lnTo>
                    <a:pt x="824" y="704"/>
                  </a:lnTo>
                  <a:lnTo>
                    <a:pt x="840" y="704"/>
                  </a:lnTo>
                  <a:lnTo>
                    <a:pt x="880" y="696"/>
                  </a:lnTo>
                  <a:lnTo>
                    <a:pt x="912" y="656"/>
                  </a:lnTo>
                  <a:lnTo>
                    <a:pt x="928" y="656"/>
                  </a:lnTo>
                  <a:lnTo>
                    <a:pt x="936" y="696"/>
                  </a:lnTo>
                  <a:lnTo>
                    <a:pt x="952" y="688"/>
                  </a:lnTo>
                  <a:lnTo>
                    <a:pt x="968" y="688"/>
                  </a:lnTo>
                  <a:lnTo>
                    <a:pt x="960" y="704"/>
                  </a:lnTo>
                  <a:lnTo>
                    <a:pt x="968" y="720"/>
                  </a:lnTo>
                  <a:lnTo>
                    <a:pt x="1000" y="688"/>
                  </a:lnTo>
                  <a:lnTo>
                    <a:pt x="1016" y="672"/>
                  </a:lnTo>
                  <a:lnTo>
                    <a:pt x="976" y="672"/>
                  </a:lnTo>
                  <a:lnTo>
                    <a:pt x="960" y="648"/>
                  </a:lnTo>
                  <a:lnTo>
                    <a:pt x="976" y="632"/>
                  </a:lnTo>
                  <a:lnTo>
                    <a:pt x="976" y="616"/>
                  </a:lnTo>
                  <a:lnTo>
                    <a:pt x="920" y="632"/>
                  </a:lnTo>
                  <a:lnTo>
                    <a:pt x="896" y="656"/>
                  </a:lnTo>
                  <a:lnTo>
                    <a:pt x="904" y="624"/>
                  </a:lnTo>
                  <a:lnTo>
                    <a:pt x="936" y="608"/>
                  </a:lnTo>
                  <a:lnTo>
                    <a:pt x="952" y="592"/>
                  </a:lnTo>
                  <a:lnTo>
                    <a:pt x="1000" y="600"/>
                  </a:lnTo>
                  <a:lnTo>
                    <a:pt x="1032" y="592"/>
                  </a:lnTo>
                  <a:lnTo>
                    <a:pt x="1064" y="576"/>
                  </a:lnTo>
                  <a:lnTo>
                    <a:pt x="1080" y="560"/>
                  </a:lnTo>
                  <a:lnTo>
                    <a:pt x="1064" y="520"/>
                  </a:lnTo>
                  <a:lnTo>
                    <a:pt x="1064" y="496"/>
                  </a:lnTo>
                  <a:lnTo>
                    <a:pt x="1008" y="472"/>
                  </a:lnTo>
                  <a:lnTo>
                    <a:pt x="1008" y="456"/>
                  </a:lnTo>
                  <a:lnTo>
                    <a:pt x="968" y="368"/>
                  </a:lnTo>
                  <a:lnTo>
                    <a:pt x="952" y="408"/>
                  </a:lnTo>
                  <a:lnTo>
                    <a:pt x="928" y="416"/>
                  </a:lnTo>
                  <a:lnTo>
                    <a:pt x="920" y="408"/>
                  </a:lnTo>
                  <a:lnTo>
                    <a:pt x="904" y="408"/>
                  </a:lnTo>
                  <a:lnTo>
                    <a:pt x="904" y="352"/>
                  </a:lnTo>
                  <a:lnTo>
                    <a:pt x="880" y="344"/>
                  </a:lnTo>
                  <a:lnTo>
                    <a:pt x="864" y="320"/>
                  </a:lnTo>
                  <a:lnTo>
                    <a:pt x="840" y="320"/>
                  </a:lnTo>
                  <a:lnTo>
                    <a:pt x="816" y="312"/>
                  </a:lnTo>
                  <a:lnTo>
                    <a:pt x="800" y="320"/>
                  </a:lnTo>
                  <a:lnTo>
                    <a:pt x="800" y="336"/>
                  </a:lnTo>
                  <a:lnTo>
                    <a:pt x="800" y="360"/>
                  </a:lnTo>
                  <a:lnTo>
                    <a:pt x="800" y="400"/>
                  </a:lnTo>
                  <a:lnTo>
                    <a:pt x="792" y="416"/>
                  </a:lnTo>
                  <a:lnTo>
                    <a:pt x="816" y="464"/>
                  </a:lnTo>
                  <a:lnTo>
                    <a:pt x="776" y="504"/>
                  </a:lnTo>
                  <a:lnTo>
                    <a:pt x="784" y="560"/>
                  </a:lnTo>
                  <a:lnTo>
                    <a:pt x="768" y="576"/>
                  </a:lnTo>
                  <a:lnTo>
                    <a:pt x="752" y="568"/>
                  </a:lnTo>
                  <a:lnTo>
                    <a:pt x="744" y="496"/>
                  </a:lnTo>
                  <a:lnTo>
                    <a:pt x="704" y="488"/>
                  </a:lnTo>
                  <a:lnTo>
                    <a:pt x="632" y="448"/>
                  </a:lnTo>
                  <a:lnTo>
                    <a:pt x="616" y="448"/>
                  </a:lnTo>
                  <a:lnTo>
                    <a:pt x="600" y="408"/>
                  </a:lnTo>
                  <a:lnTo>
                    <a:pt x="592" y="400"/>
                  </a:lnTo>
                  <a:lnTo>
                    <a:pt x="624" y="304"/>
                  </a:lnTo>
                  <a:lnTo>
                    <a:pt x="640" y="280"/>
                  </a:lnTo>
                  <a:lnTo>
                    <a:pt x="664" y="272"/>
                  </a:lnTo>
                  <a:lnTo>
                    <a:pt x="672" y="272"/>
                  </a:lnTo>
                  <a:lnTo>
                    <a:pt x="688" y="232"/>
                  </a:lnTo>
                  <a:lnTo>
                    <a:pt x="696" y="200"/>
                  </a:lnTo>
                  <a:lnTo>
                    <a:pt x="736" y="192"/>
                  </a:lnTo>
                  <a:lnTo>
                    <a:pt x="752" y="176"/>
                  </a:lnTo>
                  <a:lnTo>
                    <a:pt x="744" y="136"/>
                  </a:lnTo>
                  <a:lnTo>
                    <a:pt x="752" y="112"/>
                  </a:lnTo>
                  <a:lnTo>
                    <a:pt x="736" y="96"/>
                  </a:lnTo>
                  <a:lnTo>
                    <a:pt x="712" y="88"/>
                  </a:lnTo>
                  <a:lnTo>
                    <a:pt x="704" y="128"/>
                  </a:lnTo>
                  <a:lnTo>
                    <a:pt x="680" y="168"/>
                  </a:lnTo>
                  <a:lnTo>
                    <a:pt x="672" y="120"/>
                  </a:lnTo>
                  <a:lnTo>
                    <a:pt x="656" y="104"/>
                  </a:lnTo>
                  <a:lnTo>
                    <a:pt x="640" y="128"/>
                  </a:lnTo>
                  <a:lnTo>
                    <a:pt x="632" y="104"/>
                  </a:lnTo>
                  <a:lnTo>
                    <a:pt x="616" y="80"/>
                  </a:lnTo>
                  <a:lnTo>
                    <a:pt x="608" y="40"/>
                  </a:lnTo>
                  <a:lnTo>
                    <a:pt x="584" y="0"/>
                  </a:lnTo>
                  <a:lnTo>
                    <a:pt x="568" y="56"/>
                  </a:lnTo>
                  <a:lnTo>
                    <a:pt x="568" y="80"/>
                  </a:lnTo>
                  <a:lnTo>
                    <a:pt x="592" y="104"/>
                  </a:lnTo>
                  <a:lnTo>
                    <a:pt x="600" y="128"/>
                  </a:lnTo>
                  <a:lnTo>
                    <a:pt x="576" y="144"/>
                  </a:lnTo>
                  <a:lnTo>
                    <a:pt x="568" y="136"/>
                  </a:lnTo>
                  <a:lnTo>
                    <a:pt x="552" y="136"/>
                  </a:lnTo>
                  <a:lnTo>
                    <a:pt x="544" y="160"/>
                  </a:lnTo>
                  <a:lnTo>
                    <a:pt x="512" y="152"/>
                  </a:lnTo>
                  <a:lnTo>
                    <a:pt x="472" y="152"/>
                  </a:lnTo>
                  <a:lnTo>
                    <a:pt x="448" y="136"/>
                  </a:lnTo>
                  <a:lnTo>
                    <a:pt x="416" y="144"/>
                  </a:lnTo>
                  <a:lnTo>
                    <a:pt x="416" y="152"/>
                  </a:lnTo>
                  <a:lnTo>
                    <a:pt x="424" y="176"/>
                  </a:lnTo>
                  <a:lnTo>
                    <a:pt x="408" y="176"/>
                  </a:lnTo>
                  <a:lnTo>
                    <a:pt x="392" y="152"/>
                  </a:lnTo>
                  <a:lnTo>
                    <a:pt x="344" y="160"/>
                  </a:lnTo>
                  <a:lnTo>
                    <a:pt x="328" y="144"/>
                  </a:lnTo>
                  <a:lnTo>
                    <a:pt x="336" y="128"/>
                  </a:lnTo>
                  <a:lnTo>
                    <a:pt x="304" y="120"/>
                  </a:lnTo>
                  <a:lnTo>
                    <a:pt x="272" y="104"/>
                  </a:lnTo>
                  <a:lnTo>
                    <a:pt x="232" y="88"/>
                  </a:lnTo>
                  <a:lnTo>
                    <a:pt x="200" y="96"/>
                  </a:lnTo>
                  <a:lnTo>
                    <a:pt x="176" y="64"/>
                  </a:lnTo>
                  <a:lnTo>
                    <a:pt x="96" y="104"/>
                  </a:lnTo>
                  <a:lnTo>
                    <a:pt x="80" y="120"/>
                  </a:lnTo>
                  <a:lnTo>
                    <a:pt x="48" y="112"/>
                  </a:lnTo>
                  <a:lnTo>
                    <a:pt x="24" y="96"/>
                  </a:lnTo>
                  <a:lnTo>
                    <a:pt x="0" y="88"/>
                  </a:lnTo>
                  <a:lnTo>
                    <a:pt x="0" y="368"/>
                  </a:lnTo>
                  <a:lnTo>
                    <a:pt x="40" y="392"/>
                  </a:lnTo>
                  <a:lnTo>
                    <a:pt x="72" y="376"/>
                  </a:lnTo>
                  <a:lnTo>
                    <a:pt x="120" y="456"/>
                  </a:lnTo>
                  <a:lnTo>
                    <a:pt x="144" y="472"/>
                  </a:lnTo>
                  <a:lnTo>
                    <a:pt x="144" y="504"/>
                  </a:lnTo>
                  <a:lnTo>
                    <a:pt x="152" y="528"/>
                  </a:lnTo>
                  <a:lnTo>
                    <a:pt x="184" y="576"/>
                  </a:lnTo>
                  <a:lnTo>
                    <a:pt x="232" y="600"/>
                  </a:lnTo>
                  <a:lnTo>
                    <a:pt x="232" y="624"/>
                  </a:lnTo>
                  <a:lnTo>
                    <a:pt x="584" y="624"/>
                  </a:lnTo>
                  <a:lnTo>
                    <a:pt x="624" y="632"/>
                  </a:lnTo>
                  <a:close/>
                </a:path>
              </a:pathLst>
            </a:custGeom>
            <a:grpFill/>
            <a:ln w="3175" cmpd="sng">
              <a:noFill/>
              <a:miter lim="800000"/>
              <a:headEnd/>
              <a:tailEnd/>
            </a:ln>
          </p:spPr>
          <p:txBody>
            <a:bodyPr/>
            <a:lstStyle/>
            <a:p>
              <a:pPr defTabSz="1219048"/>
              <a:endParaRPr lang="zh-CN" altLang="en-US" sz="3200">
                <a:solidFill>
                  <a:prstClr val="black"/>
                </a:solidFill>
                <a:latin typeface="Century Gothic"/>
                <a:ea typeface="微软雅黑" panose="020B0503020204020204" pitchFamily="34" charset="-122"/>
              </a:endParaRPr>
            </a:p>
          </p:txBody>
        </p:sp>
      </p:grpSp>
      <p:cxnSp>
        <p:nvCxnSpPr>
          <p:cNvPr id="4" name="直接连接符 3"/>
          <p:cNvCxnSpPr/>
          <p:nvPr userDrawn="1"/>
        </p:nvCxnSpPr>
        <p:spPr>
          <a:xfrm>
            <a:off x="558800" y="491067"/>
            <a:ext cx="320886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占位符 8"/>
          <p:cNvSpPr>
            <a:spLocks noGrp="1"/>
          </p:cNvSpPr>
          <p:nvPr>
            <p:ph type="body" sz="quarter" idx="10" hasCustomPrompt="1"/>
          </p:nvPr>
        </p:nvSpPr>
        <p:spPr>
          <a:xfrm>
            <a:off x="558800" y="719582"/>
            <a:ext cx="3157037" cy="887620"/>
          </a:xfrm>
          <a:prstGeom prst="rect">
            <a:avLst/>
          </a:prstGeom>
        </p:spPr>
        <p:txBody>
          <a:bodyPr/>
          <a:lstStyle>
            <a:lvl1pPr marL="0" indent="0" algn="l">
              <a:buNone/>
              <a:defRPr sz="5400" b="1">
                <a:solidFill>
                  <a:schemeClr val="tx1">
                    <a:lumMod val="85000"/>
                    <a:lumOff val="15000"/>
                  </a:schemeClr>
                </a:solidFill>
              </a:defRPr>
            </a:lvl1pPr>
          </a:lstStyle>
          <a:p>
            <a:pPr lvl="0"/>
            <a:r>
              <a:rPr lang="zh-CN" altLang="en-US" dirty="0"/>
              <a:t>输入标题</a:t>
            </a:r>
          </a:p>
        </p:txBody>
      </p:sp>
      <p:sp>
        <p:nvSpPr>
          <p:cNvPr id="8" name="文本占位符 8"/>
          <p:cNvSpPr>
            <a:spLocks noGrp="1"/>
          </p:cNvSpPr>
          <p:nvPr>
            <p:ph type="body" sz="quarter" idx="11" hasCustomPrompt="1"/>
          </p:nvPr>
        </p:nvSpPr>
        <p:spPr>
          <a:xfrm>
            <a:off x="558800" y="1615584"/>
            <a:ext cx="3157037" cy="475683"/>
          </a:xfrm>
          <a:prstGeom prst="rect">
            <a:avLst/>
          </a:prstGeom>
        </p:spPr>
        <p:txBody>
          <a:bodyPr/>
          <a:lstStyle>
            <a:lvl1pPr marL="0" indent="0" algn="l">
              <a:buNone/>
              <a:defRPr sz="2800" b="0">
                <a:solidFill>
                  <a:schemeClr val="tx1">
                    <a:lumMod val="85000"/>
                    <a:lumOff val="15000"/>
                  </a:schemeClr>
                </a:solidFill>
              </a:defRPr>
            </a:lvl1pPr>
          </a:lstStyle>
          <a:p>
            <a:pPr lvl="0"/>
            <a:r>
              <a:rPr lang="en-US" altLang="zh-CN" dirty="0"/>
              <a:t>Add text</a:t>
            </a:r>
            <a:endParaRPr lang="zh-CN" altLang="en-US" dirty="0"/>
          </a:p>
        </p:txBody>
      </p:sp>
    </p:spTree>
    <p:extLst>
      <p:ext uri="{BB962C8B-B14F-4D97-AF65-F5344CB8AC3E}">
        <p14:creationId xmlns:p14="http://schemas.microsoft.com/office/powerpoint/2010/main" val="66898638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容页6">
    <p:bg>
      <p:bgPr>
        <a:gradFill flip="none" rotWithShape="1">
          <a:gsLst>
            <a:gs pos="0">
              <a:schemeClr val="bg1">
                <a:tint val="93000"/>
                <a:satMod val="150000"/>
                <a:shade val="98000"/>
                <a:lumMod val="102000"/>
              </a:schemeClr>
            </a:gs>
            <a:gs pos="23000">
              <a:schemeClr val="bg1">
                <a:tint val="98000"/>
                <a:satMod val="130000"/>
                <a:shade val="90000"/>
                <a:lumMod val="103000"/>
              </a:schemeClr>
            </a:gs>
            <a:gs pos="100000">
              <a:schemeClr val="bg1">
                <a:lumMod val="85000"/>
              </a:schemeClr>
            </a:gs>
          </a:gsLst>
          <a:lin ang="5400000" scaled="1"/>
          <a:tileRect/>
        </a:gradFill>
        <a:effectLst/>
      </p:bgPr>
    </p:bg>
    <p:spTree>
      <p:nvGrpSpPr>
        <p:cNvPr id="1" name=""/>
        <p:cNvGrpSpPr/>
        <p:nvPr/>
      </p:nvGrpSpPr>
      <p:grpSpPr>
        <a:xfrm>
          <a:off x="0" y="0"/>
          <a:ext cx="0" cy="0"/>
          <a:chOff x="0" y="0"/>
          <a:chExt cx="0" cy="0"/>
        </a:xfrm>
      </p:grpSpPr>
      <p:cxnSp>
        <p:nvCxnSpPr>
          <p:cNvPr id="4" name="直接连接符 3"/>
          <p:cNvCxnSpPr/>
          <p:nvPr userDrawn="1"/>
        </p:nvCxnSpPr>
        <p:spPr>
          <a:xfrm>
            <a:off x="558800" y="491067"/>
            <a:ext cx="320886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占位符 8"/>
          <p:cNvSpPr>
            <a:spLocks noGrp="1"/>
          </p:cNvSpPr>
          <p:nvPr>
            <p:ph type="body" sz="quarter" idx="10" hasCustomPrompt="1"/>
          </p:nvPr>
        </p:nvSpPr>
        <p:spPr>
          <a:xfrm>
            <a:off x="558800" y="719582"/>
            <a:ext cx="3157037" cy="887620"/>
          </a:xfrm>
          <a:prstGeom prst="rect">
            <a:avLst/>
          </a:prstGeom>
        </p:spPr>
        <p:txBody>
          <a:bodyPr/>
          <a:lstStyle>
            <a:lvl1pPr marL="0" indent="0" algn="l">
              <a:buNone/>
              <a:defRPr sz="5400" b="1">
                <a:solidFill>
                  <a:schemeClr val="tx1">
                    <a:lumMod val="85000"/>
                    <a:lumOff val="15000"/>
                  </a:schemeClr>
                </a:solidFill>
              </a:defRPr>
            </a:lvl1pPr>
          </a:lstStyle>
          <a:p>
            <a:pPr lvl="0"/>
            <a:r>
              <a:rPr lang="zh-CN" altLang="en-US" dirty="0"/>
              <a:t>输入标题</a:t>
            </a:r>
          </a:p>
        </p:txBody>
      </p:sp>
      <p:sp>
        <p:nvSpPr>
          <p:cNvPr id="8" name="文本占位符 8"/>
          <p:cNvSpPr>
            <a:spLocks noGrp="1"/>
          </p:cNvSpPr>
          <p:nvPr>
            <p:ph type="body" sz="quarter" idx="11" hasCustomPrompt="1"/>
          </p:nvPr>
        </p:nvSpPr>
        <p:spPr>
          <a:xfrm>
            <a:off x="558800" y="1615584"/>
            <a:ext cx="3157037" cy="475683"/>
          </a:xfrm>
          <a:prstGeom prst="rect">
            <a:avLst/>
          </a:prstGeom>
        </p:spPr>
        <p:txBody>
          <a:bodyPr/>
          <a:lstStyle>
            <a:lvl1pPr marL="0" indent="0" algn="l">
              <a:buNone/>
              <a:defRPr sz="2800" b="0">
                <a:solidFill>
                  <a:schemeClr val="tx1">
                    <a:lumMod val="85000"/>
                    <a:lumOff val="15000"/>
                  </a:schemeClr>
                </a:solidFill>
              </a:defRPr>
            </a:lvl1pPr>
          </a:lstStyle>
          <a:p>
            <a:pPr lvl="0"/>
            <a:r>
              <a:rPr lang="en-US" altLang="zh-CN" dirty="0"/>
              <a:t>Add text</a:t>
            </a:r>
            <a:endParaRPr lang="zh-CN" altLang="en-US" dirty="0"/>
          </a:p>
        </p:txBody>
      </p:sp>
      <p:pic>
        <p:nvPicPr>
          <p:cNvPr id="2" name="图片 1"/>
          <p:cNvPicPr>
            <a:picLocks noChangeAspect="1"/>
          </p:cNvPicPr>
          <p:nvPr userDrawn="1"/>
        </p:nvPicPr>
        <p:blipFill>
          <a:blip r:embed="rId2">
            <a:extLst>
              <a:ext uri="{BEBA8EAE-BF5A-486C-A8C5-ECC9F3942E4B}">
                <a14:imgProps xmlns:a14="http://schemas.microsoft.com/office/drawing/2010/main">
                  <a14:imgLayer r:embed="rId3">
                    <a14:imgEffect>
                      <a14:saturation sat="0"/>
                    </a14:imgEffect>
                    <a14:imgEffect>
                      <a14:brightnessContrast bright="41000"/>
                    </a14:imgEffect>
                  </a14:imgLayer>
                </a14:imgProps>
              </a:ext>
            </a:extLst>
          </a:blip>
          <a:stretch>
            <a:fillRect/>
          </a:stretch>
        </p:blipFill>
        <p:spPr>
          <a:xfrm>
            <a:off x="1679762" y="719582"/>
            <a:ext cx="8832476" cy="5991147"/>
          </a:xfrm>
          <a:prstGeom prst="rect">
            <a:avLst/>
          </a:prstGeom>
        </p:spPr>
      </p:pic>
    </p:spTree>
    <p:extLst>
      <p:ext uri="{BB962C8B-B14F-4D97-AF65-F5344CB8AC3E}">
        <p14:creationId xmlns:p14="http://schemas.microsoft.com/office/powerpoint/2010/main" val="1283601459"/>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容页7">
    <p:bg>
      <p:bgPr>
        <a:gradFill flip="none" rotWithShape="1">
          <a:gsLst>
            <a:gs pos="0">
              <a:schemeClr val="bg1">
                <a:tint val="93000"/>
                <a:satMod val="150000"/>
                <a:shade val="98000"/>
                <a:lumMod val="102000"/>
              </a:schemeClr>
            </a:gs>
            <a:gs pos="23000">
              <a:schemeClr val="bg1">
                <a:tint val="98000"/>
                <a:satMod val="130000"/>
                <a:shade val="90000"/>
                <a:lumMod val="103000"/>
              </a:schemeClr>
            </a:gs>
            <a:gs pos="100000">
              <a:schemeClr val="bg1">
                <a:lumMod val="85000"/>
              </a:schemeClr>
            </a:gs>
          </a:gsLst>
          <a:lin ang="5400000" scaled="1"/>
          <a:tileRect/>
        </a:gradFill>
        <a:effectLst/>
      </p:bgPr>
    </p:bg>
    <p:spTree>
      <p:nvGrpSpPr>
        <p:cNvPr id="1" name=""/>
        <p:cNvGrpSpPr/>
        <p:nvPr/>
      </p:nvGrpSpPr>
      <p:grpSpPr>
        <a:xfrm>
          <a:off x="0" y="0"/>
          <a:ext cx="0" cy="0"/>
          <a:chOff x="0" y="0"/>
          <a:chExt cx="0" cy="0"/>
        </a:xfrm>
      </p:grpSpPr>
      <p:pic>
        <p:nvPicPr>
          <p:cNvPr id="1026" name="Picture 2" descr="http://dc.office.msn.com.cn/t/22/498DB2C9CE89F2A71311649C04613B5B.jpg"/>
          <p:cNvPicPr>
            <a:picLocks noChangeAspect="1" noChangeArrowheads="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0" y="1"/>
            <a:ext cx="12195378" cy="6858000"/>
          </a:xfrm>
          <a:prstGeom prst="rect">
            <a:avLst/>
          </a:prstGeom>
          <a:noFill/>
          <a:extLst>
            <a:ext uri="{909E8E84-426E-40DD-AFC4-6F175D3DCCD1}">
              <a14:hiddenFill xmlns:a14="http://schemas.microsoft.com/office/drawing/2010/main">
                <a:solidFill>
                  <a:srgbClr val="FFFFFF"/>
                </a:solidFill>
              </a14:hiddenFill>
            </a:ext>
          </a:extLst>
        </p:spPr>
      </p:pic>
      <p:cxnSp>
        <p:nvCxnSpPr>
          <p:cNvPr id="4" name="直接连接符 3"/>
          <p:cNvCxnSpPr/>
          <p:nvPr userDrawn="1"/>
        </p:nvCxnSpPr>
        <p:spPr>
          <a:xfrm>
            <a:off x="558800" y="491067"/>
            <a:ext cx="320886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占位符 8"/>
          <p:cNvSpPr>
            <a:spLocks noGrp="1"/>
          </p:cNvSpPr>
          <p:nvPr>
            <p:ph type="body" sz="quarter" idx="10" hasCustomPrompt="1"/>
          </p:nvPr>
        </p:nvSpPr>
        <p:spPr>
          <a:xfrm>
            <a:off x="558800" y="719582"/>
            <a:ext cx="3157037" cy="887620"/>
          </a:xfrm>
          <a:prstGeom prst="rect">
            <a:avLst/>
          </a:prstGeom>
        </p:spPr>
        <p:txBody>
          <a:bodyPr/>
          <a:lstStyle>
            <a:lvl1pPr marL="0" indent="0" algn="l">
              <a:buNone/>
              <a:defRPr sz="5400" b="1">
                <a:solidFill>
                  <a:schemeClr val="bg1"/>
                </a:solidFill>
              </a:defRPr>
            </a:lvl1pPr>
          </a:lstStyle>
          <a:p>
            <a:pPr lvl="0"/>
            <a:r>
              <a:rPr lang="zh-CN" altLang="en-US" dirty="0"/>
              <a:t>输入标题</a:t>
            </a:r>
          </a:p>
        </p:txBody>
      </p:sp>
      <p:sp>
        <p:nvSpPr>
          <p:cNvPr id="8" name="文本占位符 8"/>
          <p:cNvSpPr>
            <a:spLocks noGrp="1"/>
          </p:cNvSpPr>
          <p:nvPr>
            <p:ph type="body" sz="quarter" idx="11" hasCustomPrompt="1"/>
          </p:nvPr>
        </p:nvSpPr>
        <p:spPr>
          <a:xfrm>
            <a:off x="558800" y="1615584"/>
            <a:ext cx="3157037" cy="475683"/>
          </a:xfrm>
          <a:prstGeom prst="rect">
            <a:avLst/>
          </a:prstGeom>
        </p:spPr>
        <p:txBody>
          <a:bodyPr/>
          <a:lstStyle>
            <a:lvl1pPr marL="0" indent="0" algn="l">
              <a:buNone/>
              <a:defRPr sz="2800" b="0">
                <a:solidFill>
                  <a:schemeClr val="bg1"/>
                </a:solidFill>
              </a:defRPr>
            </a:lvl1pPr>
          </a:lstStyle>
          <a:p>
            <a:pPr lvl="0"/>
            <a:r>
              <a:rPr lang="en-US" altLang="zh-CN" dirty="0"/>
              <a:t>Add text</a:t>
            </a:r>
            <a:endParaRPr lang="zh-CN" altLang="en-US" dirty="0"/>
          </a:p>
        </p:txBody>
      </p:sp>
    </p:spTree>
    <p:extLst>
      <p:ext uri="{BB962C8B-B14F-4D97-AF65-F5344CB8AC3E}">
        <p14:creationId xmlns:p14="http://schemas.microsoft.com/office/powerpoint/2010/main" val="4276827240"/>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48080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标注页">
    <p:bg>
      <p:bgPr>
        <a:solidFill>
          <a:srgbClr val="E73A1C"/>
        </a:solidFill>
        <a:effectLst/>
      </p:bgPr>
    </p:bg>
    <p:spTree>
      <p:nvGrpSpPr>
        <p:cNvPr id="1" name=""/>
        <p:cNvGrpSpPr/>
        <p:nvPr/>
      </p:nvGrpSpPr>
      <p:grpSpPr>
        <a:xfrm>
          <a:off x="0" y="0"/>
          <a:ext cx="0" cy="0"/>
          <a:chOff x="0" y="0"/>
          <a:chExt cx="0" cy="0"/>
        </a:xfrm>
      </p:grpSpPr>
      <p:sp>
        <p:nvSpPr>
          <p:cNvPr id="6" name="矩形 5"/>
          <p:cNvSpPr/>
          <p:nvPr userDrawn="1"/>
        </p:nvSpPr>
        <p:spPr>
          <a:xfrm>
            <a:off x="440603" y="759873"/>
            <a:ext cx="662361" cy="379656"/>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srgbClr val="FFFFFF"/>
                </a:solidFill>
                <a:effectLst/>
                <a:uLnTx/>
                <a:uFillTx/>
                <a:latin typeface="Segoe UI Light"/>
                <a:ea typeface="微软雅黑"/>
                <a:cs typeface="Segoe UI Light"/>
              </a:rPr>
              <a:t>标注</a:t>
            </a:r>
          </a:p>
        </p:txBody>
      </p:sp>
      <p:sp>
        <p:nvSpPr>
          <p:cNvPr id="11" name="矩形 10"/>
          <p:cNvSpPr/>
          <p:nvPr userDrawn="1"/>
        </p:nvSpPr>
        <p:spPr>
          <a:xfrm>
            <a:off x="2572589" y="759873"/>
            <a:ext cx="1402001" cy="3453253"/>
          </a:xfrm>
          <a:prstGeom prst="rect">
            <a:avLst/>
          </a:prstGeom>
        </p:spPr>
        <p:txBody>
          <a:bodyPr wrap="square">
            <a:spAutoFit/>
          </a:bodyPr>
          <a:lstStyle/>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字体使用 </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行距</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背景图片出处</a:t>
            </a:r>
          </a:p>
          <a:p>
            <a:pPr marL="0" marR="0" lvl="0" indent="0" defTabSz="609585"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声明</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p:txBody>
      </p:sp>
      <p:sp>
        <p:nvSpPr>
          <p:cNvPr id="12" name="矩形 11"/>
          <p:cNvSpPr/>
          <p:nvPr userDrawn="1"/>
        </p:nvSpPr>
        <p:spPr>
          <a:xfrm>
            <a:off x="4153010" y="759873"/>
            <a:ext cx="7074345" cy="4239879"/>
          </a:xfrm>
          <a:prstGeom prst="rect">
            <a:avLst/>
          </a:prstGeom>
        </p:spPr>
        <p:txBody>
          <a:bodyPr wrap="square">
            <a:spAutoFit/>
          </a:bodyPr>
          <a:lstStyle/>
          <a:p>
            <a:pPr marL="0" marR="0" lvl="0" indent="0" defTabSz="914400"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英文 </a:t>
            </a:r>
            <a:r>
              <a:rPr kumimoji="0" lang="en-US" altLang="zh-CN" sz="1400" b="0" i="0" u="none" strike="noStrike" kern="0" cap="none" spc="0" normalizeH="0" baseline="0" noProof="0" dirty="0">
                <a:ln>
                  <a:noFill/>
                </a:ln>
                <a:solidFill>
                  <a:srgbClr val="FFFFFF"/>
                </a:solidFill>
                <a:effectLst/>
                <a:uLnTx/>
                <a:uFillTx/>
                <a:latin typeface="Segoe UI Light" charset="0"/>
                <a:ea typeface="Segoe UI Light" charset="0"/>
                <a:cs typeface="Segoe UI Light" charset="0"/>
              </a:rPr>
              <a:t>Segoe UI</a:t>
            </a:r>
            <a:endParaRPr kumimoji="0" lang="zh-CN" altLang="en-US" sz="1400" b="0" i="0" u="none" strike="noStrike" kern="0" cap="none" spc="0" normalizeH="0" baseline="0" noProof="0" dirty="0">
              <a:ln>
                <a:noFill/>
              </a:ln>
              <a:solidFill>
                <a:srgbClr val="FFFFFF"/>
              </a:solidFill>
              <a:effectLst/>
              <a:uLnTx/>
              <a:uFillTx/>
              <a:latin typeface="Segoe UI Light" charset="0"/>
              <a:ea typeface="Segoe UI Light" charset="0"/>
              <a:cs typeface="Segoe UI Light" charset="0"/>
            </a:endParaRPr>
          </a:p>
          <a:p>
            <a:pPr marL="0" marR="0" lvl="0" indent="0" defTabSz="914400"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中文 微软雅黑</a:t>
            </a: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rPr>
              <a:t>正文 </a:t>
            </a:r>
            <a:r>
              <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rPr>
              <a:t>1.3</a:t>
            </a: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en-US" altLang="zh-CN"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r>
              <a:rPr kumimoji="0" lang="en-US" altLang="zh-CN" sz="1400" b="0" i="0" u="none" strike="noStrike" kern="0" cap="none" spc="0" normalizeH="0" baseline="0" noProof="0" dirty="0" err="1">
                <a:ln>
                  <a:noFill/>
                </a:ln>
                <a:solidFill>
                  <a:srgbClr val="FFFFFF"/>
                </a:solidFill>
                <a:effectLst/>
                <a:uLnTx/>
                <a:uFillTx/>
                <a:latin typeface="Segoe UI Light"/>
                <a:ea typeface="微软雅黑"/>
                <a:cs typeface="Segoe UI Light"/>
              </a:rPr>
              <a:t>cn.bing.com</a:t>
            </a: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defTabSz="609585" eaLnBrk="1" fontAlgn="auto" latinLnBrk="0" hangingPunct="1">
              <a:lnSpc>
                <a:spcPct val="130000"/>
              </a:lnSpc>
              <a:spcBef>
                <a:spcPts val="0"/>
              </a:spcBef>
              <a:spcAft>
                <a:spcPts val="0"/>
              </a:spcAft>
              <a:buClrTx/>
              <a:buSzTx/>
              <a:buFontTx/>
              <a:buNone/>
              <a:tabLst/>
              <a:defRPr/>
            </a:pPr>
            <a:endParaRPr kumimoji="0" lang="zh-CN" altLang="en-US" sz="1400" b="0" i="0" u="none" strike="noStrike" kern="0" cap="none" spc="0" normalizeH="0" baseline="0" noProof="0" dirty="0">
              <a:ln>
                <a:noFill/>
              </a:ln>
              <a:solidFill>
                <a:srgbClr val="FFFFFF"/>
              </a:solidFill>
              <a:effectLst/>
              <a:uLnTx/>
              <a:uFillTx/>
              <a:latin typeface="Segoe UI Light"/>
              <a:ea typeface="微软雅黑"/>
              <a:cs typeface="Segoe UI Light"/>
            </a:endParaRPr>
          </a:p>
          <a:p>
            <a:pPr marL="0" marR="0" lvl="0" indent="0" algn="l" defTabSz="609585" rtl="0" eaLnBrk="1" fontAlgn="auto" latinLnBrk="0" hangingPunct="1">
              <a:lnSpc>
                <a:spcPct val="130000"/>
              </a:lnSpc>
              <a:spcBef>
                <a:spcPts val="0"/>
              </a:spcBef>
              <a:spcAft>
                <a:spcPts val="0"/>
              </a:spcAft>
              <a:buClrTx/>
              <a:buSzTx/>
              <a:buFontTx/>
              <a:buNone/>
              <a:tabLst/>
              <a:defRPr/>
            </a:pP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本网站所提供的任何信息内容（包括但不限于 </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PPT</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模板、</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Word</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文档、</a:t>
            </a:r>
            <a:r>
              <a:rPr kumimoji="0" lang="en-US" altLang="zh-CN"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Excel</a:t>
            </a:r>
            <a:r>
              <a:rPr kumimoji="0" lang="zh-CN" altLang="en-US" sz="1333" b="0" i="0" u="none" strike="noStrike" kern="1200" cap="none" spc="0" normalizeH="0" baseline="0" noProof="0" dirty="0">
                <a:ln>
                  <a:noFill/>
                </a:ln>
                <a:solidFill>
                  <a:prstClr val="white"/>
                </a:solidFill>
                <a:effectLst/>
                <a:uLnTx/>
                <a:uFillTx/>
                <a:latin typeface="Segoe UI Light" charset="0"/>
                <a:ea typeface="Segoe UI Light" charset="0"/>
                <a:cs typeface="Segoe UI Light" charset="0"/>
              </a:rPr>
              <a:t> </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图表、图片素材等）均受</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中华人民共和国著作权法</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信息网络传播权保护条例</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及其他适用的法律法规的保护，未经权利人书面明确授权，信息内容的任何部分</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包括图片或图表</a:t>
            </a:r>
            <a:r>
              <a:rPr kumimoji="0" lang="en-US" altLang="zh-CN" sz="1333" b="0" i="0" u="none" strike="noStrike" kern="1200" cap="none" spc="0" normalizeH="0" baseline="0" noProof="0" dirty="0">
                <a:ln>
                  <a:noFill/>
                </a:ln>
                <a:solidFill>
                  <a:prstClr val="white"/>
                </a:solidFill>
                <a:effectLst/>
                <a:uLnTx/>
                <a:uFillTx/>
                <a:latin typeface="Century Gothic"/>
                <a:ea typeface="微软雅黑" charset="0"/>
                <a:cs typeface="+mn-cs"/>
              </a:rPr>
              <a:t>)</a:t>
            </a:r>
            <a:r>
              <a:rPr kumimoji="0" lang="zh-CN" altLang="en-US" sz="1333" b="0" i="0" u="none" strike="noStrike" kern="1200" cap="none" spc="0" normalizeH="0" baseline="0" noProof="0" dirty="0">
                <a:ln>
                  <a:noFill/>
                </a:ln>
                <a:solidFill>
                  <a:prstClr val="white"/>
                </a:solidFill>
                <a:effectLst/>
                <a:uLnTx/>
                <a:uFillTx/>
                <a:latin typeface="Century Gothic"/>
                <a:ea typeface="微软雅黑" charset="0"/>
                <a:cs typeface="+mn-cs"/>
              </a:rPr>
              <a:t>不得被全部或部分的复制、传播、销售，否则将承担法律责任。</a:t>
            </a:r>
          </a:p>
        </p:txBody>
      </p:sp>
      <p:sp>
        <p:nvSpPr>
          <p:cNvPr id="13" name="矩形 12"/>
          <p:cNvSpPr/>
          <p:nvPr userDrawn="1"/>
        </p:nvSpPr>
        <p:spPr>
          <a:xfrm>
            <a:off x="440603" y="182445"/>
            <a:ext cx="777777" cy="246221"/>
          </a:xfrm>
          <a:prstGeom prst="rect">
            <a:avLst/>
          </a:prstGeom>
        </p:spPr>
        <p:txBody>
          <a:bodyPr wrap="none">
            <a:spAutoFit/>
          </a:bodyPr>
          <a:lstStyle/>
          <a:p>
            <a:pPr marL="0" marR="0" lvl="0" indent="0" defTabSz="609585" eaLnBrk="1" fontAlgn="auto" latinLnBrk="0" hangingPunct="1">
              <a:lnSpc>
                <a:spcPct val="100000"/>
              </a:lnSpc>
              <a:spcBef>
                <a:spcPts val="0"/>
              </a:spcBef>
              <a:spcAft>
                <a:spcPts val="0"/>
              </a:spcAft>
              <a:buClrTx/>
              <a:buSzTx/>
              <a:buFontTx/>
              <a:buNone/>
              <a:tabLst/>
              <a:defRPr/>
            </a:pPr>
            <a:r>
              <a:rPr kumimoji="1" lang="en-US" altLang="zh-CN" sz="1000" b="0" i="0" u="none" strike="noStrike" kern="0" cap="none" spc="0" normalizeH="0" baseline="0" noProof="0" dirty="0">
                <a:ln>
                  <a:noFill/>
                </a:ln>
                <a:solidFill>
                  <a:prstClr val="white"/>
                </a:solidFill>
                <a:effectLst/>
                <a:uLnTx/>
                <a:uFillTx/>
                <a:latin typeface="Segoe UI Light"/>
                <a:ea typeface="微软雅黑" charset="0"/>
                <a:cs typeface="Segoe UI Light"/>
              </a:rPr>
              <a:t>OfficePLUS</a:t>
            </a:r>
            <a:endParaRPr kumimoji="0" lang="zh-CN" altLang="en-US" sz="1000" b="0" i="0" u="none" strike="noStrike" kern="0" cap="none" spc="0" normalizeH="0" baseline="0" noProof="0" dirty="0">
              <a:ln>
                <a:noFill/>
              </a:ln>
              <a:solidFill>
                <a:prstClr val="white"/>
              </a:solidFill>
              <a:effectLst/>
              <a:uLnTx/>
              <a:uFillTx/>
              <a:latin typeface="Segoe UI Light"/>
              <a:ea typeface="微软雅黑" charset="0"/>
              <a:cs typeface="Segoe UI Light"/>
            </a:endParaRPr>
          </a:p>
        </p:txBody>
      </p:sp>
    </p:spTree>
    <p:extLst>
      <p:ext uri="{BB962C8B-B14F-4D97-AF65-F5344CB8AC3E}">
        <p14:creationId xmlns:p14="http://schemas.microsoft.com/office/powerpoint/2010/main" val="9617485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背景图片素材">
    <p:spTree>
      <p:nvGrpSpPr>
        <p:cNvPr id="1" name=""/>
        <p:cNvGrpSpPr/>
        <p:nvPr/>
      </p:nvGrpSpPr>
      <p:grpSpPr>
        <a:xfrm>
          <a:off x="0" y="0"/>
          <a:ext cx="0" cy="0"/>
          <a:chOff x="0" y="0"/>
          <a:chExt cx="0" cy="0"/>
        </a:xfrm>
      </p:grpSpPr>
      <p:sp>
        <p:nvSpPr>
          <p:cNvPr id="4" name="矩形 3"/>
          <p:cNvSpPr/>
          <p:nvPr userDrawn="1"/>
        </p:nvSpPr>
        <p:spPr>
          <a:xfrm>
            <a:off x="440603" y="759873"/>
            <a:ext cx="1569660" cy="369332"/>
          </a:xfrm>
          <a:prstGeom prst="rect">
            <a:avLst/>
          </a:prstGeom>
        </p:spPr>
        <p:txBody>
          <a:bodyPr wrap="none">
            <a:spAutoFit/>
          </a:bodyPr>
          <a:lstStyle/>
          <a:p>
            <a:pPr defTabSz="609585"/>
            <a:r>
              <a:rPr lang="zh-CN" altLang="en-US" sz="1800" dirty="0">
                <a:solidFill>
                  <a:schemeClr val="tx1">
                    <a:lumMod val="75000"/>
                    <a:lumOff val="25000"/>
                  </a:schemeClr>
                </a:solidFill>
                <a:latin typeface="Segoe UI Light"/>
                <a:ea typeface="微软雅黑"/>
                <a:cs typeface="Segoe UI Light"/>
              </a:rPr>
              <a:t>背景图片素材</a:t>
            </a:r>
          </a:p>
        </p:txBody>
      </p:sp>
      <p:sp>
        <p:nvSpPr>
          <p:cNvPr id="5" name="矩形 4"/>
          <p:cNvSpPr/>
          <p:nvPr userDrawn="1"/>
        </p:nvSpPr>
        <p:spPr>
          <a:xfrm>
            <a:off x="440603" y="182445"/>
            <a:ext cx="777777" cy="246221"/>
          </a:xfrm>
          <a:prstGeom prst="rect">
            <a:avLst/>
          </a:prstGeom>
        </p:spPr>
        <p:txBody>
          <a:bodyPr wrap="none">
            <a:spAutoFit/>
          </a:bodyPr>
          <a:lstStyle/>
          <a:p>
            <a:pPr defTabSz="609585"/>
            <a:r>
              <a:rPr kumimoji="1" lang="en-US" altLang="zh-CN" sz="1000" dirty="0">
                <a:solidFill>
                  <a:schemeClr val="tx1">
                    <a:lumMod val="75000"/>
                    <a:lumOff val="25000"/>
                  </a:schemeClr>
                </a:solidFill>
                <a:latin typeface="Segoe UI Light"/>
                <a:ea typeface="微软雅黑" charset="0"/>
                <a:cs typeface="Segoe UI Light"/>
              </a:rPr>
              <a:t>OfficePLUS</a:t>
            </a:r>
            <a:endParaRPr lang="zh-CN" altLang="en-US" sz="1000" dirty="0">
              <a:solidFill>
                <a:schemeClr val="tx1">
                  <a:lumMod val="75000"/>
                  <a:lumOff val="25000"/>
                </a:schemeClr>
              </a:solidFill>
              <a:latin typeface="Segoe UI Light"/>
              <a:ea typeface="微软雅黑" charset="0"/>
              <a:cs typeface="Segoe UI Light"/>
            </a:endParaRPr>
          </a:p>
        </p:txBody>
      </p:sp>
    </p:spTree>
    <p:extLst>
      <p:ext uri="{BB962C8B-B14F-4D97-AF65-F5344CB8AC3E}">
        <p14:creationId xmlns:p14="http://schemas.microsoft.com/office/powerpoint/2010/main" val="4917054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OfficePLUS">
    <p:spTree>
      <p:nvGrpSpPr>
        <p:cNvPr id="1" name=""/>
        <p:cNvGrpSpPr/>
        <p:nvPr/>
      </p:nvGrpSpPr>
      <p:grpSpPr>
        <a:xfrm>
          <a:off x="0" y="0"/>
          <a:ext cx="0" cy="0"/>
          <a:chOff x="0" y="0"/>
          <a:chExt cx="0" cy="0"/>
        </a:xfrm>
      </p:grpSpPr>
      <p:sp>
        <p:nvSpPr>
          <p:cNvPr id="7" name="文本框 6"/>
          <p:cNvSpPr txBox="1"/>
          <p:nvPr userDrawn="1"/>
        </p:nvSpPr>
        <p:spPr>
          <a:xfrm>
            <a:off x="4447955" y="4458724"/>
            <a:ext cx="3296095" cy="297454"/>
          </a:xfrm>
          <a:prstGeom prst="rect">
            <a:avLst/>
          </a:prstGeom>
          <a:noFill/>
        </p:spPr>
        <p:txBody>
          <a:bodyPr wrap="none" rtlCol="0">
            <a:spAutoFit/>
          </a:bodyPr>
          <a:lstStyle/>
          <a:p>
            <a:pPr marL="0" marR="0" lvl="0" indent="0" algn="ctr" defTabSz="609585" eaLnBrk="1" fontAlgn="auto" latinLnBrk="0" hangingPunct="1">
              <a:lnSpc>
                <a:spcPct val="100000"/>
              </a:lnSpc>
              <a:spcBef>
                <a:spcPts val="0"/>
              </a:spcBef>
              <a:spcAft>
                <a:spcPts val="0"/>
              </a:spcAft>
              <a:buClrTx/>
              <a:buSzTx/>
              <a:buFontTx/>
              <a:buNone/>
              <a:tabLst/>
              <a:defRPr/>
            </a:pPr>
            <a:r>
              <a:rPr kumimoji="1" lang="zh-CN" altLang="en-US" sz="1333" b="0" i="0" u="none" strike="noStrike" kern="0" cap="none" spc="0" normalizeH="0" baseline="0" noProof="0" dirty="0">
                <a:ln>
                  <a:noFill/>
                </a:ln>
                <a:solidFill>
                  <a:srgbClr val="000000"/>
                </a:solidFill>
                <a:effectLst/>
                <a:uLnTx/>
                <a:uFillTx/>
                <a:latin typeface="Century Gothic"/>
                <a:ea typeface="微软雅黑" charset="0"/>
              </a:rPr>
              <a:t>点击</a:t>
            </a:r>
            <a:r>
              <a:rPr kumimoji="1" lang="en-US" altLang="zh-CN" sz="1333" b="0" i="0" u="none" strike="noStrike" kern="0" cap="none" spc="0" normalizeH="0" baseline="0" noProof="0" dirty="0">
                <a:ln>
                  <a:noFill/>
                </a:ln>
                <a:solidFill>
                  <a:srgbClr val="000000"/>
                </a:solidFill>
                <a:effectLst/>
                <a:uLnTx/>
                <a:uFillTx/>
                <a:latin typeface="Segoe UI Light" charset="0"/>
                <a:ea typeface="Segoe UI Light" charset="0"/>
                <a:cs typeface="Segoe UI Light" charset="0"/>
              </a:rPr>
              <a:t>Logo</a:t>
            </a:r>
            <a:r>
              <a:rPr kumimoji="1" lang="zh-CN" altLang="en-US" sz="1333" b="0" i="0" u="none" strike="noStrike" kern="0" cap="none" spc="0" normalizeH="0" baseline="0" noProof="0" dirty="0">
                <a:ln>
                  <a:noFill/>
                </a:ln>
                <a:solidFill>
                  <a:srgbClr val="000000"/>
                </a:solidFill>
                <a:effectLst/>
                <a:uLnTx/>
                <a:uFillTx/>
                <a:latin typeface="Century Gothic"/>
                <a:ea typeface="微软雅黑" charset="0"/>
              </a:rPr>
              <a:t>获取更多优质模板（放映模式）</a:t>
            </a:r>
          </a:p>
        </p:txBody>
      </p:sp>
      <p:pic>
        <p:nvPicPr>
          <p:cNvPr id="4" name="图片 3">
            <a:hlinkClick r:id="rId2"/>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572000" y="3227832"/>
            <a:ext cx="3048000" cy="402336"/>
          </a:xfrm>
          <a:prstGeom prst="rect">
            <a:avLst/>
          </a:prstGeom>
        </p:spPr>
      </p:pic>
    </p:spTree>
    <p:extLst>
      <p:ext uri="{BB962C8B-B14F-4D97-AF65-F5344CB8AC3E}">
        <p14:creationId xmlns:p14="http://schemas.microsoft.com/office/powerpoint/2010/main" val="261245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slideLayout" Target="../slideLayouts/slideLayout19.xml"/><Relationship Id="rId1" Type="http://schemas.openxmlformats.org/officeDocument/2006/relationships/slideLayout" Target="../slideLayouts/slideLayout1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9002904"/>
      </p:ext>
    </p:extLst>
  </p:cSld>
  <p:clrMap bg1="lt1" tx1="dk1" bg2="lt2" tx2="dk2" accent1="accent1" accent2="accent2" accent3="accent3" accent4="accent4" accent5="accent5" accent6="accent6" hlink="hlink" folHlink="folHlink"/>
  <p:sldLayoutIdLst>
    <p:sldLayoutId id="2147483682" r:id="rId1"/>
    <p:sldLayoutId id="2147483709" r:id="rId2"/>
    <p:sldLayoutId id="2147483710" r:id="rId3"/>
    <p:sldLayoutId id="2147483697" r:id="rId4"/>
    <p:sldLayoutId id="2147483698" r:id="rId5"/>
    <p:sldLayoutId id="2147483699" r:id="rId6"/>
    <p:sldLayoutId id="2147483700" r:id="rId7"/>
    <p:sldLayoutId id="2147483701" r:id="rId8"/>
    <p:sldLayoutId id="2147483702" r:id="rId9"/>
    <p:sldLayoutId id="2147483712" r:id="rId10"/>
    <p:sldLayoutId id="2147483708" r:id="rId11"/>
    <p:sldLayoutId id="2147483690" r:id="rId12"/>
    <p:sldLayoutId id="2147483703" r:id="rId13"/>
    <p:sldLayoutId id="2147483704" r:id="rId14"/>
    <p:sldLayoutId id="2147483705" r:id="rId15"/>
    <p:sldLayoutId id="2147483713" r:id="rId16"/>
    <p:sldLayoutId id="214748368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8780034"/>
      </p:ext>
    </p:extLst>
  </p:cSld>
  <p:clrMap bg1="lt1" tx1="dk1" bg2="lt2" tx2="dk2" accent1="accent1" accent2="accent2" accent3="accent3" accent4="accent4" accent5="accent5" accent6="accent6" hlink="hlink" folHlink="folHlink"/>
  <p:sldLayoutIdLst>
    <p:sldLayoutId id="2147483680" r:id="rId1"/>
    <p:sldLayoutId id="2147483664" r:id="rId2"/>
    <p:sldLayoutId id="214748368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dirty="0"/>
              <a:t>社交</a:t>
            </a:r>
            <a:r>
              <a:rPr lang="zh-CN" altLang="en-US" dirty="0" smtClean="0"/>
              <a:t>网络学习报告</a:t>
            </a:r>
            <a:endParaRPr lang="zh-CN" altLang="en-US" dirty="0"/>
          </a:p>
        </p:txBody>
      </p:sp>
      <p:sp>
        <p:nvSpPr>
          <p:cNvPr id="3" name="文本占位符 2"/>
          <p:cNvSpPr>
            <a:spLocks noGrp="1"/>
          </p:cNvSpPr>
          <p:nvPr>
            <p:ph type="body" sz="quarter" idx="11"/>
          </p:nvPr>
        </p:nvSpPr>
        <p:spPr/>
        <p:txBody>
          <a:bodyPr/>
          <a:lstStyle/>
          <a:p>
            <a:r>
              <a:rPr lang="zh-CN" altLang="en-US" dirty="0"/>
              <a:t>报告人</a:t>
            </a:r>
            <a:r>
              <a:rPr lang="zh-CN" altLang="en-US" dirty="0" smtClean="0"/>
              <a:t>：徐聪</a:t>
            </a:r>
            <a:endParaRPr lang="zh-CN" altLang="en-US" dirty="0"/>
          </a:p>
        </p:txBody>
      </p:sp>
      <p:sp>
        <p:nvSpPr>
          <p:cNvPr id="4" name="文本占位符 3"/>
          <p:cNvSpPr>
            <a:spLocks noGrp="1"/>
          </p:cNvSpPr>
          <p:nvPr>
            <p:ph type="body" sz="quarter" idx="12"/>
          </p:nvPr>
        </p:nvSpPr>
        <p:spPr/>
        <p:txBody>
          <a:bodyPr/>
          <a:lstStyle/>
          <a:p>
            <a:r>
              <a:rPr lang="en-US" altLang="zh-CN" smtClean="0"/>
              <a:t>2017.9.22</a:t>
            </a:r>
            <a:endParaRPr lang="en-US" altLang="zh-CN" dirty="0"/>
          </a:p>
        </p:txBody>
      </p:sp>
    </p:spTree>
    <p:extLst>
      <p:ext uri="{BB962C8B-B14F-4D97-AF65-F5344CB8AC3E}">
        <p14:creationId xmlns:p14="http://schemas.microsoft.com/office/powerpoint/2010/main" val="21589605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0"/>
          </p:nvPr>
        </p:nvSpPr>
        <p:spPr/>
        <p:txBody>
          <a:bodyPr/>
          <a:lstStyle/>
          <a:p>
            <a:r>
              <a:rPr lang="zh-CN" altLang="en-US" dirty="0"/>
              <a:t>目录</a:t>
            </a:r>
          </a:p>
        </p:txBody>
      </p:sp>
      <p:sp>
        <p:nvSpPr>
          <p:cNvPr id="13" name="文本占位符 12"/>
          <p:cNvSpPr>
            <a:spLocks noGrp="1"/>
          </p:cNvSpPr>
          <p:nvPr>
            <p:ph type="body" sz="quarter" idx="11"/>
          </p:nvPr>
        </p:nvSpPr>
        <p:spPr/>
        <p:txBody>
          <a:bodyPr/>
          <a:lstStyle/>
          <a:p>
            <a:r>
              <a:rPr lang="en-US" altLang="zh-CN" dirty="0"/>
              <a:t>Content</a:t>
            </a:r>
            <a:endParaRPr lang="zh-CN" altLang="en-US" dirty="0"/>
          </a:p>
        </p:txBody>
      </p:sp>
      <p:sp>
        <p:nvSpPr>
          <p:cNvPr id="14" name="文本占位符 13"/>
          <p:cNvSpPr>
            <a:spLocks noGrp="1"/>
          </p:cNvSpPr>
          <p:nvPr>
            <p:ph type="body" sz="quarter" idx="14"/>
          </p:nvPr>
        </p:nvSpPr>
        <p:spPr>
          <a:xfrm>
            <a:off x="4287838" y="847181"/>
            <a:ext cx="2167388" cy="646331"/>
          </a:xfrm>
        </p:spPr>
        <p:txBody>
          <a:bodyPr/>
          <a:lstStyle/>
          <a:p>
            <a:r>
              <a:rPr lang="en-US" altLang="zh-CN" dirty="0"/>
              <a:t>Part One</a:t>
            </a:r>
            <a:endParaRPr lang="zh-CN" altLang="en-US" dirty="0"/>
          </a:p>
        </p:txBody>
      </p:sp>
      <p:sp>
        <p:nvSpPr>
          <p:cNvPr id="15" name="文本占位符 14"/>
          <p:cNvSpPr>
            <a:spLocks noGrp="1"/>
          </p:cNvSpPr>
          <p:nvPr>
            <p:ph type="body" sz="quarter" idx="15"/>
          </p:nvPr>
        </p:nvSpPr>
        <p:spPr>
          <a:xfrm>
            <a:off x="4287838" y="1516391"/>
            <a:ext cx="3057247" cy="535531"/>
          </a:xfrm>
        </p:spPr>
        <p:txBody>
          <a:bodyPr/>
          <a:lstStyle/>
          <a:p>
            <a:r>
              <a:rPr lang="zh-CN" altLang="en-US" sz="3200" dirty="0" smtClean="0"/>
              <a:t>社交网络的定义</a:t>
            </a:r>
            <a:endParaRPr lang="zh-CN" altLang="en-US" sz="3200" dirty="0"/>
          </a:p>
        </p:txBody>
      </p:sp>
      <p:sp>
        <p:nvSpPr>
          <p:cNvPr id="16" name="文本占位符 15"/>
          <p:cNvSpPr>
            <a:spLocks noGrp="1"/>
          </p:cNvSpPr>
          <p:nvPr>
            <p:ph type="body" sz="quarter" idx="16"/>
          </p:nvPr>
        </p:nvSpPr>
        <p:spPr>
          <a:xfrm>
            <a:off x="7670800" y="847181"/>
            <a:ext cx="2134430" cy="646331"/>
          </a:xfrm>
        </p:spPr>
        <p:txBody>
          <a:bodyPr/>
          <a:lstStyle/>
          <a:p>
            <a:r>
              <a:rPr lang="en-US" altLang="zh-CN" dirty="0"/>
              <a:t>Part Two</a:t>
            </a:r>
            <a:endParaRPr lang="zh-CN" altLang="en-US" dirty="0"/>
          </a:p>
        </p:txBody>
      </p:sp>
      <p:sp>
        <p:nvSpPr>
          <p:cNvPr id="17" name="文本占位符 16"/>
          <p:cNvSpPr>
            <a:spLocks noGrp="1"/>
          </p:cNvSpPr>
          <p:nvPr>
            <p:ph type="body" sz="quarter" idx="17"/>
          </p:nvPr>
        </p:nvSpPr>
        <p:spPr>
          <a:xfrm>
            <a:off x="7670800" y="1516391"/>
            <a:ext cx="2646878" cy="1106970"/>
          </a:xfrm>
        </p:spPr>
        <p:txBody>
          <a:bodyPr/>
          <a:lstStyle/>
          <a:p>
            <a:r>
              <a:rPr lang="zh-CN" altLang="en-US" sz="3200" dirty="0" smtClean="0"/>
              <a:t>社交网络分析</a:t>
            </a:r>
            <a:endParaRPr lang="en-US" altLang="zh-CN" sz="3200" dirty="0" smtClean="0"/>
          </a:p>
          <a:p>
            <a:r>
              <a:rPr lang="zh-CN" altLang="en-US" sz="3200" dirty="0" smtClean="0"/>
              <a:t>研究的意义</a:t>
            </a:r>
            <a:endParaRPr lang="zh-CN" altLang="en-US" sz="3200" dirty="0"/>
          </a:p>
        </p:txBody>
      </p:sp>
      <p:sp>
        <p:nvSpPr>
          <p:cNvPr id="18" name="文本占位符 17"/>
          <p:cNvSpPr>
            <a:spLocks noGrp="1"/>
          </p:cNvSpPr>
          <p:nvPr>
            <p:ph type="body" sz="quarter" idx="18"/>
          </p:nvPr>
        </p:nvSpPr>
        <p:spPr>
          <a:xfrm>
            <a:off x="4287838" y="2993480"/>
            <a:ext cx="2489271" cy="646331"/>
          </a:xfrm>
        </p:spPr>
        <p:txBody>
          <a:bodyPr/>
          <a:lstStyle/>
          <a:p>
            <a:r>
              <a:rPr lang="en-US" altLang="zh-CN" dirty="0"/>
              <a:t>Part Three</a:t>
            </a:r>
            <a:endParaRPr lang="zh-CN" altLang="en-US" dirty="0"/>
          </a:p>
        </p:txBody>
      </p:sp>
      <p:sp>
        <p:nvSpPr>
          <p:cNvPr id="19" name="文本占位符 18"/>
          <p:cNvSpPr>
            <a:spLocks noGrp="1"/>
          </p:cNvSpPr>
          <p:nvPr>
            <p:ph type="body" sz="quarter" idx="19"/>
          </p:nvPr>
        </p:nvSpPr>
        <p:spPr>
          <a:xfrm>
            <a:off x="4287838" y="3662690"/>
            <a:ext cx="2236510" cy="1678408"/>
          </a:xfrm>
        </p:spPr>
        <p:txBody>
          <a:bodyPr/>
          <a:lstStyle/>
          <a:p>
            <a:r>
              <a:rPr lang="zh-CN" altLang="en-US" sz="3200" dirty="0" smtClean="0"/>
              <a:t>社交网络的</a:t>
            </a:r>
            <a:endParaRPr lang="en-US" altLang="zh-CN" sz="3200" dirty="0" smtClean="0"/>
          </a:p>
          <a:p>
            <a:r>
              <a:rPr lang="zh-CN" altLang="en-US" sz="3200" dirty="0" smtClean="0"/>
              <a:t>统计特性</a:t>
            </a:r>
            <a:endParaRPr lang="en-US" altLang="zh-CN" sz="3200" dirty="0" smtClean="0"/>
          </a:p>
          <a:p>
            <a:endParaRPr lang="en-US" altLang="zh-CN" sz="3200" dirty="0" smtClean="0"/>
          </a:p>
        </p:txBody>
      </p:sp>
      <p:sp>
        <p:nvSpPr>
          <p:cNvPr id="20" name="文本占位符 19"/>
          <p:cNvSpPr>
            <a:spLocks noGrp="1"/>
          </p:cNvSpPr>
          <p:nvPr>
            <p:ph type="body" sz="quarter" idx="20"/>
          </p:nvPr>
        </p:nvSpPr>
        <p:spPr>
          <a:xfrm>
            <a:off x="7670800" y="2993480"/>
            <a:ext cx="2242730" cy="646331"/>
          </a:xfrm>
        </p:spPr>
        <p:txBody>
          <a:bodyPr/>
          <a:lstStyle/>
          <a:p>
            <a:r>
              <a:rPr lang="en-US" altLang="zh-CN" dirty="0"/>
              <a:t>Part Four</a:t>
            </a:r>
          </a:p>
        </p:txBody>
      </p:sp>
      <p:sp>
        <p:nvSpPr>
          <p:cNvPr id="21" name="文本占位符 20"/>
          <p:cNvSpPr>
            <a:spLocks noGrp="1"/>
          </p:cNvSpPr>
          <p:nvPr>
            <p:ph type="body" sz="quarter" idx="21"/>
          </p:nvPr>
        </p:nvSpPr>
        <p:spPr>
          <a:xfrm>
            <a:off x="7670800" y="3662690"/>
            <a:ext cx="2236510" cy="1106970"/>
          </a:xfrm>
        </p:spPr>
        <p:txBody>
          <a:bodyPr/>
          <a:lstStyle/>
          <a:p>
            <a:r>
              <a:rPr lang="zh-CN" altLang="en-US" sz="3200" dirty="0"/>
              <a:t>社交</a:t>
            </a:r>
            <a:r>
              <a:rPr lang="zh-CN" altLang="en-US" sz="3200" dirty="0" smtClean="0"/>
              <a:t>网络的</a:t>
            </a:r>
            <a:endParaRPr lang="en-US" altLang="zh-CN" sz="3200" dirty="0" smtClean="0"/>
          </a:p>
          <a:p>
            <a:r>
              <a:rPr lang="zh-CN" altLang="en-US" sz="3200" dirty="0" smtClean="0"/>
              <a:t>影响力传播</a:t>
            </a:r>
            <a:endParaRPr lang="en-US" altLang="zh-CN" sz="3200" dirty="0" smtClean="0"/>
          </a:p>
        </p:txBody>
      </p:sp>
      <p:sp>
        <p:nvSpPr>
          <p:cNvPr id="22" name="文本占位符 21"/>
          <p:cNvSpPr>
            <a:spLocks noGrp="1"/>
          </p:cNvSpPr>
          <p:nvPr>
            <p:ph type="body" sz="quarter" idx="22"/>
          </p:nvPr>
        </p:nvSpPr>
        <p:spPr>
          <a:xfrm>
            <a:off x="4287838" y="5139779"/>
            <a:ext cx="2108269" cy="646331"/>
          </a:xfrm>
        </p:spPr>
        <p:txBody>
          <a:bodyPr/>
          <a:lstStyle/>
          <a:p>
            <a:r>
              <a:rPr lang="en-US" altLang="zh-CN" dirty="0"/>
              <a:t>Part Five</a:t>
            </a:r>
            <a:endParaRPr lang="zh-CN" altLang="en-US" dirty="0"/>
          </a:p>
        </p:txBody>
      </p:sp>
      <p:sp>
        <p:nvSpPr>
          <p:cNvPr id="23" name="文本占位符 22"/>
          <p:cNvSpPr>
            <a:spLocks noGrp="1"/>
          </p:cNvSpPr>
          <p:nvPr>
            <p:ph type="body" sz="quarter" idx="23"/>
          </p:nvPr>
        </p:nvSpPr>
        <p:spPr>
          <a:xfrm>
            <a:off x="4287838" y="5808989"/>
            <a:ext cx="1005403" cy="535531"/>
          </a:xfrm>
        </p:spPr>
        <p:txBody>
          <a:bodyPr/>
          <a:lstStyle/>
          <a:p>
            <a:r>
              <a:rPr lang="zh-CN" altLang="en-US" sz="3200" dirty="0" smtClean="0"/>
              <a:t>总结</a:t>
            </a:r>
            <a:endParaRPr lang="zh-CN" altLang="en-US" sz="3200" dirty="0"/>
          </a:p>
        </p:txBody>
      </p:sp>
    </p:spTree>
    <p:extLst>
      <p:ext uri="{BB962C8B-B14F-4D97-AF65-F5344CB8AC3E}">
        <p14:creationId xmlns:p14="http://schemas.microsoft.com/office/powerpoint/2010/main" val="21993157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dirty="0" smtClean="0"/>
              <a:t>社交网络的定义</a:t>
            </a:r>
            <a:endParaRPr lang="zh-CN" altLang="en-US" sz="3200" dirty="0"/>
          </a:p>
        </p:txBody>
      </p:sp>
      <p:sp>
        <p:nvSpPr>
          <p:cNvPr id="3" name="文本占位符 2"/>
          <p:cNvSpPr>
            <a:spLocks noGrp="1"/>
          </p:cNvSpPr>
          <p:nvPr>
            <p:ph type="body" sz="quarter" idx="11"/>
          </p:nvPr>
        </p:nvSpPr>
        <p:spPr/>
        <p:txBody>
          <a:bodyPr/>
          <a:lstStyle/>
          <a:p>
            <a:r>
              <a:rPr lang="en-US" altLang="zh-CN" dirty="0"/>
              <a:t>Part One</a:t>
            </a:r>
            <a:endParaRPr lang="zh-CN" altLang="en-US" dirty="0"/>
          </a:p>
        </p:txBody>
      </p:sp>
    </p:spTree>
    <p:extLst>
      <p:ext uri="{BB962C8B-B14F-4D97-AF65-F5344CB8AC3E}">
        <p14:creationId xmlns:p14="http://schemas.microsoft.com/office/powerpoint/2010/main" val="9772598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2769" y="612191"/>
            <a:ext cx="6801421" cy="5983125"/>
          </a:xfrm>
          <a:prstGeom prst="rect">
            <a:avLst/>
          </a:prstGeom>
        </p:spPr>
      </p:pic>
      <p:sp>
        <p:nvSpPr>
          <p:cNvPr id="2" name="文本占位符 1"/>
          <p:cNvSpPr>
            <a:spLocks noGrp="1"/>
          </p:cNvSpPr>
          <p:nvPr>
            <p:ph type="body" sz="quarter" idx="10"/>
          </p:nvPr>
        </p:nvSpPr>
        <p:spPr/>
        <p:txBody>
          <a:bodyPr/>
          <a:lstStyle/>
          <a:p>
            <a:r>
              <a:rPr lang="zh-CN" altLang="en-US" sz="3200" dirty="0" smtClean="0"/>
              <a:t>社交网络的定义</a:t>
            </a:r>
            <a:endParaRPr lang="zh-CN" altLang="en-US" sz="3200" dirty="0"/>
          </a:p>
        </p:txBody>
      </p:sp>
      <p:sp>
        <p:nvSpPr>
          <p:cNvPr id="3" name="文本占位符 2"/>
          <p:cNvSpPr>
            <a:spLocks noGrp="1"/>
          </p:cNvSpPr>
          <p:nvPr>
            <p:ph type="body" sz="quarter" idx="11"/>
          </p:nvPr>
        </p:nvSpPr>
        <p:spPr/>
        <p:txBody>
          <a:bodyPr/>
          <a:lstStyle/>
          <a:p>
            <a:r>
              <a:rPr lang="en-US" altLang="zh-CN" dirty="0"/>
              <a:t>Part One</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9" name="矩形 8"/>
          <p:cNvSpPr/>
          <p:nvPr/>
        </p:nvSpPr>
        <p:spPr>
          <a:xfrm>
            <a:off x="3048000" y="3105835"/>
            <a:ext cx="6096000" cy="369332"/>
          </a:xfrm>
          <a:prstGeom prst="rect">
            <a:avLst/>
          </a:prstGeom>
        </p:spPr>
        <p:txBody>
          <a:bodyPr>
            <a:spAutoFit/>
          </a:bodyPr>
          <a:lstStyle/>
          <a:p>
            <a:endParaRPr lang="zh-CN" altLang="en-US" dirty="0"/>
          </a:p>
        </p:txBody>
      </p:sp>
      <p:sp>
        <p:nvSpPr>
          <p:cNvPr id="19" name="文本框 18"/>
          <p:cNvSpPr txBox="1"/>
          <p:nvPr/>
        </p:nvSpPr>
        <p:spPr>
          <a:xfrm>
            <a:off x="640573" y="3105835"/>
            <a:ext cx="4010940" cy="3693319"/>
          </a:xfrm>
          <a:prstGeom prst="rect">
            <a:avLst/>
          </a:prstGeom>
          <a:noFill/>
        </p:spPr>
        <p:txBody>
          <a:bodyPr wrap="square" rtlCol="0">
            <a:spAutoFit/>
          </a:bodyPr>
          <a:lstStyle/>
          <a:p>
            <a:r>
              <a:rPr lang="zh-CN" altLang="en-US" b="1" dirty="0">
                <a:solidFill>
                  <a:srgbClr val="FF0000"/>
                </a:solidFill>
              </a:rPr>
              <a:t>社交</a:t>
            </a:r>
            <a:r>
              <a:rPr lang="zh-CN" altLang="en-US" b="1" dirty="0" smtClean="0">
                <a:solidFill>
                  <a:srgbClr val="FF0000"/>
                </a:solidFill>
              </a:rPr>
              <a:t>网络</a:t>
            </a:r>
            <a:r>
              <a:rPr lang="en-US" altLang="zh-CN" b="1" dirty="0" smtClean="0">
                <a:solidFill>
                  <a:srgbClr val="FF0000"/>
                </a:solidFill>
              </a:rPr>
              <a:t>(Social network)</a:t>
            </a:r>
            <a:endParaRPr lang="en-US" altLang="zh-CN" dirty="0" smtClean="0"/>
          </a:p>
          <a:p>
            <a:pPr indent="457200">
              <a:lnSpc>
                <a:spcPct val="150000"/>
              </a:lnSpc>
            </a:pPr>
            <a:r>
              <a:rPr lang="zh-CN" altLang="en-US" dirty="0" smtClean="0"/>
              <a:t>是由许多节点构成的一种社会结构，节点通常指个人或组织，社交网络代表各种社会关系，经由这些社会关系，把从偶然相识的泛泛之交到紧密结合的家庭关系的各种人们或组织串联起来。</a:t>
            </a:r>
            <a:endParaRPr lang="en-US" altLang="zh-CN" dirty="0" smtClean="0"/>
          </a:p>
          <a:p>
            <a:pPr indent="457200">
              <a:lnSpc>
                <a:spcPct val="150000"/>
              </a:lnSpc>
            </a:pPr>
            <a:r>
              <a:rPr lang="zh-CN" altLang="en-US" dirty="0" smtClean="0"/>
              <a:t>目前我们所说的社交网络通常指在线社交网络。</a:t>
            </a:r>
            <a:endParaRPr lang="zh-CN" altLang="en-US" dirty="0"/>
          </a:p>
        </p:txBody>
      </p:sp>
    </p:spTree>
    <p:extLst>
      <p:ext uri="{BB962C8B-B14F-4D97-AF65-F5344CB8AC3E}">
        <p14:creationId xmlns:p14="http://schemas.microsoft.com/office/powerpoint/2010/main" val="2438326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24376" y="290366"/>
            <a:ext cx="6633226" cy="465679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2" name="文本占位符 1"/>
          <p:cNvSpPr>
            <a:spLocks noGrp="1"/>
          </p:cNvSpPr>
          <p:nvPr>
            <p:ph type="body" sz="quarter" idx="10"/>
          </p:nvPr>
        </p:nvSpPr>
        <p:spPr/>
        <p:txBody>
          <a:bodyPr/>
          <a:lstStyle/>
          <a:p>
            <a:r>
              <a:rPr lang="zh-CN" altLang="en-US" sz="3200" dirty="0" smtClean="0"/>
              <a:t>社交网络的定义</a:t>
            </a:r>
            <a:endParaRPr lang="zh-CN" altLang="en-US" sz="3200" dirty="0"/>
          </a:p>
        </p:txBody>
      </p:sp>
      <p:sp>
        <p:nvSpPr>
          <p:cNvPr id="3" name="文本占位符 2"/>
          <p:cNvSpPr>
            <a:spLocks noGrp="1"/>
          </p:cNvSpPr>
          <p:nvPr>
            <p:ph type="body" sz="quarter" idx="11"/>
          </p:nvPr>
        </p:nvSpPr>
        <p:spPr/>
        <p:txBody>
          <a:bodyPr/>
          <a:lstStyle/>
          <a:p>
            <a:r>
              <a:rPr lang="en-US" altLang="zh-CN" dirty="0"/>
              <a:t>Part One</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4" name="文本框 3"/>
          <p:cNvSpPr txBox="1"/>
          <p:nvPr/>
        </p:nvSpPr>
        <p:spPr>
          <a:xfrm>
            <a:off x="0" y="2791800"/>
            <a:ext cx="7381461" cy="2169825"/>
          </a:xfrm>
          <a:prstGeom prst="rect">
            <a:avLst/>
          </a:prstGeom>
          <a:noFill/>
        </p:spPr>
        <p:txBody>
          <a:bodyPr wrap="square" rtlCol="0">
            <a:spAutoFit/>
          </a:bodyPr>
          <a:lstStyle/>
          <a:p>
            <a:pPr indent="457200">
              <a:lnSpc>
                <a:spcPct val="150000"/>
              </a:lnSpc>
            </a:pPr>
            <a:r>
              <a:rPr lang="zh-CN" altLang="en-US" dirty="0" smtClean="0"/>
              <a:t>根据欧盟关于社会计算的研究报告，在线社交网络可分为</a:t>
            </a:r>
            <a:r>
              <a:rPr lang="en-US" altLang="zh-CN" dirty="0" smtClean="0"/>
              <a:t>4</a:t>
            </a:r>
            <a:r>
              <a:rPr lang="zh-CN" altLang="en-US" dirty="0" smtClean="0"/>
              <a:t>类：</a:t>
            </a:r>
            <a:endParaRPr lang="en-US" altLang="zh-CN" dirty="0" smtClean="0"/>
          </a:p>
          <a:p>
            <a:pPr marL="342900" indent="457200">
              <a:lnSpc>
                <a:spcPct val="150000"/>
              </a:lnSpc>
              <a:buAutoNum type="arabicParenR"/>
            </a:pPr>
            <a:r>
              <a:rPr lang="zh-CN" altLang="en-US" dirty="0" smtClean="0"/>
              <a:t>即时消息类应用：提供在线即时通信的平台</a:t>
            </a:r>
            <a:endParaRPr lang="en-US" altLang="zh-CN" dirty="0" smtClean="0"/>
          </a:p>
          <a:p>
            <a:pPr marL="342900" indent="457200">
              <a:lnSpc>
                <a:spcPct val="150000"/>
              </a:lnSpc>
              <a:buAutoNum type="arabicParenR"/>
            </a:pPr>
            <a:r>
              <a:rPr lang="zh-CN" altLang="en-US" dirty="0" smtClean="0"/>
              <a:t>在线社交类应用：提供在线社交关系的平台</a:t>
            </a:r>
            <a:endParaRPr lang="en-US" altLang="zh-CN" dirty="0" smtClean="0"/>
          </a:p>
          <a:p>
            <a:pPr marL="342900" indent="457200">
              <a:lnSpc>
                <a:spcPct val="150000"/>
              </a:lnSpc>
              <a:buAutoNum type="arabicParenR"/>
            </a:pPr>
            <a:r>
              <a:rPr lang="zh-CN" altLang="en-US" dirty="0"/>
              <a:t>微</a:t>
            </a:r>
            <a:r>
              <a:rPr lang="zh-CN" altLang="en-US" dirty="0" smtClean="0"/>
              <a:t>博类应用：提供双向发布短消息的平台</a:t>
            </a:r>
            <a:endParaRPr lang="en-US" altLang="zh-CN" dirty="0" smtClean="0"/>
          </a:p>
          <a:p>
            <a:pPr marL="342900" indent="457200">
              <a:lnSpc>
                <a:spcPct val="150000"/>
              </a:lnSpc>
              <a:buAutoNum type="arabicParenR"/>
            </a:pPr>
            <a:r>
              <a:rPr lang="zh-CN" altLang="en-US" dirty="0" smtClean="0"/>
              <a:t>共享空间等其他类应用：</a:t>
            </a:r>
            <a:endParaRPr lang="en-US" altLang="zh-CN" dirty="0"/>
          </a:p>
        </p:txBody>
      </p:sp>
    </p:spTree>
    <p:extLst>
      <p:ext uri="{BB962C8B-B14F-4D97-AF65-F5344CB8AC3E}">
        <p14:creationId xmlns:p14="http://schemas.microsoft.com/office/powerpoint/2010/main" val="9515501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3147" y="948527"/>
            <a:ext cx="3157037" cy="887620"/>
          </a:xfrm>
        </p:spPr>
        <p:txBody>
          <a:bodyPr/>
          <a:lstStyle/>
          <a:p>
            <a:r>
              <a:rPr lang="zh-CN" altLang="en-US" sz="3200" dirty="0"/>
              <a:t>社交</a:t>
            </a:r>
            <a:r>
              <a:rPr lang="zh-CN" altLang="en-US" sz="3200" dirty="0" smtClean="0"/>
              <a:t>网络的定义</a:t>
            </a:r>
            <a:endParaRPr lang="en-US" altLang="zh-CN" sz="3200" dirty="0"/>
          </a:p>
        </p:txBody>
      </p:sp>
      <p:sp>
        <p:nvSpPr>
          <p:cNvPr id="3" name="文本占位符 2"/>
          <p:cNvSpPr>
            <a:spLocks noGrp="1"/>
          </p:cNvSpPr>
          <p:nvPr>
            <p:ph type="body" sz="quarter" idx="11"/>
          </p:nvPr>
        </p:nvSpPr>
        <p:spPr>
          <a:xfrm>
            <a:off x="558800" y="1659674"/>
            <a:ext cx="3157037" cy="475683"/>
          </a:xfrm>
        </p:spPr>
        <p:txBody>
          <a:bodyPr/>
          <a:lstStyle/>
          <a:p>
            <a:r>
              <a:rPr lang="en-US" altLang="zh-CN" dirty="0"/>
              <a:t>Part </a:t>
            </a:r>
            <a:r>
              <a:rPr lang="en-US" altLang="zh-CN" dirty="0" smtClean="0"/>
              <a:t>One</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145349" y="2195185"/>
            <a:ext cx="6440981" cy="4662815"/>
          </a:xfrm>
          <a:prstGeom prst="rect">
            <a:avLst/>
          </a:prstGeom>
          <a:noFill/>
        </p:spPr>
        <p:txBody>
          <a:bodyPr wrap="square" rtlCol="0">
            <a:spAutoFit/>
          </a:bodyPr>
          <a:lstStyle/>
          <a:p>
            <a:pPr indent="457200">
              <a:lnSpc>
                <a:spcPct val="150000"/>
              </a:lnSpc>
            </a:pPr>
            <a:r>
              <a:rPr lang="zh-CN" altLang="en-US" dirty="0" smtClean="0"/>
              <a:t>在线社交网络三要素：</a:t>
            </a:r>
            <a:endParaRPr lang="en-US" altLang="zh-CN" dirty="0" smtClean="0"/>
          </a:p>
          <a:p>
            <a:pPr marL="342900" indent="457200">
              <a:lnSpc>
                <a:spcPct val="150000"/>
              </a:lnSpc>
              <a:buAutoNum type="arabicParenR"/>
            </a:pPr>
            <a:r>
              <a:rPr lang="zh-CN" altLang="en-US" dirty="0" smtClean="0">
                <a:solidFill>
                  <a:srgbClr val="FF0000"/>
                </a:solidFill>
              </a:rPr>
              <a:t>关系结构</a:t>
            </a:r>
            <a:r>
              <a:rPr lang="zh-CN" altLang="en-US" dirty="0" smtClean="0"/>
              <a:t>：是社交网络个体成员之间通过社会关系结成的网络系统。网络中的节点可以是个人、组织、</a:t>
            </a:r>
            <a:r>
              <a:rPr lang="en-US" altLang="zh-CN" dirty="0" smtClean="0"/>
              <a:t>ID</a:t>
            </a:r>
            <a:r>
              <a:rPr lang="zh-CN" altLang="en-US" dirty="0" smtClean="0"/>
              <a:t>等不同含义的实体或虚拟个体。而相互关系可以是亲友、动作行为、收发消息等关系。</a:t>
            </a:r>
            <a:endParaRPr lang="en-US" altLang="zh-CN" dirty="0" smtClean="0"/>
          </a:p>
          <a:p>
            <a:pPr marL="342900" indent="457200">
              <a:lnSpc>
                <a:spcPct val="150000"/>
              </a:lnSpc>
              <a:buAutoNum type="arabicParenR"/>
            </a:pPr>
            <a:r>
              <a:rPr lang="zh-CN" altLang="en-US" dirty="0" smtClean="0">
                <a:solidFill>
                  <a:srgbClr val="FF0000"/>
                </a:solidFill>
              </a:rPr>
              <a:t>网络群体</a:t>
            </a:r>
            <a:r>
              <a:rPr lang="zh-CN" altLang="en-US" dirty="0" smtClean="0"/>
              <a:t>：网络群体行为是指网络个体就某个事件在某个虚拟空间聚合或集中，相互影响、作用、依赖，有目的性地以类似方式进行的行为。</a:t>
            </a:r>
            <a:endParaRPr lang="en-US" altLang="zh-CN" dirty="0" smtClean="0"/>
          </a:p>
          <a:p>
            <a:pPr marL="342900" indent="457200">
              <a:lnSpc>
                <a:spcPct val="150000"/>
              </a:lnSpc>
              <a:buAutoNum type="arabicParenR"/>
            </a:pPr>
            <a:r>
              <a:rPr lang="zh-CN" altLang="en-US" dirty="0" smtClean="0">
                <a:solidFill>
                  <a:srgbClr val="FF0000"/>
                </a:solidFill>
              </a:rPr>
              <a:t>网络信息</a:t>
            </a:r>
            <a:r>
              <a:rPr lang="zh-CN" altLang="en-US" dirty="0" smtClean="0"/>
              <a:t>：基于社交网络的信息传播是指社交网络中的个体与个体之间、个体与群体之间、群体与群体之间的信息传递</a:t>
            </a:r>
            <a:r>
              <a:rPr lang="zh-CN" altLang="en-US" dirty="0"/>
              <a:t>。</a:t>
            </a:r>
          </a:p>
        </p:txBody>
      </p:sp>
      <p:sp>
        <p:nvSpPr>
          <p:cNvPr id="12" name="矩形 11"/>
          <p:cNvSpPr/>
          <p:nvPr/>
        </p:nvSpPr>
        <p:spPr>
          <a:xfrm>
            <a:off x="7699514" y="5287618"/>
            <a:ext cx="3591339" cy="63610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dirty="0" smtClean="0"/>
              <a:t>关系结构（载体）</a:t>
            </a:r>
            <a:endParaRPr lang="zh-CN" altLang="en-US" dirty="0"/>
          </a:p>
        </p:txBody>
      </p:sp>
      <p:sp>
        <p:nvSpPr>
          <p:cNvPr id="17" name="上箭头 16"/>
          <p:cNvSpPr/>
          <p:nvPr/>
        </p:nvSpPr>
        <p:spPr>
          <a:xfrm>
            <a:off x="8918714" y="4731026"/>
            <a:ext cx="1033670" cy="556592"/>
          </a:xfrm>
          <a:prstGeom prst="upArrow">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
        <p:nvSpPr>
          <p:cNvPr id="19" name="矩形 18"/>
          <p:cNvSpPr/>
          <p:nvPr/>
        </p:nvSpPr>
        <p:spPr>
          <a:xfrm>
            <a:off x="7699514" y="4094922"/>
            <a:ext cx="3591339" cy="63610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dirty="0" smtClean="0"/>
              <a:t>网络群体（主体）</a:t>
            </a:r>
            <a:endParaRPr lang="zh-CN" altLang="en-US" dirty="0"/>
          </a:p>
        </p:txBody>
      </p:sp>
      <p:sp>
        <p:nvSpPr>
          <p:cNvPr id="20" name="矩形 19"/>
          <p:cNvSpPr/>
          <p:nvPr/>
        </p:nvSpPr>
        <p:spPr>
          <a:xfrm>
            <a:off x="7699513" y="2902226"/>
            <a:ext cx="3591339" cy="636104"/>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r>
              <a:rPr lang="zh-CN" altLang="en-US" dirty="0" smtClean="0"/>
              <a:t>网络信息（客体）</a:t>
            </a:r>
            <a:endParaRPr lang="zh-CN" altLang="en-US" dirty="0"/>
          </a:p>
        </p:txBody>
      </p:sp>
      <p:sp>
        <p:nvSpPr>
          <p:cNvPr id="21" name="上箭头 20"/>
          <p:cNvSpPr/>
          <p:nvPr/>
        </p:nvSpPr>
        <p:spPr>
          <a:xfrm>
            <a:off x="8918714" y="3538330"/>
            <a:ext cx="1033670" cy="556592"/>
          </a:xfrm>
          <a:prstGeom prst="upArrow">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409818721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dirty="0" smtClean="0"/>
              <a:t>社交网络分析</a:t>
            </a:r>
            <a:endParaRPr lang="en-US" altLang="zh-CN" sz="3200" dirty="0" smtClean="0"/>
          </a:p>
          <a:p>
            <a:r>
              <a:rPr lang="zh-CN" altLang="en-US" sz="3200" dirty="0" smtClean="0"/>
              <a:t>研究的意义</a:t>
            </a:r>
            <a:endParaRPr lang="zh-CN" altLang="en-US" sz="3200" dirty="0"/>
          </a:p>
        </p:txBody>
      </p:sp>
      <p:sp>
        <p:nvSpPr>
          <p:cNvPr id="3" name="文本占位符 2"/>
          <p:cNvSpPr>
            <a:spLocks noGrp="1"/>
          </p:cNvSpPr>
          <p:nvPr>
            <p:ph type="body" sz="quarter" idx="11"/>
          </p:nvPr>
        </p:nvSpPr>
        <p:spPr/>
        <p:txBody>
          <a:bodyPr/>
          <a:lstStyle/>
          <a:p>
            <a:r>
              <a:rPr lang="en-US" altLang="zh-CN" dirty="0"/>
              <a:t>Part Two</a:t>
            </a:r>
            <a:endParaRPr lang="zh-CN" altLang="en-US" dirty="0"/>
          </a:p>
          <a:p>
            <a:endParaRPr lang="zh-CN" altLang="en-US" dirty="0"/>
          </a:p>
        </p:txBody>
      </p:sp>
    </p:spTree>
    <p:extLst>
      <p:ext uri="{BB962C8B-B14F-4D97-AF65-F5344CB8AC3E}">
        <p14:creationId xmlns:p14="http://schemas.microsoft.com/office/powerpoint/2010/main" val="52084001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3147" y="573532"/>
            <a:ext cx="3157037" cy="887620"/>
          </a:xfrm>
        </p:spPr>
        <p:txBody>
          <a:bodyPr/>
          <a:lstStyle/>
          <a:p>
            <a:r>
              <a:rPr lang="zh-CN" altLang="en-US" sz="3200" dirty="0"/>
              <a:t>社交网络分析</a:t>
            </a:r>
            <a:endParaRPr lang="en-US" altLang="zh-CN" sz="3200" dirty="0"/>
          </a:p>
          <a:p>
            <a:r>
              <a:rPr lang="zh-CN" altLang="en-US" sz="3200" dirty="0"/>
              <a:t>研究的意义</a:t>
            </a:r>
          </a:p>
        </p:txBody>
      </p:sp>
      <p:sp>
        <p:nvSpPr>
          <p:cNvPr id="3" name="文本占位符 2"/>
          <p:cNvSpPr>
            <a:spLocks noGrp="1"/>
          </p:cNvSpPr>
          <p:nvPr>
            <p:ph type="body" sz="quarter" idx="11"/>
          </p:nvPr>
        </p:nvSpPr>
        <p:spPr>
          <a:xfrm>
            <a:off x="558800" y="1659674"/>
            <a:ext cx="3157037" cy="475683"/>
          </a:xfrm>
        </p:spPr>
        <p:txBody>
          <a:bodyPr/>
          <a:lstStyle/>
          <a:p>
            <a:r>
              <a:rPr lang="en-US" altLang="zh-CN" dirty="0"/>
              <a:t>Part </a:t>
            </a:r>
            <a:r>
              <a:rPr lang="en-US" altLang="zh-CN" dirty="0" smtClean="0"/>
              <a:t>Two</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9" name="矩形 8"/>
          <p:cNvSpPr/>
          <p:nvPr/>
        </p:nvSpPr>
        <p:spPr>
          <a:xfrm>
            <a:off x="3048000" y="3105835"/>
            <a:ext cx="6096000" cy="369332"/>
          </a:xfrm>
          <a:prstGeom prst="rect">
            <a:avLst/>
          </a:prstGeom>
        </p:spPr>
        <p:txBody>
          <a:bodyPr>
            <a:spAutoFit/>
          </a:bodyPr>
          <a:lstStyle/>
          <a:p>
            <a:endParaRPr lang="zh-CN" altLang="en-US" dirty="0"/>
          </a:p>
        </p:txBody>
      </p:sp>
      <p:sp>
        <p:nvSpPr>
          <p:cNvPr id="4" name="文本框 3"/>
          <p:cNvSpPr txBox="1"/>
          <p:nvPr/>
        </p:nvSpPr>
        <p:spPr>
          <a:xfrm>
            <a:off x="3405808" y="529739"/>
            <a:ext cx="6414053" cy="1754326"/>
          </a:xfrm>
          <a:prstGeom prst="rect">
            <a:avLst/>
          </a:prstGeom>
          <a:noFill/>
        </p:spPr>
        <p:txBody>
          <a:bodyPr wrap="square" rtlCol="0">
            <a:spAutoFit/>
          </a:bodyPr>
          <a:lstStyle/>
          <a:p>
            <a:pPr indent="457200">
              <a:lnSpc>
                <a:spcPct val="150000"/>
              </a:lnSpc>
            </a:pPr>
            <a:r>
              <a:rPr lang="zh-CN" altLang="en-US" dirty="0" smtClean="0"/>
              <a:t>与传统的</a:t>
            </a:r>
            <a:r>
              <a:rPr lang="en-US" altLang="zh-CN" dirty="0" smtClean="0"/>
              <a:t>web</a:t>
            </a:r>
            <a:r>
              <a:rPr lang="zh-CN" altLang="en-US" dirty="0" smtClean="0"/>
              <a:t>应用以及信息媒体应用相比，社交网络信息的发布与接收异常简便、迅速。人人都有话语权，同时消息一旦发布可能通过“核裂变”的方式传播扩散，能够对现实社会产生影响。</a:t>
            </a:r>
            <a:endParaRPr lang="en-US" altLang="zh-CN" dirty="0" smtClean="0"/>
          </a:p>
        </p:txBody>
      </p:sp>
      <p:sp>
        <p:nvSpPr>
          <p:cNvPr id="5" name="矩形 4"/>
          <p:cNvSpPr/>
          <p:nvPr/>
        </p:nvSpPr>
        <p:spPr>
          <a:xfrm>
            <a:off x="2888974" y="2383869"/>
            <a:ext cx="5764696" cy="81148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zh-CN" dirty="0"/>
              <a:t>社会个体通过各种连接关系在社交网络上构成“关系结构”，包括以各种复杂关系关联而形成的虚拟社区。</a:t>
            </a:r>
            <a:endParaRPr lang="zh-CN" altLang="en-US" dirty="0"/>
          </a:p>
        </p:txBody>
      </p:sp>
      <p:sp>
        <p:nvSpPr>
          <p:cNvPr id="10" name="矩形 9"/>
          <p:cNvSpPr/>
          <p:nvPr/>
        </p:nvSpPr>
        <p:spPr>
          <a:xfrm>
            <a:off x="2888974" y="3950391"/>
            <a:ext cx="5764696" cy="81148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zh-CN" dirty="0"/>
              <a:t>基于社交网络的关系结构，大量网络个体围绕着某个事件而聚合、并相互影响、作用、依赖、从而形成具有共同行为特征的“网络群体”；</a:t>
            </a:r>
            <a:endParaRPr lang="zh-CN" altLang="en-US" dirty="0"/>
          </a:p>
        </p:txBody>
      </p:sp>
      <p:sp>
        <p:nvSpPr>
          <p:cNvPr id="11" name="矩形 10"/>
          <p:cNvSpPr/>
          <p:nvPr/>
        </p:nvSpPr>
        <p:spPr>
          <a:xfrm>
            <a:off x="2888974" y="5516913"/>
            <a:ext cx="5764696" cy="811480"/>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pPr algn="ctr"/>
            <a:r>
              <a:rPr lang="zh-CN" altLang="zh-CN" dirty="0"/>
              <a:t>基于社交网络关系结构和网络群体，各类“网络信息”得以快速发布并传播扩散形成社会化媒体，进而反馈到现实社会。</a:t>
            </a:r>
            <a:endParaRPr lang="zh-CN" altLang="en-US" dirty="0"/>
          </a:p>
        </p:txBody>
      </p:sp>
      <p:sp>
        <p:nvSpPr>
          <p:cNvPr id="6" name="下箭头 5"/>
          <p:cNvSpPr/>
          <p:nvPr/>
        </p:nvSpPr>
        <p:spPr>
          <a:xfrm>
            <a:off x="5340626" y="3195349"/>
            <a:ext cx="430696" cy="755042"/>
          </a:xfrm>
          <a:prstGeom prst="downArrow">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3" name="下箭头 12"/>
          <p:cNvSpPr/>
          <p:nvPr/>
        </p:nvSpPr>
        <p:spPr>
          <a:xfrm>
            <a:off x="5340626" y="4761871"/>
            <a:ext cx="430696" cy="755042"/>
          </a:xfrm>
          <a:prstGeom prst="downArrow">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extLst>
      <p:ext uri="{BB962C8B-B14F-4D97-AF65-F5344CB8AC3E}">
        <p14:creationId xmlns:p14="http://schemas.microsoft.com/office/powerpoint/2010/main" val="33330905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dirty="0"/>
              <a:t>社交</a:t>
            </a:r>
            <a:r>
              <a:rPr lang="zh-CN" altLang="en-US" sz="3200" dirty="0" smtClean="0"/>
              <a:t>网络</a:t>
            </a:r>
            <a:r>
              <a:rPr lang="zh-CN" altLang="en-US" sz="3200" dirty="0"/>
              <a:t>统计</a:t>
            </a:r>
            <a:endParaRPr lang="en-US" altLang="zh-CN" sz="3200" dirty="0"/>
          </a:p>
          <a:p>
            <a:r>
              <a:rPr lang="zh-CN" altLang="en-US" sz="3200" dirty="0"/>
              <a:t>特性</a:t>
            </a:r>
            <a:endParaRPr lang="en-US" altLang="zh-CN" sz="3200" dirty="0"/>
          </a:p>
        </p:txBody>
      </p:sp>
      <p:sp>
        <p:nvSpPr>
          <p:cNvPr id="3" name="文本占位符 2"/>
          <p:cNvSpPr>
            <a:spLocks noGrp="1"/>
          </p:cNvSpPr>
          <p:nvPr>
            <p:ph type="body" sz="quarter" idx="11"/>
          </p:nvPr>
        </p:nvSpPr>
        <p:spPr>
          <a:xfrm>
            <a:off x="4965633" y="3803516"/>
            <a:ext cx="2429079" cy="425584"/>
          </a:xfrm>
        </p:spPr>
        <p:txBody>
          <a:bodyPr/>
          <a:lstStyle/>
          <a:p>
            <a:r>
              <a:rPr lang="en-US" altLang="zh-CN" dirty="0" smtClean="0"/>
              <a:t>Part Three</a:t>
            </a:r>
            <a:endParaRPr lang="zh-CN" altLang="en-US" dirty="0"/>
          </a:p>
          <a:p>
            <a:endParaRPr lang="zh-CN" altLang="en-US" dirty="0"/>
          </a:p>
        </p:txBody>
      </p:sp>
    </p:spTree>
    <p:extLst>
      <p:ext uri="{BB962C8B-B14F-4D97-AF65-F5344CB8AC3E}">
        <p14:creationId xmlns:p14="http://schemas.microsoft.com/office/powerpoint/2010/main" val="39804565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3147" y="573532"/>
            <a:ext cx="3157037" cy="887620"/>
          </a:xfrm>
        </p:spPr>
        <p:txBody>
          <a:bodyPr/>
          <a:lstStyle/>
          <a:p>
            <a:r>
              <a:rPr lang="zh-CN" altLang="en-US" sz="3200" dirty="0"/>
              <a:t>社交网络</a:t>
            </a:r>
            <a:r>
              <a:rPr lang="zh-CN" altLang="en-US" sz="3200" dirty="0" smtClean="0"/>
              <a:t>的统计特性</a:t>
            </a:r>
            <a:endParaRPr lang="zh-CN" altLang="en-US" sz="3200" dirty="0"/>
          </a:p>
        </p:txBody>
      </p:sp>
      <p:sp>
        <p:nvSpPr>
          <p:cNvPr id="3" name="文本占位符 2"/>
          <p:cNvSpPr>
            <a:spLocks noGrp="1"/>
          </p:cNvSpPr>
          <p:nvPr>
            <p:ph type="body" sz="quarter" idx="11"/>
          </p:nvPr>
        </p:nvSpPr>
        <p:spPr>
          <a:xfrm>
            <a:off x="558800" y="1659674"/>
            <a:ext cx="3157037" cy="475683"/>
          </a:xfrm>
        </p:spPr>
        <p:txBody>
          <a:bodyPr/>
          <a:lstStyle/>
          <a:p>
            <a:r>
              <a:rPr lang="en-US" altLang="zh-CN" dirty="0"/>
              <a:t>Part </a:t>
            </a:r>
            <a:r>
              <a:rPr lang="en-US" altLang="zh-CN" dirty="0" smtClean="0"/>
              <a:t>Three</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2224764" y="2891101"/>
            <a:ext cx="7988852" cy="2585323"/>
          </a:xfrm>
          <a:prstGeom prst="rect">
            <a:avLst/>
          </a:prstGeom>
          <a:noFill/>
        </p:spPr>
        <p:txBody>
          <a:bodyPr wrap="square" rtlCol="0">
            <a:spAutoFit/>
          </a:bodyPr>
          <a:lstStyle/>
          <a:p>
            <a:pPr marL="342900" indent="457200">
              <a:lnSpc>
                <a:spcPct val="150000"/>
              </a:lnSpc>
            </a:pPr>
            <a:r>
              <a:rPr lang="zh-CN" altLang="en-US" dirty="0" smtClean="0"/>
              <a:t>理解社交网络的最直观的方法是观察其拓扑结构。随着在线社交网络用户日益增多，通过可视化的方式来研究社交网络在很多情况下并不适用。</a:t>
            </a:r>
            <a:endParaRPr lang="en-US" altLang="zh-CN" dirty="0" smtClean="0"/>
          </a:p>
          <a:p>
            <a:pPr marL="342900" indent="457200">
              <a:lnSpc>
                <a:spcPct val="150000"/>
              </a:lnSpc>
            </a:pPr>
            <a:r>
              <a:rPr lang="zh-CN" altLang="en-US" dirty="0" smtClean="0"/>
              <a:t>近年来，大量工作关注于社交网络的统计特性。统计特性的发现不仅可以让我们更加有效地关注于社交网络地整体特点，而且对它对社交网络中个体行为分析、信息传播、舆情发现及预警等关键地应用问题有着至关重要的推动作用。</a:t>
            </a:r>
            <a:endParaRPr lang="en-US" altLang="zh-CN" dirty="0" smtClean="0"/>
          </a:p>
        </p:txBody>
      </p:sp>
    </p:spTree>
    <p:extLst>
      <p:ext uri="{BB962C8B-B14F-4D97-AF65-F5344CB8AC3E}">
        <p14:creationId xmlns:p14="http://schemas.microsoft.com/office/powerpoint/2010/main" val="16493163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4852" y="427541"/>
            <a:ext cx="2630888" cy="2464265"/>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2" name="文本占位符 1"/>
          <p:cNvSpPr>
            <a:spLocks noGrp="1"/>
          </p:cNvSpPr>
          <p:nvPr>
            <p:ph type="body" sz="quarter" idx="10"/>
          </p:nvPr>
        </p:nvSpPr>
        <p:spPr>
          <a:xfrm>
            <a:off x="553147" y="573532"/>
            <a:ext cx="3157037" cy="887620"/>
          </a:xfrm>
        </p:spPr>
        <p:txBody>
          <a:bodyPr/>
          <a:lstStyle/>
          <a:p>
            <a:r>
              <a:rPr lang="zh-CN" altLang="en-US" sz="3200" dirty="0"/>
              <a:t>社交网络</a:t>
            </a:r>
            <a:r>
              <a:rPr lang="zh-CN" altLang="en-US" sz="3200" dirty="0" smtClean="0"/>
              <a:t>的统计特性</a:t>
            </a:r>
            <a:endParaRPr lang="zh-CN" altLang="en-US" sz="3200" dirty="0"/>
          </a:p>
        </p:txBody>
      </p:sp>
      <p:sp>
        <p:nvSpPr>
          <p:cNvPr id="3" name="文本占位符 2"/>
          <p:cNvSpPr>
            <a:spLocks noGrp="1"/>
          </p:cNvSpPr>
          <p:nvPr>
            <p:ph type="body" sz="quarter" idx="11"/>
          </p:nvPr>
        </p:nvSpPr>
        <p:spPr>
          <a:xfrm>
            <a:off x="558800" y="1659674"/>
            <a:ext cx="3157037" cy="475683"/>
          </a:xfrm>
        </p:spPr>
        <p:txBody>
          <a:bodyPr/>
          <a:lstStyle/>
          <a:p>
            <a:r>
              <a:rPr lang="en-US" altLang="zh-CN" dirty="0"/>
              <a:t>Part </a:t>
            </a:r>
            <a:r>
              <a:rPr lang="en-US" altLang="zh-CN" dirty="0" smtClean="0"/>
              <a:t>Three</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2387600" y="2557670"/>
            <a:ext cx="7988852" cy="3000821"/>
          </a:xfrm>
          <a:prstGeom prst="rect">
            <a:avLst/>
          </a:prstGeom>
          <a:noFill/>
        </p:spPr>
        <p:txBody>
          <a:bodyPr wrap="square" rtlCol="0">
            <a:spAutoFit/>
          </a:bodyPr>
          <a:lstStyle/>
          <a:p>
            <a:pPr marL="342900">
              <a:lnSpc>
                <a:spcPct val="150000"/>
              </a:lnSpc>
            </a:pPr>
            <a:r>
              <a:rPr lang="zh-CN" altLang="en-US" dirty="0" smtClean="0">
                <a:solidFill>
                  <a:srgbClr val="0070C0"/>
                </a:solidFill>
              </a:rPr>
              <a:t>六度分隔理论（</a:t>
            </a:r>
            <a:r>
              <a:rPr lang="en-US" altLang="zh-CN" dirty="0" smtClean="0">
                <a:solidFill>
                  <a:srgbClr val="0070C0"/>
                </a:solidFill>
              </a:rPr>
              <a:t>six degrees of separation</a:t>
            </a:r>
            <a:r>
              <a:rPr lang="zh-CN" altLang="en-US" dirty="0" smtClean="0">
                <a:solidFill>
                  <a:srgbClr val="0070C0"/>
                </a:solidFill>
              </a:rPr>
              <a:t>）与小世界现象（</a:t>
            </a:r>
            <a:r>
              <a:rPr lang="en-US" altLang="zh-CN" dirty="0" smtClean="0">
                <a:solidFill>
                  <a:srgbClr val="0070C0"/>
                </a:solidFill>
              </a:rPr>
              <a:t>small-world</a:t>
            </a:r>
            <a:r>
              <a:rPr lang="zh-CN" altLang="en-US" dirty="0" smtClean="0">
                <a:solidFill>
                  <a:srgbClr val="0070C0"/>
                </a:solidFill>
              </a:rPr>
              <a:t>）</a:t>
            </a:r>
            <a:r>
              <a:rPr lang="en-US" altLang="zh-CN" dirty="0" smtClean="0">
                <a:solidFill>
                  <a:srgbClr val="0070C0"/>
                </a:solidFill>
              </a:rPr>
              <a:t>:</a:t>
            </a:r>
          </a:p>
          <a:p>
            <a:pPr indent="457200">
              <a:lnSpc>
                <a:spcPct val="150000"/>
              </a:lnSpc>
            </a:pPr>
            <a:r>
              <a:rPr lang="zh-CN" altLang="en-US" dirty="0"/>
              <a:t>六</a:t>
            </a:r>
            <a:r>
              <a:rPr lang="zh-CN" altLang="en-US" dirty="0" smtClean="0"/>
              <a:t>度分隔理论认为社会网络中，任意两个人通过其他节点来连接之间，他们之间的平均距离是</a:t>
            </a:r>
            <a:r>
              <a:rPr lang="en-US" altLang="zh-CN" dirty="0" smtClean="0"/>
              <a:t>6</a:t>
            </a:r>
            <a:r>
              <a:rPr lang="zh-CN" altLang="en-US" dirty="0" smtClean="0"/>
              <a:t>，即他们之间只通过</a:t>
            </a:r>
            <a:r>
              <a:rPr lang="en-US" altLang="zh-CN" dirty="0" smtClean="0"/>
              <a:t>5</a:t>
            </a:r>
            <a:r>
              <a:rPr lang="zh-CN" altLang="en-US" dirty="0" smtClean="0"/>
              <a:t>个人就可以完成连接。</a:t>
            </a:r>
            <a:endParaRPr lang="en-US" altLang="zh-CN" dirty="0" smtClean="0"/>
          </a:p>
          <a:p>
            <a:pPr indent="457200">
              <a:lnSpc>
                <a:spcPct val="150000"/>
              </a:lnSpc>
            </a:pPr>
            <a:r>
              <a:rPr lang="zh-CN" altLang="en-US" dirty="0"/>
              <a:t>与“六度分隔理论”不同的是，小世界网络具有较小的平均距离还具有较高的</a:t>
            </a:r>
            <a:r>
              <a:rPr lang="zh-CN" altLang="en-US" dirty="0">
                <a:solidFill>
                  <a:srgbClr val="FF0000"/>
                </a:solidFill>
              </a:rPr>
              <a:t>聚集系数（</a:t>
            </a:r>
            <a:r>
              <a:rPr lang="en-US" altLang="zh-CN" dirty="0">
                <a:solidFill>
                  <a:srgbClr val="FF0000"/>
                </a:solidFill>
              </a:rPr>
              <a:t>Clustering Coefficient</a:t>
            </a:r>
            <a:r>
              <a:rPr lang="zh-CN" altLang="en-US" dirty="0" smtClean="0">
                <a:solidFill>
                  <a:srgbClr val="FF0000"/>
                </a:solidFill>
              </a:rPr>
              <a:t>）</a:t>
            </a:r>
            <a:r>
              <a:rPr lang="zh-CN" altLang="en-US" dirty="0" smtClean="0"/>
              <a:t>，而聚集系数常用来描述任取一个节点，它的邻居也互为邻居的概率。</a:t>
            </a:r>
            <a:endParaRPr lang="en-US" altLang="zh-CN" dirty="0" smtClean="0"/>
          </a:p>
          <a:p>
            <a:pPr indent="457200">
              <a:lnSpc>
                <a:spcPct val="150000"/>
              </a:lnSpc>
            </a:pPr>
            <a:r>
              <a:rPr lang="zh-CN" altLang="en-US" dirty="0"/>
              <a:t>社交</a:t>
            </a:r>
            <a:r>
              <a:rPr lang="zh-CN" altLang="en-US" dirty="0" smtClean="0"/>
              <a:t>网络中的小世界现象使得节点与节点之间的去中心化搜索更加容易。</a:t>
            </a:r>
            <a:endParaRPr lang="en-US" altLang="zh-CN" dirty="0" smtClean="0"/>
          </a:p>
        </p:txBody>
      </p:sp>
    </p:spTree>
    <p:extLst>
      <p:ext uri="{BB962C8B-B14F-4D97-AF65-F5344CB8AC3E}">
        <p14:creationId xmlns:p14="http://schemas.microsoft.com/office/powerpoint/2010/main" val="3511670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3147" y="573532"/>
            <a:ext cx="3157037" cy="887620"/>
          </a:xfrm>
        </p:spPr>
        <p:txBody>
          <a:bodyPr/>
          <a:lstStyle/>
          <a:p>
            <a:r>
              <a:rPr lang="zh-CN" altLang="en-US" sz="3200" dirty="0"/>
              <a:t>社交网络</a:t>
            </a:r>
            <a:r>
              <a:rPr lang="zh-CN" altLang="en-US" sz="3200" dirty="0" smtClean="0"/>
              <a:t>的统计特性</a:t>
            </a:r>
            <a:endParaRPr lang="zh-CN" altLang="en-US" sz="3200" dirty="0"/>
          </a:p>
        </p:txBody>
      </p:sp>
      <p:sp>
        <p:nvSpPr>
          <p:cNvPr id="3" name="文本占位符 2"/>
          <p:cNvSpPr>
            <a:spLocks noGrp="1"/>
          </p:cNvSpPr>
          <p:nvPr>
            <p:ph type="body" sz="quarter" idx="11"/>
          </p:nvPr>
        </p:nvSpPr>
        <p:spPr>
          <a:xfrm>
            <a:off x="558800" y="1659674"/>
            <a:ext cx="3157037" cy="475683"/>
          </a:xfrm>
        </p:spPr>
        <p:txBody>
          <a:bodyPr/>
          <a:lstStyle/>
          <a:p>
            <a:r>
              <a:rPr lang="en-US" altLang="zh-CN" dirty="0"/>
              <a:t>Part </a:t>
            </a:r>
            <a:r>
              <a:rPr lang="en-US" altLang="zh-CN" dirty="0" smtClean="0"/>
              <a:t>Three</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2387600" y="2557670"/>
            <a:ext cx="7988852" cy="3000821"/>
          </a:xfrm>
          <a:prstGeom prst="rect">
            <a:avLst/>
          </a:prstGeom>
          <a:noFill/>
        </p:spPr>
        <p:txBody>
          <a:bodyPr wrap="square" rtlCol="0">
            <a:spAutoFit/>
          </a:bodyPr>
          <a:lstStyle/>
          <a:p>
            <a:pPr marL="342900">
              <a:lnSpc>
                <a:spcPct val="150000"/>
              </a:lnSpc>
            </a:pPr>
            <a:r>
              <a:rPr lang="zh-CN" altLang="en-US" dirty="0" smtClean="0">
                <a:solidFill>
                  <a:srgbClr val="0070C0"/>
                </a:solidFill>
              </a:rPr>
              <a:t>无标度现象（</a:t>
            </a:r>
            <a:r>
              <a:rPr lang="en-US" altLang="zh-CN" dirty="0" smtClean="0">
                <a:solidFill>
                  <a:srgbClr val="0070C0"/>
                </a:solidFill>
              </a:rPr>
              <a:t>scale free</a:t>
            </a:r>
            <a:r>
              <a:rPr lang="zh-CN" altLang="en-US" dirty="0" smtClean="0">
                <a:solidFill>
                  <a:srgbClr val="0070C0"/>
                </a:solidFill>
              </a:rPr>
              <a:t>）：</a:t>
            </a:r>
            <a:endParaRPr lang="en-US" altLang="zh-CN" dirty="0" smtClean="0">
              <a:solidFill>
                <a:srgbClr val="0070C0"/>
              </a:solidFill>
            </a:endParaRPr>
          </a:p>
          <a:p>
            <a:pPr marL="342900">
              <a:lnSpc>
                <a:spcPct val="150000"/>
              </a:lnSpc>
            </a:pPr>
            <a:r>
              <a:rPr lang="zh-CN" altLang="en-US" dirty="0"/>
              <a:t>无标度特性指的是网络中的度服从幂律分布（</a:t>
            </a:r>
            <a:r>
              <a:rPr lang="en-US" altLang="zh-CN" dirty="0"/>
              <a:t>Power law distribution</a:t>
            </a:r>
            <a:r>
              <a:rPr lang="zh-CN" altLang="en-US" dirty="0"/>
              <a:t>）。研究表明社交网络具有无标度特性，即绝大多数用户具有较少的社会关系，极少数用户存在较多的社会关系</a:t>
            </a:r>
            <a:r>
              <a:rPr lang="zh-CN" altLang="en-US" dirty="0" smtClean="0"/>
              <a:t>。</a:t>
            </a:r>
            <a:endParaRPr lang="en-US" altLang="zh-CN" dirty="0" smtClean="0"/>
          </a:p>
          <a:p>
            <a:pPr marL="342900">
              <a:lnSpc>
                <a:spcPct val="150000"/>
              </a:lnSpc>
            </a:pPr>
            <a:endParaRPr lang="en-US" altLang="zh-CN" dirty="0" smtClean="0"/>
          </a:p>
          <a:p>
            <a:pPr marL="342900">
              <a:lnSpc>
                <a:spcPct val="150000"/>
              </a:lnSpc>
            </a:pPr>
            <a:r>
              <a:rPr lang="zh-CN" altLang="zh-CN" dirty="0"/>
              <a:t>无标度特性的存在使得社交网络具有很多独特的性质，如去中心化搜索的高效性、信息传播的可控制性等。</a:t>
            </a:r>
            <a:endParaRPr lang="en-US" altLang="zh-CN" dirty="0" smtClean="0"/>
          </a:p>
        </p:txBody>
      </p:sp>
    </p:spTree>
    <p:extLst>
      <p:ext uri="{BB962C8B-B14F-4D97-AF65-F5344CB8AC3E}">
        <p14:creationId xmlns:p14="http://schemas.microsoft.com/office/powerpoint/2010/main" val="34397757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3147" y="573532"/>
            <a:ext cx="3157037" cy="887620"/>
          </a:xfrm>
        </p:spPr>
        <p:txBody>
          <a:bodyPr/>
          <a:lstStyle/>
          <a:p>
            <a:r>
              <a:rPr lang="zh-CN" altLang="en-US" sz="3200" dirty="0"/>
              <a:t>社交网络</a:t>
            </a:r>
            <a:r>
              <a:rPr lang="zh-CN" altLang="en-US" sz="3200" dirty="0" smtClean="0"/>
              <a:t>的统计特性</a:t>
            </a:r>
            <a:endParaRPr lang="zh-CN" altLang="en-US" sz="3200" dirty="0"/>
          </a:p>
        </p:txBody>
      </p:sp>
      <p:sp>
        <p:nvSpPr>
          <p:cNvPr id="3" name="文本占位符 2"/>
          <p:cNvSpPr>
            <a:spLocks noGrp="1"/>
          </p:cNvSpPr>
          <p:nvPr>
            <p:ph type="body" sz="quarter" idx="11"/>
          </p:nvPr>
        </p:nvSpPr>
        <p:spPr>
          <a:xfrm>
            <a:off x="558800" y="1659674"/>
            <a:ext cx="3157037" cy="475683"/>
          </a:xfrm>
        </p:spPr>
        <p:txBody>
          <a:bodyPr/>
          <a:lstStyle/>
          <a:p>
            <a:r>
              <a:rPr lang="en-US" altLang="zh-CN" dirty="0"/>
              <a:t>Part </a:t>
            </a:r>
            <a:r>
              <a:rPr lang="en-US" altLang="zh-CN" dirty="0" smtClean="0"/>
              <a:t>Three</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2387600" y="2557670"/>
            <a:ext cx="7988852" cy="3831818"/>
          </a:xfrm>
          <a:prstGeom prst="rect">
            <a:avLst/>
          </a:prstGeom>
          <a:noFill/>
        </p:spPr>
        <p:txBody>
          <a:bodyPr wrap="square" rtlCol="0">
            <a:spAutoFit/>
          </a:bodyPr>
          <a:lstStyle/>
          <a:p>
            <a:pPr marL="342900">
              <a:lnSpc>
                <a:spcPct val="150000"/>
              </a:lnSpc>
            </a:pPr>
            <a:r>
              <a:rPr lang="zh-CN" altLang="en-US" dirty="0" smtClean="0">
                <a:solidFill>
                  <a:srgbClr val="0070C0"/>
                </a:solidFill>
              </a:rPr>
              <a:t>中心性：</a:t>
            </a:r>
            <a:endParaRPr lang="en-US" altLang="zh-CN" dirty="0" smtClean="0">
              <a:solidFill>
                <a:srgbClr val="0070C0"/>
              </a:solidFill>
            </a:endParaRPr>
          </a:p>
          <a:p>
            <a:pPr indent="457200">
              <a:lnSpc>
                <a:spcPct val="150000"/>
              </a:lnSpc>
            </a:pPr>
            <a:r>
              <a:rPr lang="en-US" altLang="zh-CN" dirty="0" smtClean="0"/>
              <a:t>1</a:t>
            </a:r>
            <a:r>
              <a:rPr lang="en-US" altLang="zh-CN" dirty="0"/>
              <a:t>) </a:t>
            </a:r>
            <a:r>
              <a:rPr lang="zh-CN" altLang="en-US" dirty="0"/>
              <a:t>度中心性：节点的度与最大可能的度的比值</a:t>
            </a:r>
          </a:p>
          <a:p>
            <a:pPr indent="457200">
              <a:lnSpc>
                <a:spcPct val="150000"/>
              </a:lnSpc>
            </a:pPr>
            <a:r>
              <a:rPr lang="en-US" altLang="zh-CN" dirty="0" smtClean="0"/>
              <a:t>2</a:t>
            </a:r>
            <a:r>
              <a:rPr lang="en-US" altLang="zh-CN" dirty="0"/>
              <a:t>) </a:t>
            </a:r>
            <a:r>
              <a:rPr lang="zh-CN" altLang="en-US" dirty="0"/>
              <a:t>介数中心性：介数用来描述网络中节点承载最短路径的能力，节点的介数等于网络中所有最短路径中经过该节点的概率之和。</a:t>
            </a:r>
          </a:p>
          <a:p>
            <a:pPr indent="457200">
              <a:lnSpc>
                <a:spcPct val="150000"/>
              </a:lnSpc>
            </a:pPr>
            <a:r>
              <a:rPr lang="en-US" altLang="zh-CN" dirty="0" smtClean="0"/>
              <a:t>3) </a:t>
            </a:r>
            <a:r>
              <a:rPr lang="zh-CN" altLang="en-US" dirty="0"/>
              <a:t>紧密度中心性：紧密度定义为节点到其他所有节点的最短路径之和的倒数乘以其他节点个数。</a:t>
            </a:r>
          </a:p>
          <a:p>
            <a:pPr indent="457200">
              <a:lnSpc>
                <a:spcPct val="150000"/>
              </a:lnSpc>
            </a:pPr>
            <a:r>
              <a:rPr lang="en-US" altLang="zh-CN" dirty="0" smtClean="0"/>
              <a:t>4) </a:t>
            </a:r>
            <a:r>
              <a:rPr lang="zh-CN" altLang="en-US" dirty="0" smtClean="0"/>
              <a:t>核</a:t>
            </a:r>
            <a:r>
              <a:rPr lang="zh-CN" altLang="en-US" dirty="0"/>
              <a:t>数：一个网络中的</a:t>
            </a:r>
            <a:r>
              <a:rPr lang="en-US" altLang="zh-CN" dirty="0"/>
              <a:t>k-core</a:t>
            </a:r>
            <a:r>
              <a:rPr lang="zh-CN" altLang="en-US" dirty="0"/>
              <a:t>指的是反复去掉该网络中度小于或等于</a:t>
            </a:r>
            <a:r>
              <a:rPr lang="en-US" altLang="zh-CN" dirty="0"/>
              <a:t>k</a:t>
            </a:r>
            <a:r>
              <a:rPr lang="zh-CN" altLang="en-US" dirty="0"/>
              <a:t>的节点及其关联的边后，剩余的子图。一个节点的核数等于</a:t>
            </a:r>
            <a:r>
              <a:rPr lang="en-US" altLang="zh-CN" dirty="0"/>
              <a:t>k</a:t>
            </a:r>
            <a:r>
              <a:rPr lang="zh-CN" altLang="en-US" dirty="0"/>
              <a:t>，当且仅当这个节点存在于网络的</a:t>
            </a:r>
            <a:r>
              <a:rPr lang="en-US" altLang="zh-CN" dirty="0"/>
              <a:t>k-core</a:t>
            </a:r>
            <a:r>
              <a:rPr lang="zh-CN" altLang="en-US" dirty="0"/>
              <a:t>中且不存在于（</a:t>
            </a:r>
            <a:r>
              <a:rPr lang="en-US" altLang="zh-CN" dirty="0"/>
              <a:t>k+1</a:t>
            </a:r>
            <a:r>
              <a:rPr lang="zh-CN" altLang="en-US" dirty="0"/>
              <a:t>）核中。</a:t>
            </a:r>
            <a:endParaRPr lang="en-US" altLang="zh-CN" dirty="0" smtClean="0"/>
          </a:p>
        </p:txBody>
      </p:sp>
    </p:spTree>
    <p:extLst>
      <p:ext uri="{BB962C8B-B14F-4D97-AF65-F5344CB8AC3E}">
        <p14:creationId xmlns:p14="http://schemas.microsoft.com/office/powerpoint/2010/main" val="2881497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3147" y="573532"/>
            <a:ext cx="3157037" cy="887620"/>
          </a:xfrm>
        </p:spPr>
        <p:txBody>
          <a:bodyPr/>
          <a:lstStyle/>
          <a:p>
            <a:r>
              <a:rPr lang="zh-CN" altLang="en-US" sz="3200" dirty="0"/>
              <a:t>社交网络</a:t>
            </a:r>
            <a:r>
              <a:rPr lang="zh-CN" altLang="en-US" sz="3200" dirty="0" smtClean="0"/>
              <a:t>的统计特性</a:t>
            </a:r>
            <a:endParaRPr lang="zh-CN" altLang="en-US" sz="3200" dirty="0"/>
          </a:p>
        </p:txBody>
      </p:sp>
      <p:sp>
        <p:nvSpPr>
          <p:cNvPr id="3" name="文本占位符 2"/>
          <p:cNvSpPr>
            <a:spLocks noGrp="1"/>
          </p:cNvSpPr>
          <p:nvPr>
            <p:ph type="body" sz="quarter" idx="11"/>
          </p:nvPr>
        </p:nvSpPr>
        <p:spPr>
          <a:xfrm>
            <a:off x="558800" y="1659674"/>
            <a:ext cx="3157037" cy="475683"/>
          </a:xfrm>
        </p:spPr>
        <p:txBody>
          <a:bodyPr/>
          <a:lstStyle/>
          <a:p>
            <a:r>
              <a:rPr lang="en-US" altLang="zh-CN" dirty="0"/>
              <a:t>Part </a:t>
            </a:r>
            <a:r>
              <a:rPr lang="en-US" altLang="zh-CN" dirty="0" smtClean="0"/>
              <a:t>Three</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2387600" y="2557670"/>
            <a:ext cx="7988852" cy="3000821"/>
          </a:xfrm>
          <a:prstGeom prst="rect">
            <a:avLst/>
          </a:prstGeom>
          <a:noFill/>
        </p:spPr>
        <p:txBody>
          <a:bodyPr wrap="square" rtlCol="0">
            <a:spAutoFit/>
          </a:bodyPr>
          <a:lstStyle/>
          <a:p>
            <a:pPr marL="342900">
              <a:lnSpc>
                <a:spcPct val="150000"/>
              </a:lnSpc>
            </a:pPr>
            <a:r>
              <a:rPr lang="zh-CN" altLang="en-US" dirty="0" smtClean="0">
                <a:solidFill>
                  <a:srgbClr val="0070C0"/>
                </a:solidFill>
              </a:rPr>
              <a:t>同配性</a:t>
            </a:r>
            <a:r>
              <a:rPr lang="en-US" altLang="zh-CN" dirty="0" smtClean="0">
                <a:solidFill>
                  <a:srgbClr val="0070C0"/>
                </a:solidFill>
              </a:rPr>
              <a:t>:</a:t>
            </a:r>
          </a:p>
          <a:p>
            <a:pPr indent="457200">
              <a:lnSpc>
                <a:spcPct val="150000"/>
              </a:lnSpc>
            </a:pPr>
            <a:r>
              <a:rPr lang="zh-CN" altLang="zh-CN" dirty="0"/>
              <a:t>网络的同配系数（Assortativity Coefficient</a:t>
            </a:r>
            <a:r>
              <a:rPr lang="zh-CN" altLang="zh-CN" dirty="0" smtClean="0"/>
              <a:t>）</a:t>
            </a:r>
            <a:r>
              <a:rPr lang="zh-CN" altLang="en-US" dirty="0" smtClean="0"/>
              <a:t>反</a:t>
            </a:r>
            <a:r>
              <a:rPr lang="zh-CN" altLang="zh-CN" dirty="0" smtClean="0"/>
              <a:t>映</a:t>
            </a:r>
            <a:r>
              <a:rPr lang="zh-CN" altLang="zh-CN" dirty="0"/>
              <a:t>了网络中度相近节点间相互关联的程度。同配系数大于零表示互联的节点正相关。与同配性相反的是异配</a:t>
            </a:r>
            <a:r>
              <a:rPr lang="zh-CN" altLang="zh-CN" dirty="0" smtClean="0"/>
              <a:t>性</a:t>
            </a:r>
            <a:r>
              <a:rPr lang="zh-CN" altLang="en-US" dirty="0" smtClean="0"/>
              <a:t>。</a:t>
            </a:r>
            <a:endParaRPr lang="en-US" altLang="zh-CN" dirty="0" smtClean="0"/>
          </a:p>
          <a:p>
            <a:pPr indent="457200">
              <a:lnSpc>
                <a:spcPct val="150000"/>
              </a:lnSpc>
            </a:pPr>
            <a:r>
              <a:rPr lang="zh-CN" altLang="en-US" dirty="0"/>
              <a:t>值得</a:t>
            </a:r>
            <a:r>
              <a:rPr lang="zh-CN" altLang="en-US" dirty="0" smtClean="0"/>
              <a:t>注意的是，社交网络的同配性并不是固定不变的，它往往存在着演化过程。在线社交网络建立初期通常存在同配特征，随着用户群体规模的扩大，同配性逐渐演化为异配性。</a:t>
            </a:r>
            <a:endParaRPr lang="en-US" altLang="zh-CN" dirty="0" smtClean="0"/>
          </a:p>
        </p:txBody>
      </p:sp>
    </p:spTree>
    <p:extLst>
      <p:ext uri="{BB962C8B-B14F-4D97-AF65-F5344CB8AC3E}">
        <p14:creationId xmlns:p14="http://schemas.microsoft.com/office/powerpoint/2010/main" val="12314293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3147" y="573532"/>
            <a:ext cx="3157037" cy="887620"/>
          </a:xfrm>
        </p:spPr>
        <p:txBody>
          <a:bodyPr/>
          <a:lstStyle/>
          <a:p>
            <a:r>
              <a:rPr lang="zh-CN" altLang="en-US" sz="3200" dirty="0"/>
              <a:t>社交网络</a:t>
            </a:r>
            <a:r>
              <a:rPr lang="zh-CN" altLang="en-US" sz="3200" dirty="0" smtClean="0"/>
              <a:t>的统计特性</a:t>
            </a:r>
            <a:endParaRPr lang="zh-CN" altLang="en-US" sz="3200" dirty="0"/>
          </a:p>
        </p:txBody>
      </p:sp>
      <p:sp>
        <p:nvSpPr>
          <p:cNvPr id="3" name="文本占位符 2"/>
          <p:cNvSpPr>
            <a:spLocks noGrp="1"/>
          </p:cNvSpPr>
          <p:nvPr>
            <p:ph type="body" sz="quarter" idx="11"/>
          </p:nvPr>
        </p:nvSpPr>
        <p:spPr>
          <a:xfrm>
            <a:off x="558800" y="1659674"/>
            <a:ext cx="3157037" cy="475683"/>
          </a:xfrm>
        </p:spPr>
        <p:txBody>
          <a:bodyPr/>
          <a:lstStyle/>
          <a:p>
            <a:r>
              <a:rPr lang="en-US" altLang="zh-CN" dirty="0"/>
              <a:t>Part </a:t>
            </a:r>
            <a:r>
              <a:rPr lang="en-US" altLang="zh-CN" dirty="0" smtClean="0"/>
              <a:t>Three</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8" name="文本框 7"/>
          <p:cNvSpPr txBox="1"/>
          <p:nvPr/>
        </p:nvSpPr>
        <p:spPr>
          <a:xfrm>
            <a:off x="2387600" y="2557670"/>
            <a:ext cx="7988852" cy="3416320"/>
          </a:xfrm>
          <a:prstGeom prst="rect">
            <a:avLst/>
          </a:prstGeom>
          <a:noFill/>
        </p:spPr>
        <p:txBody>
          <a:bodyPr wrap="square" rtlCol="0">
            <a:spAutoFit/>
          </a:bodyPr>
          <a:lstStyle/>
          <a:p>
            <a:pPr marL="342900">
              <a:lnSpc>
                <a:spcPct val="150000"/>
              </a:lnSpc>
            </a:pPr>
            <a:r>
              <a:rPr lang="zh-CN" altLang="en-US" dirty="0" smtClean="0">
                <a:solidFill>
                  <a:srgbClr val="0070C0"/>
                </a:solidFill>
              </a:rPr>
              <a:t>社区结构</a:t>
            </a:r>
            <a:r>
              <a:rPr lang="en-US" altLang="zh-CN" dirty="0" smtClean="0">
                <a:solidFill>
                  <a:srgbClr val="0070C0"/>
                </a:solidFill>
              </a:rPr>
              <a:t>:</a:t>
            </a:r>
          </a:p>
          <a:p>
            <a:pPr indent="457200">
              <a:lnSpc>
                <a:spcPct val="150000"/>
              </a:lnSpc>
            </a:pPr>
            <a:r>
              <a:rPr lang="zh-CN" altLang="en-US" dirty="0" smtClean="0"/>
              <a:t>在社交网络的研究中，社区发现问题是十分重要并且被广泛研究的问题。社区结构发现有助于我们在中观层面上理解社交网络的本质。</a:t>
            </a:r>
            <a:endParaRPr lang="en-US" altLang="zh-CN" dirty="0" smtClean="0"/>
          </a:p>
          <a:p>
            <a:pPr indent="457200">
              <a:lnSpc>
                <a:spcPct val="150000"/>
              </a:lnSpc>
            </a:pPr>
            <a:r>
              <a:rPr lang="zh-CN" altLang="en-US" dirty="0" smtClean="0"/>
              <a:t>尽管社区结构十分重要，但是现在并没有普遍承认的统一定义。一般认为社区由一组节点组成，社区内的节点之间连接较紧密，不同社区之间的节点连接较疏松。但往往存在重叠社区，即允许一个节点加入多个社区。</a:t>
            </a:r>
            <a:endParaRPr lang="en-US" altLang="zh-CN" dirty="0" smtClean="0"/>
          </a:p>
          <a:p>
            <a:pPr indent="457200">
              <a:lnSpc>
                <a:spcPct val="150000"/>
              </a:lnSpc>
            </a:pPr>
            <a:endParaRPr lang="en-US" altLang="zh-CN" dirty="0"/>
          </a:p>
          <a:p>
            <a:pPr indent="457200">
              <a:lnSpc>
                <a:spcPct val="150000"/>
              </a:lnSpc>
            </a:pPr>
            <a:r>
              <a:rPr lang="zh-CN" altLang="en-US" dirty="0" smtClean="0"/>
              <a:t>关于社区发现的算法有很多，但目前的方法都有各自的局限性。</a:t>
            </a:r>
            <a:endParaRPr lang="en-US" altLang="zh-CN" dirty="0" smtClean="0"/>
          </a:p>
        </p:txBody>
      </p:sp>
    </p:spTree>
    <p:extLst>
      <p:ext uri="{BB962C8B-B14F-4D97-AF65-F5344CB8AC3E}">
        <p14:creationId xmlns:p14="http://schemas.microsoft.com/office/powerpoint/2010/main" val="10160320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dirty="0"/>
              <a:t>社交网络的</a:t>
            </a:r>
          </a:p>
          <a:p>
            <a:r>
              <a:rPr lang="zh-CN" altLang="en-US" sz="3200" dirty="0"/>
              <a:t>影响力传播</a:t>
            </a:r>
          </a:p>
        </p:txBody>
      </p:sp>
      <p:sp>
        <p:nvSpPr>
          <p:cNvPr id="3" name="文本占位符 2"/>
          <p:cNvSpPr>
            <a:spLocks noGrp="1"/>
          </p:cNvSpPr>
          <p:nvPr>
            <p:ph type="body" sz="quarter" idx="11"/>
          </p:nvPr>
        </p:nvSpPr>
        <p:spPr/>
        <p:txBody>
          <a:bodyPr/>
          <a:lstStyle/>
          <a:p>
            <a:r>
              <a:rPr lang="en-US" altLang="zh-CN" sz="2800" dirty="0"/>
              <a:t>Part </a:t>
            </a:r>
            <a:r>
              <a:rPr lang="en-US" altLang="zh-CN" sz="2800" dirty="0" smtClean="0"/>
              <a:t>Four</a:t>
            </a:r>
            <a:endParaRPr lang="zh-CN" altLang="en-US" sz="2800" dirty="0"/>
          </a:p>
        </p:txBody>
      </p:sp>
    </p:spTree>
    <p:extLst>
      <p:ext uri="{BB962C8B-B14F-4D97-AF65-F5344CB8AC3E}">
        <p14:creationId xmlns:p14="http://schemas.microsoft.com/office/powerpoint/2010/main" val="8281406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9" name="矩形 8"/>
          <p:cNvSpPr/>
          <p:nvPr/>
        </p:nvSpPr>
        <p:spPr>
          <a:xfrm>
            <a:off x="3059430" y="2218762"/>
            <a:ext cx="6930390" cy="3831818"/>
          </a:xfrm>
          <a:prstGeom prst="rect">
            <a:avLst/>
          </a:prstGeom>
        </p:spPr>
        <p:txBody>
          <a:bodyPr wrap="square">
            <a:spAutoFit/>
          </a:bodyPr>
          <a:lstStyle/>
          <a:p>
            <a:pPr indent="457200">
              <a:lnSpc>
                <a:spcPct val="150000"/>
              </a:lnSpc>
            </a:pPr>
            <a:r>
              <a:rPr lang="zh-CN" altLang="en-US" dirty="0" smtClean="0"/>
              <a:t>影响力分析是社交网络分析的重要内容，社交影响力可以通过用户之间的社交活动体现出来，表现为用户的行为和思想收他人影响发生改变的现象。</a:t>
            </a:r>
            <a:endParaRPr lang="en-US" altLang="zh-CN" dirty="0" smtClean="0"/>
          </a:p>
          <a:p>
            <a:pPr indent="457200">
              <a:lnSpc>
                <a:spcPct val="150000"/>
              </a:lnSpc>
            </a:pPr>
            <a:r>
              <a:rPr lang="zh-CN" altLang="en-US" dirty="0" smtClean="0"/>
              <a:t>早期对于影响力在社会活动中的表现和相关因素的研究由于研究样本空间较小，能够获取的数据量有限，导致研究停滞。</a:t>
            </a:r>
            <a:endParaRPr lang="en-US" altLang="zh-CN" dirty="0" smtClean="0"/>
          </a:p>
          <a:p>
            <a:pPr indent="457200">
              <a:lnSpc>
                <a:spcPct val="150000"/>
              </a:lnSpc>
            </a:pPr>
            <a:r>
              <a:rPr lang="zh-CN" altLang="en-US" dirty="0" smtClean="0"/>
              <a:t>随着</a:t>
            </a:r>
            <a:r>
              <a:rPr lang="en-US" altLang="zh-CN" dirty="0" smtClean="0"/>
              <a:t>web2.0</a:t>
            </a:r>
            <a:r>
              <a:rPr lang="zh-CN" altLang="en-US" dirty="0" smtClean="0"/>
              <a:t>技术的发展和在线社交网络的普及，研究人员有机会在大规模网络和海量数据中分析用户之间的复杂关系，使得关于影响力传播的研究能够验证很多早期的假设和理论模型，而且发现了大量与社交影响力相关的科研问题和应用场景。</a:t>
            </a:r>
            <a:endParaRPr lang="zh-CN" altLang="en-US" dirty="0"/>
          </a:p>
        </p:txBody>
      </p:sp>
    </p:spTree>
    <p:extLst>
      <p:ext uri="{BB962C8B-B14F-4D97-AF65-F5344CB8AC3E}">
        <p14:creationId xmlns:p14="http://schemas.microsoft.com/office/powerpoint/2010/main" val="254228909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4" name="文本框 3"/>
          <p:cNvSpPr txBox="1"/>
          <p:nvPr/>
        </p:nvSpPr>
        <p:spPr>
          <a:xfrm>
            <a:off x="176796" y="2718223"/>
            <a:ext cx="6629400" cy="3366884"/>
          </a:xfrm>
          <a:prstGeom prst="rect">
            <a:avLst/>
          </a:prstGeom>
          <a:noFill/>
        </p:spPr>
        <p:txBody>
          <a:bodyPr wrap="square" rtlCol="0">
            <a:spAutoFit/>
          </a:bodyPr>
          <a:lstStyle/>
          <a:p>
            <a:pPr indent="457200">
              <a:lnSpc>
                <a:spcPct val="150000"/>
              </a:lnSpc>
            </a:pPr>
            <a:r>
              <a:rPr lang="zh-CN" altLang="en-US" dirty="0" smtClean="0"/>
              <a:t>影响力传播的三大支柱</a:t>
            </a:r>
            <a:endParaRPr lang="en-US" altLang="zh-CN" dirty="0" smtClean="0"/>
          </a:p>
          <a:p>
            <a:pPr marL="342900" indent="457200">
              <a:lnSpc>
                <a:spcPct val="150000"/>
              </a:lnSpc>
              <a:buFont typeface="+mj-lt"/>
              <a:buAutoNum type="arabicPeriod"/>
            </a:pPr>
            <a:r>
              <a:rPr lang="zh-CN" altLang="en-US" dirty="0" smtClean="0"/>
              <a:t>影响力传播模型：</a:t>
            </a:r>
            <a:r>
              <a:rPr lang="zh-CN" altLang="zh-CN" dirty="0" smtClean="0"/>
              <a:t>主要</a:t>
            </a:r>
            <a:r>
              <a:rPr lang="zh-CN" altLang="zh-CN" dirty="0"/>
              <a:t>描述影响力在社交网络中如何传播、有何特点和</a:t>
            </a:r>
            <a:r>
              <a:rPr lang="zh-CN" altLang="zh-CN" dirty="0" smtClean="0"/>
              <a:t>性质</a:t>
            </a:r>
            <a:endParaRPr lang="en-US" altLang="zh-CN" dirty="0" smtClean="0"/>
          </a:p>
          <a:p>
            <a:pPr marL="342900" indent="457200">
              <a:lnSpc>
                <a:spcPct val="150000"/>
              </a:lnSpc>
              <a:buFont typeface="+mj-lt"/>
              <a:buAutoNum type="arabicPeriod"/>
            </a:pPr>
            <a:r>
              <a:rPr lang="zh-CN" altLang="zh-CN" dirty="0" smtClean="0"/>
              <a:t>影响力</a:t>
            </a:r>
            <a:r>
              <a:rPr lang="zh-CN" altLang="zh-CN" dirty="0"/>
              <a:t>传播的学习：如何利用网络大数据挖掘学习影响力传播模式和具体传播模型的</a:t>
            </a:r>
            <a:r>
              <a:rPr lang="zh-CN" altLang="zh-CN" dirty="0" smtClean="0"/>
              <a:t>参数</a:t>
            </a:r>
            <a:endParaRPr lang="en-US" altLang="zh-CN" dirty="0" smtClean="0"/>
          </a:p>
          <a:p>
            <a:pPr marL="342900" indent="457200">
              <a:lnSpc>
                <a:spcPct val="150000"/>
              </a:lnSpc>
              <a:buFont typeface="+mj-lt"/>
              <a:buAutoNum type="arabicPeriod"/>
            </a:pPr>
            <a:r>
              <a:rPr lang="zh-CN" altLang="zh-CN" dirty="0"/>
              <a:t>影响力传播优化：着重考虑在不同传播模型下，如何通过施加外部作用力来扩大希望传播的影响力或者控制和减弱不希望传播的影响力，也包括有效地监控影响力的传播。</a:t>
            </a:r>
            <a:endParaRPr lang="zh-CN" altLang="en-US" dirty="0"/>
          </a:p>
        </p:txBody>
      </p:sp>
      <p:pic>
        <p:nvPicPr>
          <p:cNvPr id="5" name="图片 4"/>
          <p:cNvPicPr>
            <a:picLocks noChangeAspect="1"/>
          </p:cNvPicPr>
          <p:nvPr/>
        </p:nvPicPr>
        <p:blipFill>
          <a:blip r:embed="rId2"/>
          <a:stretch>
            <a:fillRect/>
          </a:stretch>
        </p:blipFill>
        <p:spPr>
          <a:xfrm>
            <a:off x="6806196" y="2832275"/>
            <a:ext cx="5277587" cy="2762636"/>
          </a:xfrm>
          <a:prstGeom prst="rect">
            <a:avLst/>
          </a:prstGeom>
        </p:spPr>
      </p:pic>
    </p:spTree>
    <p:extLst>
      <p:ext uri="{BB962C8B-B14F-4D97-AF65-F5344CB8AC3E}">
        <p14:creationId xmlns:p14="http://schemas.microsoft.com/office/powerpoint/2010/main" val="16894295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5" name="文本框 4"/>
          <p:cNvSpPr txBox="1"/>
          <p:nvPr/>
        </p:nvSpPr>
        <p:spPr>
          <a:xfrm>
            <a:off x="3589020" y="1763613"/>
            <a:ext cx="6480810" cy="4247317"/>
          </a:xfrm>
          <a:prstGeom prst="rect">
            <a:avLst/>
          </a:prstGeom>
          <a:noFill/>
        </p:spPr>
        <p:txBody>
          <a:bodyPr wrap="square" rtlCol="0">
            <a:spAutoFit/>
          </a:bodyPr>
          <a:lstStyle/>
          <a:p>
            <a:pPr indent="457200">
              <a:lnSpc>
                <a:spcPct val="150000"/>
              </a:lnSpc>
            </a:pPr>
            <a:r>
              <a:rPr lang="zh-CN" altLang="en-US" dirty="0" smtClean="0">
                <a:solidFill>
                  <a:srgbClr val="FF0000"/>
                </a:solidFill>
              </a:rPr>
              <a:t>社会影响力的相关因素</a:t>
            </a:r>
            <a:endParaRPr lang="en-US" altLang="zh-CN" dirty="0" smtClean="0">
              <a:solidFill>
                <a:srgbClr val="FF0000"/>
              </a:solidFill>
            </a:endParaRPr>
          </a:p>
          <a:p>
            <a:pPr marL="342900" indent="457200">
              <a:lnSpc>
                <a:spcPct val="150000"/>
              </a:lnSpc>
              <a:buAutoNum type="arabicPeriod"/>
            </a:pPr>
            <a:r>
              <a:rPr lang="zh-CN" altLang="en-US" dirty="0" smtClean="0">
                <a:solidFill>
                  <a:schemeClr val="accent1"/>
                </a:solidFill>
              </a:rPr>
              <a:t>同质性</a:t>
            </a:r>
            <a:r>
              <a:rPr lang="en-US" altLang="zh-CN" dirty="0">
                <a:solidFill>
                  <a:schemeClr val="accent1"/>
                </a:solidFill>
              </a:rPr>
              <a:t>(</a:t>
            </a:r>
            <a:r>
              <a:rPr lang="en-US" altLang="zh-CN" dirty="0" err="1" smtClean="0">
                <a:solidFill>
                  <a:schemeClr val="accent1"/>
                </a:solidFill>
              </a:rPr>
              <a:t>Homophily</a:t>
            </a:r>
            <a:r>
              <a:rPr lang="en-US" altLang="zh-CN" dirty="0" smtClean="0">
                <a:solidFill>
                  <a:schemeClr val="accent1"/>
                </a:solidFill>
              </a:rPr>
              <a:t> )</a:t>
            </a:r>
          </a:p>
          <a:p>
            <a:pPr indent="457200">
              <a:lnSpc>
                <a:spcPct val="150000"/>
              </a:lnSpc>
            </a:pPr>
            <a:r>
              <a:rPr lang="zh-CN" altLang="zh-CN" dirty="0" smtClean="0"/>
              <a:t>指</a:t>
            </a:r>
            <a:r>
              <a:rPr lang="zh-CN" altLang="zh-CN" dirty="0"/>
              <a:t>具有相似特征的个体选择彼此作为朋友的倾向</a:t>
            </a:r>
            <a:r>
              <a:rPr lang="zh-CN" altLang="zh-CN" dirty="0" smtClean="0"/>
              <a:t>。</a:t>
            </a:r>
            <a:endParaRPr lang="en-US" altLang="zh-CN" dirty="0" smtClean="0"/>
          </a:p>
          <a:p>
            <a:pPr indent="457200">
              <a:lnSpc>
                <a:spcPct val="150000"/>
              </a:lnSpc>
            </a:pPr>
            <a:r>
              <a:rPr lang="zh-CN" altLang="zh-CN" dirty="0"/>
              <a:t>同质性与影响力在社交网络中的传播模式非常相似，都表现为作用对象的相互联系区域紧密，二者最大的区别体现在动态效应上：影响力需要更长时间的复杂交互活动才能发挥显性效果。</a:t>
            </a:r>
          </a:p>
          <a:p>
            <a:pPr indent="457200">
              <a:lnSpc>
                <a:spcPct val="150000"/>
              </a:lnSpc>
            </a:pPr>
            <a:r>
              <a:rPr lang="zh-CN" altLang="zh-CN" dirty="0"/>
              <a:t>影响力与同质性是交织在一起的，在实际应用环境中将影响力与同质性结合起来使用，既可以提高彼此的预测精度，也可以提高用户行为预测的准确性</a:t>
            </a:r>
            <a:r>
              <a:rPr lang="zh-CN" altLang="zh-CN" dirty="0" smtClean="0"/>
              <a:t>。</a:t>
            </a:r>
            <a:endParaRPr lang="en-US" altLang="zh-CN" dirty="0" smtClean="0"/>
          </a:p>
        </p:txBody>
      </p:sp>
    </p:spTree>
    <p:extLst>
      <p:ext uri="{BB962C8B-B14F-4D97-AF65-F5344CB8AC3E}">
        <p14:creationId xmlns:p14="http://schemas.microsoft.com/office/powerpoint/2010/main" val="18164563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4" name="矩形 3"/>
          <p:cNvSpPr/>
          <p:nvPr/>
        </p:nvSpPr>
        <p:spPr>
          <a:xfrm>
            <a:off x="3048000" y="1859013"/>
            <a:ext cx="6096000" cy="4524315"/>
          </a:xfrm>
          <a:prstGeom prst="rect">
            <a:avLst/>
          </a:prstGeom>
        </p:spPr>
        <p:txBody>
          <a:bodyPr>
            <a:spAutoFit/>
          </a:bodyPr>
          <a:lstStyle/>
          <a:p>
            <a:pPr indent="457200">
              <a:lnSpc>
                <a:spcPct val="150000"/>
              </a:lnSpc>
            </a:pPr>
            <a:r>
              <a:rPr lang="en-US" altLang="zh-CN" dirty="0">
                <a:solidFill>
                  <a:schemeClr val="accent1"/>
                </a:solidFill>
              </a:rPr>
              <a:t>2. </a:t>
            </a:r>
            <a:r>
              <a:rPr lang="zh-CN" altLang="en-US" dirty="0" smtClean="0">
                <a:solidFill>
                  <a:schemeClr val="accent1"/>
                </a:solidFill>
              </a:rPr>
              <a:t>互惠性</a:t>
            </a:r>
            <a:r>
              <a:rPr lang="en-US" altLang="zh-CN" dirty="0" smtClean="0">
                <a:solidFill>
                  <a:schemeClr val="accent1"/>
                </a:solidFill>
              </a:rPr>
              <a:t>(Reciprocity)</a:t>
            </a:r>
            <a:endParaRPr lang="en-US" altLang="zh-CN" dirty="0">
              <a:solidFill>
                <a:schemeClr val="accent1"/>
              </a:solidFill>
            </a:endParaRPr>
          </a:p>
          <a:p>
            <a:pPr indent="457200">
              <a:lnSpc>
                <a:spcPct val="150000"/>
              </a:lnSpc>
            </a:pPr>
            <a:r>
              <a:rPr lang="zh-CN" altLang="en-US" dirty="0"/>
              <a:t>用户在社交过程中出于礼貌或习惯等原因对其他用户的行为给予相应回应的现象。</a:t>
            </a:r>
            <a:endParaRPr lang="en-US" altLang="zh-CN" dirty="0"/>
          </a:p>
          <a:p>
            <a:pPr indent="457200">
              <a:lnSpc>
                <a:spcPct val="150000"/>
              </a:lnSpc>
            </a:pPr>
            <a:r>
              <a:rPr lang="zh-CN" altLang="en-US" dirty="0"/>
              <a:t>由于用户行为的结果相同而原因迥异，</a:t>
            </a:r>
            <a:r>
              <a:rPr lang="zh-CN" altLang="en-US" dirty="0" smtClean="0"/>
              <a:t>互惠性</a:t>
            </a:r>
            <a:r>
              <a:rPr lang="zh-CN" altLang="en-US" dirty="0"/>
              <a:t>、影响力和前面所述的同质性之间的区分</a:t>
            </a:r>
            <a:r>
              <a:rPr lang="zh-CN" altLang="en-US" dirty="0" smtClean="0"/>
              <a:t>依然是影响力分析的热点问题。</a:t>
            </a:r>
            <a:endParaRPr lang="en-US" altLang="zh-CN" dirty="0" smtClean="0"/>
          </a:p>
          <a:p>
            <a:endParaRPr lang="en-US" altLang="zh-CN" dirty="0"/>
          </a:p>
          <a:p>
            <a:pPr indent="457200">
              <a:lnSpc>
                <a:spcPct val="150000"/>
              </a:lnSpc>
            </a:pPr>
            <a:r>
              <a:rPr lang="en-US" altLang="zh-CN" dirty="0"/>
              <a:t>3. </a:t>
            </a:r>
            <a:r>
              <a:rPr lang="zh-CN" altLang="en-US" dirty="0">
                <a:solidFill>
                  <a:schemeClr val="accent1"/>
                </a:solidFill>
              </a:rPr>
              <a:t>其他</a:t>
            </a:r>
            <a:r>
              <a:rPr lang="zh-CN" altLang="en-US" dirty="0" smtClean="0">
                <a:solidFill>
                  <a:schemeClr val="accent1"/>
                </a:solidFill>
              </a:rPr>
              <a:t>因素</a:t>
            </a:r>
            <a:endParaRPr lang="en-US" altLang="zh-CN" dirty="0" smtClean="0">
              <a:solidFill>
                <a:schemeClr val="accent1"/>
              </a:solidFill>
            </a:endParaRPr>
          </a:p>
          <a:p>
            <a:pPr indent="457200">
              <a:lnSpc>
                <a:spcPct val="150000"/>
              </a:lnSpc>
            </a:pPr>
            <a:r>
              <a:rPr lang="zh-CN" altLang="en-US" dirty="0"/>
              <a:t>活跃</a:t>
            </a:r>
            <a:r>
              <a:rPr lang="zh-CN" altLang="en-US" dirty="0" smtClean="0"/>
              <a:t>度（</a:t>
            </a:r>
            <a:r>
              <a:rPr lang="en-US" altLang="zh-CN" dirty="0" smtClean="0"/>
              <a:t>Activity</a:t>
            </a:r>
            <a:r>
              <a:rPr lang="zh-CN" altLang="en-US" dirty="0" smtClean="0"/>
              <a:t>），同时性（</a:t>
            </a:r>
            <a:r>
              <a:rPr lang="en-US" altLang="zh-CN" dirty="0" smtClean="0"/>
              <a:t>Simultaneity</a:t>
            </a:r>
            <a:r>
              <a:rPr lang="zh-CN" altLang="en-US" dirty="0" smtClean="0"/>
              <a:t>）</a:t>
            </a:r>
            <a:r>
              <a:rPr lang="en-US" altLang="zh-CN" dirty="0" smtClean="0"/>
              <a:t>,</a:t>
            </a:r>
            <a:r>
              <a:rPr lang="zh-CN" altLang="en-US" dirty="0" smtClean="0"/>
              <a:t>异质性（</a:t>
            </a:r>
            <a:r>
              <a:rPr lang="en-US" altLang="zh-CN" dirty="0" smtClean="0"/>
              <a:t>Heterogeneity</a:t>
            </a:r>
            <a:r>
              <a:rPr lang="zh-CN" altLang="en-US" dirty="0" smtClean="0"/>
              <a:t>）</a:t>
            </a:r>
            <a:r>
              <a:rPr lang="en-US" altLang="zh-CN" dirty="0" smtClean="0"/>
              <a:t>,</a:t>
            </a:r>
            <a:r>
              <a:rPr lang="zh-CN" altLang="en-US" dirty="0" smtClean="0"/>
              <a:t>环境因素和关联效应（</a:t>
            </a:r>
            <a:r>
              <a:rPr lang="en-US" altLang="zh-CN" dirty="0" smtClean="0"/>
              <a:t>Contextual and Correlated</a:t>
            </a:r>
            <a:r>
              <a:rPr lang="zh-CN" altLang="en-US" dirty="0" smtClean="0"/>
              <a:t>）</a:t>
            </a:r>
            <a:endParaRPr lang="zh-CN" altLang="en-US" dirty="0"/>
          </a:p>
        </p:txBody>
      </p:sp>
    </p:spTree>
    <p:extLst>
      <p:ext uri="{BB962C8B-B14F-4D97-AF65-F5344CB8AC3E}">
        <p14:creationId xmlns:p14="http://schemas.microsoft.com/office/powerpoint/2010/main" val="17826517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5" name="文本框 4"/>
          <p:cNvSpPr txBox="1"/>
          <p:nvPr/>
        </p:nvSpPr>
        <p:spPr>
          <a:xfrm>
            <a:off x="3348990" y="1851660"/>
            <a:ext cx="7315200" cy="4108817"/>
          </a:xfrm>
          <a:prstGeom prst="rect">
            <a:avLst/>
          </a:prstGeom>
          <a:noFill/>
        </p:spPr>
        <p:txBody>
          <a:bodyPr wrap="square" rtlCol="0">
            <a:spAutoFit/>
          </a:bodyPr>
          <a:lstStyle/>
          <a:p>
            <a:pPr indent="457200">
              <a:lnSpc>
                <a:spcPct val="150000"/>
              </a:lnSpc>
            </a:pPr>
            <a:r>
              <a:rPr lang="zh-CN" altLang="en-US" dirty="0" smtClean="0">
                <a:solidFill>
                  <a:srgbClr val="FF0000"/>
                </a:solidFill>
              </a:rPr>
              <a:t>社交网络影响力的度量方法</a:t>
            </a:r>
            <a:endParaRPr lang="en-US" altLang="zh-CN" dirty="0" smtClean="0">
              <a:solidFill>
                <a:srgbClr val="FF0000"/>
              </a:solidFill>
            </a:endParaRPr>
          </a:p>
          <a:p>
            <a:pPr indent="457200">
              <a:lnSpc>
                <a:spcPct val="150000"/>
              </a:lnSpc>
            </a:pPr>
            <a:r>
              <a:rPr lang="zh-CN" altLang="en-US" dirty="0"/>
              <a:t>社交网络中影响力度量的主要任务是分析和</a:t>
            </a:r>
            <a:r>
              <a:rPr lang="zh-CN" altLang="en-US" dirty="0" smtClean="0"/>
              <a:t>预测</a:t>
            </a:r>
            <a:r>
              <a:rPr lang="zh-CN" altLang="en-US" dirty="0"/>
              <a:t>用户社交影响力的大小及演化规律，为基于</a:t>
            </a:r>
            <a:r>
              <a:rPr lang="zh-CN" altLang="en-US" dirty="0" smtClean="0"/>
              <a:t>社交影响力</a:t>
            </a:r>
            <a:r>
              <a:rPr lang="zh-CN" altLang="en-US" dirty="0"/>
              <a:t>的研究和应用提供技术支持和</a:t>
            </a:r>
            <a:r>
              <a:rPr lang="zh-CN" altLang="en-US" dirty="0" smtClean="0"/>
              <a:t>理论依据。</a:t>
            </a:r>
            <a:endParaRPr lang="en-US" altLang="zh-CN" dirty="0" smtClean="0"/>
          </a:p>
          <a:p>
            <a:pPr indent="457200">
              <a:lnSpc>
                <a:spcPct val="150000"/>
              </a:lnSpc>
            </a:pPr>
            <a:r>
              <a:rPr lang="zh-CN" altLang="en-US" dirty="0" smtClean="0"/>
              <a:t>常用</a:t>
            </a:r>
            <a:r>
              <a:rPr lang="zh-CN" altLang="en-US" dirty="0"/>
              <a:t>的影响力度量方法大致可以划分为基于</a:t>
            </a:r>
            <a:r>
              <a:rPr lang="zh-CN" altLang="en-US" dirty="0" smtClean="0"/>
              <a:t>网络拓扑结构</a:t>
            </a:r>
            <a:r>
              <a:rPr lang="zh-CN" altLang="en-US" dirty="0"/>
              <a:t>、基于用户行为和基于交互信息的度量等</a:t>
            </a:r>
            <a:r>
              <a:rPr lang="zh-CN" altLang="en-US" dirty="0" smtClean="0"/>
              <a:t>类型。</a:t>
            </a:r>
            <a:endParaRPr lang="en-US" altLang="zh-CN" dirty="0" smtClean="0"/>
          </a:p>
          <a:p>
            <a:pPr indent="457200">
              <a:lnSpc>
                <a:spcPct val="150000"/>
              </a:lnSpc>
            </a:pPr>
            <a:r>
              <a:rPr lang="zh-CN" altLang="en-US" dirty="0" smtClean="0"/>
              <a:t>但是每种方法都存在这局限性，所以</a:t>
            </a:r>
            <a:r>
              <a:rPr lang="zh-CN" altLang="en-US" dirty="0"/>
              <a:t>，在进行社交影响力</a:t>
            </a:r>
            <a:r>
              <a:rPr lang="zh-CN" altLang="en-US" dirty="0" smtClean="0"/>
              <a:t>分析</a:t>
            </a:r>
            <a:r>
              <a:rPr lang="zh-CN" altLang="en-US" dirty="0"/>
              <a:t>时，既需要根据实际情况选择合适的度量手段，</a:t>
            </a:r>
            <a:r>
              <a:rPr lang="zh-CN" altLang="en-US" dirty="0" smtClean="0"/>
              <a:t>还可以</a:t>
            </a:r>
            <a:r>
              <a:rPr lang="zh-CN" altLang="en-US" dirty="0"/>
              <a:t>综合使用上述方法，尽可能准确客观地刻画</a:t>
            </a:r>
            <a:r>
              <a:rPr lang="zh-CN" altLang="en-US" dirty="0" smtClean="0"/>
              <a:t>社交</a:t>
            </a:r>
            <a:r>
              <a:rPr lang="zh-CN" altLang="en-US" dirty="0"/>
              <a:t>影响力的真实面貌．</a:t>
            </a:r>
            <a:endParaRPr lang="en-US" altLang="zh-CN" dirty="0" smtClean="0"/>
          </a:p>
          <a:p>
            <a:endParaRPr lang="zh-CN" altLang="en-US" dirty="0">
              <a:solidFill>
                <a:srgbClr val="FF0000"/>
              </a:solidFill>
            </a:endParaRPr>
          </a:p>
        </p:txBody>
      </p:sp>
    </p:spTree>
    <p:extLst>
      <p:ext uri="{BB962C8B-B14F-4D97-AF65-F5344CB8AC3E}">
        <p14:creationId xmlns:p14="http://schemas.microsoft.com/office/powerpoint/2010/main" val="6186130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5" name="文本框 4"/>
          <p:cNvSpPr txBox="1"/>
          <p:nvPr/>
        </p:nvSpPr>
        <p:spPr>
          <a:xfrm>
            <a:off x="3348990" y="1851660"/>
            <a:ext cx="7315200" cy="4247317"/>
          </a:xfrm>
          <a:prstGeom prst="rect">
            <a:avLst/>
          </a:prstGeom>
          <a:noFill/>
        </p:spPr>
        <p:txBody>
          <a:bodyPr wrap="square" rtlCol="0">
            <a:spAutoFit/>
          </a:bodyPr>
          <a:lstStyle/>
          <a:p>
            <a:pPr indent="457200">
              <a:lnSpc>
                <a:spcPct val="150000"/>
              </a:lnSpc>
            </a:pPr>
            <a:r>
              <a:rPr lang="zh-CN" altLang="en-US" dirty="0" smtClean="0">
                <a:solidFill>
                  <a:srgbClr val="FF0000"/>
                </a:solidFill>
              </a:rPr>
              <a:t>基于网络拓扑结构的度量</a:t>
            </a:r>
            <a:endParaRPr lang="en-US" altLang="zh-CN" dirty="0" smtClean="0">
              <a:solidFill>
                <a:srgbClr val="FF0000"/>
              </a:solidFill>
            </a:endParaRPr>
          </a:p>
          <a:p>
            <a:pPr indent="457200">
              <a:lnSpc>
                <a:spcPct val="150000"/>
              </a:lnSpc>
            </a:pPr>
            <a:r>
              <a:rPr lang="zh-CN" altLang="en-US" dirty="0"/>
              <a:t>人们在社交过程中形成的拓扑结构是分析</a:t>
            </a:r>
            <a:r>
              <a:rPr lang="zh-CN" altLang="en-US" dirty="0" smtClean="0"/>
              <a:t>影响力</a:t>
            </a:r>
            <a:r>
              <a:rPr lang="zh-CN" altLang="en-US" dirty="0"/>
              <a:t>最直接的数据来源，同时相比社交信息更容易</a:t>
            </a:r>
            <a:r>
              <a:rPr lang="zh-CN" altLang="en-US" dirty="0" smtClean="0"/>
              <a:t>观察</a:t>
            </a:r>
            <a:r>
              <a:rPr lang="zh-CN" altLang="en-US" dirty="0"/>
              <a:t>和</a:t>
            </a:r>
            <a:r>
              <a:rPr lang="zh-CN" altLang="en-US" dirty="0" smtClean="0"/>
              <a:t>获取。</a:t>
            </a:r>
            <a:endParaRPr lang="en-US" altLang="zh-CN" dirty="0" smtClean="0"/>
          </a:p>
          <a:p>
            <a:pPr indent="457200">
              <a:lnSpc>
                <a:spcPct val="150000"/>
              </a:lnSpc>
            </a:pPr>
            <a:endParaRPr lang="en-US" altLang="zh-CN" dirty="0"/>
          </a:p>
          <a:p>
            <a:pPr indent="457200">
              <a:lnSpc>
                <a:spcPct val="150000"/>
              </a:lnSpc>
            </a:pPr>
            <a:r>
              <a:rPr lang="zh-CN" altLang="en-US" dirty="0" smtClean="0">
                <a:solidFill>
                  <a:schemeClr val="accent2"/>
                </a:solidFill>
              </a:rPr>
              <a:t>节点的度量</a:t>
            </a:r>
            <a:endParaRPr lang="en-US" altLang="zh-CN" dirty="0" smtClean="0">
              <a:solidFill>
                <a:schemeClr val="accent2"/>
              </a:solidFill>
            </a:endParaRPr>
          </a:p>
          <a:p>
            <a:pPr indent="457200">
              <a:lnSpc>
                <a:spcPct val="150000"/>
              </a:lnSpc>
            </a:pPr>
            <a:r>
              <a:rPr lang="zh-CN" altLang="en-US" dirty="0"/>
              <a:t>节点中心度主要用于衡量网络中节点的</a:t>
            </a:r>
            <a:r>
              <a:rPr lang="zh-CN" altLang="en-US" dirty="0" smtClean="0"/>
              <a:t>重要程度，并且被广泛应用于以节点为对象的分析技术。</a:t>
            </a:r>
            <a:endParaRPr lang="en-US" altLang="zh-CN" dirty="0" smtClean="0"/>
          </a:p>
          <a:p>
            <a:pPr indent="457200">
              <a:lnSpc>
                <a:spcPct val="150000"/>
              </a:lnSpc>
            </a:pPr>
            <a:r>
              <a:rPr lang="zh-CN" altLang="en-US" dirty="0" smtClean="0"/>
              <a:t>包括</a:t>
            </a:r>
            <a:r>
              <a:rPr lang="en-US" altLang="zh-CN" dirty="0" smtClean="0"/>
              <a:t>1) </a:t>
            </a:r>
            <a:r>
              <a:rPr lang="zh-CN" altLang="en-US" dirty="0" smtClean="0"/>
              <a:t>基于度的度量法。</a:t>
            </a:r>
            <a:r>
              <a:rPr lang="en-US" altLang="zh-CN" dirty="0" smtClean="0"/>
              <a:t>2) </a:t>
            </a:r>
            <a:r>
              <a:rPr lang="zh-CN" altLang="en-US" dirty="0" smtClean="0"/>
              <a:t>基于最短路径的度量法</a:t>
            </a:r>
            <a:r>
              <a:rPr lang="en-US" altLang="zh-CN" dirty="0" smtClean="0"/>
              <a:t>.3) </a:t>
            </a:r>
            <a:r>
              <a:rPr lang="zh-CN" altLang="en-US" dirty="0" smtClean="0"/>
              <a:t>基于随机游走的度量法。</a:t>
            </a:r>
            <a:endParaRPr lang="en-US" altLang="zh-CN" dirty="0" smtClean="0"/>
          </a:p>
          <a:p>
            <a:pPr indent="457200">
              <a:lnSpc>
                <a:spcPct val="150000"/>
              </a:lnSpc>
            </a:pPr>
            <a:endParaRPr lang="en-US" altLang="zh-CN" dirty="0" smtClean="0"/>
          </a:p>
        </p:txBody>
      </p:sp>
    </p:spTree>
    <p:extLst>
      <p:ext uri="{BB962C8B-B14F-4D97-AF65-F5344CB8AC3E}">
        <p14:creationId xmlns:p14="http://schemas.microsoft.com/office/powerpoint/2010/main" val="32134375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4" name="矩形 3"/>
          <p:cNvSpPr/>
          <p:nvPr/>
        </p:nvSpPr>
        <p:spPr>
          <a:xfrm>
            <a:off x="3327217" y="1621172"/>
            <a:ext cx="7314113" cy="4662815"/>
          </a:xfrm>
          <a:prstGeom prst="rect">
            <a:avLst/>
          </a:prstGeom>
        </p:spPr>
        <p:txBody>
          <a:bodyPr wrap="square">
            <a:spAutoFit/>
          </a:bodyPr>
          <a:lstStyle/>
          <a:p>
            <a:pPr indent="457200">
              <a:lnSpc>
                <a:spcPct val="150000"/>
              </a:lnSpc>
            </a:pPr>
            <a:r>
              <a:rPr lang="zh-CN" altLang="en-US" dirty="0">
                <a:solidFill>
                  <a:schemeClr val="accent1"/>
                </a:solidFill>
              </a:rPr>
              <a:t>基于最短路径的度量</a:t>
            </a:r>
            <a:r>
              <a:rPr lang="zh-CN" altLang="en-US" dirty="0" smtClean="0">
                <a:solidFill>
                  <a:schemeClr val="accent1"/>
                </a:solidFill>
              </a:rPr>
              <a:t>法</a:t>
            </a:r>
            <a:endParaRPr lang="en-US" altLang="zh-CN" dirty="0" smtClean="0">
              <a:solidFill>
                <a:schemeClr val="accent1"/>
              </a:solidFill>
            </a:endParaRPr>
          </a:p>
          <a:p>
            <a:pPr indent="457200">
              <a:lnSpc>
                <a:spcPct val="150000"/>
              </a:lnSpc>
            </a:pPr>
            <a:r>
              <a:rPr lang="zh-CN" altLang="zh-CN" dirty="0"/>
              <a:t>基于社交网络上最短路径的方法由紧密中心度（</a:t>
            </a:r>
            <a:r>
              <a:rPr lang="en-US" altLang="zh-CN" dirty="0"/>
              <a:t>Closeness Centrality</a:t>
            </a:r>
            <a:r>
              <a:rPr lang="zh-CN" altLang="zh-CN" dirty="0"/>
              <a:t>）和介数中心度（</a:t>
            </a:r>
            <a:r>
              <a:rPr lang="en-US" altLang="zh-CN" dirty="0" err="1"/>
              <a:t>Betweenness</a:t>
            </a:r>
            <a:r>
              <a:rPr lang="en-US" altLang="zh-CN" dirty="0"/>
              <a:t> Centrality</a:t>
            </a:r>
            <a:r>
              <a:rPr lang="zh-CN" altLang="zh-CN" dirty="0" smtClean="0"/>
              <a:t>）</a:t>
            </a:r>
            <a:endParaRPr lang="en-US" altLang="zh-CN" dirty="0" smtClean="0"/>
          </a:p>
          <a:p>
            <a:pPr indent="457200">
              <a:lnSpc>
                <a:spcPct val="150000"/>
              </a:lnSpc>
            </a:pPr>
            <a:endParaRPr lang="en-US" altLang="zh-CN" dirty="0" smtClean="0"/>
          </a:p>
          <a:p>
            <a:pPr marL="342900" indent="457200">
              <a:lnSpc>
                <a:spcPct val="150000"/>
              </a:lnSpc>
              <a:buFont typeface="Arial" panose="020B0604020202020204" pitchFamily="34" charset="0"/>
              <a:buChar char="•"/>
            </a:pPr>
            <a:r>
              <a:rPr lang="zh-CN" altLang="zh-CN" dirty="0"/>
              <a:t>紧密中心都可用来度量当前结点对其他节点的间接影响力，或者信息从该节点传播到其他节点的距离，也可间接度量该用户的社会关系强度。该值越大，表示该用户与其他用户之间的距离越短，该用户影响其他用户的速度越快</a:t>
            </a:r>
            <a:r>
              <a:rPr lang="zh-CN" altLang="zh-CN" dirty="0" smtClean="0"/>
              <a:t>。</a:t>
            </a:r>
            <a:endParaRPr lang="en-US" altLang="zh-CN" dirty="0" smtClean="0"/>
          </a:p>
          <a:p>
            <a:pPr marL="342900" indent="457200">
              <a:lnSpc>
                <a:spcPct val="150000"/>
              </a:lnSpc>
              <a:buFont typeface="Arial" panose="020B0604020202020204" pitchFamily="34" charset="0"/>
              <a:buChar char="•"/>
            </a:pPr>
            <a:r>
              <a:rPr lang="zh-CN" altLang="zh-CN" dirty="0"/>
              <a:t>介数中心度衡量节点在网络结构中所处位置的重要性。该度量值越大，表示网络中信息流动时经过该节点的信息量越大，即该节点在信息传播过程中的影响力越大。</a:t>
            </a:r>
            <a:endParaRPr lang="zh-CN" altLang="en-US" dirty="0">
              <a:solidFill>
                <a:schemeClr val="accent1"/>
              </a:solidFill>
            </a:endParaRPr>
          </a:p>
        </p:txBody>
      </p:sp>
    </p:spTree>
    <p:extLst>
      <p:ext uri="{BB962C8B-B14F-4D97-AF65-F5344CB8AC3E}">
        <p14:creationId xmlns:p14="http://schemas.microsoft.com/office/powerpoint/2010/main" val="32811942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4" name="矩形 3"/>
          <p:cNvSpPr/>
          <p:nvPr/>
        </p:nvSpPr>
        <p:spPr>
          <a:xfrm>
            <a:off x="3430087" y="1272123"/>
            <a:ext cx="7314113" cy="4662815"/>
          </a:xfrm>
          <a:prstGeom prst="rect">
            <a:avLst/>
          </a:prstGeom>
        </p:spPr>
        <p:txBody>
          <a:bodyPr wrap="square">
            <a:spAutoFit/>
          </a:bodyPr>
          <a:lstStyle/>
          <a:p>
            <a:pPr indent="457200">
              <a:lnSpc>
                <a:spcPct val="150000"/>
              </a:lnSpc>
            </a:pPr>
            <a:r>
              <a:rPr lang="zh-CN" altLang="en-US" dirty="0" smtClean="0">
                <a:solidFill>
                  <a:schemeClr val="accent1"/>
                </a:solidFill>
              </a:rPr>
              <a:t>基于随机游走的</a:t>
            </a:r>
            <a:r>
              <a:rPr lang="zh-CN" altLang="en-US" dirty="0">
                <a:solidFill>
                  <a:schemeClr val="accent1"/>
                </a:solidFill>
              </a:rPr>
              <a:t>度量</a:t>
            </a:r>
            <a:r>
              <a:rPr lang="zh-CN" altLang="en-US" dirty="0" smtClean="0">
                <a:solidFill>
                  <a:schemeClr val="accent1"/>
                </a:solidFill>
              </a:rPr>
              <a:t>法</a:t>
            </a:r>
            <a:endParaRPr lang="en-US" altLang="zh-CN" dirty="0" smtClean="0">
              <a:solidFill>
                <a:schemeClr val="accent1"/>
              </a:solidFill>
            </a:endParaRPr>
          </a:p>
          <a:p>
            <a:pPr indent="457200">
              <a:lnSpc>
                <a:spcPct val="150000"/>
              </a:lnSpc>
            </a:pPr>
            <a:r>
              <a:rPr lang="zh-CN" altLang="zh-CN" dirty="0"/>
              <a:t>基于随机游走特征度量的指标有特征向量中心度（</a:t>
            </a:r>
            <a:r>
              <a:rPr lang="en-US" altLang="zh-CN" dirty="0"/>
              <a:t>Eigenvector Centrality</a:t>
            </a:r>
            <a:r>
              <a:rPr lang="zh-CN" altLang="zh-CN" dirty="0"/>
              <a:t>）、</a:t>
            </a:r>
            <a:r>
              <a:rPr lang="en-US" altLang="zh-CN" dirty="0"/>
              <a:t>Katz</a:t>
            </a:r>
            <a:r>
              <a:rPr lang="zh-CN" altLang="zh-CN" dirty="0"/>
              <a:t>中心度和</a:t>
            </a:r>
            <a:r>
              <a:rPr lang="en-US" altLang="zh-CN" dirty="0"/>
              <a:t>PageRank</a:t>
            </a:r>
            <a:r>
              <a:rPr lang="zh-CN" altLang="zh-CN" dirty="0"/>
              <a:t>度量</a:t>
            </a:r>
            <a:r>
              <a:rPr lang="zh-CN" altLang="zh-CN" dirty="0" smtClean="0"/>
              <a:t>。</a:t>
            </a:r>
            <a:endParaRPr lang="en-US" altLang="zh-CN" dirty="0" smtClean="0"/>
          </a:p>
          <a:p>
            <a:pPr indent="457200">
              <a:lnSpc>
                <a:spcPct val="150000"/>
              </a:lnSpc>
            </a:pPr>
            <a:endParaRPr lang="en-US" altLang="zh-CN" dirty="0" smtClean="0"/>
          </a:p>
          <a:p>
            <a:pPr marL="342900" indent="457200">
              <a:lnSpc>
                <a:spcPct val="150000"/>
              </a:lnSpc>
              <a:buFont typeface="Arial" panose="020B0604020202020204" pitchFamily="34" charset="0"/>
              <a:buChar char="•"/>
            </a:pPr>
            <a:r>
              <a:rPr lang="zh-CN" altLang="zh-CN" dirty="0"/>
              <a:t>特征向量中心度根据节点的中心性计算他们的权重，然后将当前节点可达的其他节点的权重的线性和视为该节点的中心度数值。该度量反映的思想是：节点的影响力是与和它相连的其他节点的影响力相关的</a:t>
            </a:r>
            <a:r>
              <a:rPr lang="zh-CN" altLang="zh-CN" dirty="0" smtClean="0"/>
              <a:t>。</a:t>
            </a:r>
            <a:endParaRPr lang="en-US" altLang="zh-CN" dirty="0" smtClean="0"/>
          </a:p>
          <a:p>
            <a:pPr marL="342900" indent="457200">
              <a:lnSpc>
                <a:spcPct val="150000"/>
              </a:lnSpc>
              <a:buFont typeface="Arial" panose="020B0604020202020204" pitchFamily="34" charset="0"/>
              <a:buChar char="•"/>
            </a:pPr>
            <a:r>
              <a:rPr lang="en-US" altLang="zh-CN" dirty="0"/>
              <a:t>Katz</a:t>
            </a:r>
            <a:r>
              <a:rPr lang="zh-CN" altLang="zh-CN" dirty="0"/>
              <a:t>中心度利用两个节点间的游走路径来计算二者中间的影响力。在游走路径上距离</a:t>
            </a:r>
            <a:r>
              <a:rPr lang="en-US" altLang="zh-CN" dirty="0"/>
              <a:t>vi</a:t>
            </a:r>
            <a:r>
              <a:rPr lang="zh-CN" altLang="zh-CN" dirty="0"/>
              <a:t>越远的节点通过惩罚因子α的作用，对该节点</a:t>
            </a:r>
            <a:r>
              <a:rPr lang="en-US" altLang="zh-CN" dirty="0"/>
              <a:t>vi</a:t>
            </a:r>
            <a:r>
              <a:rPr lang="zh-CN" altLang="zh-CN" dirty="0"/>
              <a:t>的</a:t>
            </a:r>
            <a:r>
              <a:rPr lang="en-US" altLang="zh-CN" dirty="0"/>
              <a:t>Katz</a:t>
            </a:r>
            <a:r>
              <a:rPr lang="zh-CN" altLang="zh-CN" dirty="0"/>
              <a:t>中心度贡献越小</a:t>
            </a:r>
            <a:r>
              <a:rPr lang="zh-CN" altLang="zh-CN" dirty="0" smtClean="0"/>
              <a:t>。</a:t>
            </a:r>
            <a:endParaRPr lang="en-US" altLang="zh-CN" dirty="0" smtClean="0"/>
          </a:p>
        </p:txBody>
      </p:sp>
    </p:spTree>
    <p:extLst>
      <p:ext uri="{BB962C8B-B14F-4D97-AF65-F5344CB8AC3E}">
        <p14:creationId xmlns:p14="http://schemas.microsoft.com/office/powerpoint/2010/main" val="201101587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 name="矩形 3"/>
              <p:cNvSpPr/>
              <p:nvPr/>
            </p:nvSpPr>
            <p:spPr>
              <a:xfrm>
                <a:off x="3070860" y="1596195"/>
                <a:ext cx="7981950" cy="4542910"/>
              </a:xfrm>
              <a:prstGeom prst="rect">
                <a:avLst/>
              </a:prstGeom>
            </p:spPr>
            <p:txBody>
              <a:bodyPr wrap="square">
                <a:spAutoFit/>
              </a:bodyPr>
              <a:lstStyle/>
              <a:p>
                <a:pPr marL="342900" indent="457200">
                  <a:lnSpc>
                    <a:spcPct val="150000"/>
                  </a:lnSpc>
                  <a:buFont typeface="Arial" panose="020B0604020202020204" pitchFamily="34" charset="0"/>
                  <a:buChar char="•"/>
                </a:pPr>
                <a:r>
                  <a:rPr lang="en-US" altLang="zh-CN" dirty="0" smtClean="0"/>
                  <a:t>PageRank</a:t>
                </a:r>
                <a:r>
                  <a:rPr lang="zh-CN" altLang="zh-CN" dirty="0"/>
                  <a:t>算法的核心思想在于将网络节点之间的链接关系看作一种投票关系，即每一个节点都会将选票均匀地投给它所链接的其他节点，并且重要节点所投的选票比普通节点所投的选票权重更高。在</a:t>
                </a:r>
                <a:r>
                  <a:rPr lang="en-US" altLang="zh-CN" dirty="0"/>
                  <a:t>PageRank</a:t>
                </a:r>
                <a:r>
                  <a:rPr lang="zh-CN" altLang="zh-CN" dirty="0"/>
                  <a:t>中表示各个节点重要程度的值称为</a:t>
                </a:r>
                <a:r>
                  <a:rPr lang="en-US" altLang="zh-CN" dirty="0"/>
                  <a:t>PR</a:t>
                </a:r>
                <a:r>
                  <a:rPr lang="zh-CN" altLang="zh-CN" dirty="0"/>
                  <a:t>值，通过反复的迭代最终可以得到各个节点稳定、收敛的</a:t>
                </a:r>
                <a:r>
                  <a:rPr lang="en-US" altLang="zh-CN" dirty="0"/>
                  <a:t>PR</a:t>
                </a:r>
                <a:r>
                  <a:rPr lang="zh-CN" altLang="zh-CN" dirty="0"/>
                  <a:t>值</a:t>
                </a:r>
                <a:r>
                  <a:rPr lang="zh-CN" altLang="zh-CN" dirty="0" smtClean="0"/>
                  <a:t>。</a:t>
                </a:r>
                <a:endParaRPr lang="en-US" altLang="zh-CN" dirty="0" smtClean="0"/>
              </a:p>
              <a:p>
                <a:pPr marL="342900">
                  <a:lnSpc>
                    <a:spcPct val="150000"/>
                  </a:lnSpc>
                </a:pPr>
                <a:r>
                  <a:rPr lang="en-US" altLang="zh-CN" dirty="0" smtClean="0">
                    <a:solidFill>
                      <a:schemeClr val="accent1"/>
                    </a:solidFill>
                  </a:rPr>
                  <a:t>		</a:t>
                </a:r>
                <a14:m>
                  <m:oMath xmlns:m="http://schemas.openxmlformats.org/officeDocument/2006/math">
                    <m:r>
                      <a:rPr lang="en-US" altLang="zh-CN" sz="2800" b="0" i="1" smtClean="0">
                        <a:solidFill>
                          <a:schemeClr val="accent1"/>
                        </a:solidFill>
                        <a:latin typeface="Cambria Math" panose="02040503050406030204" pitchFamily="18" charset="0"/>
                      </a:rPr>
                      <m:t>𝑃𝑅</m:t>
                    </m:r>
                    <m:d>
                      <m:dPr>
                        <m:ctrlPr>
                          <a:rPr lang="en-US" altLang="zh-CN" sz="2800" b="0" i="1" smtClean="0">
                            <a:solidFill>
                              <a:schemeClr val="accent1"/>
                            </a:solidFill>
                            <a:latin typeface="Cambria Math" panose="02040503050406030204" pitchFamily="18" charset="0"/>
                          </a:rPr>
                        </m:ctrlPr>
                      </m:dPr>
                      <m:e>
                        <m:sSub>
                          <m:sSubPr>
                            <m:ctrlPr>
                              <a:rPr lang="en-US" altLang="zh-CN" sz="2800" b="0" i="1" smtClean="0">
                                <a:solidFill>
                                  <a:schemeClr val="accent1"/>
                                </a:solidFill>
                                <a:latin typeface="Cambria Math" panose="02040503050406030204" pitchFamily="18" charset="0"/>
                              </a:rPr>
                            </m:ctrlPr>
                          </m:sSubPr>
                          <m:e>
                            <m:r>
                              <a:rPr lang="en-US" altLang="zh-CN" sz="2800" b="0" i="1" smtClean="0">
                                <a:solidFill>
                                  <a:schemeClr val="accent1"/>
                                </a:solidFill>
                                <a:latin typeface="Cambria Math" panose="02040503050406030204" pitchFamily="18" charset="0"/>
                              </a:rPr>
                              <m:t>𝑝</m:t>
                            </m:r>
                          </m:e>
                          <m:sub>
                            <m:r>
                              <a:rPr lang="en-US" altLang="zh-CN" sz="2800" b="0" i="1" smtClean="0">
                                <a:solidFill>
                                  <a:schemeClr val="accent1"/>
                                </a:solidFill>
                                <a:latin typeface="Cambria Math" panose="02040503050406030204" pitchFamily="18" charset="0"/>
                              </a:rPr>
                              <m:t>𝑖</m:t>
                            </m:r>
                          </m:sub>
                        </m:sSub>
                      </m:e>
                    </m:d>
                    <m:r>
                      <a:rPr lang="en-US" altLang="zh-CN" sz="2800" b="0" i="1" smtClean="0">
                        <a:solidFill>
                          <a:schemeClr val="accent1"/>
                        </a:solidFill>
                        <a:latin typeface="Cambria Math" panose="02040503050406030204" pitchFamily="18" charset="0"/>
                      </a:rPr>
                      <m:t>= </m:t>
                    </m:r>
                    <m:f>
                      <m:fPr>
                        <m:ctrlPr>
                          <a:rPr lang="en-US" altLang="zh-CN" sz="2800" b="0" i="1" smtClean="0">
                            <a:solidFill>
                              <a:schemeClr val="accent1"/>
                            </a:solidFill>
                            <a:latin typeface="Cambria Math" panose="02040503050406030204" pitchFamily="18" charset="0"/>
                          </a:rPr>
                        </m:ctrlPr>
                      </m:fPr>
                      <m:num>
                        <m:r>
                          <a:rPr lang="en-US" altLang="zh-CN" sz="2800" b="0" i="1" smtClean="0">
                            <a:solidFill>
                              <a:schemeClr val="accent1"/>
                            </a:solidFill>
                            <a:latin typeface="Cambria Math" panose="02040503050406030204" pitchFamily="18" charset="0"/>
                          </a:rPr>
                          <m:t>1−</m:t>
                        </m:r>
                        <m:r>
                          <a:rPr lang="en-US" altLang="zh-CN" sz="2800" b="0" i="1" smtClean="0">
                            <a:solidFill>
                              <a:schemeClr val="accent1"/>
                            </a:solidFill>
                            <a:latin typeface="Cambria Math" panose="02040503050406030204" pitchFamily="18" charset="0"/>
                          </a:rPr>
                          <m:t>𝑑</m:t>
                        </m:r>
                      </m:num>
                      <m:den>
                        <m:r>
                          <a:rPr lang="en-US" altLang="zh-CN" sz="2800" b="0" i="1" smtClean="0">
                            <a:solidFill>
                              <a:schemeClr val="accent1"/>
                            </a:solidFill>
                            <a:latin typeface="Cambria Math" panose="02040503050406030204" pitchFamily="18" charset="0"/>
                          </a:rPr>
                          <m:t>𝑁</m:t>
                        </m:r>
                      </m:den>
                    </m:f>
                    <m:r>
                      <a:rPr lang="en-US" altLang="zh-CN" sz="2800" b="0" i="1" smtClean="0">
                        <a:solidFill>
                          <a:schemeClr val="accent1"/>
                        </a:solidFill>
                        <a:latin typeface="Cambria Math" panose="02040503050406030204" pitchFamily="18" charset="0"/>
                      </a:rPr>
                      <m:t>+</m:t>
                    </m:r>
                    <m:r>
                      <a:rPr lang="en-US" altLang="zh-CN" sz="2800" b="0" i="1" smtClean="0">
                        <a:solidFill>
                          <a:schemeClr val="accent1"/>
                        </a:solidFill>
                        <a:latin typeface="Cambria Math" panose="02040503050406030204" pitchFamily="18" charset="0"/>
                      </a:rPr>
                      <m:t>𝑑</m:t>
                    </m:r>
                    <m:nary>
                      <m:naryPr>
                        <m:chr m:val="∑"/>
                        <m:supHide m:val="on"/>
                        <m:ctrlPr>
                          <a:rPr lang="en-US" altLang="zh-CN" sz="2800" b="0" i="1" smtClean="0">
                            <a:solidFill>
                              <a:schemeClr val="accent1"/>
                            </a:solidFill>
                            <a:latin typeface="Cambria Math" panose="02040503050406030204" pitchFamily="18" charset="0"/>
                          </a:rPr>
                        </m:ctrlPr>
                      </m:naryPr>
                      <m:sub>
                        <m:sSub>
                          <m:sSubPr>
                            <m:ctrlPr>
                              <a:rPr lang="en-US" altLang="zh-CN" sz="2800" b="0" i="1" smtClean="0">
                                <a:solidFill>
                                  <a:schemeClr val="accent1"/>
                                </a:solidFill>
                                <a:latin typeface="Cambria Math" panose="02040503050406030204" pitchFamily="18" charset="0"/>
                              </a:rPr>
                            </m:ctrlPr>
                          </m:sSubPr>
                          <m:e>
                            <m:r>
                              <a:rPr lang="en-US" altLang="zh-CN" sz="2800" b="0" i="1" smtClean="0">
                                <a:solidFill>
                                  <a:schemeClr val="accent1"/>
                                </a:solidFill>
                                <a:latin typeface="Cambria Math" panose="02040503050406030204" pitchFamily="18" charset="0"/>
                              </a:rPr>
                              <m:t>𝑝</m:t>
                            </m:r>
                          </m:e>
                          <m:sub>
                            <m:r>
                              <a:rPr lang="en-US" altLang="zh-CN" sz="2800" b="0" i="1" smtClean="0">
                                <a:solidFill>
                                  <a:schemeClr val="accent1"/>
                                </a:solidFill>
                                <a:latin typeface="Cambria Math" panose="02040503050406030204" pitchFamily="18" charset="0"/>
                              </a:rPr>
                              <m:t>𝑗</m:t>
                            </m:r>
                          </m:sub>
                        </m:sSub>
                        <m:r>
                          <a:rPr lang="en-US" altLang="zh-CN" sz="2800" i="1">
                            <a:solidFill>
                              <a:schemeClr val="accent1"/>
                            </a:solidFill>
                            <a:latin typeface="Cambria Math" panose="02040503050406030204" pitchFamily="18" charset="0"/>
                            <a:ea typeface="Cambria Math" panose="02040503050406030204" pitchFamily="18" charset="0"/>
                          </a:rPr>
                          <m:t>∈</m:t>
                        </m:r>
                        <m:r>
                          <a:rPr lang="en-US" altLang="zh-CN" sz="2800" i="1">
                            <a:solidFill>
                              <a:schemeClr val="accent1"/>
                            </a:solidFill>
                            <a:latin typeface="Cambria Math" panose="02040503050406030204" pitchFamily="18" charset="0"/>
                            <a:ea typeface="Cambria Math" panose="02040503050406030204" pitchFamily="18" charset="0"/>
                          </a:rPr>
                          <m:t>𝑀</m:t>
                        </m:r>
                        <m:r>
                          <a:rPr lang="en-US" altLang="zh-CN" sz="2800" i="1">
                            <a:solidFill>
                              <a:schemeClr val="accent1"/>
                            </a:solidFill>
                            <a:latin typeface="Cambria Math" panose="02040503050406030204" pitchFamily="18" charset="0"/>
                            <a:ea typeface="Cambria Math" panose="02040503050406030204" pitchFamily="18" charset="0"/>
                          </a:rPr>
                          <m:t>(</m:t>
                        </m:r>
                        <m:sSub>
                          <m:sSubPr>
                            <m:ctrlPr>
                              <a:rPr lang="en-US" altLang="zh-CN" sz="2800" i="1">
                                <a:solidFill>
                                  <a:schemeClr val="accent1"/>
                                </a:solidFill>
                                <a:latin typeface="Cambria Math" panose="02040503050406030204" pitchFamily="18" charset="0"/>
                                <a:ea typeface="Cambria Math" panose="02040503050406030204" pitchFamily="18" charset="0"/>
                              </a:rPr>
                            </m:ctrlPr>
                          </m:sSubPr>
                          <m:e>
                            <m:r>
                              <a:rPr lang="en-US" altLang="zh-CN" sz="2800" i="1">
                                <a:solidFill>
                                  <a:schemeClr val="accent1"/>
                                </a:solidFill>
                                <a:latin typeface="Cambria Math" panose="02040503050406030204" pitchFamily="18" charset="0"/>
                                <a:ea typeface="Cambria Math" panose="02040503050406030204" pitchFamily="18" charset="0"/>
                              </a:rPr>
                              <m:t>𝑃</m:t>
                            </m:r>
                          </m:e>
                          <m:sub>
                            <m:r>
                              <a:rPr lang="en-US" altLang="zh-CN" sz="2800" i="1">
                                <a:solidFill>
                                  <a:schemeClr val="accent1"/>
                                </a:solidFill>
                                <a:latin typeface="Cambria Math" panose="02040503050406030204" pitchFamily="18" charset="0"/>
                                <a:ea typeface="Cambria Math" panose="02040503050406030204" pitchFamily="18" charset="0"/>
                              </a:rPr>
                              <m:t>𝑖</m:t>
                            </m:r>
                          </m:sub>
                        </m:sSub>
                        <m:r>
                          <a:rPr lang="en-US" altLang="zh-CN" sz="2800" b="0" i="1" smtClean="0">
                            <a:solidFill>
                              <a:schemeClr val="accent1"/>
                            </a:solidFill>
                            <a:latin typeface="Cambria Math" panose="02040503050406030204" pitchFamily="18" charset="0"/>
                            <a:ea typeface="Cambria Math" panose="02040503050406030204" pitchFamily="18" charset="0"/>
                          </a:rPr>
                          <m:t>)</m:t>
                        </m:r>
                      </m:sub>
                      <m:sup/>
                      <m:e>
                        <m:f>
                          <m:fPr>
                            <m:ctrlPr>
                              <a:rPr lang="en-US" altLang="zh-CN" sz="2800" b="0" i="1" smtClean="0">
                                <a:solidFill>
                                  <a:schemeClr val="accent1"/>
                                </a:solidFill>
                                <a:latin typeface="Cambria Math" panose="02040503050406030204" pitchFamily="18" charset="0"/>
                              </a:rPr>
                            </m:ctrlPr>
                          </m:fPr>
                          <m:num>
                            <m:r>
                              <a:rPr lang="en-US" altLang="zh-CN" sz="2800" b="0" i="1" smtClean="0">
                                <a:solidFill>
                                  <a:schemeClr val="accent1"/>
                                </a:solidFill>
                                <a:latin typeface="Cambria Math" panose="02040503050406030204" pitchFamily="18" charset="0"/>
                              </a:rPr>
                              <m:t>𝑃𝑅</m:t>
                            </m:r>
                            <m:r>
                              <a:rPr lang="en-US" altLang="zh-CN" sz="2800" b="0" i="1" smtClean="0">
                                <a:solidFill>
                                  <a:schemeClr val="accent1"/>
                                </a:solidFill>
                                <a:latin typeface="Cambria Math" panose="02040503050406030204" pitchFamily="18" charset="0"/>
                              </a:rPr>
                              <m:t>(</m:t>
                            </m:r>
                            <m:sSub>
                              <m:sSubPr>
                                <m:ctrlPr>
                                  <a:rPr lang="en-US" altLang="zh-CN" sz="2800" b="0" i="1" smtClean="0">
                                    <a:solidFill>
                                      <a:schemeClr val="accent1"/>
                                    </a:solidFill>
                                    <a:latin typeface="Cambria Math" panose="02040503050406030204" pitchFamily="18" charset="0"/>
                                  </a:rPr>
                                </m:ctrlPr>
                              </m:sSubPr>
                              <m:e>
                                <m:r>
                                  <a:rPr lang="en-US" altLang="zh-CN" sz="2800" b="0" i="1" smtClean="0">
                                    <a:solidFill>
                                      <a:schemeClr val="accent1"/>
                                    </a:solidFill>
                                    <a:latin typeface="Cambria Math" panose="02040503050406030204" pitchFamily="18" charset="0"/>
                                  </a:rPr>
                                  <m:t>𝑃</m:t>
                                </m:r>
                              </m:e>
                              <m:sub>
                                <m:r>
                                  <a:rPr lang="en-US" altLang="zh-CN" sz="2800" b="0" i="1" smtClean="0">
                                    <a:solidFill>
                                      <a:schemeClr val="accent1"/>
                                    </a:solidFill>
                                    <a:latin typeface="Cambria Math" panose="02040503050406030204" pitchFamily="18" charset="0"/>
                                  </a:rPr>
                                  <m:t>𝐽</m:t>
                                </m:r>
                              </m:sub>
                            </m:sSub>
                            <m:r>
                              <a:rPr lang="en-US" altLang="zh-CN" sz="2800" b="0" i="1" smtClean="0">
                                <a:solidFill>
                                  <a:schemeClr val="accent1"/>
                                </a:solidFill>
                                <a:latin typeface="Cambria Math" panose="02040503050406030204" pitchFamily="18" charset="0"/>
                              </a:rPr>
                              <m:t>)</m:t>
                            </m:r>
                          </m:num>
                          <m:den>
                            <m:r>
                              <a:rPr lang="en-US" altLang="zh-CN" sz="2800" b="0" i="1" smtClean="0">
                                <a:solidFill>
                                  <a:schemeClr val="accent1"/>
                                </a:solidFill>
                                <a:latin typeface="Cambria Math" panose="02040503050406030204" pitchFamily="18" charset="0"/>
                              </a:rPr>
                              <m:t>𝐿</m:t>
                            </m:r>
                            <m:r>
                              <a:rPr lang="en-US" altLang="zh-CN" sz="2800" b="0" i="1" smtClean="0">
                                <a:solidFill>
                                  <a:schemeClr val="accent1"/>
                                </a:solidFill>
                                <a:latin typeface="Cambria Math" panose="02040503050406030204" pitchFamily="18" charset="0"/>
                              </a:rPr>
                              <m:t>(</m:t>
                            </m:r>
                            <m:sSub>
                              <m:sSubPr>
                                <m:ctrlPr>
                                  <a:rPr lang="en-US" altLang="zh-CN" sz="2800" b="0" i="1" smtClean="0">
                                    <a:solidFill>
                                      <a:schemeClr val="accent1"/>
                                    </a:solidFill>
                                    <a:latin typeface="Cambria Math" panose="02040503050406030204" pitchFamily="18" charset="0"/>
                                  </a:rPr>
                                </m:ctrlPr>
                              </m:sSubPr>
                              <m:e>
                                <m:r>
                                  <a:rPr lang="en-US" altLang="zh-CN" sz="2800" b="0" i="1" smtClean="0">
                                    <a:solidFill>
                                      <a:schemeClr val="accent1"/>
                                    </a:solidFill>
                                    <a:latin typeface="Cambria Math" panose="02040503050406030204" pitchFamily="18" charset="0"/>
                                  </a:rPr>
                                  <m:t>𝑝</m:t>
                                </m:r>
                              </m:e>
                              <m:sub>
                                <m:r>
                                  <a:rPr lang="en-US" altLang="zh-CN" sz="2800" b="0" i="1" smtClean="0">
                                    <a:solidFill>
                                      <a:schemeClr val="accent1"/>
                                    </a:solidFill>
                                    <a:latin typeface="Cambria Math" panose="02040503050406030204" pitchFamily="18" charset="0"/>
                                  </a:rPr>
                                  <m:t>𝑗</m:t>
                                </m:r>
                              </m:sub>
                            </m:sSub>
                            <m:r>
                              <a:rPr lang="en-US" altLang="zh-CN" sz="2800" b="0" i="1" smtClean="0">
                                <a:solidFill>
                                  <a:schemeClr val="accent1"/>
                                </a:solidFill>
                                <a:latin typeface="Cambria Math" panose="02040503050406030204" pitchFamily="18" charset="0"/>
                              </a:rPr>
                              <m:t>)</m:t>
                            </m:r>
                          </m:den>
                        </m:f>
                      </m:e>
                    </m:nary>
                  </m:oMath>
                </a14:m>
                <a:endParaRPr lang="en-US" altLang="zh-CN" sz="2800" dirty="0" smtClean="0">
                  <a:solidFill>
                    <a:schemeClr val="accent1"/>
                  </a:solidFill>
                </a:endParaRPr>
              </a:p>
              <a:p>
                <a:pPr marL="342900">
                  <a:lnSpc>
                    <a:spcPct val="150000"/>
                  </a:lnSpc>
                </a:pPr>
                <a:r>
                  <a:rPr lang="en-US" altLang="zh-CN" dirty="0" smtClean="0"/>
                  <a:t>P1,p2,p3..</a:t>
                </a:r>
                <a:r>
                  <a:rPr lang="zh-CN" altLang="en-US" dirty="0" smtClean="0"/>
                  <a:t>是网络中的节点，</a:t>
                </a:r>
                <a:r>
                  <a:rPr lang="en-US" altLang="zh-CN" dirty="0" smtClean="0"/>
                  <a:t>M</a:t>
                </a:r>
                <a:r>
                  <a:rPr lang="zh-CN" altLang="en-US" dirty="0" smtClean="0"/>
                  <a:t>（</a:t>
                </a:r>
                <a:r>
                  <a:rPr lang="en-US" altLang="zh-CN" dirty="0" smtClean="0"/>
                  <a:t>p</a:t>
                </a:r>
                <a:r>
                  <a:rPr lang="zh-CN" altLang="en-US" dirty="0" smtClean="0"/>
                  <a:t>）是所有指向</a:t>
                </a:r>
                <a:r>
                  <a:rPr lang="en-US" altLang="zh-CN" dirty="0" smtClean="0"/>
                  <a:t>p</a:t>
                </a:r>
                <a:r>
                  <a:rPr lang="zh-CN" altLang="en-US" dirty="0" smtClean="0"/>
                  <a:t>节点的节点集合，</a:t>
                </a:r>
                <a:r>
                  <a:rPr lang="en-US" altLang="zh-CN" dirty="0" smtClean="0"/>
                  <a:t>L</a:t>
                </a:r>
                <a:r>
                  <a:rPr lang="zh-CN" altLang="en-US" dirty="0" smtClean="0"/>
                  <a:t>（</a:t>
                </a:r>
                <a:r>
                  <a:rPr lang="en-US" altLang="zh-CN" dirty="0" smtClean="0"/>
                  <a:t>p</a:t>
                </a:r>
                <a:r>
                  <a:rPr lang="zh-CN" altLang="en-US" dirty="0" smtClean="0"/>
                  <a:t>）是</a:t>
                </a:r>
                <a:r>
                  <a:rPr lang="en-US" altLang="zh-CN" dirty="0" smtClean="0"/>
                  <a:t>p</a:t>
                </a:r>
                <a:r>
                  <a:rPr lang="zh-CN" altLang="en-US" dirty="0" smtClean="0"/>
                  <a:t>节点指向的节点的集合，</a:t>
                </a:r>
                <a:r>
                  <a:rPr lang="en-US" altLang="zh-CN" dirty="0" smtClean="0"/>
                  <a:t>N</a:t>
                </a:r>
                <a:r>
                  <a:rPr lang="zh-CN" altLang="en-US" dirty="0" smtClean="0"/>
                  <a:t>是所有节点的数量。</a:t>
                </a:r>
                <a:r>
                  <a:rPr lang="en-US" altLang="zh-CN" dirty="0"/>
                  <a:t>d</a:t>
                </a:r>
                <a:r>
                  <a:rPr lang="zh-CN" altLang="en-US" dirty="0" smtClean="0"/>
                  <a:t>是阻尼系数，目的是为了处理那些没有向外链接的节点。</a:t>
                </a:r>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3070860" y="1596195"/>
                <a:ext cx="7981950" cy="4542910"/>
              </a:xfrm>
              <a:prstGeom prst="rect">
                <a:avLst/>
              </a:prstGeom>
              <a:blipFill>
                <a:blip r:embed="rId2"/>
                <a:stretch>
                  <a:fillRect r="-153" b="-1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5395164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5" name="矩形 4"/>
          <p:cNvSpPr/>
          <p:nvPr/>
        </p:nvSpPr>
        <p:spPr>
          <a:xfrm>
            <a:off x="2625090" y="2405465"/>
            <a:ext cx="8473440" cy="3308598"/>
          </a:xfrm>
          <a:prstGeom prst="rect">
            <a:avLst/>
          </a:prstGeom>
        </p:spPr>
        <p:txBody>
          <a:bodyPr wrap="square">
            <a:spAutoFit/>
          </a:bodyPr>
          <a:lstStyle/>
          <a:p>
            <a:pPr marL="685800">
              <a:spcBef>
                <a:spcPts val="1300"/>
              </a:spcBef>
              <a:spcAft>
                <a:spcPts val="1300"/>
              </a:spcAft>
            </a:pPr>
            <a:r>
              <a:rPr lang="zh-CN" altLang="zh-CN" dirty="0">
                <a:ea typeface="微软雅黑" panose="020B0503020204020204" pitchFamily="34" charset="-122"/>
              </a:rPr>
              <a:t>聚集系数（</a:t>
            </a:r>
            <a:r>
              <a:rPr lang="en-US" altLang="zh-CN" dirty="0">
                <a:ea typeface="Calibri" panose="020F0502020204030204" pitchFamily="34" charset="0"/>
              </a:rPr>
              <a:t>Clustering Coefficient</a:t>
            </a:r>
            <a:r>
              <a:rPr lang="zh-CN" altLang="zh-CN" dirty="0">
                <a:ea typeface="微软雅黑" panose="020B0503020204020204" pitchFamily="34" charset="-122"/>
              </a:rPr>
              <a:t>）用来度量用户之间形成社团的趋势的大小。局部聚集系数表示节点</a:t>
            </a:r>
            <a:r>
              <a:rPr lang="en-US" altLang="zh-CN" dirty="0">
                <a:ea typeface="微软雅黑" panose="020B0503020204020204" pitchFamily="34" charset="-122"/>
              </a:rPr>
              <a:t>vi</a:t>
            </a:r>
            <a:r>
              <a:rPr lang="zh-CN" altLang="zh-CN" dirty="0">
                <a:ea typeface="微软雅黑" panose="020B0503020204020204" pitchFamily="34" charset="-122"/>
              </a:rPr>
              <a:t>的任意两个邻居</a:t>
            </a:r>
            <a:r>
              <a:rPr lang="en-US" altLang="zh-CN" dirty="0" err="1">
                <a:ea typeface="微软雅黑" panose="020B0503020204020204" pitchFamily="34" charset="-122"/>
              </a:rPr>
              <a:t>vj</a:t>
            </a:r>
            <a:r>
              <a:rPr lang="zh-CN" altLang="zh-CN" dirty="0">
                <a:ea typeface="微软雅黑" panose="020B0503020204020204" pitchFamily="34" charset="-122"/>
              </a:rPr>
              <a:t>和</a:t>
            </a:r>
            <a:r>
              <a:rPr lang="en-US" altLang="zh-CN" dirty="0" err="1">
                <a:ea typeface="微软雅黑" panose="020B0503020204020204" pitchFamily="34" charset="-122"/>
              </a:rPr>
              <a:t>vk</a:t>
            </a:r>
            <a:r>
              <a:rPr lang="zh-CN" altLang="zh-CN" dirty="0">
                <a:ea typeface="微软雅黑" panose="020B0503020204020204" pitchFamily="34" charset="-122"/>
              </a:rPr>
              <a:t>之间产生联系的可能性。</a:t>
            </a:r>
            <a:endParaRPr lang="zh-CN" altLang="zh-CN" dirty="0">
              <a:ea typeface="Calibri" panose="020F0502020204030204" pitchFamily="34" charset="0"/>
            </a:endParaRPr>
          </a:p>
          <a:p>
            <a:pPr marL="685800">
              <a:spcBef>
                <a:spcPts val="1300"/>
              </a:spcBef>
              <a:spcAft>
                <a:spcPts val="1300"/>
              </a:spcAft>
            </a:pPr>
            <a:r>
              <a:rPr lang="zh-CN" altLang="zh-CN" dirty="0">
                <a:ea typeface="微软雅黑" panose="020B0503020204020204" pitchFamily="34" charset="-122"/>
              </a:rPr>
              <a:t>基于节点的度的方法表达的意义直观、计算代价小。但是只能反应用户及其邻居之间的联系，是对用户局部影响力的度量，无法很好衡量用户在整个社交网络中的影响力。</a:t>
            </a:r>
          </a:p>
          <a:p>
            <a:pPr marL="685800">
              <a:spcBef>
                <a:spcPts val="1300"/>
              </a:spcBef>
              <a:spcAft>
                <a:spcPts val="1300"/>
              </a:spcAft>
            </a:pPr>
            <a:r>
              <a:rPr lang="zh-CN" altLang="zh-CN" dirty="0">
                <a:ea typeface="微软雅黑" panose="020B0503020204020204" pitchFamily="34" charset="-122"/>
              </a:rPr>
              <a:t>基于最短路径的方法能够从整体对用户的影响力进行度量，但是计算复杂度高，通过最短路劲发挥作用是一种理想状态，现实环境中很难实现</a:t>
            </a:r>
          </a:p>
          <a:p>
            <a:pPr marL="685800">
              <a:spcBef>
                <a:spcPts val="1300"/>
              </a:spcBef>
              <a:spcAft>
                <a:spcPts val="1300"/>
              </a:spcAft>
            </a:pPr>
            <a:r>
              <a:rPr lang="zh-CN" altLang="zh-CN" dirty="0">
                <a:ea typeface="微软雅黑" panose="020B0503020204020204" pitchFamily="34" charset="-122"/>
              </a:rPr>
              <a:t>基于随机游走的方法可以用随机游走路径上的节点衡量当前节点的影响力。</a:t>
            </a:r>
          </a:p>
        </p:txBody>
      </p:sp>
      <p:pic>
        <p:nvPicPr>
          <p:cNvPr id="2049" name="Picture 1" descr="表 1 节 点 影 响 力 的 度 量 方 法 &#10;类 型 &#10;基 干 节 点 度 &#10;基 于 最 短 路 径 &#10;基 于 随 机 游 走 &#10;度 量 方 法 &#10;出 度 &#10;度 中 心 度 &#10;紧 密 中 心 度 &#10;介 数 中 心 度 &#10;特 征 向 量 中 心 度 &#10;Katz 中 心 度 &#10;PageRank 度 量 &#10;局 部 聚 集 系 数 &#10;deg &#10;deg &#10;计 算 公 式 &#10;壶 g00 &#10;Com(Vi) 亠 &#10;CCLO(vi) 亠 &#10;CBET(vi) 亠 &#10;“ 0 一 0 / 2 &#10;P 以 (i) 亠 &#10;02LU00 亠 &#10;Pr(vj) &#10;+d &#10;《 IF @出 &#10;00 以 ， 。 0 玉 eE 日 &#10;《 Ng, 《 0 Ng,l 一 0 / 2 &#10;度 量 方 法 描 述 &#10;当 前 节 点 对 邻 居 节 点 的 影 响 力 &#10;邻 居 节 点 对 当 前 节 点 的 影 响 力 &#10;当 前 节 点 与 邻 居 节 点 间 的 平 均 影 响 力 &#10;当 前 节 点 到 网 络 中 其 他 节 点 的 距 离 ． 其 中 g 《 表 示 节 &#10;点 《 到 j 的 最 短 路 径 长 度 ． &#10;当 前 节 点 在 网 络 中 所 处 位 置 的 甬 要 程 度 ． 其 中 l{g “ 日 &#10;表 示 节 点 和 t 之 间 的 最 知 路 径 （ 也 称 为 晁 地 线 ） 个 &#10;数 ， 0 的 日 表 示 上 述 最 知 路 径 中 经 过 节 点 i 的 个 数 ． &#10;当 前 节 点 的 影 响 力 取 决 干 邻 接 节 点 影 响 力 的 线 性 &#10;和 ． 其 中 a 表 示 邻 接 矩 阵 的 最 大 特 征 值 、 &#10;当 前 节 点 的 影 响 力 由 从 该 节 点 出 发 的 随 机 游 走 路 径 &#10;所 决 定 ． 中 。 为 惩 罚 因 子 、 &#10;当 前 节 点 的 影 响 力 排 名 ． 其 中 L 00 表 示 链 入 0 的 &#10;， L 灬 00 表 示 链 出 0 的 节 点 ， d 为 阻 尼 因 子 ． &#10;当 前 节 点 的 邻 居 节 点 相 互 影 响 的 程 度 大 小 ． 其 中 &#10;Ng, 是 节 点 的 邻 居 节 点 集 合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1665" y="1211580"/>
            <a:ext cx="9448800" cy="5429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94384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2049"/>
                                        </p:tgtEl>
                                        <p:attrNameLst>
                                          <p:attrName>style.visibility</p:attrName>
                                        </p:attrNameLst>
                                      </p:cBhvr>
                                      <p:to>
                                        <p:strVal val="visible"/>
                                      </p:to>
                                    </p:set>
                                    <p:anim calcmode="lin" valueType="num">
                                      <p:cBhvr additive="base">
                                        <p:cTn id="11" dur="500" fill="hold"/>
                                        <p:tgtEl>
                                          <p:spTgt spid="2049"/>
                                        </p:tgtEl>
                                        <p:attrNameLst>
                                          <p:attrName>ppt_x</p:attrName>
                                        </p:attrNameLst>
                                      </p:cBhvr>
                                      <p:tavLst>
                                        <p:tav tm="0">
                                          <p:val>
                                            <p:strVal val="#ppt_x"/>
                                          </p:val>
                                        </p:tav>
                                        <p:tav tm="100000">
                                          <p:val>
                                            <p:strVal val="#ppt_x"/>
                                          </p:val>
                                        </p:tav>
                                      </p:tavLst>
                                    </p:anim>
                                    <p:anim calcmode="lin" valueType="num">
                                      <p:cBhvr additive="base">
                                        <p:cTn id="12" dur="500" fill="hold"/>
                                        <p:tgtEl>
                                          <p:spTgt spid="20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 name="文本框 4"/>
              <p:cNvSpPr txBox="1"/>
              <p:nvPr/>
            </p:nvSpPr>
            <p:spPr>
              <a:xfrm>
                <a:off x="3161544" y="1663104"/>
                <a:ext cx="7738110" cy="4211409"/>
              </a:xfrm>
              <a:prstGeom prst="rect">
                <a:avLst/>
              </a:prstGeom>
              <a:noFill/>
            </p:spPr>
            <p:txBody>
              <a:bodyPr wrap="square" rtlCol="0">
                <a:spAutoFit/>
              </a:bodyPr>
              <a:lstStyle/>
              <a:p>
                <a:r>
                  <a:rPr lang="zh-CN" altLang="en-US" dirty="0" smtClean="0">
                    <a:solidFill>
                      <a:schemeClr val="accent2"/>
                    </a:solidFill>
                  </a:rPr>
                  <a:t>连接的度量</a:t>
                </a:r>
                <a:endParaRPr lang="en-US" altLang="zh-CN" dirty="0" smtClean="0">
                  <a:solidFill>
                    <a:schemeClr val="accent2"/>
                  </a:solidFill>
                </a:endParaRPr>
              </a:p>
              <a:p>
                <a:endParaRPr lang="en-US" altLang="zh-CN" dirty="0" smtClean="0">
                  <a:solidFill>
                    <a:schemeClr val="accent2"/>
                  </a:solidFill>
                </a:endParaRPr>
              </a:p>
              <a:p>
                <a:r>
                  <a:rPr lang="zh-CN" altLang="zh-CN" dirty="0"/>
                  <a:t>一般而言，两个节点的邻居重叠程度越高，这两个节点之间的关系月紧密，他们之间的影响力也越强烈。可以用</a:t>
                </a:r>
                <a:r>
                  <a:rPr lang="en-US" altLang="zh-CN" dirty="0" err="1"/>
                  <a:t>Jaccard</a:t>
                </a:r>
                <a:r>
                  <a:rPr lang="zh-CN" altLang="zh-CN" dirty="0"/>
                  <a:t>相似度度量这种关系：</a:t>
                </a:r>
              </a:p>
              <a:p>
                <a:pPr/>
                <a14:m>
                  <m:oMathPara xmlns:m="http://schemas.openxmlformats.org/officeDocument/2006/math">
                    <m:oMathParaPr>
                      <m:jc m:val="centerGroup"/>
                    </m:oMathParaPr>
                    <m:oMath xmlns:m="http://schemas.openxmlformats.org/officeDocument/2006/math">
                      <m:r>
                        <m:rPr>
                          <m:sty m:val="p"/>
                        </m:rPr>
                        <a:rPr lang="x-IV_mathan" altLang="zh-CN">
                          <a:latin typeface="Cambria Math" panose="02040503050406030204" pitchFamily="18" charset="0"/>
                        </a:rPr>
                        <m:t>J</m:t>
                      </m:r>
                      <m:d>
                        <m:dPr>
                          <m:ctrlPr>
                            <a:rPr lang="x-IV_mathan" altLang="zh-CN" i="1">
                              <a:latin typeface="Cambria Math" panose="02040503050406030204" pitchFamily="18" charset="0"/>
                            </a:rPr>
                          </m:ctrlPr>
                        </m:dPr>
                        <m:e>
                          <m:r>
                            <m:rPr>
                              <m:sty m:val="p"/>
                            </m:rPr>
                            <a:rPr lang="x-IV_mathan" altLang="zh-CN">
                              <a:latin typeface="Cambria Math" panose="02040503050406030204" pitchFamily="18" charset="0"/>
                            </a:rPr>
                            <m:t>i</m:t>
                          </m:r>
                          <m:r>
                            <a:rPr lang="x-IV_mathan" altLang="zh-CN" i="1">
                              <a:latin typeface="Cambria Math" panose="02040503050406030204" pitchFamily="18" charset="0"/>
                            </a:rPr>
                            <m:t> </m:t>
                          </m:r>
                          <m:r>
                            <a:rPr lang="x-IV_mathan" altLang="zh-CN">
                              <a:latin typeface="Cambria Math" panose="02040503050406030204" pitchFamily="18" charset="0"/>
                            </a:rPr>
                            <m:t>,</m:t>
                          </m:r>
                          <m:r>
                            <m:rPr>
                              <m:sty m:val="p"/>
                            </m:rPr>
                            <a:rPr lang="x-IV_mathan" altLang="zh-CN">
                              <a:latin typeface="Cambria Math" panose="02040503050406030204" pitchFamily="18" charset="0"/>
                            </a:rPr>
                            <m:t>j</m:t>
                          </m:r>
                        </m:e>
                      </m:d>
                      <m:r>
                        <a:rPr lang="x-IV_mathan" altLang="zh-CN">
                          <a:latin typeface="Cambria Math" panose="02040503050406030204" pitchFamily="18" charset="0"/>
                        </a:rPr>
                        <m:t>=</m:t>
                      </m:r>
                      <m:r>
                        <a:rPr lang="x-IV_mathan" altLang="zh-CN" i="1">
                          <a:latin typeface="Cambria Math" panose="02040503050406030204" pitchFamily="18" charset="0"/>
                        </a:rPr>
                        <m:t> </m:t>
                      </m:r>
                      <m:f>
                        <m:fPr>
                          <m:ctrlPr>
                            <a:rPr lang="x-IV_mathan" altLang="zh-CN" i="1">
                              <a:latin typeface="Cambria Math" panose="02040503050406030204" pitchFamily="18" charset="0"/>
                            </a:rPr>
                          </m:ctrlPr>
                        </m:fPr>
                        <m:num>
                          <m:r>
                            <a:rPr lang="x-IV_mathan" altLang="zh-CN">
                              <a:latin typeface="Cambria Math" panose="02040503050406030204" pitchFamily="18" charset="0"/>
                            </a:rPr>
                            <m:t>|</m:t>
                          </m:r>
                          <m:sSub>
                            <m:sSubPr>
                              <m:ctrlPr>
                                <a:rPr lang="x-IV_mathan" altLang="zh-CN" i="1">
                                  <a:latin typeface="Cambria Math" panose="02040503050406030204" pitchFamily="18" charset="0"/>
                                </a:rPr>
                              </m:ctrlPr>
                            </m:sSubPr>
                            <m:e>
                              <m:r>
                                <a:rPr lang="x-IV_mathan" altLang="zh-CN">
                                  <a:latin typeface="Cambria Math" panose="02040503050406030204" pitchFamily="18" charset="0"/>
                                </a:rPr>
                                <m:t>𝑁</m:t>
                              </m:r>
                            </m:e>
                            <m:sub>
                              <m:sSub>
                                <m:sSubPr>
                                  <m:ctrlPr>
                                    <a:rPr lang="x-IV_mathan" altLang="zh-CN" i="1">
                                      <a:latin typeface="Cambria Math" panose="02040503050406030204" pitchFamily="18" charset="0"/>
                                    </a:rPr>
                                  </m:ctrlPr>
                                </m:sSubPr>
                                <m:e>
                                  <m:r>
                                    <a:rPr lang="x-IV_mathan" altLang="zh-CN">
                                      <a:latin typeface="Cambria Math" panose="02040503050406030204" pitchFamily="18" charset="0"/>
                                    </a:rPr>
                                    <m:t>𝑔</m:t>
                                  </m:r>
                                </m:e>
                                <m:sub>
                                  <m:r>
                                    <a:rPr lang="x-IV_mathan" altLang="zh-CN">
                                      <a:latin typeface="Cambria Math" panose="02040503050406030204" pitchFamily="18" charset="0"/>
                                    </a:rPr>
                                    <m:t>𝑖</m:t>
                                  </m:r>
                                </m:sub>
                              </m:sSub>
                            </m:sub>
                          </m:sSub>
                          <m:r>
                            <a:rPr lang="x-IV_mathan" altLang="zh-CN">
                              <a:latin typeface="Cambria Math" panose="02040503050406030204" pitchFamily="18" charset="0"/>
                            </a:rPr>
                            <m:t>∩</m:t>
                          </m:r>
                          <m:sSub>
                            <m:sSubPr>
                              <m:ctrlPr>
                                <a:rPr lang="x-IV_mathan" altLang="zh-CN" i="1">
                                  <a:latin typeface="Cambria Math" panose="02040503050406030204" pitchFamily="18" charset="0"/>
                                </a:rPr>
                              </m:ctrlPr>
                            </m:sSubPr>
                            <m:e>
                              <m:r>
                                <a:rPr lang="x-IV_mathan" altLang="zh-CN">
                                  <a:latin typeface="Cambria Math" panose="02040503050406030204" pitchFamily="18" charset="0"/>
                                </a:rPr>
                                <m:t>𝑁</m:t>
                              </m:r>
                            </m:e>
                            <m:sub>
                              <m:sSub>
                                <m:sSubPr>
                                  <m:ctrlPr>
                                    <a:rPr lang="x-IV_mathan" altLang="zh-CN" i="1">
                                      <a:latin typeface="Cambria Math" panose="02040503050406030204" pitchFamily="18" charset="0"/>
                                    </a:rPr>
                                  </m:ctrlPr>
                                </m:sSubPr>
                                <m:e>
                                  <m:r>
                                    <a:rPr lang="x-IV_mathan" altLang="zh-CN">
                                      <a:latin typeface="Cambria Math" panose="02040503050406030204" pitchFamily="18" charset="0"/>
                                    </a:rPr>
                                    <m:t>𝑔</m:t>
                                  </m:r>
                                </m:e>
                                <m:sub>
                                  <m:r>
                                    <a:rPr lang="x-IV_mathan" altLang="zh-CN">
                                      <a:latin typeface="Cambria Math" panose="02040503050406030204" pitchFamily="18" charset="0"/>
                                    </a:rPr>
                                    <m:t>𝑗</m:t>
                                  </m:r>
                                </m:sub>
                              </m:sSub>
                            </m:sub>
                          </m:sSub>
                          <m:r>
                            <a:rPr lang="x-IV_mathan" altLang="zh-CN">
                              <a:latin typeface="Cambria Math" panose="02040503050406030204" pitchFamily="18" charset="0"/>
                            </a:rPr>
                            <m:t>|</m:t>
                          </m:r>
                        </m:num>
                        <m:den>
                          <m:r>
                            <a:rPr lang="x-IV_mathan" altLang="zh-CN">
                              <a:latin typeface="Cambria Math" panose="02040503050406030204" pitchFamily="18" charset="0"/>
                            </a:rPr>
                            <m:t>|</m:t>
                          </m:r>
                          <m:sSub>
                            <m:sSubPr>
                              <m:ctrlPr>
                                <a:rPr lang="x-IV_mathan" altLang="zh-CN" i="1">
                                  <a:latin typeface="Cambria Math" panose="02040503050406030204" pitchFamily="18" charset="0"/>
                                </a:rPr>
                              </m:ctrlPr>
                            </m:sSubPr>
                            <m:e>
                              <m:r>
                                <a:rPr lang="x-IV_mathan" altLang="zh-CN">
                                  <a:latin typeface="Cambria Math" panose="02040503050406030204" pitchFamily="18" charset="0"/>
                                </a:rPr>
                                <m:t>𝑁</m:t>
                              </m:r>
                            </m:e>
                            <m:sub>
                              <m:sSub>
                                <m:sSubPr>
                                  <m:ctrlPr>
                                    <a:rPr lang="x-IV_mathan" altLang="zh-CN" i="1">
                                      <a:latin typeface="Cambria Math" panose="02040503050406030204" pitchFamily="18" charset="0"/>
                                    </a:rPr>
                                  </m:ctrlPr>
                                </m:sSubPr>
                                <m:e>
                                  <m:r>
                                    <a:rPr lang="x-IV_mathan" altLang="zh-CN">
                                      <a:latin typeface="Cambria Math" panose="02040503050406030204" pitchFamily="18" charset="0"/>
                                    </a:rPr>
                                    <m:t>𝑔</m:t>
                                  </m:r>
                                </m:e>
                                <m:sub>
                                  <m:r>
                                    <a:rPr lang="x-IV_mathan" altLang="zh-CN">
                                      <a:latin typeface="Cambria Math" panose="02040503050406030204" pitchFamily="18" charset="0"/>
                                    </a:rPr>
                                    <m:t>𝑖</m:t>
                                  </m:r>
                                </m:sub>
                              </m:sSub>
                            </m:sub>
                          </m:sSub>
                          <m:r>
                            <a:rPr lang="x-IV_mathan" altLang="zh-CN">
                              <a:latin typeface="Cambria Math" panose="02040503050406030204" pitchFamily="18" charset="0"/>
                            </a:rPr>
                            <m:t>∪</m:t>
                          </m:r>
                          <m:sSub>
                            <m:sSubPr>
                              <m:ctrlPr>
                                <a:rPr lang="x-IV_mathan" altLang="zh-CN" i="1">
                                  <a:latin typeface="Cambria Math" panose="02040503050406030204" pitchFamily="18" charset="0"/>
                                </a:rPr>
                              </m:ctrlPr>
                            </m:sSubPr>
                            <m:e>
                              <m:r>
                                <a:rPr lang="x-IV_mathan" altLang="zh-CN">
                                  <a:latin typeface="Cambria Math" panose="02040503050406030204" pitchFamily="18" charset="0"/>
                                </a:rPr>
                                <m:t>𝑁</m:t>
                              </m:r>
                            </m:e>
                            <m:sub>
                              <m:sSub>
                                <m:sSubPr>
                                  <m:ctrlPr>
                                    <a:rPr lang="x-IV_mathan" altLang="zh-CN" i="1">
                                      <a:latin typeface="Cambria Math" panose="02040503050406030204" pitchFamily="18" charset="0"/>
                                    </a:rPr>
                                  </m:ctrlPr>
                                </m:sSubPr>
                                <m:e>
                                  <m:r>
                                    <a:rPr lang="x-IV_mathan" altLang="zh-CN">
                                      <a:latin typeface="Cambria Math" panose="02040503050406030204" pitchFamily="18" charset="0"/>
                                    </a:rPr>
                                    <m:t>𝑔</m:t>
                                  </m:r>
                                </m:e>
                                <m:sub>
                                  <m:r>
                                    <a:rPr lang="x-IV_mathan" altLang="zh-CN">
                                      <a:latin typeface="Cambria Math" panose="02040503050406030204" pitchFamily="18" charset="0"/>
                                    </a:rPr>
                                    <m:t>𝑗</m:t>
                                  </m:r>
                                </m:sub>
                              </m:sSub>
                            </m:sub>
                          </m:sSub>
                          <m:r>
                            <a:rPr lang="x-IV_mathan" altLang="zh-CN">
                              <a:latin typeface="Cambria Math" panose="02040503050406030204" pitchFamily="18" charset="0"/>
                            </a:rPr>
                            <m:t>|</m:t>
                          </m:r>
                        </m:den>
                      </m:f>
                    </m:oMath>
                  </m:oMathPara>
                </a14:m>
                <a:endParaRPr lang="x-IV_mathan" altLang="zh-CN" dirty="0"/>
              </a:p>
              <a:p>
                <a:r>
                  <a:rPr lang="zh-CN" altLang="zh-CN" dirty="0"/>
                  <a:t>也可用与介数中心度类似的边介数（</a:t>
                </a:r>
                <a:r>
                  <a:rPr lang="en-US" altLang="zh-CN" dirty="0"/>
                  <a:t>Edge </a:t>
                </a:r>
                <a:r>
                  <a:rPr lang="en-US" altLang="zh-CN" dirty="0" err="1"/>
                  <a:t>Betweenness</a:t>
                </a:r>
                <a:r>
                  <a:rPr lang="zh-CN" altLang="zh-CN" dirty="0"/>
                  <a:t>）来度量边在网络中的重要程度：</a:t>
                </a:r>
              </a:p>
              <a:p>
                <a:pPr/>
                <a14:m>
                  <m:oMathPara xmlns:m="http://schemas.openxmlformats.org/officeDocument/2006/math">
                    <m:oMathParaPr>
                      <m:jc m:val="centerGroup"/>
                    </m:oMathParaPr>
                    <m:oMath xmlns:m="http://schemas.openxmlformats.org/officeDocument/2006/math">
                      <m:sSup>
                        <m:sSupPr>
                          <m:ctrlPr>
                            <a:rPr lang="x-IV_mathan" altLang="zh-CN" i="1">
                              <a:latin typeface="Cambria Math" panose="02040503050406030204" pitchFamily="18" charset="0"/>
                            </a:rPr>
                          </m:ctrlPr>
                        </m:sSupPr>
                        <m:e>
                          <m:r>
                            <a:rPr lang="x-IV_mathan" altLang="zh-CN">
                              <a:latin typeface="Cambria Math" panose="02040503050406030204" pitchFamily="18" charset="0"/>
                            </a:rPr>
                            <m:t>𝐸</m:t>
                          </m:r>
                        </m:e>
                        <m:sup>
                          <m:r>
                            <a:rPr lang="x-IV_mathan" altLang="zh-CN">
                              <a:latin typeface="Cambria Math" panose="02040503050406030204" pitchFamily="18" charset="0"/>
                            </a:rPr>
                            <m:t>𝐵𝐸𝑇</m:t>
                          </m:r>
                        </m:sup>
                      </m:sSup>
                      <m:d>
                        <m:dPr>
                          <m:ctrlPr>
                            <a:rPr lang="x-IV_mathan" altLang="zh-CN" i="1">
                              <a:latin typeface="Cambria Math" panose="02040503050406030204" pitchFamily="18" charset="0"/>
                            </a:rPr>
                          </m:ctrlPr>
                        </m:dPr>
                        <m:e>
                          <m:sSub>
                            <m:sSubPr>
                              <m:ctrlPr>
                                <a:rPr lang="x-IV_mathan" altLang="zh-CN" i="1">
                                  <a:latin typeface="Cambria Math" panose="02040503050406030204" pitchFamily="18" charset="0"/>
                                </a:rPr>
                              </m:ctrlPr>
                            </m:sSubPr>
                            <m:e>
                              <m:r>
                                <a:rPr lang="x-IV_mathan" altLang="zh-CN">
                                  <a:latin typeface="Cambria Math" panose="02040503050406030204" pitchFamily="18" charset="0"/>
                                </a:rPr>
                                <m:t>𝑒</m:t>
                              </m:r>
                            </m:e>
                            <m:sub>
                              <m:r>
                                <a:rPr lang="x-IV_mathan" altLang="zh-CN">
                                  <a:latin typeface="Cambria Math" panose="02040503050406030204" pitchFamily="18" charset="0"/>
                                </a:rPr>
                                <m:t>𝑖𝑗</m:t>
                              </m:r>
                            </m:sub>
                          </m:sSub>
                        </m:e>
                      </m:d>
                      <m:r>
                        <a:rPr lang="x-IV_mathan" altLang="zh-CN">
                          <a:latin typeface="Cambria Math" panose="02040503050406030204" pitchFamily="18" charset="0"/>
                        </a:rPr>
                        <m:t>=</m:t>
                      </m:r>
                      <m:nary>
                        <m:naryPr>
                          <m:chr m:val="∑"/>
                          <m:supHide m:val="on"/>
                          <m:ctrlPr>
                            <a:rPr lang="x-IV_mathan" altLang="zh-CN" i="1">
                              <a:latin typeface="Cambria Math" panose="02040503050406030204" pitchFamily="18" charset="0"/>
                            </a:rPr>
                          </m:ctrlPr>
                        </m:naryPr>
                        <m:sub>
                          <m:r>
                            <a:rPr lang="x-IV_mathan" altLang="zh-CN">
                              <a:latin typeface="Cambria Math" panose="02040503050406030204" pitchFamily="18" charset="0"/>
                            </a:rPr>
                            <m:t>𝑠</m:t>
                          </m:r>
                          <m:r>
                            <a:rPr lang="x-IV_mathan" altLang="zh-CN">
                              <a:latin typeface="Cambria Math" panose="02040503050406030204" pitchFamily="18" charset="0"/>
                            </a:rPr>
                            <m:t>&lt;</m:t>
                          </m:r>
                          <m:r>
                            <a:rPr lang="x-IV_mathan" altLang="zh-CN">
                              <a:latin typeface="Cambria Math" panose="02040503050406030204" pitchFamily="18" charset="0"/>
                            </a:rPr>
                            <m:t>𝑡</m:t>
                          </m:r>
                        </m:sub>
                        <m:sup/>
                        <m:e>
                          <m:r>
                            <a:rPr lang="x-IV_mathan" altLang="zh-CN">
                              <a:latin typeface="Cambria Math" panose="02040503050406030204" pitchFamily="18" charset="0"/>
                            </a:rPr>
                            <m:t>|</m:t>
                          </m:r>
                          <m:sSubSup>
                            <m:sSubSupPr>
                              <m:ctrlPr>
                                <a:rPr lang="x-IV_mathan" altLang="zh-CN" i="1">
                                  <a:latin typeface="Cambria Math" panose="02040503050406030204" pitchFamily="18" charset="0"/>
                                </a:rPr>
                              </m:ctrlPr>
                            </m:sSubSupPr>
                            <m:e>
                              <m:r>
                                <a:rPr lang="x-IV_mathan" altLang="zh-CN">
                                  <a:latin typeface="Cambria Math" panose="02040503050406030204" pitchFamily="18" charset="0"/>
                                </a:rPr>
                                <m:t>𝑔</m:t>
                              </m:r>
                            </m:e>
                            <m:sub>
                              <m:r>
                                <a:rPr lang="x-IV_mathan" altLang="zh-CN">
                                  <a:latin typeface="Cambria Math" panose="02040503050406030204" pitchFamily="18" charset="0"/>
                                </a:rPr>
                                <m:t>𝑠𝑡</m:t>
                              </m:r>
                            </m:sub>
                            <m:sup>
                              <m:r>
                                <a:rPr lang="x-IV_mathan" altLang="zh-CN">
                                  <a:latin typeface="Cambria Math" panose="02040503050406030204" pitchFamily="18" charset="0"/>
                                </a:rPr>
                                <m:t>𝑖𝑗</m:t>
                              </m:r>
                            </m:sup>
                          </m:sSubSup>
                          <m:r>
                            <a:rPr lang="x-IV_mathan" altLang="zh-CN">
                              <a:latin typeface="Cambria Math" panose="02040503050406030204" pitchFamily="18" charset="0"/>
                            </a:rPr>
                            <m:t>|</m:t>
                          </m:r>
                        </m:e>
                      </m:nary>
                    </m:oMath>
                  </m:oMathPara>
                </a14:m>
                <a:endParaRPr lang="x-IV_mathan" altLang="zh-CN" dirty="0"/>
              </a:p>
              <a:p>
                <a:r>
                  <a:rPr lang="en-US" altLang="zh-CN" dirty="0"/>
                  <a:t>|</a:t>
                </a:r>
                <a:r>
                  <a:rPr lang="en-US" altLang="zh-CN" dirty="0" err="1"/>
                  <a:t>gij</a:t>
                </a:r>
                <a:r>
                  <a:rPr lang="en-US" altLang="zh-CN" dirty="0"/>
                  <a:t>|</a:t>
                </a:r>
                <a:r>
                  <a:rPr lang="zh-CN" altLang="zh-CN" dirty="0"/>
                  <a:t>为最短路径通过边</a:t>
                </a:r>
                <a:r>
                  <a:rPr lang="en-US" altLang="zh-CN" dirty="0" err="1"/>
                  <a:t>Eij</a:t>
                </a:r>
                <a:r>
                  <a:rPr lang="zh-CN" altLang="zh-CN" dirty="0"/>
                  <a:t>的个数</a:t>
                </a:r>
                <a:r>
                  <a:rPr lang="zh-CN" altLang="zh-CN" dirty="0" smtClean="0"/>
                  <a:t>。</a:t>
                </a:r>
                <a:endParaRPr lang="en-US" altLang="zh-CN" dirty="0" smtClean="0"/>
              </a:p>
              <a:p>
                <a:endParaRPr lang="zh-CN" altLang="zh-CN" dirty="0"/>
              </a:p>
              <a:p>
                <a:r>
                  <a:rPr lang="zh-CN" altLang="zh-CN" dirty="0"/>
                  <a:t>基于网络拓扑的影响力度量也存在一些先天缺陷。如时间差异。</a:t>
                </a:r>
              </a:p>
              <a:p>
                <a:endParaRPr lang="zh-CN" altLang="en-US" dirty="0">
                  <a:solidFill>
                    <a:schemeClr val="accent2"/>
                  </a:solidFill>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161544" y="1663104"/>
                <a:ext cx="7738110" cy="4211409"/>
              </a:xfrm>
              <a:prstGeom prst="rect">
                <a:avLst/>
              </a:prstGeom>
              <a:blipFill>
                <a:blip r:embed="rId2"/>
                <a:stretch>
                  <a:fillRect l="-709" t="-868" r="-6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663563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5" name="文本框 4"/>
          <p:cNvSpPr txBox="1"/>
          <p:nvPr/>
        </p:nvSpPr>
        <p:spPr>
          <a:xfrm>
            <a:off x="3047244" y="1320204"/>
            <a:ext cx="7738110" cy="2535887"/>
          </a:xfrm>
          <a:prstGeom prst="rect">
            <a:avLst/>
          </a:prstGeom>
          <a:noFill/>
        </p:spPr>
        <p:txBody>
          <a:bodyPr wrap="square" rtlCol="0">
            <a:spAutoFit/>
          </a:bodyPr>
          <a:lstStyle/>
          <a:p>
            <a:pPr indent="457200">
              <a:lnSpc>
                <a:spcPct val="150000"/>
              </a:lnSpc>
            </a:pPr>
            <a:r>
              <a:rPr lang="zh-CN" altLang="en-US" dirty="0">
                <a:solidFill>
                  <a:schemeClr val="accent2"/>
                </a:solidFill>
              </a:rPr>
              <a:t>基于用户行为的度量</a:t>
            </a:r>
            <a:endParaRPr lang="en-US" altLang="zh-CN" dirty="0" smtClean="0">
              <a:solidFill>
                <a:schemeClr val="accent2"/>
              </a:solidFill>
            </a:endParaRPr>
          </a:p>
          <a:p>
            <a:pPr indent="457200">
              <a:lnSpc>
                <a:spcPct val="150000"/>
              </a:lnSpc>
            </a:pPr>
            <a:r>
              <a:rPr lang="zh-CN" altLang="en-US" dirty="0"/>
              <a:t>连续模型能更细致地刻画影响力的传播过程，相比离散模型具有更强的预测能力，但其计算代价过高，而离散模型则可以比较高效地求解；无参模型对社交网络地约束较少，但描述真实环境地能力有限，适用于理论分析，而参数化模型刻画真实世界的能力较强，但其预测精度有赖于模型中参数的具体取值。</a:t>
            </a:r>
            <a:endParaRPr lang="zh-CN" altLang="en-US" dirty="0">
              <a:solidFill>
                <a:schemeClr val="accent2"/>
              </a:solidFill>
            </a:endParaRPr>
          </a:p>
        </p:txBody>
      </p:sp>
      <p:pic>
        <p:nvPicPr>
          <p:cNvPr id="3073" name="Picture 1" descr="表 2 基 于 用 户 行 为 的 影 响 力 度 量 方 法 &#10;模 型 &#10;网 络 结 构 &#10;离 散 / 连 续 &#10;参 数 化 动 作 权 雨 &#10;离 散 &#10;LIM &#10;不 需 要 &#10;无 有 无 有 &#10;Goyal 等 &#10;离 散 / 连 续 &#10;需 要 &#10;等 &#10;离 散 &#10;Saito &#10;需 要 &#10;离 散 &#10;需 要 &#10;NTT-FGM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8310" y="4160520"/>
            <a:ext cx="6475977" cy="2057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022259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5" name="文本框 4"/>
          <p:cNvSpPr txBox="1"/>
          <p:nvPr/>
        </p:nvSpPr>
        <p:spPr>
          <a:xfrm>
            <a:off x="3161544" y="514265"/>
            <a:ext cx="7738110" cy="4662815"/>
          </a:xfrm>
          <a:prstGeom prst="rect">
            <a:avLst/>
          </a:prstGeom>
          <a:noFill/>
        </p:spPr>
        <p:txBody>
          <a:bodyPr wrap="square" rtlCol="0">
            <a:spAutoFit/>
          </a:bodyPr>
          <a:lstStyle/>
          <a:p>
            <a:r>
              <a:rPr lang="zh-CN" altLang="en-US" dirty="0" smtClean="0">
                <a:solidFill>
                  <a:schemeClr val="accent2"/>
                </a:solidFill>
              </a:rPr>
              <a:t>基于</a:t>
            </a:r>
            <a:r>
              <a:rPr lang="zh-CN" altLang="en-US" dirty="0">
                <a:solidFill>
                  <a:schemeClr val="accent2"/>
                </a:solidFill>
              </a:rPr>
              <a:t>用户交互信息的度量</a:t>
            </a:r>
          </a:p>
          <a:p>
            <a:endParaRPr lang="en-US" altLang="zh-CN" dirty="0" smtClean="0">
              <a:solidFill>
                <a:schemeClr val="accent2"/>
              </a:solidFill>
            </a:endParaRPr>
          </a:p>
          <a:p>
            <a:pPr indent="457200" fontAlgn="ctr">
              <a:lnSpc>
                <a:spcPct val="150000"/>
              </a:lnSpc>
            </a:pPr>
            <a:r>
              <a:rPr lang="en-US" altLang="zh-CN" dirty="0" smtClean="0"/>
              <a:t>1.</a:t>
            </a:r>
            <a:r>
              <a:rPr lang="zh-CN" altLang="en-US" dirty="0"/>
              <a:t> </a:t>
            </a:r>
            <a:r>
              <a:rPr lang="zh-CN" altLang="zh-CN" dirty="0" smtClean="0"/>
              <a:t>在线</a:t>
            </a:r>
            <a:r>
              <a:rPr lang="zh-CN" altLang="zh-CN" dirty="0"/>
              <a:t>社交网络上的用户主要通过信息发布、共享、评论和转发等方式进行交流从而产生联系。对交互信息的度量主要包括基于信息内容的度量与基于话题的度量。</a:t>
            </a:r>
          </a:p>
          <a:p>
            <a:pPr indent="457200" fontAlgn="ctr">
              <a:lnSpc>
                <a:spcPct val="150000"/>
              </a:lnSpc>
            </a:pPr>
            <a:r>
              <a:rPr lang="en-US" altLang="zh-CN" dirty="0" smtClean="0"/>
              <a:t>2. </a:t>
            </a:r>
            <a:r>
              <a:rPr lang="zh-CN" altLang="zh-CN" dirty="0" smtClean="0"/>
              <a:t>基于</a:t>
            </a:r>
            <a:r>
              <a:rPr lang="zh-CN" altLang="zh-CN" dirty="0"/>
              <a:t>交互信息内容的度量</a:t>
            </a:r>
          </a:p>
          <a:p>
            <a:pPr indent="457200" fontAlgn="ctr">
              <a:lnSpc>
                <a:spcPct val="150000"/>
              </a:lnSpc>
            </a:pPr>
            <a:r>
              <a:rPr lang="en-US" altLang="zh-CN" dirty="0" smtClean="0"/>
              <a:t>3. </a:t>
            </a:r>
            <a:r>
              <a:rPr lang="zh-CN" altLang="zh-CN" dirty="0" smtClean="0"/>
              <a:t>基于</a:t>
            </a:r>
            <a:r>
              <a:rPr lang="zh-CN" altLang="zh-CN" dirty="0"/>
              <a:t>话题的</a:t>
            </a:r>
            <a:r>
              <a:rPr lang="zh-CN" altLang="zh-CN" dirty="0" smtClean="0"/>
              <a:t>度量</a:t>
            </a:r>
            <a:endParaRPr lang="en-US" altLang="zh-CN" dirty="0" smtClean="0"/>
          </a:p>
          <a:p>
            <a:pPr indent="457200" fontAlgn="ctr">
              <a:lnSpc>
                <a:spcPct val="150000"/>
              </a:lnSpc>
            </a:pPr>
            <a:r>
              <a:rPr lang="zh-CN" altLang="zh-CN" dirty="0" smtClean="0"/>
              <a:t>使用</a:t>
            </a:r>
            <a:r>
              <a:rPr lang="zh-CN" altLang="zh-CN" dirty="0"/>
              <a:t>话题作为社交影响力度量的基本对象，能够从多个角度对用户的影响力进行细致刻画。通过话题内容和用户对话题的参与度的道德度量成为隐形影响力，而通过好友申请或关注等行为分析出的影响力度量称为显性影响力。</a:t>
            </a:r>
          </a:p>
          <a:p>
            <a:endParaRPr lang="zh-CN" altLang="en-US" dirty="0">
              <a:solidFill>
                <a:schemeClr val="accent2"/>
              </a:solidFill>
            </a:endParaRPr>
          </a:p>
        </p:txBody>
      </p:sp>
      <p:pic>
        <p:nvPicPr>
          <p:cNvPr id="4097" name="Picture 1" descr="表 3 基 于 话 题 的 影 响 力 度 量 方 法 &#10;模 型 &#10;TFG &#10;Liu 等 &#10;HF—NMF &#10;TwitterRank &#10;网 络 结 构 显 性 / 隐 性 &#10;异 质 / 同 质 数 据 源 &#10;Wikipedia ， &#10;异 质 / 同 质 &#10;需 要 &#10;需 要 &#10;不 需 要 &#10;需 要 &#10;显 性 &#10;显 性 / 隐 性 &#10;隐 性 &#10;显 性 &#10;异 质 &#10;ArnetMiner &#10;Twitter ， &#10;D崆是 ， Cora &#10;人 人 网 &#10;Twitter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3380" y="4600575"/>
            <a:ext cx="5305425" cy="2257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4581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5" name="文本框 4"/>
          <p:cNvSpPr txBox="1"/>
          <p:nvPr/>
        </p:nvSpPr>
        <p:spPr>
          <a:xfrm>
            <a:off x="3161544" y="222924"/>
            <a:ext cx="7738110" cy="7078861"/>
          </a:xfrm>
          <a:prstGeom prst="rect">
            <a:avLst/>
          </a:prstGeom>
          <a:noFill/>
        </p:spPr>
        <p:txBody>
          <a:bodyPr wrap="square" rtlCol="0">
            <a:spAutoFit/>
          </a:bodyPr>
          <a:lstStyle/>
          <a:p>
            <a:r>
              <a:rPr lang="zh-CN" altLang="en-US" dirty="0" smtClean="0">
                <a:solidFill>
                  <a:srgbClr val="FF0000"/>
                </a:solidFill>
              </a:rPr>
              <a:t>社交网络中影响力的传播</a:t>
            </a:r>
            <a:endParaRPr lang="en-US" altLang="zh-CN" dirty="0" smtClean="0">
              <a:solidFill>
                <a:srgbClr val="FF0000"/>
              </a:solidFill>
            </a:endParaRPr>
          </a:p>
          <a:p>
            <a:endParaRPr lang="en-US" altLang="zh-CN" dirty="0">
              <a:solidFill>
                <a:srgbClr val="FF0000"/>
              </a:solidFill>
            </a:endParaRPr>
          </a:p>
          <a:p>
            <a:r>
              <a:rPr lang="zh-CN" altLang="en-US" dirty="0" smtClean="0">
                <a:solidFill>
                  <a:schemeClr val="accent2"/>
                </a:solidFill>
              </a:rPr>
              <a:t>意见领袖问题</a:t>
            </a:r>
            <a:endParaRPr lang="en-US" altLang="zh-CN" dirty="0" smtClean="0">
              <a:solidFill>
                <a:schemeClr val="accent2"/>
              </a:solidFill>
            </a:endParaRPr>
          </a:p>
          <a:p>
            <a:pPr marL="342900">
              <a:spcBef>
                <a:spcPts val="1300"/>
              </a:spcBef>
              <a:spcAft>
                <a:spcPts val="1300"/>
              </a:spcAft>
            </a:pPr>
            <a:r>
              <a:rPr lang="zh-CN" altLang="zh-CN" dirty="0">
                <a:ea typeface="Microsoft YaHei" panose="020B0503020204020204" pitchFamily="34" charset="-122"/>
              </a:rPr>
              <a:t>意见领袖就是能在相应环境下对其他人产生影响的个体，很多时候也被视为有影响力的人。意见领袖发掘方法大致可以分为基于网络结构的方法和基于交互信息为主的方法。</a:t>
            </a:r>
          </a:p>
          <a:p>
            <a:pPr marL="685800" fontAlgn="ctr">
              <a:spcBef>
                <a:spcPts val="1300"/>
              </a:spcBef>
              <a:spcAft>
                <a:spcPts val="1300"/>
              </a:spcAft>
              <a:buFont typeface="+mj-lt"/>
              <a:buAutoNum type="arabicPeriod"/>
            </a:pPr>
            <a:r>
              <a:rPr lang="zh-CN" altLang="zh-CN" dirty="0">
                <a:ea typeface="Microsoft YaHei" panose="020B0503020204020204" pitchFamily="34" charset="-122"/>
              </a:rPr>
              <a:t>基于网络结构的方法</a:t>
            </a:r>
            <a:endParaRPr lang="zh-CN" altLang="zh-CN" dirty="0">
              <a:ea typeface="Calibri" panose="020F0502020204030204" pitchFamily="34" charset="0"/>
            </a:endParaRPr>
          </a:p>
          <a:p>
            <a:pPr marL="685800">
              <a:spcBef>
                <a:spcPts val="1300"/>
              </a:spcBef>
              <a:spcAft>
                <a:spcPts val="1300"/>
              </a:spcAft>
            </a:pPr>
            <a:r>
              <a:rPr lang="zh-CN" altLang="zh-CN" dirty="0">
                <a:ea typeface="Microsoft YaHei" panose="020B0503020204020204" pitchFamily="34" charset="-122"/>
              </a:rPr>
              <a:t>通过</a:t>
            </a:r>
            <a:r>
              <a:rPr lang="en-US" altLang="zh-CN" dirty="0">
                <a:ea typeface="Calibri" panose="020F0502020204030204" pitchFamily="34" charset="0"/>
              </a:rPr>
              <a:t>PageRank</a:t>
            </a:r>
            <a:r>
              <a:rPr lang="zh-CN" altLang="zh-CN" dirty="0">
                <a:ea typeface="Microsoft YaHei" panose="020B0503020204020204" pitchFamily="34" charset="-122"/>
              </a:rPr>
              <a:t>等算法可以对某节点在网络中所处位置重要程度，不同的研究者对意见领袖的判定由不同的观点与指标。</a:t>
            </a:r>
            <a:endParaRPr lang="zh-CN" altLang="zh-CN" dirty="0">
              <a:ea typeface="Calibri" panose="020F0502020204030204" pitchFamily="34" charset="0"/>
            </a:endParaRPr>
          </a:p>
          <a:p>
            <a:pPr marL="685800" fontAlgn="ctr">
              <a:spcBef>
                <a:spcPts val="1300"/>
              </a:spcBef>
              <a:spcAft>
                <a:spcPts val="1300"/>
              </a:spcAft>
              <a:buFont typeface="+mj-lt"/>
              <a:buAutoNum type="arabicPeriod" startAt="2"/>
            </a:pPr>
            <a:r>
              <a:rPr lang="zh-CN" altLang="zh-CN" dirty="0">
                <a:ea typeface="Microsoft YaHei" panose="020B0503020204020204" pitchFamily="34" charset="-122"/>
              </a:rPr>
              <a:t>基于交互信息的方法</a:t>
            </a:r>
            <a:endParaRPr lang="zh-CN" altLang="zh-CN" dirty="0">
              <a:ea typeface="Calibri" panose="020F0502020204030204" pitchFamily="34" charset="0"/>
            </a:endParaRPr>
          </a:p>
          <a:p>
            <a:pPr marL="685800">
              <a:spcBef>
                <a:spcPts val="1300"/>
              </a:spcBef>
              <a:spcAft>
                <a:spcPts val="1300"/>
              </a:spcAft>
            </a:pPr>
            <a:r>
              <a:rPr lang="zh-CN" altLang="zh-CN" dirty="0">
                <a:ea typeface="Microsoft YaHei" panose="020B0503020204020204" pitchFamily="34" charset="-122"/>
              </a:rPr>
              <a:t>基于网络结构的方法虽然凸显了意见领袖的“领袖”，但忽视了“意见”的重要性。</a:t>
            </a:r>
          </a:p>
          <a:p>
            <a:pPr marL="342900">
              <a:spcBef>
                <a:spcPts val="1300"/>
              </a:spcBef>
              <a:spcAft>
                <a:spcPts val="1300"/>
              </a:spcAft>
            </a:pPr>
            <a:r>
              <a:rPr lang="zh-CN" altLang="zh-CN" dirty="0">
                <a:ea typeface="Microsoft YaHei" panose="020B0503020204020204" pitchFamily="34" charset="-122"/>
              </a:rPr>
              <a:t>基于网络结构的方法模型简单计算效率高但准确率相对较低；基于交互信息的分析方法得到的结果客观准确，但是由于涉及到大量信息的预处理和内容相关性的计算，难以适应较大的网络。因此现阶段多采取两种方法结合的手段：先利用基于网络结构的方法筛选意见领袖的备选集合，然后再用基于交互信息的方法选取真正的意见领袖。</a:t>
            </a:r>
          </a:p>
          <a:p>
            <a:endParaRPr lang="zh-CN" altLang="en-US" dirty="0">
              <a:solidFill>
                <a:schemeClr val="accent2"/>
              </a:solidFill>
            </a:endParaRPr>
          </a:p>
        </p:txBody>
      </p:sp>
    </p:spTree>
    <p:extLst>
      <p:ext uri="{BB962C8B-B14F-4D97-AF65-F5344CB8AC3E}">
        <p14:creationId xmlns:p14="http://schemas.microsoft.com/office/powerpoint/2010/main" val="13326444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5" name="文本框 4"/>
          <p:cNvSpPr txBox="1"/>
          <p:nvPr/>
        </p:nvSpPr>
        <p:spPr>
          <a:xfrm>
            <a:off x="2944374" y="1409527"/>
            <a:ext cx="8622786" cy="4801314"/>
          </a:xfrm>
          <a:prstGeom prst="rect">
            <a:avLst/>
          </a:prstGeom>
          <a:noFill/>
        </p:spPr>
        <p:txBody>
          <a:bodyPr wrap="square" rtlCol="0">
            <a:spAutoFit/>
          </a:bodyPr>
          <a:lstStyle/>
          <a:p>
            <a:r>
              <a:rPr lang="zh-CN" altLang="en-US" dirty="0" smtClean="0">
                <a:solidFill>
                  <a:schemeClr val="accent2"/>
                </a:solidFill>
              </a:rPr>
              <a:t>影响力传播模型</a:t>
            </a:r>
            <a:endParaRPr lang="en-US" altLang="zh-CN" dirty="0" smtClean="0">
              <a:solidFill>
                <a:schemeClr val="accent2"/>
              </a:solidFill>
            </a:endParaRPr>
          </a:p>
          <a:p>
            <a:pPr marL="342900" indent="457200" fontAlgn="ctr">
              <a:lnSpc>
                <a:spcPct val="150000"/>
              </a:lnSpc>
              <a:buFont typeface="+mj-lt"/>
              <a:buAutoNum type="arabicPeriod"/>
            </a:pPr>
            <a:r>
              <a:rPr lang="zh-CN" altLang="zh-CN" dirty="0">
                <a:latin typeface="+mn-ea"/>
              </a:rPr>
              <a:t>影响力传播模型大多数以随机模型</a:t>
            </a:r>
            <a:r>
              <a:rPr lang="en-US" altLang="zh-CN" dirty="0">
                <a:latin typeface="+mn-ea"/>
              </a:rPr>
              <a:t>(stochastic models)</a:t>
            </a:r>
            <a:r>
              <a:rPr lang="zh-CN" altLang="zh-CN" dirty="0">
                <a:latin typeface="+mn-ea"/>
              </a:rPr>
              <a:t>来描述，也有用博弈论模型</a:t>
            </a:r>
            <a:r>
              <a:rPr lang="en-US" altLang="zh-CN" dirty="0">
                <a:latin typeface="+mn-ea"/>
              </a:rPr>
              <a:t>(game-theoretic models)</a:t>
            </a:r>
            <a:r>
              <a:rPr lang="zh-CN" altLang="zh-CN" dirty="0">
                <a:latin typeface="+mn-ea"/>
              </a:rPr>
              <a:t>来描述的。随机模型更直接地反映了影响力传播中的不确定性，也是当前研究的主流。</a:t>
            </a:r>
            <a:endParaRPr lang="zh-CN" altLang="zh-CN" sz="1400" dirty="0">
              <a:latin typeface="+mn-ea"/>
            </a:endParaRPr>
          </a:p>
          <a:p>
            <a:pPr marL="342900" indent="457200" fontAlgn="ctr">
              <a:lnSpc>
                <a:spcPct val="150000"/>
              </a:lnSpc>
              <a:buFont typeface="+mj-lt"/>
              <a:buAutoNum type="arabicPeriod"/>
            </a:pPr>
            <a:r>
              <a:rPr lang="zh-CN" altLang="zh-CN" dirty="0">
                <a:latin typeface="+mn-ea"/>
              </a:rPr>
              <a:t>随机模型分为离散时间模型和连续时间模型、递进型</a:t>
            </a:r>
            <a:r>
              <a:rPr lang="en-US" altLang="zh-CN" dirty="0">
                <a:latin typeface="+mn-ea"/>
              </a:rPr>
              <a:t>(progressive)</a:t>
            </a:r>
            <a:r>
              <a:rPr lang="zh-CN" altLang="zh-CN" dirty="0">
                <a:latin typeface="+mn-ea"/>
              </a:rPr>
              <a:t>和非递进型</a:t>
            </a:r>
            <a:r>
              <a:rPr lang="en-US" altLang="zh-CN" dirty="0">
                <a:latin typeface="+mn-ea"/>
              </a:rPr>
              <a:t>(non-progressive)</a:t>
            </a:r>
            <a:r>
              <a:rPr lang="zh-CN" altLang="zh-CN" dirty="0">
                <a:latin typeface="+mn-ea"/>
              </a:rPr>
              <a:t>模型</a:t>
            </a:r>
            <a:r>
              <a:rPr lang="zh-CN" altLang="zh-CN" dirty="0" smtClean="0">
                <a:latin typeface="+mn-ea"/>
              </a:rPr>
              <a:t>等。</a:t>
            </a:r>
            <a:endParaRPr lang="zh-CN" altLang="zh-CN" sz="1400" dirty="0" smtClean="0">
              <a:latin typeface="+mn-ea"/>
            </a:endParaRPr>
          </a:p>
          <a:p>
            <a:pPr marL="800089" lvl="1" fontAlgn="ctr">
              <a:lnSpc>
                <a:spcPct val="150000"/>
              </a:lnSpc>
            </a:pPr>
            <a:r>
              <a:rPr lang="en-US" altLang="zh-CN" dirty="0" smtClean="0">
                <a:latin typeface="+mn-ea"/>
              </a:rPr>
              <a:t>a. </a:t>
            </a:r>
            <a:r>
              <a:rPr lang="zh-CN" altLang="zh-CN" dirty="0" smtClean="0">
                <a:latin typeface="+mn-ea"/>
              </a:rPr>
              <a:t>离散</a:t>
            </a:r>
            <a:r>
              <a:rPr lang="zh-CN" altLang="zh-CN" dirty="0">
                <a:latin typeface="+mn-ea"/>
              </a:rPr>
              <a:t>时间模型：便于分析和计算</a:t>
            </a:r>
            <a:endParaRPr lang="zh-CN" altLang="zh-CN" sz="1400" dirty="0">
              <a:latin typeface="+mn-ea"/>
            </a:endParaRPr>
          </a:p>
          <a:p>
            <a:pPr marL="800089" lvl="1" fontAlgn="ctr">
              <a:lnSpc>
                <a:spcPct val="150000"/>
              </a:lnSpc>
            </a:pPr>
            <a:r>
              <a:rPr lang="en-US" altLang="zh-CN" dirty="0" smtClean="0">
                <a:latin typeface="+mn-ea"/>
              </a:rPr>
              <a:t>b. </a:t>
            </a:r>
            <a:r>
              <a:rPr lang="zh-CN" altLang="zh-CN" dirty="0" smtClean="0">
                <a:latin typeface="+mn-ea"/>
              </a:rPr>
              <a:t>递进</a:t>
            </a:r>
            <a:r>
              <a:rPr lang="zh-CN" altLang="zh-CN" dirty="0">
                <a:latin typeface="+mn-ea"/>
              </a:rPr>
              <a:t>型：假设任意节点一旦从不活跃变为活跃就会一直保持在活跃状态。多用于信息、产品等的传播</a:t>
            </a:r>
            <a:r>
              <a:rPr lang="en-US" altLang="zh-CN" dirty="0">
                <a:latin typeface="+mn-ea"/>
              </a:rPr>
              <a:t>/</a:t>
            </a:r>
            <a:endParaRPr lang="zh-CN" altLang="zh-CN" sz="1400" dirty="0">
              <a:latin typeface="+mn-ea"/>
            </a:endParaRPr>
          </a:p>
          <a:p>
            <a:pPr marL="800089" lvl="1" fontAlgn="ctr">
              <a:lnSpc>
                <a:spcPct val="150000"/>
              </a:lnSpc>
            </a:pPr>
            <a:r>
              <a:rPr lang="en-US" altLang="zh-CN" dirty="0" smtClean="0">
                <a:latin typeface="+mn-ea"/>
              </a:rPr>
              <a:t>c. </a:t>
            </a:r>
            <a:r>
              <a:rPr lang="zh-CN" altLang="zh-CN" dirty="0" smtClean="0">
                <a:latin typeface="+mn-ea"/>
              </a:rPr>
              <a:t>非</a:t>
            </a:r>
            <a:r>
              <a:rPr lang="zh-CN" altLang="zh-CN" dirty="0">
                <a:latin typeface="+mn-ea"/>
              </a:rPr>
              <a:t>递进模型：允许节点在不同状态之间来回切换。这类模型多用于描述观点、看法的传播，因为人的观点和看法常会改变。</a:t>
            </a:r>
            <a:endParaRPr lang="zh-CN" altLang="zh-CN" sz="1400" dirty="0">
              <a:latin typeface="+mn-ea"/>
            </a:endParaRPr>
          </a:p>
          <a:p>
            <a:endParaRPr lang="zh-CN" altLang="en-US" dirty="0">
              <a:solidFill>
                <a:schemeClr val="accent2"/>
              </a:solidFill>
            </a:endParaRPr>
          </a:p>
        </p:txBody>
      </p:sp>
    </p:spTree>
    <p:extLst>
      <p:ext uri="{BB962C8B-B14F-4D97-AF65-F5344CB8AC3E}">
        <p14:creationId xmlns:p14="http://schemas.microsoft.com/office/powerpoint/2010/main" val="41931069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 name="文本框 4"/>
              <p:cNvSpPr txBox="1"/>
              <p:nvPr/>
            </p:nvSpPr>
            <p:spPr>
              <a:xfrm>
                <a:off x="3161544" y="1663104"/>
                <a:ext cx="7738110" cy="3749231"/>
              </a:xfrm>
              <a:prstGeom prst="rect">
                <a:avLst/>
              </a:prstGeom>
              <a:noFill/>
            </p:spPr>
            <p:txBody>
              <a:bodyPr wrap="square" rtlCol="0">
                <a:spAutoFit/>
              </a:bodyPr>
              <a:lstStyle/>
              <a:p>
                <a:pPr indent="457200">
                  <a:lnSpc>
                    <a:spcPct val="150000"/>
                  </a:lnSpc>
                </a:pPr>
                <a:r>
                  <a:rPr lang="zh-CN" altLang="en-US" dirty="0">
                    <a:solidFill>
                      <a:schemeClr val="accent2"/>
                    </a:solidFill>
                  </a:rPr>
                  <a:t>经典离散时间递进性传播</a:t>
                </a:r>
                <a:r>
                  <a:rPr lang="zh-CN" altLang="en-US" dirty="0" smtClean="0">
                    <a:solidFill>
                      <a:schemeClr val="accent2"/>
                    </a:solidFill>
                  </a:rPr>
                  <a:t>模型</a:t>
                </a:r>
                <a:endParaRPr lang="en-US" altLang="zh-CN" dirty="0" smtClean="0">
                  <a:solidFill>
                    <a:schemeClr val="accent2"/>
                  </a:solidFill>
                </a:endParaRPr>
              </a:p>
              <a:p>
                <a:pPr indent="457200">
                  <a:lnSpc>
                    <a:spcPct val="150000"/>
                  </a:lnSpc>
                </a:pPr>
                <a:r>
                  <a:rPr lang="zh-CN" altLang="zh-CN" dirty="0"/>
                  <a:t>包括独立级联</a:t>
                </a:r>
                <a:r>
                  <a:rPr lang="en-US" altLang="zh-CN" dirty="0"/>
                  <a:t>(independent cascade)</a:t>
                </a:r>
                <a:r>
                  <a:rPr lang="zh-CN" altLang="zh-CN" dirty="0"/>
                  <a:t>和线性阈值（</a:t>
                </a:r>
                <a:r>
                  <a:rPr lang="en-US" altLang="zh-CN" dirty="0"/>
                  <a:t>linear threshold</a:t>
                </a:r>
                <a:r>
                  <a:rPr lang="zh-CN" altLang="zh-CN" dirty="0"/>
                  <a:t>）等离散时间递进性传播模型。</a:t>
                </a:r>
                <a:endParaRPr lang="en-US" altLang="zh-CN" dirty="0" smtClean="0">
                  <a:solidFill>
                    <a:schemeClr val="accent2"/>
                  </a:solidFill>
                </a:endParaRPr>
              </a:p>
              <a:p>
                <a:pPr indent="457200" fontAlgn="ctr">
                  <a:lnSpc>
                    <a:spcPct val="150000"/>
                  </a:lnSpc>
                </a:pPr>
                <a:r>
                  <a:rPr lang="zh-CN" altLang="zh-CN" dirty="0"/>
                  <a:t>线性阈值模型</a:t>
                </a:r>
                <a:r>
                  <a:rPr lang="zh-CN" altLang="zh-CN" dirty="0" smtClean="0"/>
                  <a:t>：</a:t>
                </a:r>
                <a:endParaRPr lang="zh-CN" altLang="zh-CN" dirty="0"/>
              </a:p>
              <a:p>
                <a:pPr indent="457200">
                  <a:lnSpc>
                    <a:spcPct val="150000"/>
                  </a:lnSpc>
                </a:pPr>
                <a:r>
                  <a:rPr lang="zh-CN" altLang="zh-CN" dirty="0"/>
                  <a:t>线性阈值模型将节点的激活条件定义为该节点</a:t>
                </a:r>
                <a:r>
                  <a:rPr lang="en-US" altLang="zh-CN" dirty="0"/>
                  <a:t>v</a:t>
                </a:r>
                <a:r>
                  <a:rPr lang="zh-CN" altLang="zh-CN" dirty="0"/>
                  <a:t>所有处于激活状态的入邻居</a:t>
                </a:r>
                <a14:m>
                  <m:oMath xmlns:m="http://schemas.openxmlformats.org/officeDocument/2006/math">
                    <m:r>
                      <m:rPr>
                        <m:sty m:val="p"/>
                      </m:rPr>
                      <a:rPr lang="zh-CN" altLang="zh-CN">
                        <a:latin typeface="Cambria Math" panose="02040503050406030204" pitchFamily="18" charset="0"/>
                      </a:rPr>
                      <m:t>u</m:t>
                    </m:r>
                    <m:r>
                      <a:rPr lang="zh-CN" altLang="zh-CN">
                        <a:latin typeface="Cambria Math" panose="02040503050406030204" pitchFamily="18" charset="0"/>
                      </a:rPr>
                      <m:t>∈</m:t>
                    </m:r>
                    <m:sSup>
                      <m:sSupPr>
                        <m:ctrlPr>
                          <a:rPr lang="zh-CN" altLang="zh-CN" i="1">
                            <a:latin typeface="Cambria Math" panose="02040503050406030204" pitchFamily="18" charset="0"/>
                          </a:rPr>
                        </m:ctrlPr>
                      </m:sSupPr>
                      <m:e>
                        <m:r>
                          <a:rPr lang="zh-CN" altLang="zh-CN">
                            <a:latin typeface="Cambria Math" panose="02040503050406030204" pitchFamily="18" charset="0"/>
                          </a:rPr>
                          <m:t>𝑁</m:t>
                        </m:r>
                      </m:e>
                      <m:sup>
                        <m:r>
                          <a:rPr lang="zh-CN" altLang="zh-CN">
                            <a:latin typeface="Cambria Math" panose="02040503050406030204" pitchFamily="18" charset="0"/>
                          </a:rPr>
                          <m:t>−</m:t>
                        </m:r>
                      </m:sup>
                    </m:sSup>
                    <m:r>
                      <a:rPr lang="zh-CN" altLang="zh-CN">
                        <a:latin typeface="Cambria Math" panose="02040503050406030204" pitchFamily="18" charset="0"/>
                      </a:rPr>
                      <m:t>(</m:t>
                    </m:r>
                    <m:r>
                      <a:rPr lang="zh-CN" altLang="zh-CN">
                        <a:latin typeface="Cambria Math" panose="02040503050406030204" pitchFamily="18" charset="0"/>
                      </a:rPr>
                      <m:t>𝑣</m:t>
                    </m:r>
                    <m:r>
                      <a:rPr lang="zh-CN" altLang="zh-CN">
                        <a:latin typeface="Cambria Math" panose="02040503050406030204" pitchFamily="18" charset="0"/>
                      </a:rPr>
                      <m:t>)</m:t>
                    </m:r>
                  </m:oMath>
                </a14:m>
                <a:r>
                  <a:rPr lang="zh-CN" altLang="zh-CN" dirty="0"/>
                  <a:t>的指向节点</a:t>
                </a:r>
                <a:r>
                  <a:rPr lang="en-US" altLang="zh-CN" dirty="0"/>
                  <a:t>v</a:t>
                </a:r>
                <a:r>
                  <a:rPr lang="zh-CN" altLang="zh-CN" dirty="0"/>
                  <a:t>的边上的权重</a:t>
                </a:r>
                <a14:m>
                  <m:oMath xmlns:m="http://schemas.openxmlformats.org/officeDocument/2006/math">
                    <m:r>
                      <m:rPr>
                        <m:sty m:val="p"/>
                      </m:rPr>
                      <a:rPr lang="zh-CN" altLang="zh-CN">
                        <a:latin typeface="Cambria Math" panose="02040503050406030204" pitchFamily="18" charset="0"/>
                      </a:rPr>
                      <m:t>w</m:t>
                    </m:r>
                    <m:d>
                      <m:dPr>
                        <m:ctrlPr>
                          <a:rPr lang="zh-CN" altLang="zh-CN" i="1">
                            <a:latin typeface="Cambria Math" panose="02040503050406030204" pitchFamily="18" charset="0"/>
                          </a:rPr>
                        </m:ctrlPr>
                      </m:dPr>
                      <m:e>
                        <m:r>
                          <m:rPr>
                            <m:sty m:val="p"/>
                          </m:rPr>
                          <a:rPr lang="zh-CN" altLang="zh-CN">
                            <a:latin typeface="Cambria Math" panose="02040503050406030204" pitchFamily="18" charset="0"/>
                          </a:rPr>
                          <m:t>u</m:t>
                        </m:r>
                        <m:r>
                          <a:rPr lang="zh-CN" altLang="zh-CN">
                            <a:latin typeface="Cambria Math" panose="02040503050406030204" pitchFamily="18" charset="0"/>
                          </a:rPr>
                          <m:t>,</m:t>
                        </m:r>
                        <m:r>
                          <a:rPr lang="zh-CN" altLang="en-US" i="1">
                            <a:latin typeface="Cambria Math" panose="02040503050406030204" pitchFamily="18" charset="0"/>
                          </a:rPr>
                          <m:t> </m:t>
                        </m:r>
                        <m:r>
                          <m:rPr>
                            <m:sty m:val="p"/>
                          </m:rPr>
                          <a:rPr lang="zh-CN" altLang="zh-CN">
                            <a:latin typeface="Cambria Math" panose="02040503050406030204" pitchFamily="18" charset="0"/>
                          </a:rPr>
                          <m:t>v</m:t>
                        </m:r>
                      </m:e>
                    </m:d>
                    <m:r>
                      <a:rPr lang="zh-CN" altLang="zh-CN">
                        <a:latin typeface="Cambria Math" panose="02040503050406030204" pitchFamily="18" charset="0"/>
                      </a:rPr>
                      <m:t>∈[0,</m:t>
                    </m:r>
                    <m:r>
                      <a:rPr lang="zh-CN" altLang="en-US" i="1">
                        <a:latin typeface="Cambria Math" panose="02040503050406030204" pitchFamily="18" charset="0"/>
                      </a:rPr>
                      <m:t> </m:t>
                    </m:r>
                    <m:r>
                      <a:rPr lang="zh-CN" altLang="zh-CN">
                        <a:latin typeface="Cambria Math" panose="02040503050406030204" pitchFamily="18" charset="0"/>
                      </a:rPr>
                      <m:t>1]</m:t>
                    </m:r>
                  </m:oMath>
                </a14:m>
                <a:r>
                  <a:rPr lang="zh-CN" altLang="zh-CN" dirty="0"/>
                  <a:t>之和</a:t>
                </a:r>
                <a:r>
                  <a:rPr lang="en-US" altLang="zh-CN" dirty="0"/>
                  <a:t>,</a:t>
                </a:r>
                <a:r>
                  <a:rPr lang="zh-CN" altLang="zh-CN" dirty="0"/>
                  <a:t>同时每一个节点都有一个阈值，当该节点的权重之和大于该阈值时，则该节点被激活。对于一个节点所有入边上的权重之和要求</a:t>
                </a:r>
                <a14:m>
                  <m:oMath xmlns:m="http://schemas.openxmlformats.org/officeDocument/2006/math">
                    <m:nary>
                      <m:naryPr>
                        <m:chr m:val="∑"/>
                        <m:limLoc m:val="subSup"/>
                        <m:supHide m:val="on"/>
                        <m:ctrlPr>
                          <a:rPr lang="zh-CN" altLang="zh-CN" i="1">
                            <a:latin typeface="Cambria Math" panose="02040503050406030204" pitchFamily="18" charset="0"/>
                          </a:rPr>
                        </m:ctrlPr>
                      </m:naryPr>
                      <m:sub>
                        <m:r>
                          <m:rPr>
                            <m:sty m:val="p"/>
                          </m:rPr>
                          <a:rPr lang="zh-CN" altLang="zh-CN">
                            <a:latin typeface="Cambria Math" panose="02040503050406030204" pitchFamily="18" charset="0"/>
                          </a:rPr>
                          <m:t>u</m:t>
                        </m:r>
                        <m:r>
                          <a:rPr lang="zh-CN" altLang="zh-CN">
                            <a:latin typeface="Cambria Math" panose="02040503050406030204" pitchFamily="18" charset="0"/>
                          </a:rPr>
                          <m:t>∈</m:t>
                        </m:r>
                        <m:sSup>
                          <m:sSupPr>
                            <m:ctrlPr>
                              <a:rPr lang="zh-CN" altLang="zh-CN" i="1">
                                <a:latin typeface="Cambria Math" panose="02040503050406030204" pitchFamily="18" charset="0"/>
                              </a:rPr>
                            </m:ctrlPr>
                          </m:sSupPr>
                          <m:e>
                            <m:r>
                              <a:rPr lang="zh-CN" altLang="zh-CN">
                                <a:latin typeface="Cambria Math" panose="02040503050406030204" pitchFamily="18" charset="0"/>
                              </a:rPr>
                              <m:t>𝑁</m:t>
                            </m:r>
                          </m:e>
                          <m:sup>
                            <m:r>
                              <a:rPr lang="zh-CN" altLang="zh-CN">
                                <a:latin typeface="Cambria Math" panose="02040503050406030204" pitchFamily="18" charset="0"/>
                              </a:rPr>
                              <m:t>−</m:t>
                            </m:r>
                          </m:sup>
                        </m:sSup>
                        <m:r>
                          <a:rPr lang="zh-CN" altLang="zh-CN">
                            <a:latin typeface="Cambria Math" panose="02040503050406030204" pitchFamily="18" charset="0"/>
                          </a:rPr>
                          <m:t>(</m:t>
                        </m:r>
                        <m:r>
                          <a:rPr lang="zh-CN" altLang="zh-CN">
                            <a:latin typeface="Cambria Math" panose="02040503050406030204" pitchFamily="18" charset="0"/>
                          </a:rPr>
                          <m:t>𝑣</m:t>
                        </m:r>
                        <m:r>
                          <a:rPr lang="zh-CN" altLang="zh-CN">
                            <a:latin typeface="Cambria Math" panose="02040503050406030204" pitchFamily="18" charset="0"/>
                          </a:rPr>
                          <m:t>)</m:t>
                        </m:r>
                      </m:sub>
                      <m:sup/>
                      <m:e>
                        <m:r>
                          <a:rPr lang="zh-CN" altLang="zh-CN">
                            <a:latin typeface="Cambria Math" panose="02040503050406030204" pitchFamily="18" charset="0"/>
                          </a:rPr>
                          <m:t>𝑤</m:t>
                        </m:r>
                        <m:d>
                          <m:dPr>
                            <m:ctrlPr>
                              <a:rPr lang="zh-CN" altLang="zh-CN" i="1">
                                <a:latin typeface="Cambria Math" panose="02040503050406030204" pitchFamily="18" charset="0"/>
                              </a:rPr>
                            </m:ctrlPr>
                          </m:dPr>
                          <m:e>
                            <m:r>
                              <a:rPr lang="zh-CN" altLang="zh-CN">
                                <a:latin typeface="Cambria Math" panose="02040503050406030204" pitchFamily="18" charset="0"/>
                              </a:rPr>
                              <m:t>𝑢</m:t>
                            </m:r>
                            <m:r>
                              <a:rPr lang="zh-CN" altLang="zh-CN">
                                <a:latin typeface="Cambria Math" panose="02040503050406030204" pitchFamily="18" charset="0"/>
                              </a:rPr>
                              <m:t>,</m:t>
                            </m:r>
                            <m:r>
                              <a:rPr lang="zh-CN" altLang="en-US" i="1">
                                <a:latin typeface="Cambria Math" panose="02040503050406030204" pitchFamily="18" charset="0"/>
                              </a:rPr>
                              <m:t> </m:t>
                            </m:r>
                            <m:r>
                              <a:rPr lang="zh-CN" altLang="zh-CN">
                                <a:latin typeface="Cambria Math" panose="02040503050406030204" pitchFamily="18" charset="0"/>
                              </a:rPr>
                              <m:t>𝑣</m:t>
                            </m:r>
                          </m:e>
                        </m:d>
                        <m:r>
                          <a:rPr lang="zh-CN" altLang="zh-CN">
                            <a:latin typeface="Cambria Math" panose="02040503050406030204" pitchFamily="18" charset="0"/>
                          </a:rPr>
                          <m:t>≤1</m:t>
                        </m:r>
                      </m:e>
                    </m:nary>
                  </m:oMath>
                </a14:m>
                <a:r>
                  <a:rPr lang="en-US" altLang="zh-CN" dirty="0"/>
                  <a:t>.</a:t>
                </a:r>
                <a:endParaRPr lang="zh-CN" altLang="zh-CN" dirty="0"/>
              </a:p>
              <a:p>
                <a:endParaRPr lang="zh-CN" altLang="en-US" dirty="0">
                  <a:solidFill>
                    <a:schemeClr val="accent2"/>
                  </a:solidFill>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161544" y="1663104"/>
                <a:ext cx="7738110" cy="3749231"/>
              </a:xfrm>
              <a:prstGeom prst="rect">
                <a:avLst/>
              </a:prstGeom>
              <a:blipFill>
                <a:blip r:embed="rId2"/>
                <a:stretch>
                  <a:fillRect l="-709" r="-630" b="-829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3095201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 name="文本框 4"/>
              <p:cNvSpPr txBox="1"/>
              <p:nvPr/>
            </p:nvSpPr>
            <p:spPr>
              <a:xfrm>
                <a:off x="3332994" y="291504"/>
                <a:ext cx="7738110" cy="6740307"/>
              </a:xfrm>
              <a:prstGeom prst="rect">
                <a:avLst/>
              </a:prstGeom>
              <a:noFill/>
            </p:spPr>
            <p:txBody>
              <a:bodyPr wrap="square" rtlCol="0">
                <a:spAutoFit/>
              </a:bodyPr>
              <a:lstStyle/>
              <a:p>
                <a:r>
                  <a:rPr lang="zh-CN" altLang="en-US" dirty="0">
                    <a:solidFill>
                      <a:schemeClr val="accent2"/>
                    </a:solidFill>
                  </a:rPr>
                  <a:t>独立级联</a:t>
                </a:r>
                <a:r>
                  <a:rPr lang="zh-CN" altLang="en-US" dirty="0" smtClean="0">
                    <a:solidFill>
                      <a:schemeClr val="accent2"/>
                    </a:solidFill>
                  </a:rPr>
                  <a:t>模型</a:t>
                </a:r>
                <a:endParaRPr lang="en-US" altLang="zh-CN" dirty="0">
                  <a:solidFill>
                    <a:schemeClr val="accent2"/>
                  </a:solidFill>
                </a:endParaRPr>
              </a:p>
              <a:p>
                <a:endParaRPr lang="zh-CN" altLang="zh-CN" dirty="0"/>
              </a:p>
              <a:p>
                <a:pPr indent="457200">
                  <a:lnSpc>
                    <a:spcPct val="150000"/>
                  </a:lnSpc>
                </a:pPr>
                <a:r>
                  <a:rPr lang="zh-CN" altLang="zh-CN" dirty="0"/>
                  <a:t>独立级联模型将图中有向边的权重值</a:t>
                </a:r>
                <a:r>
                  <a:rPr lang="en-US" altLang="zh-CN" dirty="0"/>
                  <a:t>p(u, v)</a:t>
                </a:r>
                <a:r>
                  <a:rPr lang="zh-CN" altLang="zh-CN" dirty="0"/>
                  <a:t>定义为当节点</a:t>
                </a:r>
                <a:r>
                  <a:rPr lang="en-US" altLang="zh-CN" dirty="0"/>
                  <a:t>u</a:t>
                </a:r>
                <a:r>
                  <a:rPr lang="zh-CN" altLang="zh-CN" dirty="0"/>
                  <a:t>为活跃状态时，节点</a:t>
                </a:r>
                <a:r>
                  <a:rPr lang="en-US" altLang="zh-CN" dirty="0"/>
                  <a:t>u</a:t>
                </a:r>
                <a:r>
                  <a:rPr lang="zh-CN" altLang="zh-CN" dirty="0"/>
                  <a:t>通过边（</a:t>
                </a:r>
                <a:r>
                  <a:rPr lang="en-US" altLang="zh-CN" dirty="0"/>
                  <a:t>u</a:t>
                </a:r>
                <a:r>
                  <a:rPr lang="zh-CN" altLang="zh-CN" dirty="0"/>
                  <a:t>，</a:t>
                </a:r>
                <a:r>
                  <a:rPr lang="en-US" altLang="zh-CN" dirty="0"/>
                  <a:t>v</a:t>
                </a:r>
                <a:r>
                  <a:rPr lang="zh-CN" altLang="zh-CN" dirty="0"/>
                  <a:t>）向节点</a:t>
                </a:r>
                <a:r>
                  <a:rPr lang="en-US" altLang="zh-CN" dirty="0"/>
                  <a:t>v</a:t>
                </a:r>
                <a:r>
                  <a:rPr lang="zh-CN" altLang="zh-CN" dirty="0"/>
                  <a:t>成功传播的概率值。对于离散模型，信息的传播均在离散点完成，独立级联模型的传播过程在离散时间点如以下形式完成：</a:t>
                </a:r>
              </a:p>
              <a:p>
                <a:pPr indent="457200">
                  <a:lnSpc>
                    <a:spcPct val="150000"/>
                  </a:lnSpc>
                </a:pPr>
                <a:r>
                  <a:rPr lang="zh-CN" altLang="zh-CN" dirty="0"/>
                  <a:t>在</a:t>
                </a:r>
                <a:r>
                  <a:rPr lang="en-US" altLang="zh-CN" dirty="0"/>
                  <a:t>t=0</a:t>
                </a:r>
                <a:r>
                  <a:rPr lang="zh-CN" altLang="zh-CN" dirty="0"/>
                  <a:t>时刻，一个预先存在的初始集</a:t>
                </a:r>
                <a14:m>
                  <m:oMath xmlns:m="http://schemas.openxmlformats.org/officeDocument/2006/math">
                    <m:sSub>
                      <m:sSubPr>
                        <m:ctrlPr>
                          <a:rPr lang="zh-CN" altLang="zh-CN" i="1">
                            <a:latin typeface="Cambria Math" panose="02040503050406030204" pitchFamily="18" charset="0"/>
                          </a:rPr>
                        </m:ctrlPr>
                      </m:sSubPr>
                      <m:e>
                        <m:r>
                          <a:rPr lang="zh-CN" altLang="zh-CN">
                            <a:latin typeface="Cambria Math" panose="02040503050406030204" pitchFamily="18" charset="0"/>
                          </a:rPr>
                          <m:t>𝑆</m:t>
                        </m:r>
                      </m:e>
                      <m:sub>
                        <m:r>
                          <a:rPr lang="zh-CN" altLang="zh-CN">
                            <a:latin typeface="Cambria Math" panose="02040503050406030204" pitchFamily="18" charset="0"/>
                          </a:rPr>
                          <m:t>0</m:t>
                        </m:r>
                      </m:sub>
                    </m:sSub>
                  </m:oMath>
                </a14:m>
                <a:r>
                  <a:rPr lang="zh-CN" altLang="zh-CN" dirty="0"/>
                  <a:t>首先被激活，其他节点均处于不活跃状态。</a:t>
                </a:r>
              </a:p>
              <a:p>
                <a:pPr indent="457200">
                  <a:lnSpc>
                    <a:spcPct val="150000"/>
                  </a:lnSpc>
                </a:pPr>
                <a:r>
                  <a:rPr lang="zh-CN" altLang="zh-CN" dirty="0"/>
                  <a:t>在</a:t>
                </a:r>
                <a:r>
                  <a:rPr lang="en-US" altLang="zh-CN" dirty="0"/>
                  <a:t>t</a:t>
                </a:r>
                <a:r>
                  <a:rPr lang="x-IV_mathan" altLang="zh-CN" dirty="0"/>
                  <a:t>≥</a:t>
                </a:r>
                <a:r>
                  <a:rPr lang="en-US" altLang="zh-CN" dirty="0"/>
                  <a:t>1</a:t>
                </a:r>
                <a:r>
                  <a:rPr lang="zh-CN" altLang="zh-CN" dirty="0"/>
                  <a:t>的时刻，</a:t>
                </a:r>
                <a14:m>
                  <m:oMath xmlns:m="http://schemas.openxmlformats.org/officeDocument/2006/math">
                    <m:sSub>
                      <m:sSubPr>
                        <m:ctrlPr>
                          <a:rPr lang="zh-CN" altLang="zh-CN" i="1">
                            <a:latin typeface="Cambria Math" panose="02040503050406030204" pitchFamily="18" charset="0"/>
                          </a:rPr>
                        </m:ctrlPr>
                      </m:sSubPr>
                      <m:e>
                        <m:r>
                          <a:rPr lang="zh-CN" altLang="zh-CN">
                            <a:latin typeface="Cambria Math" panose="02040503050406030204" pitchFamily="18" charset="0"/>
                          </a:rPr>
                          <m:t>𝑆</m:t>
                        </m:r>
                      </m:e>
                      <m:sub>
                        <m:r>
                          <a:rPr lang="zh-CN" altLang="zh-CN">
                            <a:latin typeface="Cambria Math" panose="02040503050406030204" pitchFamily="18" charset="0"/>
                          </a:rPr>
                          <m:t>𝑡</m:t>
                        </m:r>
                      </m:sub>
                    </m:sSub>
                  </m:oMath>
                </a14:m>
                <a:r>
                  <a:rPr lang="zh-CN" altLang="zh-CN" dirty="0"/>
                  <a:t>表示到时刻</a:t>
                </a:r>
                <a:r>
                  <a:rPr lang="en-US" altLang="zh-CN" dirty="0"/>
                  <a:t>t</a:t>
                </a:r>
                <a:r>
                  <a:rPr lang="zh-CN" altLang="zh-CN" dirty="0"/>
                  <a:t>为止所有激活的节点集合，所有上一时刻激活的节点</a:t>
                </a:r>
                <a14:m>
                  <m:oMath xmlns:m="http://schemas.openxmlformats.org/officeDocument/2006/math">
                    <m:r>
                      <m:rPr>
                        <m:sty m:val="p"/>
                      </m:rPr>
                      <a:rPr lang="zh-CN" altLang="zh-CN">
                        <a:latin typeface="Cambria Math" panose="02040503050406030204" pitchFamily="18" charset="0"/>
                      </a:rPr>
                      <m:t>u</m:t>
                    </m:r>
                    <m:r>
                      <a:rPr lang="zh-CN" altLang="zh-CN">
                        <a:latin typeface="Cambria Math" panose="02040503050406030204" pitchFamily="18" charset="0"/>
                      </a:rPr>
                      <m:t>∈</m:t>
                    </m:r>
                    <m:sSub>
                      <m:sSubPr>
                        <m:ctrlPr>
                          <a:rPr lang="zh-CN" altLang="zh-CN" i="1">
                            <a:latin typeface="Cambria Math" panose="02040503050406030204" pitchFamily="18" charset="0"/>
                          </a:rPr>
                        </m:ctrlPr>
                      </m:sSubPr>
                      <m:e>
                        <m:r>
                          <a:rPr lang="zh-CN" altLang="zh-CN">
                            <a:latin typeface="Cambria Math" panose="02040503050406030204" pitchFamily="18" charset="0"/>
                          </a:rPr>
                          <m:t>𝑆</m:t>
                        </m:r>
                      </m:e>
                      <m:sub>
                        <m:r>
                          <a:rPr lang="zh-CN" altLang="zh-CN">
                            <a:latin typeface="Cambria Math" panose="02040503050406030204" pitchFamily="18" charset="0"/>
                          </a:rPr>
                          <m:t>𝑡</m:t>
                        </m:r>
                        <m:r>
                          <a:rPr lang="zh-CN" altLang="zh-CN">
                            <a:latin typeface="Cambria Math" panose="02040503050406030204" pitchFamily="18" charset="0"/>
                          </a:rPr>
                          <m:t>−1</m:t>
                        </m:r>
                      </m:sub>
                    </m:sSub>
                    <m:r>
                      <a:rPr lang="zh-CN" altLang="zh-CN">
                        <a:latin typeface="Cambria Math" panose="02040503050406030204" pitchFamily="18" charset="0"/>
                      </a:rPr>
                      <m:t>\</m:t>
                    </m:r>
                    <m:sSub>
                      <m:sSubPr>
                        <m:ctrlPr>
                          <a:rPr lang="zh-CN" altLang="zh-CN" i="1">
                            <a:latin typeface="Cambria Math" panose="02040503050406030204" pitchFamily="18" charset="0"/>
                          </a:rPr>
                        </m:ctrlPr>
                      </m:sSubPr>
                      <m:e>
                        <m:r>
                          <a:rPr lang="zh-CN" altLang="zh-CN">
                            <a:latin typeface="Cambria Math" panose="02040503050406030204" pitchFamily="18" charset="0"/>
                          </a:rPr>
                          <m:t>𝑆</m:t>
                        </m:r>
                      </m:e>
                      <m:sub>
                        <m:r>
                          <a:rPr lang="zh-CN" altLang="zh-CN">
                            <a:latin typeface="Cambria Math" panose="02040503050406030204" pitchFamily="18" charset="0"/>
                          </a:rPr>
                          <m:t>𝑡</m:t>
                        </m:r>
                        <m:r>
                          <a:rPr lang="zh-CN" altLang="zh-CN">
                            <a:latin typeface="Cambria Math" panose="02040503050406030204" pitchFamily="18" charset="0"/>
                          </a:rPr>
                          <m:t>−2</m:t>
                        </m:r>
                      </m:sub>
                    </m:sSub>
                  </m:oMath>
                </a14:m>
                <a:r>
                  <a:rPr lang="en-US" altLang="zh-CN" dirty="0"/>
                  <a:t>(</a:t>
                </a:r>
                <a14:m>
                  <m:oMath xmlns:m="http://schemas.openxmlformats.org/officeDocument/2006/math">
                    <m:sSub>
                      <m:sSubPr>
                        <m:ctrlPr>
                          <a:rPr lang="zh-CN" altLang="zh-CN" i="1">
                            <a:latin typeface="Cambria Math" panose="02040503050406030204" pitchFamily="18" charset="0"/>
                          </a:rPr>
                        </m:ctrlPr>
                      </m:sSubPr>
                      <m:e>
                        <m:r>
                          <a:rPr lang="zh-CN" altLang="zh-CN">
                            <a:latin typeface="Cambria Math" panose="02040503050406030204" pitchFamily="18" charset="0"/>
                          </a:rPr>
                          <m:t>𝑆</m:t>
                        </m:r>
                      </m:e>
                      <m:sub>
                        <m:r>
                          <a:rPr lang="zh-CN" altLang="zh-CN">
                            <a:latin typeface="Cambria Math" panose="02040503050406030204" pitchFamily="18" charset="0"/>
                          </a:rPr>
                          <m:t>−1</m:t>
                        </m:r>
                      </m:sub>
                    </m:sSub>
                    <m:r>
                      <a:rPr lang="zh-CN" altLang="zh-CN">
                        <a:latin typeface="Cambria Math" panose="02040503050406030204" pitchFamily="18" charset="0"/>
                      </a:rPr>
                      <m:t>=∅</m:t>
                    </m:r>
                  </m:oMath>
                </a14:m>
                <a:r>
                  <a:rPr lang="en-US" altLang="zh-CN" dirty="0"/>
                  <a:t>)</a:t>
                </a:r>
                <a:r>
                  <a:rPr lang="zh-CN" altLang="zh-CN" dirty="0"/>
                  <a:t>都会对它的每个尚未激活的出邻居</a:t>
                </a:r>
                <a14:m>
                  <m:oMath xmlns:m="http://schemas.openxmlformats.org/officeDocument/2006/math">
                    <m:r>
                      <m:rPr>
                        <m:sty m:val="p"/>
                      </m:rPr>
                      <a:rPr lang="zh-CN" altLang="zh-CN">
                        <a:latin typeface="Cambria Math" panose="02040503050406030204" pitchFamily="18" charset="0"/>
                      </a:rPr>
                      <m:t>v</m:t>
                    </m:r>
                    <m:r>
                      <a:rPr lang="zh-CN" altLang="zh-CN">
                        <a:latin typeface="Cambria Math" panose="02040503050406030204" pitchFamily="18" charset="0"/>
                      </a:rPr>
                      <m:t>∈</m:t>
                    </m:r>
                    <m:sSup>
                      <m:sSupPr>
                        <m:ctrlPr>
                          <a:rPr lang="zh-CN" altLang="zh-CN" i="1">
                            <a:latin typeface="Cambria Math" panose="02040503050406030204" pitchFamily="18" charset="0"/>
                          </a:rPr>
                        </m:ctrlPr>
                      </m:sSupPr>
                      <m:e>
                        <m:r>
                          <a:rPr lang="zh-CN" altLang="zh-CN">
                            <a:latin typeface="Cambria Math" panose="02040503050406030204" pitchFamily="18" charset="0"/>
                          </a:rPr>
                          <m:t>𝑁</m:t>
                        </m:r>
                      </m:e>
                      <m:sup>
                        <m:r>
                          <a:rPr lang="zh-CN" altLang="zh-CN">
                            <a:latin typeface="Cambria Math" panose="02040503050406030204" pitchFamily="18" charset="0"/>
                          </a:rPr>
                          <m:t>+</m:t>
                        </m:r>
                      </m:sup>
                    </m:sSup>
                    <m:r>
                      <a:rPr lang="zh-CN" altLang="zh-CN">
                        <a:latin typeface="Cambria Math" panose="02040503050406030204" pitchFamily="18" charset="0"/>
                      </a:rPr>
                      <m:t>(</m:t>
                    </m:r>
                    <m:r>
                      <a:rPr lang="zh-CN" altLang="zh-CN">
                        <a:latin typeface="Cambria Math" panose="02040503050406030204" pitchFamily="18" charset="0"/>
                      </a:rPr>
                      <m:t>𝑢</m:t>
                    </m:r>
                    <m:r>
                      <a:rPr lang="zh-CN" altLang="zh-CN">
                        <a:latin typeface="Cambria Math" panose="02040503050406030204" pitchFamily="18" charset="0"/>
                      </a:rPr>
                      <m:t>)\</m:t>
                    </m:r>
                    <m:sSub>
                      <m:sSubPr>
                        <m:ctrlPr>
                          <a:rPr lang="zh-CN" altLang="zh-CN" i="1">
                            <a:latin typeface="Cambria Math" panose="02040503050406030204" pitchFamily="18" charset="0"/>
                          </a:rPr>
                        </m:ctrlPr>
                      </m:sSubPr>
                      <m:e>
                        <m:r>
                          <a:rPr lang="zh-CN" altLang="zh-CN">
                            <a:latin typeface="Cambria Math" panose="02040503050406030204" pitchFamily="18" charset="0"/>
                          </a:rPr>
                          <m:t>𝑆</m:t>
                        </m:r>
                      </m:e>
                      <m:sub>
                        <m:r>
                          <a:rPr lang="zh-CN" altLang="zh-CN">
                            <a:latin typeface="Cambria Math" panose="02040503050406030204" pitchFamily="18" charset="0"/>
                          </a:rPr>
                          <m:t>𝑡</m:t>
                        </m:r>
                        <m:r>
                          <a:rPr lang="zh-CN" altLang="zh-CN">
                            <a:latin typeface="Cambria Math" panose="02040503050406030204" pitchFamily="18" charset="0"/>
                          </a:rPr>
                          <m:t>−1</m:t>
                        </m:r>
                      </m:sub>
                    </m:sSub>
                  </m:oMath>
                </a14:m>
                <a:r>
                  <a:rPr lang="zh-CN" altLang="zh-CN" dirty="0"/>
                  <a:t>以概率</a:t>
                </a:r>
                <a:r>
                  <a:rPr lang="en-US" altLang="zh-CN" dirty="0"/>
                  <a:t>p(</a:t>
                </a:r>
                <a:r>
                  <a:rPr lang="en-US" altLang="zh-CN" dirty="0" err="1"/>
                  <a:t>u,v</a:t>
                </a:r>
                <a:r>
                  <a:rPr lang="en-US" altLang="zh-CN" dirty="0"/>
                  <a:t>)</a:t>
                </a:r>
                <a:r>
                  <a:rPr lang="zh-CN" altLang="zh-CN" dirty="0"/>
                  <a:t>尝试激活一次，所有激活事件之间相互独立。当没有新的节点被激活时，传播过程结束。</a:t>
                </a:r>
              </a:p>
              <a:p>
                <a:pPr indent="457200">
                  <a:lnSpc>
                    <a:spcPct val="150000"/>
                  </a:lnSpc>
                </a:pPr>
                <a:r>
                  <a:rPr lang="zh-CN" altLang="zh-CN" dirty="0"/>
                  <a:t>注意：每个节点只做一次激活尝试。</a:t>
                </a:r>
              </a:p>
              <a:p>
                <a:pPr indent="457200">
                  <a:lnSpc>
                    <a:spcPct val="150000"/>
                  </a:lnSpc>
                </a:pPr>
                <a:r>
                  <a:rPr lang="zh-CN" altLang="zh-CN" dirty="0"/>
                  <a:t>使用</a:t>
                </a:r>
                <a14:m>
                  <m:oMath xmlns:m="http://schemas.openxmlformats.org/officeDocument/2006/math">
                    <m:sSub>
                      <m:sSubPr>
                        <m:ctrlPr>
                          <a:rPr lang="zh-CN" altLang="zh-CN" i="1">
                            <a:latin typeface="Cambria Math" panose="02040503050406030204" pitchFamily="18" charset="0"/>
                          </a:rPr>
                        </m:ctrlPr>
                      </m:sSubPr>
                      <m:e>
                        <m:r>
                          <a:rPr lang="zh-CN" altLang="zh-CN">
                            <a:latin typeface="Cambria Math" panose="02040503050406030204" pitchFamily="18" charset="0"/>
                          </a:rPr>
                          <m:t>𝑆</m:t>
                        </m:r>
                      </m:e>
                      <m:sub>
                        <m:r>
                          <a:rPr lang="zh-CN" altLang="zh-CN">
                            <a:latin typeface="Cambria Math" panose="02040503050406030204" pitchFamily="18" charset="0"/>
                          </a:rPr>
                          <m:t>∞</m:t>
                        </m:r>
                      </m:sub>
                    </m:sSub>
                  </m:oMath>
                </a14:m>
                <a:r>
                  <a:rPr lang="zh-CN" altLang="zh-CN" dirty="0"/>
                  <a:t>来表示传播结束时的激活节点的集合，</a:t>
                </a:r>
                <a14:m>
                  <m:oMath xmlns:m="http://schemas.openxmlformats.org/officeDocument/2006/math">
                    <m:sSub>
                      <m:sSubPr>
                        <m:ctrlPr>
                          <a:rPr lang="zh-CN" altLang="zh-CN" i="1">
                            <a:latin typeface="Cambria Math" panose="02040503050406030204" pitchFamily="18" charset="0"/>
                          </a:rPr>
                        </m:ctrlPr>
                      </m:sSubPr>
                      <m:e>
                        <m:r>
                          <a:rPr lang="zh-CN" altLang="zh-CN">
                            <a:latin typeface="Cambria Math" panose="02040503050406030204" pitchFamily="18" charset="0"/>
                          </a:rPr>
                          <m:t>𝑆</m:t>
                        </m:r>
                      </m:e>
                      <m:sub>
                        <m:r>
                          <a:rPr lang="zh-CN" altLang="zh-CN">
                            <a:latin typeface="Cambria Math" panose="02040503050406030204" pitchFamily="18" charset="0"/>
                          </a:rPr>
                          <m:t>∞</m:t>
                        </m:r>
                      </m:sub>
                    </m:sSub>
                  </m:oMath>
                </a14:m>
                <a:r>
                  <a:rPr lang="zh-CN" altLang="zh-CN" dirty="0"/>
                  <a:t>是一个随机集合，影响力传播中经常关心的时传播结束后被激活节点个数的期望值</a:t>
                </a:r>
                <a:r>
                  <a:rPr lang="en-US" altLang="zh-CN" dirty="0"/>
                  <a:t>E[|</a:t>
                </a:r>
                <a14:m>
                  <m:oMath xmlns:m="http://schemas.openxmlformats.org/officeDocument/2006/math">
                    <m:sSub>
                      <m:sSubPr>
                        <m:ctrlPr>
                          <a:rPr lang="zh-CN" altLang="zh-CN" i="1">
                            <a:latin typeface="Cambria Math" panose="02040503050406030204" pitchFamily="18" charset="0"/>
                          </a:rPr>
                        </m:ctrlPr>
                      </m:sSubPr>
                      <m:e>
                        <m:r>
                          <a:rPr lang="zh-CN" altLang="zh-CN">
                            <a:latin typeface="Cambria Math" panose="02040503050406030204" pitchFamily="18" charset="0"/>
                          </a:rPr>
                          <m:t>𝑆</m:t>
                        </m:r>
                      </m:e>
                      <m:sub>
                        <m:r>
                          <a:rPr lang="zh-CN" altLang="zh-CN">
                            <a:latin typeface="Cambria Math" panose="02040503050406030204" pitchFamily="18" charset="0"/>
                          </a:rPr>
                          <m:t>∞</m:t>
                        </m:r>
                      </m:sub>
                    </m:sSub>
                  </m:oMath>
                </a14:m>
                <a:r>
                  <a:rPr lang="en-US" altLang="zh-CN" dirty="0"/>
                  <a:t>|],</a:t>
                </a:r>
                <a:r>
                  <a:rPr lang="zh-CN" altLang="zh-CN" dirty="0"/>
                  <a:t>用</a:t>
                </a:r>
                <a14:m>
                  <m:oMath xmlns:m="http://schemas.openxmlformats.org/officeDocument/2006/math">
                    <m:r>
                      <m:rPr>
                        <m:sty m:val="p"/>
                      </m:rPr>
                      <a:rPr lang="zh-CN" altLang="zh-CN">
                        <a:latin typeface="Cambria Math" panose="02040503050406030204" pitchFamily="18" charset="0"/>
                      </a:rPr>
                      <m:t>σ</m:t>
                    </m:r>
                    <m:r>
                      <a:rPr lang="zh-CN" altLang="zh-CN">
                        <a:latin typeface="Cambria Math" panose="02040503050406030204" pitchFamily="18" charset="0"/>
                      </a:rPr>
                      <m:t>(</m:t>
                    </m:r>
                    <m:sSub>
                      <m:sSubPr>
                        <m:ctrlPr>
                          <a:rPr lang="zh-CN" altLang="zh-CN" i="1">
                            <a:latin typeface="Cambria Math" panose="02040503050406030204" pitchFamily="18" charset="0"/>
                          </a:rPr>
                        </m:ctrlPr>
                      </m:sSubPr>
                      <m:e>
                        <m:r>
                          <a:rPr lang="zh-CN" altLang="zh-CN">
                            <a:latin typeface="Cambria Math" panose="02040503050406030204" pitchFamily="18" charset="0"/>
                          </a:rPr>
                          <m:t>𝑆</m:t>
                        </m:r>
                      </m:e>
                      <m:sub>
                        <m:r>
                          <a:rPr lang="zh-CN" altLang="zh-CN">
                            <a:latin typeface="Cambria Math" panose="02040503050406030204" pitchFamily="18" charset="0"/>
                          </a:rPr>
                          <m:t>0</m:t>
                        </m:r>
                      </m:sub>
                    </m:sSub>
                    <m:r>
                      <a:rPr lang="zh-CN" altLang="zh-CN">
                        <a:latin typeface="Cambria Math" panose="02040503050406030204" pitchFamily="18" charset="0"/>
                      </a:rPr>
                      <m:t>)</m:t>
                    </m:r>
                  </m:oMath>
                </a14:m>
                <a:r>
                  <a:rPr lang="zh-CN" altLang="zh-CN" dirty="0"/>
                  <a:t>表示，称为影响力延展度（</a:t>
                </a:r>
                <a:r>
                  <a:rPr lang="en-US" altLang="zh-CN" dirty="0"/>
                  <a:t>influence spread</a:t>
                </a:r>
                <a:r>
                  <a:rPr lang="zh-CN" altLang="zh-CN" dirty="0"/>
                  <a:t>）。</a:t>
                </a:r>
              </a:p>
              <a:p>
                <a:endParaRPr lang="zh-CN" altLang="en-US" dirty="0">
                  <a:solidFill>
                    <a:schemeClr val="accent2"/>
                  </a:solidFill>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332994" y="291504"/>
                <a:ext cx="7738110" cy="6740307"/>
              </a:xfrm>
              <a:prstGeom prst="rect">
                <a:avLst/>
              </a:prstGeom>
              <a:blipFill>
                <a:blip r:embed="rId2"/>
                <a:stretch>
                  <a:fillRect l="-709" t="-542" r="-6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610015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5" name="文本框 4"/>
          <p:cNvSpPr txBox="1"/>
          <p:nvPr/>
        </p:nvSpPr>
        <p:spPr>
          <a:xfrm>
            <a:off x="3264414" y="2096855"/>
            <a:ext cx="7738110" cy="3000821"/>
          </a:xfrm>
          <a:prstGeom prst="rect">
            <a:avLst/>
          </a:prstGeom>
          <a:noFill/>
        </p:spPr>
        <p:txBody>
          <a:bodyPr wrap="square" rtlCol="0">
            <a:spAutoFit/>
          </a:bodyPr>
          <a:lstStyle/>
          <a:p>
            <a:pPr indent="457200">
              <a:lnSpc>
                <a:spcPct val="150000"/>
              </a:lnSpc>
            </a:pPr>
            <a:r>
              <a:rPr lang="zh-CN" altLang="en-US" dirty="0" smtClean="0">
                <a:solidFill>
                  <a:schemeClr val="accent2"/>
                </a:solidFill>
              </a:rPr>
              <a:t>其他模型</a:t>
            </a:r>
            <a:endParaRPr lang="en-US" altLang="zh-CN" dirty="0" smtClean="0">
              <a:solidFill>
                <a:schemeClr val="accent2"/>
              </a:solidFill>
            </a:endParaRPr>
          </a:p>
          <a:p>
            <a:pPr indent="457200">
              <a:lnSpc>
                <a:spcPct val="150000"/>
              </a:lnSpc>
            </a:pPr>
            <a:endParaRPr lang="en-US" altLang="zh-CN" dirty="0" smtClean="0">
              <a:solidFill>
                <a:schemeClr val="accent2"/>
              </a:solidFill>
            </a:endParaRPr>
          </a:p>
          <a:p>
            <a:pPr marL="285750" indent="-285750" fontAlgn="ctr">
              <a:lnSpc>
                <a:spcPct val="150000"/>
              </a:lnSpc>
              <a:buFont typeface="Arial" panose="020B0604020202020204" pitchFamily="34" charset="0"/>
              <a:buChar char="•"/>
            </a:pPr>
            <a:r>
              <a:rPr lang="zh-CN" altLang="zh-CN" dirty="0"/>
              <a:t>传染病模型</a:t>
            </a:r>
            <a:r>
              <a:rPr lang="en-US" altLang="zh-CN" dirty="0"/>
              <a:t>(epidemic model)</a:t>
            </a:r>
            <a:endParaRPr lang="zh-CN" altLang="zh-CN" dirty="0"/>
          </a:p>
          <a:p>
            <a:pPr marL="285750" indent="-285750" fontAlgn="ctr">
              <a:lnSpc>
                <a:spcPct val="150000"/>
              </a:lnSpc>
              <a:buFont typeface="Arial" panose="020B0604020202020204" pitchFamily="34" charset="0"/>
              <a:buChar char="•"/>
            </a:pPr>
            <a:r>
              <a:rPr lang="zh-CN" altLang="zh-CN" dirty="0"/>
              <a:t>选举模型</a:t>
            </a:r>
            <a:r>
              <a:rPr lang="en-US" altLang="zh-CN" dirty="0"/>
              <a:t>(voter model)</a:t>
            </a:r>
            <a:endParaRPr lang="zh-CN" altLang="zh-CN" dirty="0"/>
          </a:p>
          <a:p>
            <a:pPr marL="285750" indent="-285750" fontAlgn="ctr">
              <a:lnSpc>
                <a:spcPct val="150000"/>
              </a:lnSpc>
              <a:buFont typeface="Arial" panose="020B0604020202020204" pitchFamily="34" charset="0"/>
              <a:buChar char="•"/>
            </a:pPr>
            <a:r>
              <a:rPr lang="zh-CN" altLang="zh-CN" dirty="0"/>
              <a:t>博弈论模型</a:t>
            </a:r>
            <a:r>
              <a:rPr lang="en-US" altLang="zh-CN" dirty="0"/>
              <a:t>(game-theoretic model)</a:t>
            </a:r>
            <a:endParaRPr lang="zh-CN" altLang="zh-CN" dirty="0"/>
          </a:p>
          <a:p>
            <a:pPr marL="285750" indent="-285750" fontAlgn="ctr">
              <a:lnSpc>
                <a:spcPct val="150000"/>
              </a:lnSpc>
              <a:buFont typeface="Arial" panose="020B0604020202020204" pitchFamily="34" charset="0"/>
              <a:buChar char="•"/>
            </a:pPr>
            <a:r>
              <a:rPr lang="zh-CN" altLang="zh-CN" dirty="0"/>
              <a:t>多实体传播模型</a:t>
            </a:r>
            <a:r>
              <a:rPr lang="en-US" altLang="zh-CN" dirty="0"/>
              <a:t>(multi-item diffusion model)</a:t>
            </a:r>
            <a:endParaRPr lang="zh-CN" altLang="zh-CN" dirty="0"/>
          </a:p>
          <a:p>
            <a:pPr indent="457200">
              <a:lnSpc>
                <a:spcPct val="150000"/>
              </a:lnSpc>
            </a:pPr>
            <a:endParaRPr lang="zh-CN" altLang="en-US" dirty="0">
              <a:solidFill>
                <a:schemeClr val="accent2"/>
              </a:solidFill>
            </a:endParaRPr>
          </a:p>
        </p:txBody>
      </p:sp>
    </p:spTree>
    <p:extLst>
      <p:ext uri="{BB962C8B-B14F-4D97-AF65-F5344CB8AC3E}">
        <p14:creationId xmlns:p14="http://schemas.microsoft.com/office/powerpoint/2010/main" val="29497755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5" name="文本框 4"/>
              <p:cNvSpPr txBox="1"/>
              <p:nvPr/>
            </p:nvSpPr>
            <p:spPr>
              <a:xfrm>
                <a:off x="3161544" y="1663104"/>
                <a:ext cx="7738110" cy="2540696"/>
              </a:xfrm>
              <a:prstGeom prst="rect">
                <a:avLst/>
              </a:prstGeom>
              <a:noFill/>
            </p:spPr>
            <p:txBody>
              <a:bodyPr wrap="square" rtlCol="0">
                <a:spAutoFit/>
              </a:bodyPr>
              <a:lstStyle/>
              <a:p>
                <a:pPr indent="457200">
                  <a:lnSpc>
                    <a:spcPct val="150000"/>
                  </a:lnSpc>
                </a:pPr>
                <a:r>
                  <a:rPr lang="zh-CN" altLang="en-US" dirty="0">
                    <a:solidFill>
                      <a:srgbClr val="FF0000"/>
                    </a:solidFill>
                  </a:rPr>
                  <a:t>影响力最大化</a:t>
                </a:r>
                <a:r>
                  <a:rPr lang="en-US" altLang="zh-CN" dirty="0">
                    <a:solidFill>
                      <a:srgbClr val="FF0000"/>
                    </a:solidFill>
                  </a:rPr>
                  <a:t>(influence maximization)</a:t>
                </a:r>
                <a:r>
                  <a:rPr lang="zh-CN" altLang="en-US" dirty="0" smtClean="0">
                    <a:solidFill>
                      <a:srgbClr val="FF0000"/>
                    </a:solidFill>
                  </a:rPr>
                  <a:t>问题</a:t>
                </a:r>
                <a:endParaRPr lang="en-US" altLang="zh-CN" dirty="0" smtClean="0">
                  <a:solidFill>
                    <a:srgbClr val="FF0000"/>
                  </a:solidFill>
                </a:endParaRPr>
              </a:p>
              <a:p>
                <a:pPr indent="457200">
                  <a:lnSpc>
                    <a:spcPct val="150000"/>
                  </a:lnSpc>
                </a:pPr>
                <a:r>
                  <a:rPr lang="zh-CN" altLang="zh-CN" dirty="0"/>
                  <a:t>影响力最大化时在给定社交网络结构</a:t>
                </a:r>
                <a:r>
                  <a:rPr lang="en-US" altLang="zh-CN" dirty="0"/>
                  <a:t>G=(V, E)</a:t>
                </a:r>
                <a:r>
                  <a:rPr lang="zh-CN" altLang="zh-CN" dirty="0"/>
                  <a:t>、影响力传播模型及其参数的情况下，选择</a:t>
                </a:r>
                <a:r>
                  <a:rPr lang="en-US" altLang="zh-CN" dirty="0"/>
                  <a:t>k</a:t>
                </a:r>
                <a:r>
                  <a:rPr lang="zh-CN" altLang="zh-CN" dirty="0"/>
                  <a:t>个节点作为种子节点集合</a:t>
                </a:r>
                <a14:m>
                  <m:oMath xmlns:m="http://schemas.openxmlformats.org/officeDocument/2006/math">
                    <m:sSup>
                      <m:sSupPr>
                        <m:ctrlPr>
                          <a:rPr lang="zh-CN" altLang="zh-CN" i="1">
                            <a:latin typeface="Cambria Math" panose="02040503050406030204" pitchFamily="18" charset="0"/>
                          </a:rPr>
                        </m:ctrlPr>
                      </m:sSupPr>
                      <m:e>
                        <m:r>
                          <a:rPr lang="zh-CN" altLang="zh-CN">
                            <a:latin typeface="Cambria Math" panose="02040503050406030204" pitchFamily="18" charset="0"/>
                          </a:rPr>
                          <m:t>𝑆</m:t>
                        </m:r>
                      </m:e>
                      <m:sup>
                        <m:r>
                          <a:rPr lang="zh-CN" altLang="zh-CN">
                            <a:latin typeface="Cambria Math" panose="02040503050406030204" pitchFamily="18" charset="0"/>
                          </a:rPr>
                          <m:t>∗</m:t>
                        </m:r>
                      </m:sup>
                    </m:sSup>
                  </m:oMath>
                </a14:m>
                <a:r>
                  <a:rPr lang="en-US" altLang="zh-CN" dirty="0"/>
                  <a:t>,</a:t>
                </a:r>
                <a:r>
                  <a:rPr lang="zh-CN" altLang="zh-CN" dirty="0"/>
                  <a:t>使得以</a:t>
                </a:r>
                <a14:m>
                  <m:oMath xmlns:m="http://schemas.openxmlformats.org/officeDocument/2006/math">
                    <m:sSup>
                      <m:sSupPr>
                        <m:ctrlPr>
                          <a:rPr lang="zh-CN" altLang="zh-CN" i="1">
                            <a:latin typeface="Cambria Math" panose="02040503050406030204" pitchFamily="18" charset="0"/>
                          </a:rPr>
                        </m:ctrlPr>
                      </m:sSupPr>
                      <m:e>
                        <m:r>
                          <a:rPr lang="zh-CN" altLang="zh-CN">
                            <a:latin typeface="Cambria Math" panose="02040503050406030204" pitchFamily="18" charset="0"/>
                          </a:rPr>
                          <m:t>𝑆</m:t>
                        </m:r>
                      </m:e>
                      <m:sup>
                        <m:r>
                          <a:rPr lang="zh-CN" altLang="zh-CN">
                            <a:latin typeface="Cambria Math" panose="02040503050406030204" pitchFamily="18" charset="0"/>
                          </a:rPr>
                          <m:t>∗</m:t>
                        </m:r>
                      </m:sup>
                    </m:sSup>
                  </m:oMath>
                </a14:m>
                <a:r>
                  <a:rPr lang="zh-CN" altLang="zh-CN" dirty="0"/>
                  <a:t>为种子节点长生的影响力延展度</a:t>
                </a:r>
                <a14:m>
                  <m:oMath xmlns:m="http://schemas.openxmlformats.org/officeDocument/2006/math">
                    <m:r>
                      <m:rPr>
                        <m:sty m:val="p"/>
                      </m:rPr>
                      <a:rPr lang="zh-CN" altLang="zh-CN">
                        <a:latin typeface="Cambria Math" panose="02040503050406030204" pitchFamily="18" charset="0"/>
                      </a:rPr>
                      <m:t>σ</m:t>
                    </m:r>
                    <m:r>
                      <a:rPr lang="zh-CN" altLang="zh-CN">
                        <a:latin typeface="Cambria Math" panose="02040503050406030204" pitchFamily="18" charset="0"/>
                      </a:rPr>
                      <m:t>(</m:t>
                    </m:r>
                    <m:sSup>
                      <m:sSupPr>
                        <m:ctrlPr>
                          <a:rPr lang="zh-CN" altLang="zh-CN" i="1">
                            <a:latin typeface="Cambria Math" panose="02040503050406030204" pitchFamily="18" charset="0"/>
                          </a:rPr>
                        </m:ctrlPr>
                      </m:sSupPr>
                      <m:e>
                        <m:r>
                          <a:rPr lang="zh-CN" altLang="zh-CN">
                            <a:latin typeface="Cambria Math" panose="02040503050406030204" pitchFamily="18" charset="0"/>
                          </a:rPr>
                          <m:t>𝑆</m:t>
                        </m:r>
                      </m:e>
                      <m:sup>
                        <m:r>
                          <a:rPr lang="zh-CN" altLang="zh-CN">
                            <a:latin typeface="Cambria Math" panose="02040503050406030204" pitchFamily="18" charset="0"/>
                          </a:rPr>
                          <m:t>∗</m:t>
                        </m:r>
                      </m:sup>
                    </m:sSup>
                    <m:r>
                      <a:rPr lang="zh-CN" altLang="zh-CN">
                        <a:latin typeface="Cambria Math" panose="02040503050406030204" pitchFamily="18" charset="0"/>
                      </a:rPr>
                      <m:t>)</m:t>
                    </m:r>
                  </m:oMath>
                </a14:m>
                <a:r>
                  <a:rPr lang="zh-CN" altLang="zh-CN" dirty="0"/>
                  <a:t>最大，即</a:t>
                </a:r>
                <a:endParaRPr lang="en-US" altLang="zh-CN" i="1" dirty="0" smtClean="0"/>
              </a:p>
              <a:p>
                <a:pPr indent="457200" algn="ctr">
                  <a:lnSpc>
                    <a:spcPct val="150000"/>
                  </a:lnSpc>
                </a:pPr>
                <a14:m>
                  <m:oMath xmlns:m="http://schemas.openxmlformats.org/officeDocument/2006/math">
                    <m:sSup>
                      <m:sSupPr>
                        <m:ctrlPr>
                          <a:rPr lang="zh-CN" altLang="zh-CN" sz="3200" i="1" smtClean="0">
                            <a:solidFill>
                              <a:srgbClr val="FF0000"/>
                            </a:solidFill>
                            <a:latin typeface="Cambria Math" panose="02040503050406030204" pitchFamily="18" charset="0"/>
                          </a:rPr>
                        </m:ctrlPr>
                      </m:sSupPr>
                      <m:e>
                        <m:r>
                          <a:rPr lang="zh-CN" altLang="zh-CN" sz="3200">
                            <a:solidFill>
                              <a:srgbClr val="FF0000"/>
                            </a:solidFill>
                            <a:latin typeface="Cambria Math" panose="02040503050406030204" pitchFamily="18" charset="0"/>
                          </a:rPr>
                          <m:t>𝑆</m:t>
                        </m:r>
                      </m:e>
                      <m:sup>
                        <m:r>
                          <a:rPr lang="zh-CN" altLang="zh-CN" sz="3200">
                            <a:solidFill>
                              <a:srgbClr val="FF0000"/>
                            </a:solidFill>
                            <a:latin typeface="Cambria Math" panose="02040503050406030204" pitchFamily="18" charset="0"/>
                          </a:rPr>
                          <m:t>∗</m:t>
                        </m:r>
                      </m:sup>
                    </m:sSup>
                    <m:r>
                      <a:rPr lang="zh-CN" altLang="zh-CN" sz="3200">
                        <a:solidFill>
                          <a:srgbClr val="FF0000"/>
                        </a:solidFill>
                        <a:latin typeface="Cambria Math" panose="02040503050406030204" pitchFamily="18" charset="0"/>
                      </a:rPr>
                      <m:t>=</m:t>
                    </m:r>
                    <m:sSub>
                      <m:sSubPr>
                        <m:ctrlPr>
                          <a:rPr lang="zh-CN" altLang="zh-CN" sz="3200" i="1">
                            <a:solidFill>
                              <a:srgbClr val="FF0000"/>
                            </a:solidFill>
                            <a:latin typeface="Cambria Math" panose="02040503050406030204" pitchFamily="18" charset="0"/>
                          </a:rPr>
                        </m:ctrlPr>
                      </m:sSubPr>
                      <m:e>
                        <m:r>
                          <a:rPr lang="zh-CN" altLang="zh-CN" sz="3200">
                            <a:solidFill>
                              <a:srgbClr val="FF0000"/>
                            </a:solidFill>
                            <a:latin typeface="Cambria Math" panose="02040503050406030204" pitchFamily="18" charset="0"/>
                          </a:rPr>
                          <m:t>𝑎𝑟𝑔𝑚𝑎𝑥</m:t>
                        </m:r>
                      </m:e>
                      <m:sub>
                        <m:r>
                          <a:rPr lang="zh-CN" altLang="zh-CN" sz="3200">
                            <a:solidFill>
                              <a:srgbClr val="FF0000"/>
                            </a:solidFill>
                            <a:latin typeface="Cambria Math" panose="02040503050406030204" pitchFamily="18" charset="0"/>
                          </a:rPr>
                          <m:t>𝑆</m:t>
                        </m:r>
                        <m:r>
                          <a:rPr lang="zh-CN" altLang="zh-CN" sz="3200">
                            <a:solidFill>
                              <a:srgbClr val="FF0000"/>
                            </a:solidFill>
                            <a:latin typeface="Cambria Math" panose="02040503050406030204" pitchFamily="18" charset="0"/>
                          </a:rPr>
                          <m:t>⊆</m:t>
                        </m:r>
                        <m:r>
                          <m:rPr>
                            <m:sty m:val="p"/>
                          </m:rPr>
                          <a:rPr lang="zh-CN" altLang="zh-CN" sz="3200">
                            <a:solidFill>
                              <a:srgbClr val="FF0000"/>
                            </a:solidFill>
                            <a:latin typeface="Cambria Math" panose="02040503050406030204" pitchFamily="18" charset="0"/>
                          </a:rPr>
                          <m:t>V</m:t>
                        </m:r>
                        <m:r>
                          <a:rPr lang="zh-CN" altLang="zh-CN" sz="3200">
                            <a:solidFill>
                              <a:srgbClr val="FF0000"/>
                            </a:solidFill>
                            <a:latin typeface="Cambria Math" panose="02040503050406030204" pitchFamily="18" charset="0"/>
                          </a:rPr>
                          <m:t>,</m:t>
                        </m:r>
                        <m:d>
                          <m:dPr>
                            <m:begChr m:val="|"/>
                            <m:endChr m:val="|"/>
                            <m:ctrlPr>
                              <a:rPr lang="zh-CN" altLang="zh-CN" sz="3200" i="1">
                                <a:solidFill>
                                  <a:srgbClr val="FF0000"/>
                                </a:solidFill>
                                <a:latin typeface="Cambria Math" panose="02040503050406030204" pitchFamily="18" charset="0"/>
                              </a:rPr>
                            </m:ctrlPr>
                          </m:dPr>
                          <m:e>
                            <m:r>
                              <m:rPr>
                                <m:sty m:val="p"/>
                              </m:rPr>
                              <a:rPr lang="zh-CN" altLang="zh-CN" sz="3200">
                                <a:solidFill>
                                  <a:srgbClr val="FF0000"/>
                                </a:solidFill>
                                <a:latin typeface="Cambria Math" panose="02040503050406030204" pitchFamily="18" charset="0"/>
                              </a:rPr>
                              <m:t>S</m:t>
                            </m:r>
                          </m:e>
                        </m:d>
                        <m:r>
                          <a:rPr lang="zh-CN" altLang="zh-CN" sz="3200">
                            <a:solidFill>
                              <a:srgbClr val="FF0000"/>
                            </a:solidFill>
                            <a:latin typeface="Cambria Math" panose="02040503050406030204" pitchFamily="18" charset="0"/>
                          </a:rPr>
                          <m:t>=</m:t>
                        </m:r>
                        <m:r>
                          <m:rPr>
                            <m:sty m:val="p"/>
                          </m:rPr>
                          <a:rPr lang="zh-CN" altLang="zh-CN" sz="3200">
                            <a:solidFill>
                              <a:srgbClr val="FF0000"/>
                            </a:solidFill>
                            <a:latin typeface="Cambria Math" panose="02040503050406030204" pitchFamily="18" charset="0"/>
                          </a:rPr>
                          <m:t>k</m:t>
                        </m:r>
                      </m:sub>
                    </m:sSub>
                    <m:r>
                      <m:rPr>
                        <m:sty m:val="p"/>
                      </m:rPr>
                      <a:rPr lang="zh-CN" altLang="zh-CN" sz="3200">
                        <a:solidFill>
                          <a:srgbClr val="FF0000"/>
                        </a:solidFill>
                        <a:latin typeface="Cambria Math" panose="02040503050406030204" pitchFamily="18" charset="0"/>
                      </a:rPr>
                      <m:t>σ</m:t>
                    </m:r>
                    <m:r>
                      <a:rPr lang="zh-CN" altLang="zh-CN" sz="3200">
                        <a:solidFill>
                          <a:srgbClr val="FF0000"/>
                        </a:solidFill>
                        <a:latin typeface="Cambria Math" panose="02040503050406030204" pitchFamily="18" charset="0"/>
                      </a:rPr>
                      <m:t>(</m:t>
                    </m:r>
                    <m:r>
                      <m:rPr>
                        <m:sty m:val="p"/>
                      </m:rPr>
                      <a:rPr lang="zh-CN" altLang="zh-CN" sz="3200">
                        <a:solidFill>
                          <a:srgbClr val="FF0000"/>
                        </a:solidFill>
                        <a:latin typeface="Cambria Math" panose="02040503050406030204" pitchFamily="18" charset="0"/>
                      </a:rPr>
                      <m:t>S</m:t>
                    </m:r>
                    <m:r>
                      <a:rPr lang="zh-CN" altLang="zh-CN" sz="3200">
                        <a:solidFill>
                          <a:srgbClr val="FF0000"/>
                        </a:solidFill>
                        <a:latin typeface="Cambria Math" panose="02040503050406030204" pitchFamily="18" charset="0"/>
                      </a:rPr>
                      <m:t>)</m:t>
                    </m:r>
                  </m:oMath>
                </a14:m>
                <a:r>
                  <a:rPr lang="en-US" altLang="zh-CN" sz="3200" dirty="0">
                    <a:solidFill>
                      <a:srgbClr val="FF0000"/>
                    </a:solidFill>
                  </a:rPr>
                  <a:t>.</a:t>
                </a:r>
                <a:endParaRPr lang="zh-CN" altLang="en-US" sz="3200" dirty="0">
                  <a:solidFill>
                    <a:srgbClr val="FF0000"/>
                  </a:solidFill>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3161544" y="1663104"/>
                <a:ext cx="7738110" cy="2540696"/>
              </a:xfrm>
              <a:prstGeom prst="rect">
                <a:avLst/>
              </a:prstGeom>
              <a:blipFill>
                <a:blip r:embed="rId2"/>
                <a:stretch>
                  <a:fillRect l="-709" b="-2878"/>
                </a:stretch>
              </a:blipFill>
            </p:spPr>
            <p:txBody>
              <a:bodyPr/>
              <a:lstStyle/>
              <a:p>
                <a:r>
                  <a:rPr lang="zh-CN" altLang="en-US">
                    <a:noFill/>
                  </a:rPr>
                  <a:t> </a:t>
                </a:r>
              </a:p>
            </p:txBody>
          </p:sp>
        </mc:Fallback>
      </mc:AlternateContent>
      <p:sp>
        <p:nvSpPr>
          <p:cNvPr id="4" name="文本框 3"/>
          <p:cNvSpPr txBox="1"/>
          <p:nvPr/>
        </p:nvSpPr>
        <p:spPr>
          <a:xfrm>
            <a:off x="3291840" y="4754880"/>
            <a:ext cx="7607814" cy="646331"/>
          </a:xfrm>
          <a:prstGeom prst="rect">
            <a:avLst/>
          </a:prstGeom>
          <a:noFill/>
        </p:spPr>
        <p:txBody>
          <a:bodyPr wrap="square" rtlCol="0">
            <a:spAutoFit/>
          </a:bodyPr>
          <a:lstStyle/>
          <a:p>
            <a:r>
              <a:rPr lang="zh-CN" altLang="en-US" dirty="0" smtClean="0"/>
              <a:t>影响力最大化问题由于单调子模函数的存在，可以通过贪心算法来解决，但是贪心算法存在</a:t>
            </a:r>
            <a:r>
              <a:rPr lang="en-US" altLang="zh-CN" dirty="0" smtClean="0"/>
              <a:t>NP-hard</a:t>
            </a:r>
            <a:r>
              <a:rPr lang="zh-CN" altLang="en-US" dirty="0" smtClean="0"/>
              <a:t>问题。</a:t>
            </a:r>
            <a:endParaRPr lang="zh-CN" altLang="en-US" dirty="0"/>
          </a:p>
        </p:txBody>
      </p:sp>
    </p:spTree>
    <p:extLst>
      <p:ext uri="{BB962C8B-B14F-4D97-AF65-F5344CB8AC3E}">
        <p14:creationId xmlns:p14="http://schemas.microsoft.com/office/powerpoint/2010/main" val="240906349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527583"/>
            <a:ext cx="3157037" cy="887620"/>
          </a:xfrm>
        </p:spPr>
        <p:txBody>
          <a:bodyPr/>
          <a:lstStyle/>
          <a:p>
            <a:r>
              <a:rPr lang="zh-CN" altLang="en-US" sz="3200" dirty="0"/>
              <a:t>社交网络的</a:t>
            </a:r>
            <a:endParaRPr lang="en-US" altLang="zh-CN" sz="3200" dirty="0"/>
          </a:p>
          <a:p>
            <a:r>
              <a:rPr lang="zh-CN" altLang="en-US" sz="3200" dirty="0"/>
              <a:t>影响力传播</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Four</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5" name="文本框 4"/>
          <p:cNvSpPr txBox="1"/>
          <p:nvPr/>
        </p:nvSpPr>
        <p:spPr>
          <a:xfrm>
            <a:off x="3264414" y="2096855"/>
            <a:ext cx="7738110" cy="3000821"/>
          </a:xfrm>
          <a:prstGeom prst="rect">
            <a:avLst/>
          </a:prstGeom>
          <a:noFill/>
        </p:spPr>
        <p:txBody>
          <a:bodyPr wrap="square" rtlCol="0">
            <a:spAutoFit/>
          </a:bodyPr>
          <a:lstStyle/>
          <a:p>
            <a:pPr indent="457200">
              <a:lnSpc>
                <a:spcPct val="150000"/>
              </a:lnSpc>
            </a:pPr>
            <a:r>
              <a:rPr lang="zh-CN" altLang="en-US" dirty="0" smtClean="0">
                <a:solidFill>
                  <a:schemeClr val="accent2"/>
                </a:solidFill>
              </a:rPr>
              <a:t>其他模型</a:t>
            </a:r>
            <a:endParaRPr lang="en-US" altLang="zh-CN" dirty="0" smtClean="0">
              <a:solidFill>
                <a:schemeClr val="accent2"/>
              </a:solidFill>
            </a:endParaRPr>
          </a:p>
          <a:p>
            <a:pPr indent="457200">
              <a:lnSpc>
                <a:spcPct val="150000"/>
              </a:lnSpc>
            </a:pPr>
            <a:endParaRPr lang="en-US" altLang="zh-CN" dirty="0" smtClean="0">
              <a:solidFill>
                <a:schemeClr val="accent2"/>
              </a:solidFill>
            </a:endParaRPr>
          </a:p>
          <a:p>
            <a:pPr marL="285750" indent="-285750" fontAlgn="ctr">
              <a:lnSpc>
                <a:spcPct val="150000"/>
              </a:lnSpc>
              <a:buFont typeface="Arial" panose="020B0604020202020204" pitchFamily="34" charset="0"/>
              <a:buChar char="•"/>
            </a:pPr>
            <a:r>
              <a:rPr lang="zh-CN" altLang="zh-CN" dirty="0"/>
              <a:t>传染病模型</a:t>
            </a:r>
            <a:r>
              <a:rPr lang="en-US" altLang="zh-CN" dirty="0"/>
              <a:t>(epidemic model)</a:t>
            </a:r>
            <a:endParaRPr lang="zh-CN" altLang="zh-CN" dirty="0"/>
          </a:p>
          <a:p>
            <a:pPr marL="285750" indent="-285750" fontAlgn="ctr">
              <a:lnSpc>
                <a:spcPct val="150000"/>
              </a:lnSpc>
              <a:buFont typeface="Arial" panose="020B0604020202020204" pitchFamily="34" charset="0"/>
              <a:buChar char="•"/>
            </a:pPr>
            <a:r>
              <a:rPr lang="zh-CN" altLang="zh-CN" dirty="0"/>
              <a:t>选举模型</a:t>
            </a:r>
            <a:r>
              <a:rPr lang="en-US" altLang="zh-CN" dirty="0"/>
              <a:t>(voter model)</a:t>
            </a:r>
            <a:endParaRPr lang="zh-CN" altLang="zh-CN" dirty="0"/>
          </a:p>
          <a:p>
            <a:pPr marL="285750" indent="-285750" fontAlgn="ctr">
              <a:lnSpc>
                <a:spcPct val="150000"/>
              </a:lnSpc>
              <a:buFont typeface="Arial" panose="020B0604020202020204" pitchFamily="34" charset="0"/>
              <a:buChar char="•"/>
            </a:pPr>
            <a:r>
              <a:rPr lang="zh-CN" altLang="zh-CN" dirty="0"/>
              <a:t>博弈论模型</a:t>
            </a:r>
            <a:r>
              <a:rPr lang="en-US" altLang="zh-CN" dirty="0"/>
              <a:t>(game-theoretic model)</a:t>
            </a:r>
            <a:endParaRPr lang="zh-CN" altLang="zh-CN" dirty="0"/>
          </a:p>
          <a:p>
            <a:pPr marL="285750" indent="-285750" fontAlgn="ctr">
              <a:lnSpc>
                <a:spcPct val="150000"/>
              </a:lnSpc>
              <a:buFont typeface="Arial" panose="020B0604020202020204" pitchFamily="34" charset="0"/>
              <a:buChar char="•"/>
            </a:pPr>
            <a:r>
              <a:rPr lang="zh-CN" altLang="zh-CN" dirty="0"/>
              <a:t>多实体传播模型</a:t>
            </a:r>
            <a:r>
              <a:rPr lang="en-US" altLang="zh-CN" dirty="0"/>
              <a:t>(multi-item diffusion model)</a:t>
            </a:r>
            <a:endParaRPr lang="zh-CN" altLang="zh-CN" dirty="0"/>
          </a:p>
          <a:p>
            <a:pPr indent="457200">
              <a:lnSpc>
                <a:spcPct val="150000"/>
              </a:lnSpc>
            </a:pPr>
            <a:endParaRPr lang="zh-CN" altLang="en-US" dirty="0">
              <a:solidFill>
                <a:schemeClr val="accent2"/>
              </a:solidFill>
            </a:endParaRPr>
          </a:p>
        </p:txBody>
      </p:sp>
    </p:spTree>
    <p:extLst>
      <p:ext uri="{BB962C8B-B14F-4D97-AF65-F5344CB8AC3E}">
        <p14:creationId xmlns:p14="http://schemas.microsoft.com/office/powerpoint/2010/main" val="17348170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sz="3200" dirty="0" smtClean="0"/>
              <a:t>总结</a:t>
            </a:r>
            <a:endParaRPr lang="zh-CN" altLang="en-US" sz="3200" dirty="0"/>
          </a:p>
        </p:txBody>
      </p:sp>
      <p:sp>
        <p:nvSpPr>
          <p:cNvPr id="3" name="文本占位符 2"/>
          <p:cNvSpPr>
            <a:spLocks noGrp="1"/>
          </p:cNvSpPr>
          <p:nvPr>
            <p:ph type="body" sz="quarter" idx="11"/>
          </p:nvPr>
        </p:nvSpPr>
        <p:spPr/>
        <p:txBody>
          <a:bodyPr/>
          <a:lstStyle/>
          <a:p>
            <a:r>
              <a:rPr lang="en-US" altLang="zh-CN" sz="2800" dirty="0"/>
              <a:t>Part </a:t>
            </a:r>
            <a:r>
              <a:rPr lang="en-US" altLang="zh-CN" sz="2800" dirty="0" smtClean="0"/>
              <a:t>Five</a:t>
            </a:r>
            <a:endParaRPr lang="zh-CN" altLang="en-US" sz="2800" dirty="0"/>
          </a:p>
        </p:txBody>
      </p:sp>
    </p:spTree>
    <p:extLst>
      <p:ext uri="{BB962C8B-B14F-4D97-AF65-F5344CB8AC3E}">
        <p14:creationId xmlns:p14="http://schemas.microsoft.com/office/powerpoint/2010/main" val="176931977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58800" y="733552"/>
            <a:ext cx="3157037" cy="887620"/>
          </a:xfrm>
        </p:spPr>
        <p:txBody>
          <a:bodyPr/>
          <a:lstStyle/>
          <a:p>
            <a:r>
              <a:rPr lang="zh-CN" altLang="en-US" sz="3200" dirty="0" smtClean="0"/>
              <a:t>总结</a:t>
            </a:r>
            <a:endParaRPr lang="en-US" altLang="zh-CN" sz="3200" dirty="0"/>
          </a:p>
        </p:txBody>
      </p:sp>
      <p:sp>
        <p:nvSpPr>
          <p:cNvPr id="3" name="文本占位符 2"/>
          <p:cNvSpPr>
            <a:spLocks noGrp="1"/>
          </p:cNvSpPr>
          <p:nvPr>
            <p:ph type="body" sz="quarter" idx="11"/>
          </p:nvPr>
        </p:nvSpPr>
        <p:spPr>
          <a:xfrm>
            <a:off x="553147" y="1621172"/>
            <a:ext cx="3157037" cy="475683"/>
          </a:xfrm>
        </p:spPr>
        <p:txBody>
          <a:bodyPr/>
          <a:lstStyle/>
          <a:p>
            <a:r>
              <a:rPr lang="en-US" altLang="zh-CN" dirty="0"/>
              <a:t>Part </a:t>
            </a:r>
            <a:r>
              <a:rPr lang="en-US" altLang="zh-CN" dirty="0" smtClean="0"/>
              <a:t>Five</a:t>
            </a:r>
            <a:endParaRPr lang="zh-CN" altLang="en-US" dirty="0"/>
          </a:p>
        </p:txBody>
      </p:sp>
      <p:cxnSp>
        <p:nvCxnSpPr>
          <p:cNvPr id="91" name="直接连接符 90"/>
          <p:cNvCxnSpPr/>
          <p:nvPr/>
        </p:nvCxnSpPr>
        <p:spPr>
          <a:xfrm>
            <a:off x="640573" y="2245699"/>
            <a:ext cx="1747027" cy="0"/>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
        <p:nvSpPr>
          <p:cNvPr id="5" name="文本框 4"/>
          <p:cNvSpPr txBox="1"/>
          <p:nvPr/>
        </p:nvSpPr>
        <p:spPr>
          <a:xfrm>
            <a:off x="3264414" y="2862665"/>
            <a:ext cx="5959596" cy="2585323"/>
          </a:xfrm>
          <a:prstGeom prst="rect">
            <a:avLst/>
          </a:prstGeom>
          <a:noFill/>
        </p:spPr>
        <p:txBody>
          <a:bodyPr wrap="square" rtlCol="0">
            <a:spAutoFit/>
          </a:bodyPr>
          <a:lstStyle/>
          <a:p>
            <a:pPr indent="457200">
              <a:lnSpc>
                <a:spcPct val="150000"/>
              </a:lnSpc>
            </a:pPr>
            <a:r>
              <a:rPr lang="zh-CN" altLang="en-US" dirty="0" smtClean="0"/>
              <a:t>这周内通过阅读参考文献，让我对于社交网络有了初步的认识，包括社交网络的结构特点以及研究的对象以及问题。</a:t>
            </a:r>
            <a:endParaRPr lang="en-US" altLang="zh-CN" dirty="0" smtClean="0"/>
          </a:p>
          <a:p>
            <a:pPr indent="457200">
              <a:lnSpc>
                <a:spcPct val="150000"/>
              </a:lnSpc>
            </a:pPr>
            <a:r>
              <a:rPr lang="zh-CN" altLang="en-US" dirty="0" smtClean="0"/>
              <a:t>但是在学习过程中也遇到了问题与困难，包括阅读外文文献时的不适应，以及对一些数学概念的不了解，这都时我在今后要逐渐克服的问题。</a:t>
            </a:r>
            <a:endParaRPr lang="zh-CN" altLang="en-US" dirty="0"/>
          </a:p>
        </p:txBody>
      </p:sp>
    </p:spTree>
    <p:extLst>
      <p:ext uri="{BB962C8B-B14F-4D97-AF65-F5344CB8AC3E}">
        <p14:creationId xmlns:p14="http://schemas.microsoft.com/office/powerpoint/2010/main" val="9036982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200588" y="2702015"/>
            <a:ext cx="3790823" cy="892085"/>
          </a:xfrm>
        </p:spPr>
        <p:txBody>
          <a:bodyPr/>
          <a:lstStyle/>
          <a:p>
            <a:r>
              <a:rPr lang="en-US" altLang="zh-CN" sz="6000" dirty="0"/>
              <a:t>THANKS</a:t>
            </a:r>
          </a:p>
        </p:txBody>
      </p:sp>
      <p:sp>
        <p:nvSpPr>
          <p:cNvPr id="3" name="文本占位符 2"/>
          <p:cNvSpPr>
            <a:spLocks noGrp="1"/>
          </p:cNvSpPr>
          <p:nvPr>
            <p:ph type="body" sz="quarter" idx="11"/>
          </p:nvPr>
        </p:nvSpPr>
        <p:spPr/>
        <p:txBody>
          <a:bodyPr/>
          <a:lstStyle/>
          <a:p>
            <a:r>
              <a:rPr lang="zh-CN" altLang="en-US" dirty="0"/>
              <a:t>报告人</a:t>
            </a:r>
            <a:r>
              <a:rPr lang="zh-CN" altLang="en-US" dirty="0" smtClean="0"/>
              <a:t>：徐聪</a:t>
            </a:r>
            <a:endParaRPr lang="zh-CN" altLang="en-US" dirty="0"/>
          </a:p>
        </p:txBody>
      </p:sp>
      <p:sp>
        <p:nvSpPr>
          <p:cNvPr id="4" name="文本占位符 3"/>
          <p:cNvSpPr>
            <a:spLocks noGrp="1"/>
          </p:cNvSpPr>
          <p:nvPr>
            <p:ph type="body" sz="quarter" idx="12"/>
          </p:nvPr>
        </p:nvSpPr>
        <p:spPr/>
        <p:txBody>
          <a:bodyPr/>
          <a:lstStyle/>
          <a:p>
            <a:r>
              <a:rPr lang="en-US" altLang="zh-CN" dirty="0" smtClean="0"/>
              <a:t>2017.9.22</a:t>
            </a:r>
            <a:endParaRPr lang="en-US" altLang="zh-CN" dirty="0"/>
          </a:p>
        </p:txBody>
      </p:sp>
    </p:spTree>
    <p:extLst>
      <p:ext uri="{BB962C8B-B14F-4D97-AF65-F5344CB8AC3E}">
        <p14:creationId xmlns:p14="http://schemas.microsoft.com/office/powerpoint/2010/main" val="28185356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模板页面">
  <a:themeElements>
    <a:clrScheme name="蓝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47">
      <a:majorFont>
        <a:latin typeface="Segoe UI"/>
        <a:ea typeface="微软雅黑"/>
        <a:cs typeface=""/>
      </a:majorFont>
      <a:minorFont>
        <a:latin typeface="Segoe UI"/>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PLUS">
  <a:themeElements>
    <a:clrScheme name="黄橙色">
      <a:dk1>
        <a:sysClr val="windowText" lastClr="000000"/>
      </a:dk1>
      <a:lt1>
        <a:sysClr val="window" lastClr="FFFFFF"/>
      </a:lt1>
      <a:dk2>
        <a:srgbClr val="4E3B30"/>
      </a:dk2>
      <a:lt2>
        <a:srgbClr val="FBEEC9"/>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1106</TotalTime>
  <Words>3724</Words>
  <Application>Microsoft Office PowerPoint</Application>
  <PresentationFormat>宽屏</PresentationFormat>
  <Paragraphs>266</Paragraphs>
  <Slides>39</Slides>
  <Notes>1</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39</vt:i4>
      </vt:variant>
    </vt:vector>
  </HeadingPairs>
  <TitlesOfParts>
    <vt:vector size="51" baseType="lpstr">
      <vt:lpstr>MS PGothic</vt:lpstr>
      <vt:lpstr>等线</vt:lpstr>
      <vt:lpstr>Microsoft YaHei</vt:lpstr>
      <vt:lpstr>Microsoft YaHei</vt:lpstr>
      <vt:lpstr>Arial</vt:lpstr>
      <vt:lpstr>Calibri</vt:lpstr>
      <vt:lpstr>Cambria Math</vt:lpstr>
      <vt:lpstr>Century Gothic</vt:lpstr>
      <vt:lpstr>Segoe UI</vt:lpstr>
      <vt:lpstr>Segoe UI Light</vt:lpstr>
      <vt:lpstr>模板页面</vt:lpstr>
      <vt:lpstr>OfficePLUS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OfficePLUS</dc:creator>
  <cp:keywords/>
  <dc:description/>
  <cp:lastModifiedBy>cong x</cp:lastModifiedBy>
  <cp:revision>122</cp:revision>
  <dcterms:created xsi:type="dcterms:W3CDTF">2015-08-18T02:51:41Z</dcterms:created>
  <dcterms:modified xsi:type="dcterms:W3CDTF">2017-09-26T01:03:28Z</dcterms:modified>
  <cp:category/>
</cp:coreProperties>
</file>