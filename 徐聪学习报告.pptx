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81" r:id="rId2"/>
    <p:sldId id="282" r:id="rId3"/>
    <p:sldId id="294" r:id="rId4"/>
    <p:sldId id="285" r:id="rId5"/>
    <p:sldId id="307" r:id="rId6"/>
    <p:sldId id="308" r:id="rId7"/>
    <p:sldId id="335" r:id="rId8"/>
    <p:sldId id="314" r:id="rId9"/>
    <p:sldId id="315" r:id="rId10"/>
    <p:sldId id="316" r:id="rId11"/>
    <p:sldId id="295" r:id="rId12"/>
    <p:sldId id="290" r:id="rId13"/>
    <p:sldId id="317" r:id="rId14"/>
    <p:sldId id="318" r:id="rId15"/>
    <p:sldId id="319" r:id="rId16"/>
    <p:sldId id="320" r:id="rId17"/>
    <p:sldId id="321" r:id="rId18"/>
    <p:sldId id="322" r:id="rId19"/>
    <p:sldId id="323" r:id="rId20"/>
    <p:sldId id="324" r:id="rId21"/>
    <p:sldId id="325" r:id="rId22"/>
    <p:sldId id="326" r:id="rId23"/>
    <p:sldId id="327" r:id="rId24"/>
    <p:sldId id="296" r:id="rId25"/>
    <p:sldId id="289" r:id="rId26"/>
    <p:sldId id="336" r:id="rId27"/>
    <p:sldId id="337" r:id="rId28"/>
    <p:sldId id="338" r:id="rId29"/>
    <p:sldId id="339" r:id="rId30"/>
    <p:sldId id="297" r:id="rId31"/>
    <p:sldId id="300" r:id="rId32"/>
    <p:sldId id="304" r:id="rId33"/>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p15:clr>
            <a:srgbClr val="A4A3A4"/>
          </p15:clr>
        </p15:guide>
        <p15:guide id="2" orient="horz" pos="1053">
          <p15:clr>
            <a:srgbClr val="A4A3A4"/>
          </p15:clr>
        </p15:guide>
        <p15:guide id="3" pos="3844">
          <p15:clr>
            <a:srgbClr val="A4A3A4"/>
          </p15:clr>
        </p15:guide>
        <p15:guide id="4" pos="191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1A7BAE"/>
    <a:srgbClr val="95BC49"/>
    <a:srgbClr val="1D8AC1"/>
    <a:srgbClr val="FDA907"/>
    <a:srgbClr val="BF3420"/>
    <a:srgbClr val="062A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9" autoAdjust="0"/>
    <p:restoredTop sz="38980" autoAdjust="0"/>
  </p:normalViewPr>
  <p:slideViewPr>
    <p:cSldViewPr>
      <p:cViewPr varScale="1">
        <p:scale>
          <a:sx n="151" d="100"/>
          <a:sy n="151" d="100"/>
        </p:scale>
        <p:origin x="624" y="138"/>
      </p:cViewPr>
      <p:guideLst>
        <p:guide orient="horz" pos="2159"/>
        <p:guide orient="horz" pos="1053"/>
        <p:guide pos="3844"/>
        <p:guide pos="1916"/>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52" d="100"/>
          <a:sy n="52" d="100"/>
        </p:scale>
        <p:origin x="-2844" y="-84"/>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6B56024-E033-460B-B461-F9C8C93C904B}" type="datetimeFigureOut">
              <a:rPr lang="zh-CN" altLang="en-US" smtClean="0"/>
              <a:t>2017/10/23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95472FC-EDD4-43B4-B218-6888597E2A21}" type="slidenum">
              <a:rPr lang="zh-CN" altLang="en-US" smtClean="0"/>
              <a:t>‹#›</a:t>
            </a:fld>
            <a:endParaRPr lang="zh-CN" altLang="en-US"/>
          </a:p>
        </p:txBody>
      </p:sp>
    </p:spTree>
    <p:extLst>
      <p:ext uri="{BB962C8B-B14F-4D97-AF65-F5344CB8AC3E}">
        <p14:creationId xmlns:p14="http://schemas.microsoft.com/office/powerpoint/2010/main" val="37022364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403541-C361-4440-AA44-DBB6527DDBFB}" type="datetimeFigureOut">
              <a:rPr lang="zh-CN" altLang="en-US" smtClean="0"/>
              <a:t>2017/10/23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9461BB-BB29-447B-86E6-652C097B04C1}" type="slidenum">
              <a:rPr lang="zh-CN" altLang="en-US" smtClean="0"/>
              <a:t>‹#›</a:t>
            </a:fld>
            <a:endParaRPr lang="zh-CN" altLang="en-US"/>
          </a:p>
        </p:txBody>
      </p:sp>
    </p:spTree>
    <p:extLst>
      <p:ext uri="{BB962C8B-B14F-4D97-AF65-F5344CB8AC3E}">
        <p14:creationId xmlns:p14="http://schemas.microsoft.com/office/powerpoint/2010/main" val="4105622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椭圆 1"/>
          <p:cNvSpPr/>
          <p:nvPr userDrawn="1"/>
        </p:nvSpPr>
        <p:spPr>
          <a:xfrm rot="5400000">
            <a:off x="1790966" y="425408"/>
            <a:ext cx="2028376" cy="1177563"/>
          </a:xfrm>
          <a:custGeom>
            <a:avLst/>
            <a:gdLst/>
            <a:ahLst/>
            <a:cxnLst/>
            <a:rect l="l" t="t" r="r" b="b"/>
            <a:pathLst>
              <a:path w="2028376" h="1177563">
                <a:moveTo>
                  <a:pt x="0" y="1177563"/>
                </a:moveTo>
                <a:lnTo>
                  <a:pt x="0" y="0"/>
                </a:lnTo>
                <a:lnTo>
                  <a:pt x="2028376" y="0"/>
                </a:lnTo>
                <a:cubicBezTo>
                  <a:pt x="1624320" y="702037"/>
                  <a:pt x="867468" y="1174384"/>
                  <a:pt x="0" y="1177563"/>
                </a:cubicBezTo>
                <a:close/>
              </a:path>
            </a:pathLst>
          </a:cu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7"/>
          <p:cNvSpPr/>
          <p:nvPr userDrawn="1"/>
        </p:nvSpPr>
        <p:spPr>
          <a:xfrm rot="5400000">
            <a:off x="2809827" y="584110"/>
            <a:ext cx="2346109" cy="1177890"/>
          </a:xfrm>
          <a:custGeom>
            <a:avLst/>
            <a:gdLst/>
            <a:ahLst/>
            <a:cxnLst/>
            <a:rect l="l" t="t" r="r" b="b"/>
            <a:pathLst>
              <a:path w="2346109" h="1177890">
                <a:moveTo>
                  <a:pt x="0" y="1177890"/>
                </a:moveTo>
                <a:lnTo>
                  <a:pt x="0" y="0"/>
                </a:lnTo>
                <a:lnTo>
                  <a:pt x="2346109" y="0"/>
                </a:lnTo>
                <a:cubicBezTo>
                  <a:pt x="2346109" y="429552"/>
                  <a:pt x="2231144" y="832251"/>
                  <a:pt x="2028377" y="1177890"/>
                </a:cubicBezTo>
                <a:close/>
              </a:path>
            </a:pathLst>
          </a:cu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12"/>
          <p:cNvSpPr/>
          <p:nvPr userDrawn="1"/>
        </p:nvSpPr>
        <p:spPr>
          <a:xfrm rot="5400000">
            <a:off x="5324309" y="425407"/>
            <a:ext cx="2028375" cy="1177562"/>
          </a:xfrm>
          <a:custGeom>
            <a:avLst/>
            <a:gdLst/>
            <a:ahLst/>
            <a:cxnLst/>
            <a:rect l="l" t="t" r="r" b="b"/>
            <a:pathLst>
              <a:path w="2028375" h="1177562">
                <a:moveTo>
                  <a:pt x="0" y="1177562"/>
                </a:moveTo>
                <a:lnTo>
                  <a:pt x="0" y="0"/>
                </a:lnTo>
                <a:cubicBezTo>
                  <a:pt x="867468" y="3179"/>
                  <a:pt x="1624319" y="475526"/>
                  <a:pt x="2028375" y="1177562"/>
                </a:cubicBezTo>
                <a:close/>
              </a:path>
            </a:pathLst>
          </a:cu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13"/>
          <p:cNvSpPr/>
          <p:nvPr userDrawn="1"/>
        </p:nvSpPr>
        <p:spPr>
          <a:xfrm rot="5400000">
            <a:off x="3987408" y="584418"/>
            <a:ext cx="2346724" cy="1177890"/>
          </a:xfrm>
          <a:custGeom>
            <a:avLst/>
            <a:gdLst/>
            <a:ahLst/>
            <a:cxnLst/>
            <a:rect l="l" t="t" r="r" b="b"/>
            <a:pathLst>
              <a:path w="2346724" h="1177890">
                <a:moveTo>
                  <a:pt x="0" y="1177890"/>
                </a:moveTo>
                <a:lnTo>
                  <a:pt x="0" y="0"/>
                </a:lnTo>
                <a:lnTo>
                  <a:pt x="2028990" y="0"/>
                </a:lnTo>
                <a:cubicBezTo>
                  <a:pt x="2231759" y="345641"/>
                  <a:pt x="2346724" y="748340"/>
                  <a:pt x="2346724" y="1177890"/>
                </a:cubicBezTo>
                <a:close/>
              </a:path>
            </a:pathLst>
          </a:cu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弧形 5"/>
          <p:cNvSpPr/>
          <p:nvPr userDrawn="1"/>
        </p:nvSpPr>
        <p:spPr>
          <a:xfrm>
            <a:off x="2074528" y="-2513200"/>
            <a:ext cx="4994940" cy="4994940"/>
          </a:xfrm>
          <a:prstGeom prst="arc">
            <a:avLst>
              <a:gd name="adj1" fmla="val 3404"/>
              <a:gd name="adj2" fmla="val 1081951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椭圆 6"/>
          <p:cNvSpPr/>
          <p:nvPr userDrawn="1"/>
        </p:nvSpPr>
        <p:spPr>
          <a:xfrm>
            <a:off x="4493240" y="2414232"/>
            <a:ext cx="157518" cy="15751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88058450"/>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281524" y="0"/>
            <a:ext cx="105725" cy="721610"/>
            <a:chOff x="281524" y="0"/>
            <a:chExt cx="105725" cy="721610"/>
          </a:xfrm>
          <a:solidFill>
            <a:srgbClr val="1A7BAE"/>
          </a:solidFill>
        </p:grpSpPr>
        <p:sp>
          <p:nvSpPr>
            <p:cNvPr id="5" name="矩形 4"/>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userDrawn="1"/>
        </p:nvGrpSpPr>
        <p:grpSpPr>
          <a:xfrm rot="10800000">
            <a:off x="8801756" y="4963098"/>
            <a:ext cx="105725" cy="180402"/>
            <a:chOff x="281524" y="0"/>
            <a:chExt cx="105725" cy="721610"/>
          </a:xfrm>
          <a:solidFill>
            <a:srgbClr val="1A7BAE"/>
          </a:solidFill>
        </p:grpSpPr>
        <p:sp>
          <p:nvSpPr>
            <p:cNvPr id="10" name="矩形 9"/>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userDrawn="1"/>
        </p:nvCxnSpPr>
        <p:spPr>
          <a:xfrm>
            <a:off x="521550" y="681540"/>
            <a:ext cx="351039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067350"/>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grpSp>
        <p:nvGrpSpPr>
          <p:cNvPr id="2" name="组合 1"/>
          <p:cNvGrpSpPr/>
          <p:nvPr userDrawn="1"/>
        </p:nvGrpSpPr>
        <p:grpSpPr>
          <a:xfrm>
            <a:off x="281524" y="0"/>
            <a:ext cx="105725" cy="721610"/>
            <a:chOff x="281524" y="0"/>
            <a:chExt cx="105725" cy="721610"/>
          </a:xfrm>
          <a:solidFill>
            <a:srgbClr val="95BC49"/>
          </a:solidFill>
        </p:grpSpPr>
        <p:sp>
          <p:nvSpPr>
            <p:cNvPr id="5" name="矩形 4"/>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userDrawn="1"/>
        </p:nvGrpSpPr>
        <p:grpSpPr>
          <a:xfrm rot="10800000">
            <a:off x="8801756" y="4963098"/>
            <a:ext cx="105725" cy="180402"/>
            <a:chOff x="281524" y="0"/>
            <a:chExt cx="105725" cy="721610"/>
          </a:xfrm>
          <a:solidFill>
            <a:srgbClr val="95BC49"/>
          </a:solidFill>
        </p:grpSpPr>
        <p:sp>
          <p:nvSpPr>
            <p:cNvPr id="10" name="矩形 9"/>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userDrawn="1"/>
        </p:nvCxnSpPr>
        <p:spPr>
          <a:xfrm>
            <a:off x="521550" y="681540"/>
            <a:ext cx="351039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6618931"/>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grpSp>
        <p:nvGrpSpPr>
          <p:cNvPr id="2" name="组合 1"/>
          <p:cNvGrpSpPr/>
          <p:nvPr userDrawn="1"/>
        </p:nvGrpSpPr>
        <p:grpSpPr>
          <a:xfrm>
            <a:off x="281524" y="0"/>
            <a:ext cx="105725" cy="721610"/>
            <a:chOff x="281524" y="0"/>
            <a:chExt cx="105725" cy="721610"/>
          </a:xfrm>
          <a:solidFill>
            <a:srgbClr val="FDA907"/>
          </a:solidFill>
        </p:grpSpPr>
        <p:sp>
          <p:nvSpPr>
            <p:cNvPr id="5" name="矩形 4"/>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userDrawn="1"/>
        </p:nvGrpSpPr>
        <p:grpSpPr>
          <a:xfrm rot="10800000">
            <a:off x="8801756" y="4963098"/>
            <a:ext cx="105725" cy="180402"/>
            <a:chOff x="281524" y="0"/>
            <a:chExt cx="105725" cy="721610"/>
          </a:xfrm>
          <a:solidFill>
            <a:srgbClr val="FDA907"/>
          </a:solidFill>
        </p:grpSpPr>
        <p:sp>
          <p:nvSpPr>
            <p:cNvPr id="10" name="矩形 9"/>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userDrawn="1"/>
        </p:nvCxnSpPr>
        <p:spPr>
          <a:xfrm>
            <a:off x="521550" y="681540"/>
            <a:ext cx="351039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6466869"/>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grpSp>
        <p:nvGrpSpPr>
          <p:cNvPr id="2" name="组合 1"/>
          <p:cNvGrpSpPr/>
          <p:nvPr userDrawn="1"/>
        </p:nvGrpSpPr>
        <p:grpSpPr>
          <a:xfrm>
            <a:off x="281524" y="0"/>
            <a:ext cx="105725" cy="721610"/>
            <a:chOff x="281524" y="0"/>
            <a:chExt cx="105725" cy="721610"/>
          </a:xfrm>
          <a:solidFill>
            <a:srgbClr val="BF3420"/>
          </a:solidFill>
        </p:grpSpPr>
        <p:sp>
          <p:nvSpPr>
            <p:cNvPr id="5" name="矩形 4"/>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userDrawn="1"/>
        </p:nvGrpSpPr>
        <p:grpSpPr>
          <a:xfrm rot="10800000">
            <a:off x="8801756" y="4963098"/>
            <a:ext cx="105725" cy="180402"/>
            <a:chOff x="281524" y="0"/>
            <a:chExt cx="105725" cy="721610"/>
          </a:xfrm>
          <a:solidFill>
            <a:srgbClr val="BF3420"/>
          </a:solidFill>
        </p:grpSpPr>
        <p:sp>
          <p:nvSpPr>
            <p:cNvPr id="10" name="矩形 9"/>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userDrawn="1"/>
        </p:nvCxnSpPr>
        <p:spPr>
          <a:xfrm>
            <a:off x="521550" y="681540"/>
            <a:ext cx="351039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572704"/>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标题和内容">
    <p:spTree>
      <p:nvGrpSpPr>
        <p:cNvPr id="1" name=""/>
        <p:cNvGrpSpPr/>
        <p:nvPr/>
      </p:nvGrpSpPr>
      <p:grpSpPr>
        <a:xfrm>
          <a:off x="0" y="0"/>
          <a:ext cx="0" cy="0"/>
          <a:chOff x="0" y="0"/>
          <a:chExt cx="0" cy="0"/>
        </a:xfrm>
      </p:grpSpPr>
      <p:grpSp>
        <p:nvGrpSpPr>
          <p:cNvPr id="2" name="组合 1"/>
          <p:cNvGrpSpPr/>
          <p:nvPr userDrawn="1"/>
        </p:nvGrpSpPr>
        <p:grpSpPr>
          <a:xfrm>
            <a:off x="161510" y="0"/>
            <a:ext cx="225739" cy="721610"/>
            <a:chOff x="161510" y="0"/>
            <a:chExt cx="225739" cy="721610"/>
          </a:xfrm>
        </p:grpSpPr>
        <p:sp>
          <p:nvSpPr>
            <p:cNvPr id="3" name="矩形 2"/>
            <p:cNvSpPr/>
            <p:nvPr/>
          </p:nvSpPr>
          <p:spPr>
            <a:xfrm>
              <a:off x="161510" y="0"/>
              <a:ext cx="45719"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21517" y="0"/>
              <a:ext cx="45719"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81524" y="0"/>
              <a:ext cx="45719"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41530" y="0"/>
              <a:ext cx="45719"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userDrawn="1"/>
        </p:nvGrpSpPr>
        <p:grpSpPr>
          <a:xfrm rot="10800000">
            <a:off x="8801756" y="4963098"/>
            <a:ext cx="225739" cy="180402"/>
            <a:chOff x="161510" y="0"/>
            <a:chExt cx="225739" cy="721610"/>
          </a:xfrm>
        </p:grpSpPr>
        <p:sp>
          <p:nvSpPr>
            <p:cNvPr id="8" name="矩形 7"/>
            <p:cNvSpPr/>
            <p:nvPr/>
          </p:nvSpPr>
          <p:spPr>
            <a:xfrm>
              <a:off x="161510" y="0"/>
              <a:ext cx="45719"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21517" y="0"/>
              <a:ext cx="45719"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81524" y="0"/>
              <a:ext cx="45719"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41530" y="0"/>
              <a:ext cx="45719"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818371333"/>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3392713"/>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2" name="矩形 11"/>
          <p:cNvSpPr/>
          <p:nvPr userDrawn="1"/>
        </p:nvSpPr>
        <p:spPr>
          <a:xfrm>
            <a:off x="0" y="2706765"/>
            <a:ext cx="9144000" cy="1350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Picture 2" descr="C:\Documents and Settings\yangweizhou\桌面\2.jpg"/>
          <p:cNvPicPr>
            <a:picLocks noChangeAspect="1" noChangeArrowheads="1"/>
          </p:cNvPicPr>
          <p:nvPr userDrawn="1"/>
        </p:nvPicPr>
        <p:blipFill rotWithShape="1">
          <a:blip r:embed="rId2"/>
          <a:srcRect b="20467"/>
          <a:stretch/>
        </p:blipFill>
        <p:spPr bwMode="auto">
          <a:xfrm>
            <a:off x="0" y="0"/>
            <a:ext cx="9144000" cy="5143500"/>
          </a:xfrm>
          <a:prstGeom prst="rect">
            <a:avLst/>
          </a:prstGeom>
          <a:noFill/>
        </p:spPr>
      </p:pic>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0C913308-F349-4B6D-A68A-DD1791B4A57B}" type="slidenum">
              <a:rPr lang="zh-CN" altLang="en-US" smtClean="0"/>
              <a:t>‹#›</a:t>
            </a:fld>
            <a:endParaRPr lang="zh-CN" altLang="en-US"/>
          </a:p>
        </p:txBody>
      </p:sp>
    </p:spTree>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0C913308-F349-4B6D-A68A-DD1791B4A57B}" type="slidenum">
              <a:rPr lang="zh-CN" altLang="en-US" smtClean="0"/>
              <a:t>‹#›</a:t>
            </a:fld>
            <a:endParaRPr lang="zh-CN" altLang="en-US"/>
          </a:p>
        </p:txBody>
      </p:sp>
    </p:spTree>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0C913308-F349-4B6D-A68A-DD1791B4A57B}" type="slidenum">
              <a:rPr lang="zh-CN" altLang="en-US" smtClean="0"/>
              <a:t>‹#›</a:t>
            </a:fld>
            <a:endParaRPr lang="zh-CN" altLang="en-US"/>
          </a:p>
        </p:txBody>
      </p:sp>
    </p:spTree>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3"/>
            <a:ext cx="2133600" cy="273844"/>
          </a:xfrm>
          <a:prstGeom prst="rect">
            <a:avLst/>
          </a:prstGeom>
        </p:spPr>
        <p:txBody>
          <a:bodyPr/>
          <a:lstStyle/>
          <a:p>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0C913308-F349-4B6D-A68A-DD1791B4A57B}" type="slidenum">
              <a:rPr lang="zh-CN" altLang="en-US" smtClean="0"/>
              <a:t>‹#›</a:t>
            </a:fld>
            <a:endParaRPr lang="zh-CN" altLang="en-US"/>
          </a:p>
        </p:txBody>
      </p:sp>
    </p:spTree>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3"/>
            <a:ext cx="2133600" cy="273844"/>
          </a:xfrm>
          <a:prstGeom prst="rect">
            <a:avLst/>
          </a:prstGeom>
        </p:spPr>
        <p:txBody>
          <a:bodyPr/>
          <a:lstStyle/>
          <a:p>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0C913308-F349-4B6D-A68A-DD1791B4A57B}" type="slidenum">
              <a:rPr lang="zh-CN" altLang="en-US" smtClean="0"/>
              <a:t>‹#›</a:t>
            </a:fld>
            <a:endParaRPr lang="zh-CN" alt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6" r:id="rId4"/>
    <p:sldLayoutId id="2147483665" r:id="rId5"/>
    <p:sldLayoutId id="2147483667" r:id="rId6"/>
    <p:sldLayoutId id="2147483653" r:id="rId7"/>
    <p:sldLayoutId id="2147483662" r:id="rId8"/>
    <p:sldLayoutId id="2147483654" r:id="rId9"/>
    <p:sldLayoutId id="2147483651" r:id="rId10"/>
    <p:sldLayoutId id="2147483655" r:id="rId11"/>
    <p:sldLayoutId id="2147483656" r:id="rId12"/>
    <p:sldLayoutId id="2147483657" r:id="rId13"/>
    <p:sldLayoutId id="2147483658" r:id="rId14"/>
    <p:sldLayoutId id="2147483659" r:id="rId15"/>
  </p:sldLayoutIdLst>
  <p:transition spd="slow">
    <p:push dir="u"/>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2.emf"/><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1623999" y="2814490"/>
            <a:ext cx="5895655" cy="523220"/>
          </a:xfrm>
          <a:prstGeom prst="rect">
            <a:avLst/>
          </a:prstGeom>
          <a:noFill/>
          <a:effectLst/>
        </p:spPr>
        <p:txBody>
          <a:bodyPr wrap="square" rtlCol="0">
            <a:spAutoFit/>
          </a:bodyPr>
          <a:lstStyle/>
          <a:p>
            <a:pPr algn="ctr"/>
            <a:r>
              <a:rPr lang="zh-CN" altLang="en-US" sz="2800" dirty="0" smtClean="0">
                <a:solidFill>
                  <a:srgbClr val="1A7BAE"/>
                </a:solidFill>
              </a:rPr>
              <a:t>学习总结报告</a:t>
            </a:r>
            <a:endParaRPr lang="zh-CN" altLang="en-US" sz="2800" dirty="0">
              <a:solidFill>
                <a:srgbClr val="1A7BAE"/>
              </a:solidFill>
            </a:endParaRPr>
          </a:p>
        </p:txBody>
      </p:sp>
      <p:sp>
        <p:nvSpPr>
          <p:cNvPr id="26" name="矩形 25"/>
          <p:cNvSpPr/>
          <p:nvPr/>
        </p:nvSpPr>
        <p:spPr>
          <a:xfrm>
            <a:off x="2029043" y="3306425"/>
            <a:ext cx="5085566" cy="525465"/>
          </a:xfrm>
          <a:prstGeom prst="rect">
            <a:avLst/>
          </a:prstGeom>
        </p:spPr>
        <p:txBody>
          <a:bodyPr wrap="square">
            <a:spAutoFit/>
          </a:bodyPr>
          <a:lstStyle/>
          <a:p>
            <a:pPr algn="ctr">
              <a:lnSpc>
                <a:spcPct val="150000"/>
              </a:lnSpc>
            </a:pPr>
            <a:r>
              <a:rPr lang="zh-CN" altLang="en-US" sz="1000" dirty="0" smtClean="0">
                <a:solidFill>
                  <a:schemeClr val="tx1">
                    <a:lumMod val="50000"/>
                    <a:lumOff val="50000"/>
                  </a:schemeClr>
                </a:solidFill>
              </a:rPr>
              <a:t>徐聪</a:t>
            </a:r>
            <a:endParaRPr lang="en-US" altLang="zh-CN" sz="1000" dirty="0" smtClean="0">
              <a:solidFill>
                <a:schemeClr val="tx1">
                  <a:lumMod val="50000"/>
                  <a:lumOff val="50000"/>
                </a:schemeClr>
              </a:solidFill>
            </a:endParaRPr>
          </a:p>
          <a:p>
            <a:pPr algn="ctr">
              <a:lnSpc>
                <a:spcPct val="150000"/>
              </a:lnSpc>
            </a:pPr>
            <a:r>
              <a:rPr lang="en-US" altLang="zh-CN" sz="1000" dirty="0" smtClean="0">
                <a:solidFill>
                  <a:schemeClr val="tx1">
                    <a:lumMod val="50000"/>
                    <a:lumOff val="50000"/>
                  </a:schemeClr>
                </a:solidFill>
              </a:rPr>
              <a:t>2017.10.22</a:t>
            </a:r>
          </a:p>
        </p:txBody>
      </p:sp>
    </p:spTree>
    <p:extLst>
      <p:ext uri="{BB962C8B-B14F-4D97-AF65-F5344CB8AC3E}">
        <p14:creationId xmlns:p14="http://schemas.microsoft.com/office/powerpoint/2010/main" val="1917786871"/>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1092459" y="1246789"/>
            <a:ext cx="3638327" cy="338554"/>
          </a:xfrm>
          <a:prstGeom prst="rect">
            <a:avLst/>
          </a:prstGeom>
          <a:noFill/>
          <a:effectLst/>
        </p:spPr>
        <p:txBody>
          <a:bodyPr wrap="square" rtlCol="0">
            <a:spAutoFit/>
          </a:bodyPr>
          <a:lstStyle/>
          <a:p>
            <a:r>
              <a:rPr lang="zh-CN" altLang="en-US" sz="1600" dirty="0" smtClean="0">
                <a:solidFill>
                  <a:srgbClr val="1A7BAE"/>
                </a:solidFill>
              </a:rPr>
              <a:t>情感分析基础知识</a:t>
            </a:r>
            <a:endParaRPr lang="zh-CN" altLang="en-US" sz="1600" dirty="0">
              <a:solidFill>
                <a:srgbClr val="1A7BAE"/>
              </a:solidFill>
            </a:endParaRPr>
          </a:p>
        </p:txBody>
      </p:sp>
      <p:sp>
        <p:nvSpPr>
          <p:cNvPr id="19" name="矩形 8"/>
          <p:cNvSpPr/>
          <p:nvPr/>
        </p:nvSpPr>
        <p:spPr>
          <a:xfrm>
            <a:off x="597404" y="1221600"/>
            <a:ext cx="478941" cy="388931"/>
          </a:xfrm>
          <a:custGeom>
            <a:avLst/>
            <a:gdLst/>
            <a:ahLst/>
            <a:cxnLst/>
            <a:rect l="l" t="t" r="r" b="b"/>
            <a:pathLst>
              <a:path w="855095" h="855095">
                <a:moveTo>
                  <a:pt x="805897" y="427546"/>
                </a:moveTo>
                <a:lnTo>
                  <a:pt x="855095" y="427546"/>
                </a:lnTo>
                <a:lnTo>
                  <a:pt x="855095" y="855095"/>
                </a:lnTo>
                <a:lnTo>
                  <a:pt x="427546" y="855095"/>
                </a:lnTo>
                <a:lnTo>
                  <a:pt x="427546" y="805897"/>
                </a:lnTo>
                <a:lnTo>
                  <a:pt x="805897" y="805897"/>
                </a:lnTo>
                <a:close/>
                <a:moveTo>
                  <a:pt x="0" y="0"/>
                </a:moveTo>
                <a:lnTo>
                  <a:pt x="427546" y="0"/>
                </a:lnTo>
                <a:lnTo>
                  <a:pt x="427546" y="49196"/>
                </a:lnTo>
                <a:lnTo>
                  <a:pt x="49196" y="49196"/>
                </a:lnTo>
                <a:lnTo>
                  <a:pt x="49196" y="427546"/>
                </a:lnTo>
                <a:lnTo>
                  <a:pt x="0" y="427546"/>
                </a:lnTo>
                <a:close/>
              </a:path>
            </a:pathLst>
          </a:cu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smtClean="0">
                <a:solidFill>
                  <a:srgbClr val="1A7BAE"/>
                </a:solidFill>
                <a:latin typeface="+mj-lt"/>
              </a:rPr>
              <a:t>01</a:t>
            </a:r>
            <a:endParaRPr lang="zh-CN" altLang="en-US" sz="1600">
              <a:solidFill>
                <a:srgbClr val="1A7BAE"/>
              </a:solidFill>
              <a:latin typeface="+mj-lt"/>
            </a:endParaRPr>
          </a:p>
        </p:txBody>
      </p:sp>
      <p:sp>
        <p:nvSpPr>
          <p:cNvPr id="20" name="TextBox 19"/>
          <p:cNvSpPr txBox="1"/>
          <p:nvPr/>
        </p:nvSpPr>
        <p:spPr>
          <a:xfrm>
            <a:off x="1099537" y="1970572"/>
            <a:ext cx="3638327" cy="338554"/>
          </a:xfrm>
          <a:prstGeom prst="rect">
            <a:avLst/>
          </a:prstGeom>
          <a:noFill/>
          <a:effectLst/>
        </p:spPr>
        <p:txBody>
          <a:bodyPr wrap="square" rtlCol="0">
            <a:spAutoFit/>
          </a:bodyPr>
          <a:lstStyle/>
          <a:p>
            <a:r>
              <a:rPr lang="zh-CN" altLang="en-US" sz="1600" dirty="0" smtClean="0">
                <a:solidFill>
                  <a:srgbClr val="95BC49"/>
                </a:solidFill>
              </a:rPr>
              <a:t>用于描述</a:t>
            </a:r>
            <a:r>
              <a:rPr lang="en-US" altLang="zh-CN" sz="1600" dirty="0" smtClean="0">
                <a:solidFill>
                  <a:srgbClr val="95BC49"/>
                </a:solidFill>
              </a:rPr>
              <a:t>SN</a:t>
            </a:r>
            <a:r>
              <a:rPr lang="zh-CN" altLang="en-US" sz="1600" dirty="0" smtClean="0">
                <a:solidFill>
                  <a:srgbClr val="95BC49"/>
                </a:solidFill>
              </a:rPr>
              <a:t>结构和演化的一种模型</a:t>
            </a:r>
            <a:endParaRPr lang="zh-CN" altLang="en-US" sz="1600" dirty="0">
              <a:solidFill>
                <a:srgbClr val="95BC49"/>
              </a:solidFill>
            </a:endParaRPr>
          </a:p>
        </p:txBody>
      </p:sp>
      <p:sp>
        <p:nvSpPr>
          <p:cNvPr id="22" name="矩形 8"/>
          <p:cNvSpPr/>
          <p:nvPr/>
        </p:nvSpPr>
        <p:spPr>
          <a:xfrm>
            <a:off x="604482" y="1945383"/>
            <a:ext cx="478941" cy="388931"/>
          </a:xfrm>
          <a:custGeom>
            <a:avLst/>
            <a:gdLst/>
            <a:ahLst/>
            <a:cxnLst/>
            <a:rect l="l" t="t" r="r" b="b"/>
            <a:pathLst>
              <a:path w="855095" h="855095">
                <a:moveTo>
                  <a:pt x="805897" y="427546"/>
                </a:moveTo>
                <a:lnTo>
                  <a:pt x="855095" y="427546"/>
                </a:lnTo>
                <a:lnTo>
                  <a:pt x="855095" y="855095"/>
                </a:lnTo>
                <a:lnTo>
                  <a:pt x="427546" y="855095"/>
                </a:lnTo>
                <a:lnTo>
                  <a:pt x="427546" y="805897"/>
                </a:lnTo>
                <a:lnTo>
                  <a:pt x="805897" y="805897"/>
                </a:lnTo>
                <a:close/>
                <a:moveTo>
                  <a:pt x="0" y="0"/>
                </a:moveTo>
                <a:lnTo>
                  <a:pt x="427546" y="0"/>
                </a:lnTo>
                <a:lnTo>
                  <a:pt x="427546" y="49196"/>
                </a:lnTo>
                <a:lnTo>
                  <a:pt x="49196" y="49196"/>
                </a:lnTo>
                <a:lnTo>
                  <a:pt x="49196" y="427546"/>
                </a:lnTo>
                <a:lnTo>
                  <a:pt x="0" y="427546"/>
                </a:lnTo>
                <a:close/>
              </a:path>
            </a:pathLst>
          </a:cu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smtClean="0">
                <a:solidFill>
                  <a:srgbClr val="95BC49"/>
                </a:solidFill>
                <a:latin typeface="+mj-lt"/>
              </a:rPr>
              <a:t>02</a:t>
            </a:r>
            <a:endParaRPr lang="zh-CN" altLang="en-US" sz="1600">
              <a:solidFill>
                <a:srgbClr val="95BC49"/>
              </a:solidFill>
              <a:latin typeface="+mj-lt"/>
            </a:endParaRPr>
          </a:p>
        </p:txBody>
      </p:sp>
      <p:sp>
        <p:nvSpPr>
          <p:cNvPr id="23" name="TextBox 22"/>
          <p:cNvSpPr txBox="1"/>
          <p:nvPr/>
        </p:nvSpPr>
        <p:spPr>
          <a:xfrm>
            <a:off x="1106615" y="2686949"/>
            <a:ext cx="3638327" cy="338554"/>
          </a:xfrm>
          <a:prstGeom prst="rect">
            <a:avLst/>
          </a:prstGeom>
          <a:noFill/>
          <a:effectLst/>
        </p:spPr>
        <p:txBody>
          <a:bodyPr wrap="square" rtlCol="0">
            <a:spAutoFit/>
          </a:bodyPr>
          <a:lstStyle/>
          <a:p>
            <a:r>
              <a:rPr lang="zh-CN" altLang="en-US" sz="1600" dirty="0" smtClean="0">
                <a:solidFill>
                  <a:srgbClr val="FDA907"/>
                </a:solidFill>
              </a:rPr>
              <a:t>一个社交网络实例形成的经验性分析</a:t>
            </a:r>
            <a:endParaRPr lang="zh-CN" altLang="en-US" sz="1600" dirty="0">
              <a:solidFill>
                <a:srgbClr val="FDA907"/>
              </a:solidFill>
            </a:endParaRPr>
          </a:p>
        </p:txBody>
      </p:sp>
      <p:sp>
        <p:nvSpPr>
          <p:cNvPr id="24" name="矩形 8"/>
          <p:cNvSpPr/>
          <p:nvPr/>
        </p:nvSpPr>
        <p:spPr>
          <a:xfrm>
            <a:off x="611560" y="2661760"/>
            <a:ext cx="478941" cy="388931"/>
          </a:xfrm>
          <a:custGeom>
            <a:avLst/>
            <a:gdLst/>
            <a:ahLst/>
            <a:cxnLst/>
            <a:rect l="l" t="t" r="r" b="b"/>
            <a:pathLst>
              <a:path w="855095" h="855095">
                <a:moveTo>
                  <a:pt x="805897" y="427546"/>
                </a:moveTo>
                <a:lnTo>
                  <a:pt x="855095" y="427546"/>
                </a:lnTo>
                <a:lnTo>
                  <a:pt x="855095" y="855095"/>
                </a:lnTo>
                <a:lnTo>
                  <a:pt x="427546" y="855095"/>
                </a:lnTo>
                <a:lnTo>
                  <a:pt x="427546" y="805897"/>
                </a:lnTo>
                <a:lnTo>
                  <a:pt x="805897" y="805897"/>
                </a:lnTo>
                <a:close/>
                <a:moveTo>
                  <a:pt x="0" y="0"/>
                </a:moveTo>
                <a:lnTo>
                  <a:pt x="427546" y="0"/>
                </a:lnTo>
                <a:lnTo>
                  <a:pt x="427546" y="49196"/>
                </a:lnTo>
                <a:lnTo>
                  <a:pt x="49196" y="49196"/>
                </a:lnTo>
                <a:lnTo>
                  <a:pt x="49196" y="427546"/>
                </a:lnTo>
                <a:lnTo>
                  <a:pt x="0" y="427546"/>
                </a:lnTo>
                <a:close/>
              </a:path>
            </a:pathLst>
          </a:cu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smtClean="0">
                <a:solidFill>
                  <a:srgbClr val="FDA907"/>
                </a:solidFill>
                <a:latin typeface="+mj-lt"/>
              </a:rPr>
              <a:t>03</a:t>
            </a:r>
            <a:endParaRPr lang="zh-CN" altLang="en-US" sz="1600">
              <a:solidFill>
                <a:srgbClr val="FDA907"/>
              </a:solidFill>
              <a:latin typeface="+mj-lt"/>
            </a:endParaRPr>
          </a:p>
        </p:txBody>
      </p:sp>
      <p:sp>
        <p:nvSpPr>
          <p:cNvPr id="26" name="TextBox 25"/>
          <p:cNvSpPr txBox="1"/>
          <p:nvPr/>
        </p:nvSpPr>
        <p:spPr>
          <a:xfrm>
            <a:off x="1113693" y="3403326"/>
            <a:ext cx="3638327" cy="338554"/>
          </a:xfrm>
          <a:prstGeom prst="rect">
            <a:avLst/>
          </a:prstGeom>
          <a:noFill/>
          <a:effectLst/>
        </p:spPr>
        <p:txBody>
          <a:bodyPr wrap="square" rtlCol="0">
            <a:spAutoFit/>
          </a:bodyPr>
          <a:lstStyle/>
          <a:p>
            <a:r>
              <a:rPr lang="zh-CN" altLang="en-US" sz="1600" dirty="0" smtClean="0">
                <a:solidFill>
                  <a:srgbClr val="BF3420"/>
                </a:solidFill>
              </a:rPr>
              <a:t>总结</a:t>
            </a:r>
            <a:endParaRPr lang="zh-CN" altLang="en-US" sz="1600" dirty="0">
              <a:solidFill>
                <a:srgbClr val="BF3420"/>
              </a:solidFill>
            </a:endParaRPr>
          </a:p>
        </p:txBody>
      </p:sp>
      <p:sp>
        <p:nvSpPr>
          <p:cNvPr id="27" name="矩形 8"/>
          <p:cNvSpPr/>
          <p:nvPr/>
        </p:nvSpPr>
        <p:spPr>
          <a:xfrm>
            <a:off x="618638" y="3378137"/>
            <a:ext cx="478941" cy="388931"/>
          </a:xfrm>
          <a:custGeom>
            <a:avLst/>
            <a:gdLst/>
            <a:ahLst/>
            <a:cxnLst/>
            <a:rect l="l" t="t" r="r" b="b"/>
            <a:pathLst>
              <a:path w="855095" h="855095">
                <a:moveTo>
                  <a:pt x="805897" y="427546"/>
                </a:moveTo>
                <a:lnTo>
                  <a:pt x="855095" y="427546"/>
                </a:lnTo>
                <a:lnTo>
                  <a:pt x="855095" y="855095"/>
                </a:lnTo>
                <a:lnTo>
                  <a:pt x="427546" y="855095"/>
                </a:lnTo>
                <a:lnTo>
                  <a:pt x="427546" y="805897"/>
                </a:lnTo>
                <a:lnTo>
                  <a:pt x="805897" y="805897"/>
                </a:lnTo>
                <a:close/>
                <a:moveTo>
                  <a:pt x="0" y="0"/>
                </a:moveTo>
                <a:lnTo>
                  <a:pt x="427546" y="0"/>
                </a:lnTo>
                <a:lnTo>
                  <a:pt x="427546" y="49196"/>
                </a:lnTo>
                <a:lnTo>
                  <a:pt x="49196" y="49196"/>
                </a:lnTo>
                <a:lnTo>
                  <a:pt x="49196" y="427546"/>
                </a:lnTo>
                <a:lnTo>
                  <a:pt x="0" y="427546"/>
                </a:lnTo>
                <a:close/>
              </a:path>
            </a:pathLst>
          </a:cu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smtClean="0">
                <a:solidFill>
                  <a:srgbClr val="BF3420"/>
                </a:solidFill>
                <a:latin typeface="+mj-lt"/>
              </a:rPr>
              <a:t>04</a:t>
            </a:r>
            <a:endParaRPr lang="zh-CN" altLang="en-US" sz="1600">
              <a:solidFill>
                <a:srgbClr val="BF3420"/>
              </a:solidFill>
              <a:latin typeface="+mj-lt"/>
            </a:endParaRPr>
          </a:p>
        </p:txBody>
      </p:sp>
      <p:grpSp>
        <p:nvGrpSpPr>
          <p:cNvPr id="11" name="组合 10"/>
          <p:cNvGrpSpPr/>
          <p:nvPr/>
        </p:nvGrpSpPr>
        <p:grpSpPr>
          <a:xfrm>
            <a:off x="4887036" y="0"/>
            <a:ext cx="4256964" cy="5143500"/>
            <a:chOff x="566555" y="877035"/>
            <a:chExt cx="2340260" cy="164545"/>
          </a:xfrm>
        </p:grpSpPr>
        <p:sp>
          <p:nvSpPr>
            <p:cNvPr id="12" name="矩形 11"/>
            <p:cNvSpPr/>
            <p:nvPr/>
          </p:nvSpPr>
          <p:spPr>
            <a:xfrm>
              <a:off x="566555" y="877035"/>
              <a:ext cx="585065" cy="164545"/>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51620" y="877035"/>
              <a:ext cx="585065" cy="164545"/>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736685" y="877035"/>
              <a:ext cx="585065" cy="164545"/>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321750" y="877035"/>
              <a:ext cx="585065" cy="164545"/>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4887036" y="1997305"/>
            <a:ext cx="4256964" cy="926956"/>
          </a:xfrm>
          <a:prstGeom prst="rect">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smtClean="0">
                <a:solidFill>
                  <a:schemeClr val="bg1"/>
                </a:solidFill>
                <a:latin typeface="+mj-lt"/>
              </a:rPr>
              <a:t>CONTENT</a:t>
            </a:r>
            <a:endParaRPr lang="zh-CN" altLang="en-US" sz="3200">
              <a:solidFill>
                <a:schemeClr val="bg1"/>
              </a:solidFill>
              <a:latin typeface="+mj-lt"/>
            </a:endParaRPr>
          </a:p>
        </p:txBody>
      </p:sp>
    </p:spTree>
    <p:extLst>
      <p:ext uri="{BB962C8B-B14F-4D97-AF65-F5344CB8AC3E}">
        <p14:creationId xmlns:p14="http://schemas.microsoft.com/office/powerpoint/2010/main" val="4286131810"/>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7BAE"/>
        </a:solidFill>
        <a:effectLst/>
      </p:bgPr>
    </p:bg>
    <p:spTree>
      <p:nvGrpSpPr>
        <p:cNvPr id="1" name=""/>
        <p:cNvGrpSpPr/>
        <p:nvPr/>
      </p:nvGrpSpPr>
      <p:grpSpPr>
        <a:xfrm>
          <a:off x="0" y="0"/>
          <a:ext cx="0" cy="0"/>
          <a:chOff x="0" y="0"/>
          <a:chExt cx="0" cy="0"/>
        </a:xfrm>
      </p:grpSpPr>
      <p:sp>
        <p:nvSpPr>
          <p:cNvPr id="6" name="矩形 5"/>
          <p:cNvSpPr/>
          <p:nvPr/>
        </p:nvSpPr>
        <p:spPr>
          <a:xfrm>
            <a:off x="1" y="2166704"/>
            <a:ext cx="9144000" cy="450051"/>
          </a:xfrm>
          <a:prstGeom prst="rect">
            <a:avLst/>
          </a:prstGeom>
          <a:solidFill>
            <a:srgbClr val="1D8A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26495" y="-1433695"/>
            <a:ext cx="2723823" cy="8094524"/>
          </a:xfrm>
          <a:prstGeom prst="rect">
            <a:avLst/>
          </a:prstGeom>
          <a:noFill/>
          <a:effectLst>
            <a:outerShdw blurRad="165100" dist="76200" dir="1200000" algn="tl" rotWithShape="0">
              <a:prstClr val="black">
                <a:alpha val="10000"/>
              </a:prstClr>
            </a:outerShdw>
          </a:effectLst>
        </p:spPr>
        <p:txBody>
          <a:bodyPr wrap="none" rtlCol="0">
            <a:spAutoFit/>
          </a:bodyPr>
          <a:lstStyle/>
          <a:p>
            <a:r>
              <a:rPr lang="en-US" altLang="zh-CN" sz="52000">
                <a:solidFill>
                  <a:schemeClr val="bg1"/>
                </a:solidFill>
                <a:latin typeface="+mj-lt"/>
              </a:rPr>
              <a:t>1</a:t>
            </a:r>
            <a:endParaRPr lang="zh-CN" altLang="en-US" sz="52000">
              <a:solidFill>
                <a:schemeClr val="bg1"/>
              </a:solidFill>
              <a:latin typeface="+mj-lt"/>
            </a:endParaRPr>
          </a:p>
        </p:txBody>
      </p:sp>
      <p:sp>
        <p:nvSpPr>
          <p:cNvPr id="5" name="矩形 4"/>
          <p:cNvSpPr/>
          <p:nvPr/>
        </p:nvSpPr>
        <p:spPr>
          <a:xfrm>
            <a:off x="3579089" y="2155090"/>
            <a:ext cx="5178376" cy="461665"/>
          </a:xfrm>
          <a:prstGeom prst="rect">
            <a:avLst/>
          </a:prstGeom>
        </p:spPr>
        <p:txBody>
          <a:bodyPr wrap="square">
            <a:spAutoFit/>
          </a:bodyPr>
          <a:lstStyle/>
          <a:p>
            <a:pPr algn="r"/>
            <a:r>
              <a:rPr lang="zh-CN" altLang="en-US" sz="2400" dirty="0" smtClean="0">
                <a:solidFill>
                  <a:schemeClr val="bg1"/>
                </a:solidFill>
              </a:rPr>
              <a:t>情感分析基础</a:t>
            </a:r>
            <a:endParaRPr lang="zh-CN" altLang="en-US" sz="2400" dirty="0">
              <a:solidFill>
                <a:schemeClr val="bg1"/>
              </a:solidFill>
            </a:endParaRPr>
          </a:p>
        </p:txBody>
      </p:sp>
      <p:sp>
        <p:nvSpPr>
          <p:cNvPr id="3" name="矩形 2"/>
          <p:cNvSpPr/>
          <p:nvPr/>
        </p:nvSpPr>
        <p:spPr>
          <a:xfrm>
            <a:off x="6504541" y="1397264"/>
            <a:ext cx="2252924" cy="769441"/>
          </a:xfrm>
          <a:prstGeom prst="rect">
            <a:avLst/>
          </a:prstGeom>
        </p:spPr>
        <p:txBody>
          <a:bodyPr wrap="none">
            <a:spAutoFit/>
          </a:bodyPr>
          <a:lstStyle/>
          <a:p>
            <a:pPr lvl="0" algn="r"/>
            <a:r>
              <a:rPr lang="en-US" altLang="zh-CN" sz="4400">
                <a:solidFill>
                  <a:schemeClr val="bg1"/>
                </a:solidFill>
                <a:latin typeface="Impact"/>
              </a:rPr>
              <a:t>PART ONE</a:t>
            </a:r>
            <a:endParaRPr lang="zh-CN" altLang="en-US" sz="4400">
              <a:solidFill>
                <a:schemeClr val="bg1"/>
              </a:solidFill>
              <a:latin typeface="Impact"/>
            </a:endParaRPr>
          </a:p>
        </p:txBody>
      </p:sp>
      <p:sp>
        <p:nvSpPr>
          <p:cNvPr id="25" name="矩形 24"/>
          <p:cNvSpPr/>
          <p:nvPr/>
        </p:nvSpPr>
        <p:spPr>
          <a:xfrm>
            <a:off x="3536885" y="2691666"/>
            <a:ext cx="5220580" cy="316369"/>
          </a:xfrm>
          <a:prstGeom prst="rect">
            <a:avLst/>
          </a:prstGeom>
        </p:spPr>
        <p:txBody>
          <a:bodyPr wrap="square">
            <a:spAutoFit/>
          </a:bodyPr>
          <a:lstStyle/>
          <a:p>
            <a:pPr algn="r">
              <a:lnSpc>
                <a:spcPct val="150000"/>
              </a:lnSpc>
            </a:pPr>
            <a:r>
              <a:rPr lang="en-US" altLang="zh-CN" sz="1100" dirty="0" smtClean="0">
                <a:solidFill>
                  <a:schemeClr val="bg1"/>
                </a:solidFill>
                <a:latin typeface="+mn-ea"/>
              </a:rPr>
              <a:t>Introduction To Sentiment Analysis</a:t>
            </a:r>
            <a:endParaRPr lang="zh-CN" altLang="en-US" sz="1100" dirty="0">
              <a:solidFill>
                <a:schemeClr val="bg1"/>
              </a:solidFill>
              <a:latin typeface="+mn-ea"/>
            </a:endParaRPr>
          </a:p>
        </p:txBody>
      </p:sp>
    </p:spTree>
    <p:extLst>
      <p:ext uri="{BB962C8B-B14F-4D97-AF65-F5344CB8AC3E}">
        <p14:creationId xmlns:p14="http://schemas.microsoft.com/office/powerpoint/2010/main" val="1178352161"/>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681890" y="1851670"/>
            <a:ext cx="1710187" cy="1710187"/>
          </a:xfrm>
          <a:prstGeom prst="ellipse">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zh-CN" altLang="en-US" b="1" dirty="0" smtClean="0">
                <a:solidFill>
                  <a:schemeClr val="bg1"/>
                </a:solidFill>
              </a:rPr>
              <a:t>什么是情感分析？</a:t>
            </a:r>
            <a:endParaRPr lang="zh-CN" altLang="en-US" b="1" dirty="0">
              <a:solidFill>
                <a:schemeClr val="bg1"/>
              </a:solidFill>
            </a:endParaRPr>
          </a:p>
        </p:txBody>
      </p:sp>
      <p:sp>
        <p:nvSpPr>
          <p:cNvPr id="19" name="椭圆 18"/>
          <p:cNvSpPr/>
          <p:nvPr/>
        </p:nvSpPr>
        <p:spPr>
          <a:xfrm>
            <a:off x="4627162" y="1851669"/>
            <a:ext cx="1710187" cy="1710187"/>
          </a:xfrm>
          <a:prstGeom prst="ellipse">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zh-CN" altLang="en-US" b="1" dirty="0" smtClean="0">
                <a:solidFill>
                  <a:schemeClr val="bg1"/>
                </a:solidFill>
              </a:rPr>
              <a:t>情感分析中使用的技术</a:t>
            </a:r>
            <a:endParaRPr lang="zh-CN" altLang="en-US" b="1" dirty="0">
              <a:solidFill>
                <a:schemeClr val="bg1"/>
              </a:solidFill>
            </a:endParaRPr>
          </a:p>
        </p:txBody>
      </p:sp>
      <p:sp>
        <p:nvSpPr>
          <p:cNvPr id="7" name="TextBox 6"/>
          <p:cNvSpPr txBox="1"/>
          <p:nvPr/>
        </p:nvSpPr>
        <p:spPr>
          <a:xfrm>
            <a:off x="456850" y="40069"/>
            <a:ext cx="3870455" cy="400110"/>
          </a:xfrm>
          <a:prstGeom prst="rect">
            <a:avLst/>
          </a:prstGeom>
          <a:noFill/>
        </p:spPr>
        <p:txBody>
          <a:bodyPr wrap="square" rtlCol="0">
            <a:spAutoFit/>
          </a:bodyPr>
          <a:lstStyle/>
          <a:p>
            <a:r>
              <a:rPr lang="zh-CN" altLang="en-US" sz="2000" dirty="0" smtClean="0">
                <a:solidFill>
                  <a:schemeClr val="tx1">
                    <a:lumMod val="85000"/>
                    <a:lumOff val="15000"/>
                  </a:schemeClr>
                </a:solidFill>
                <a:latin typeface="Impact" pitchFamily="34" charset="0"/>
                <a:ea typeface="+mj-ea"/>
              </a:rPr>
              <a:t>情感分析基础</a:t>
            </a:r>
            <a:endParaRPr lang="zh-CN" altLang="en-US" sz="2000" dirty="0">
              <a:solidFill>
                <a:schemeClr val="tx1">
                  <a:lumMod val="85000"/>
                  <a:lumOff val="15000"/>
                </a:schemeClr>
              </a:solidFill>
              <a:latin typeface="Impact" pitchFamily="34" charset="0"/>
              <a:ea typeface="+mj-ea"/>
            </a:endParaRP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smtClean="0">
                <a:solidFill>
                  <a:schemeClr val="tx1">
                    <a:lumMod val="50000"/>
                    <a:lumOff val="50000"/>
                  </a:schemeClr>
                </a:solidFill>
              </a:rPr>
              <a:t>Introduction To Sentiment Analysis</a:t>
            </a:r>
            <a:endParaRPr lang="zh-CN" altLang="en-US" sz="1000" dirty="0">
              <a:solidFill>
                <a:schemeClr val="tx1">
                  <a:lumMod val="50000"/>
                  <a:lumOff val="50000"/>
                </a:schemeClr>
              </a:solidFill>
            </a:endParaRPr>
          </a:p>
        </p:txBody>
      </p:sp>
      <p:sp>
        <p:nvSpPr>
          <p:cNvPr id="18" name="椭圆 17"/>
          <p:cNvSpPr/>
          <p:nvPr/>
        </p:nvSpPr>
        <p:spPr>
          <a:xfrm>
            <a:off x="2654526" y="1851670"/>
            <a:ext cx="1710187" cy="1710187"/>
          </a:xfrm>
          <a:prstGeom prst="ellipse">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zh-CN" altLang="en-US" b="1" dirty="0" smtClean="0">
                <a:solidFill>
                  <a:schemeClr val="bg1"/>
                </a:solidFill>
              </a:rPr>
              <a:t>情感分析的应用场景</a:t>
            </a:r>
            <a:endParaRPr lang="zh-CN" altLang="en-US" b="1" dirty="0">
              <a:solidFill>
                <a:schemeClr val="bg1"/>
              </a:solidFill>
            </a:endParaRPr>
          </a:p>
        </p:txBody>
      </p:sp>
      <p:sp>
        <p:nvSpPr>
          <p:cNvPr id="20" name="椭圆 19"/>
          <p:cNvSpPr/>
          <p:nvPr/>
        </p:nvSpPr>
        <p:spPr>
          <a:xfrm>
            <a:off x="6599798" y="1852224"/>
            <a:ext cx="1710187" cy="1710187"/>
          </a:xfrm>
          <a:prstGeom prst="ellipse">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zh-CN" altLang="en-US" b="1" dirty="0" smtClean="0">
                <a:solidFill>
                  <a:schemeClr val="bg1"/>
                </a:solidFill>
              </a:rPr>
              <a:t>情感分析的一些工具和数据集</a:t>
            </a:r>
            <a:endParaRPr lang="zh-CN" altLang="en-US" b="1" dirty="0">
              <a:solidFill>
                <a:schemeClr val="bg1"/>
              </a:solidFill>
            </a:endParaRPr>
          </a:p>
        </p:txBody>
      </p:sp>
    </p:spTree>
    <p:extLst>
      <p:ext uri="{BB962C8B-B14F-4D97-AF65-F5344CB8AC3E}">
        <p14:creationId xmlns:p14="http://schemas.microsoft.com/office/powerpoint/2010/main" val="358005730"/>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8980" y="440179"/>
            <a:ext cx="3945969" cy="176333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7" name="TextBox 6"/>
          <p:cNvSpPr txBox="1"/>
          <p:nvPr/>
        </p:nvSpPr>
        <p:spPr>
          <a:xfrm>
            <a:off x="456850" y="40069"/>
            <a:ext cx="3870455" cy="400110"/>
          </a:xfrm>
          <a:prstGeom prst="rect">
            <a:avLst/>
          </a:prstGeom>
          <a:noFill/>
        </p:spPr>
        <p:txBody>
          <a:bodyPr wrap="square" rtlCol="0">
            <a:spAutoFit/>
          </a:bodyPr>
          <a:lstStyle/>
          <a:p>
            <a:r>
              <a:rPr lang="zh-CN" altLang="en-US" sz="2000" dirty="0" smtClean="0">
                <a:solidFill>
                  <a:schemeClr val="tx1">
                    <a:lumMod val="85000"/>
                    <a:lumOff val="15000"/>
                  </a:schemeClr>
                </a:solidFill>
                <a:latin typeface="Impact" pitchFamily="34" charset="0"/>
                <a:ea typeface="+mj-ea"/>
              </a:rPr>
              <a:t>情感分析基础</a:t>
            </a:r>
            <a:endParaRPr lang="zh-CN" altLang="en-US" sz="2000" dirty="0">
              <a:solidFill>
                <a:schemeClr val="tx1">
                  <a:lumMod val="85000"/>
                  <a:lumOff val="15000"/>
                </a:schemeClr>
              </a:solidFill>
              <a:latin typeface="Impact" pitchFamily="34" charset="0"/>
              <a:ea typeface="+mj-ea"/>
            </a:endParaRP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smtClean="0">
                <a:solidFill>
                  <a:schemeClr val="tx1">
                    <a:lumMod val="50000"/>
                    <a:lumOff val="50000"/>
                  </a:schemeClr>
                </a:solidFill>
              </a:rPr>
              <a:t>Introduction To Sentiment Analysis</a:t>
            </a:r>
            <a:endParaRPr lang="zh-CN" altLang="en-US" sz="1000" dirty="0">
              <a:solidFill>
                <a:schemeClr val="tx1">
                  <a:lumMod val="50000"/>
                  <a:lumOff val="50000"/>
                </a:schemeClr>
              </a:solidFill>
            </a:endParaRPr>
          </a:p>
        </p:txBody>
      </p:sp>
      <p:sp>
        <p:nvSpPr>
          <p:cNvPr id="3" name="文本框 2"/>
          <p:cNvSpPr txBox="1"/>
          <p:nvPr/>
        </p:nvSpPr>
        <p:spPr>
          <a:xfrm>
            <a:off x="442975" y="996575"/>
            <a:ext cx="4714090" cy="369332"/>
          </a:xfrm>
          <a:prstGeom prst="rect">
            <a:avLst/>
          </a:prstGeom>
          <a:noFill/>
        </p:spPr>
        <p:txBody>
          <a:bodyPr wrap="square" rtlCol="0">
            <a:spAutoFit/>
          </a:bodyPr>
          <a:lstStyle/>
          <a:p>
            <a:r>
              <a:rPr lang="zh-CN" altLang="en-US" b="1" dirty="0" smtClean="0"/>
              <a:t>什么是情感分析（</a:t>
            </a:r>
            <a:r>
              <a:rPr lang="en-US" altLang="zh-CN" b="1" dirty="0" smtClean="0"/>
              <a:t>Sentiment Analysis</a:t>
            </a:r>
            <a:r>
              <a:rPr lang="zh-CN" altLang="en-US" b="1" dirty="0" smtClean="0"/>
              <a:t>）？</a:t>
            </a:r>
            <a:endParaRPr lang="zh-CN" altLang="en-US" b="1" dirty="0"/>
          </a:p>
        </p:txBody>
      </p:sp>
      <p:sp>
        <p:nvSpPr>
          <p:cNvPr id="5" name="文本框 4"/>
          <p:cNvSpPr txBox="1"/>
          <p:nvPr/>
        </p:nvSpPr>
        <p:spPr>
          <a:xfrm>
            <a:off x="836585" y="2391730"/>
            <a:ext cx="7740860" cy="170816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smtClean="0">
                <a:latin typeface="+mn-ea"/>
              </a:rPr>
              <a:t>情感（</a:t>
            </a:r>
            <a:r>
              <a:rPr lang="en-US" altLang="zh-CN" sz="1400" dirty="0" smtClean="0">
                <a:latin typeface="+mn-ea"/>
              </a:rPr>
              <a:t>Sentiment</a:t>
            </a:r>
            <a:r>
              <a:rPr lang="zh-CN" altLang="en-US" sz="1400" dirty="0" smtClean="0">
                <a:latin typeface="+mn-ea"/>
              </a:rPr>
              <a:t>）包括感觉（</a:t>
            </a:r>
            <a:r>
              <a:rPr lang="en-US" altLang="zh-CN" sz="1400" dirty="0" smtClean="0">
                <a:latin typeface="+mn-ea"/>
              </a:rPr>
              <a:t>feeling</a:t>
            </a:r>
            <a:r>
              <a:rPr lang="zh-CN" altLang="en-US" sz="1400" dirty="0" smtClean="0">
                <a:latin typeface="+mn-ea"/>
              </a:rPr>
              <a:t>），态度（</a:t>
            </a:r>
            <a:r>
              <a:rPr lang="en-US" altLang="zh-CN" sz="1400" dirty="0" smtClean="0">
                <a:latin typeface="+mn-ea"/>
              </a:rPr>
              <a:t>attitude</a:t>
            </a:r>
            <a:r>
              <a:rPr lang="zh-CN" altLang="en-US" sz="1400" dirty="0" smtClean="0">
                <a:latin typeface="+mn-ea"/>
              </a:rPr>
              <a:t>），情绪（</a:t>
            </a:r>
            <a:r>
              <a:rPr lang="en-US" altLang="zh-CN" sz="1400" dirty="0" smtClean="0">
                <a:latin typeface="+mn-ea"/>
              </a:rPr>
              <a:t>emotion</a:t>
            </a:r>
            <a:r>
              <a:rPr lang="zh-CN" altLang="en-US" sz="1400" dirty="0" smtClean="0">
                <a:latin typeface="+mn-ea"/>
              </a:rPr>
              <a:t>），意见（</a:t>
            </a:r>
            <a:r>
              <a:rPr lang="en-US" altLang="zh-CN" sz="1400" dirty="0" smtClean="0">
                <a:latin typeface="+mn-ea"/>
              </a:rPr>
              <a:t>opinion</a:t>
            </a:r>
            <a:r>
              <a:rPr lang="zh-CN" altLang="en-US" sz="1400" dirty="0" smtClean="0">
                <a:latin typeface="+mn-ea"/>
              </a:rPr>
              <a:t>）</a:t>
            </a:r>
            <a:endParaRPr lang="en-US" altLang="zh-CN" sz="1400" dirty="0" smtClean="0">
              <a:latin typeface="+mn-ea"/>
            </a:endParaRPr>
          </a:p>
          <a:p>
            <a:pPr marL="285750" indent="-285750">
              <a:lnSpc>
                <a:spcPct val="150000"/>
              </a:lnSpc>
              <a:buFont typeface="Arial" panose="020B0604020202020204" pitchFamily="34" charset="0"/>
              <a:buChar char="•"/>
            </a:pPr>
            <a:r>
              <a:rPr lang="zh-CN" altLang="en-US" sz="1400" dirty="0" smtClean="0">
                <a:latin typeface="+mn-ea"/>
              </a:rPr>
              <a:t>情感分析是指使用技术</a:t>
            </a:r>
            <a:r>
              <a:rPr lang="en-US" altLang="zh-CN" sz="1400" dirty="0" smtClean="0">
                <a:latin typeface="+mn-ea"/>
              </a:rPr>
              <a:t>NLP</a:t>
            </a:r>
            <a:r>
              <a:rPr lang="zh-CN" altLang="en-US" sz="1400" dirty="0" smtClean="0">
                <a:latin typeface="+mn-ea"/>
              </a:rPr>
              <a:t>（</a:t>
            </a:r>
            <a:r>
              <a:rPr lang="en-US" altLang="zh-CN" sz="1400" dirty="0">
                <a:latin typeface="+mn-ea"/>
              </a:rPr>
              <a:t>Natural Language </a:t>
            </a:r>
            <a:r>
              <a:rPr lang="en-US" altLang="zh-CN" sz="1400" dirty="0" smtClean="0">
                <a:latin typeface="+mn-ea"/>
              </a:rPr>
              <a:t>Processing </a:t>
            </a:r>
            <a:r>
              <a:rPr lang="zh-CN" altLang="en-US" sz="1400" dirty="0" smtClean="0">
                <a:latin typeface="+mn-ea"/>
              </a:rPr>
              <a:t>即</a:t>
            </a:r>
            <a:r>
              <a:rPr lang="zh-CN" altLang="en-US" sz="1400" dirty="0">
                <a:latin typeface="+mn-ea"/>
              </a:rPr>
              <a:t>自然语言处理</a:t>
            </a:r>
            <a:r>
              <a:rPr lang="zh-CN" altLang="en-US" sz="1400" dirty="0" smtClean="0">
                <a:latin typeface="+mn-ea"/>
              </a:rPr>
              <a:t>），统计学，或机器学习等方法来提取、识别或描述文本单元的情感成分。</a:t>
            </a:r>
            <a:endParaRPr lang="en-US" altLang="zh-CN" sz="1400" dirty="0" smtClean="0">
              <a:latin typeface="+mn-ea"/>
            </a:endParaRPr>
          </a:p>
          <a:p>
            <a:pPr marL="285750" indent="-285750">
              <a:lnSpc>
                <a:spcPct val="150000"/>
              </a:lnSpc>
              <a:buFont typeface="Arial" panose="020B0604020202020204" pitchFamily="34" charset="0"/>
              <a:buChar char="•"/>
            </a:pPr>
            <a:r>
              <a:rPr lang="zh-CN" altLang="en-US" sz="1400" dirty="0" smtClean="0">
                <a:latin typeface="+mn-ea"/>
              </a:rPr>
              <a:t>一般情况下，使用两种对立的状态来描述情感：如支持</a:t>
            </a:r>
            <a:r>
              <a:rPr lang="en-US" altLang="zh-CN" sz="1400" dirty="0" smtClean="0">
                <a:latin typeface="+mn-ea"/>
              </a:rPr>
              <a:t>/</a:t>
            </a:r>
            <a:r>
              <a:rPr lang="zh-CN" altLang="en-US" sz="1400" dirty="0" smtClean="0">
                <a:latin typeface="+mn-ea"/>
              </a:rPr>
              <a:t>反对，喜欢</a:t>
            </a:r>
            <a:r>
              <a:rPr lang="en-US" altLang="zh-CN" sz="1400" dirty="0" smtClean="0">
                <a:latin typeface="+mn-ea"/>
              </a:rPr>
              <a:t>/</a:t>
            </a:r>
            <a:r>
              <a:rPr lang="zh-CN" altLang="en-US" sz="1400" dirty="0" smtClean="0">
                <a:latin typeface="+mn-ea"/>
              </a:rPr>
              <a:t>讨厌，好</a:t>
            </a:r>
            <a:r>
              <a:rPr lang="en-US" altLang="zh-CN" sz="1400" dirty="0" smtClean="0">
                <a:latin typeface="+mn-ea"/>
              </a:rPr>
              <a:t>/</a:t>
            </a:r>
            <a:r>
              <a:rPr lang="zh-CN" altLang="en-US" sz="1400" dirty="0" smtClean="0">
                <a:latin typeface="+mn-ea"/>
              </a:rPr>
              <a:t>坏等。</a:t>
            </a:r>
            <a:endParaRPr lang="en-US" altLang="zh-CN" sz="1400" dirty="0" smtClean="0">
              <a:latin typeface="+mn-ea"/>
            </a:endParaRPr>
          </a:p>
        </p:txBody>
      </p:sp>
    </p:spTree>
    <p:extLst>
      <p:ext uri="{BB962C8B-B14F-4D97-AF65-F5344CB8AC3E}">
        <p14:creationId xmlns:p14="http://schemas.microsoft.com/office/powerpoint/2010/main" val="4782833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6850" y="40069"/>
            <a:ext cx="3870455" cy="400110"/>
          </a:xfrm>
          <a:prstGeom prst="rect">
            <a:avLst/>
          </a:prstGeom>
          <a:noFill/>
        </p:spPr>
        <p:txBody>
          <a:bodyPr wrap="square" rtlCol="0">
            <a:spAutoFit/>
          </a:bodyPr>
          <a:lstStyle/>
          <a:p>
            <a:r>
              <a:rPr lang="zh-CN" altLang="en-US" sz="2000" dirty="0" smtClean="0">
                <a:solidFill>
                  <a:schemeClr val="tx1">
                    <a:lumMod val="85000"/>
                    <a:lumOff val="15000"/>
                  </a:schemeClr>
                </a:solidFill>
                <a:latin typeface="Impact" pitchFamily="34" charset="0"/>
                <a:ea typeface="+mj-ea"/>
              </a:rPr>
              <a:t>情感分析基础</a:t>
            </a:r>
            <a:endParaRPr lang="zh-CN" altLang="en-US" sz="2000" dirty="0">
              <a:solidFill>
                <a:schemeClr val="tx1">
                  <a:lumMod val="85000"/>
                  <a:lumOff val="15000"/>
                </a:schemeClr>
              </a:solidFill>
              <a:latin typeface="Impact" pitchFamily="34" charset="0"/>
              <a:ea typeface="+mj-ea"/>
            </a:endParaRP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smtClean="0">
                <a:solidFill>
                  <a:schemeClr val="tx1">
                    <a:lumMod val="50000"/>
                    <a:lumOff val="50000"/>
                  </a:schemeClr>
                </a:solidFill>
              </a:rPr>
              <a:t>Introduction To Sentiment Analysis</a:t>
            </a:r>
            <a:endParaRPr lang="zh-CN" altLang="en-US" sz="1000" dirty="0">
              <a:solidFill>
                <a:schemeClr val="tx1">
                  <a:lumMod val="50000"/>
                  <a:lumOff val="50000"/>
                </a:schemeClr>
              </a:solidFill>
            </a:endParaRPr>
          </a:p>
        </p:txBody>
      </p:sp>
      <p:sp>
        <p:nvSpPr>
          <p:cNvPr id="15" name="文本框 14"/>
          <p:cNvSpPr txBox="1"/>
          <p:nvPr/>
        </p:nvSpPr>
        <p:spPr>
          <a:xfrm>
            <a:off x="442975" y="996575"/>
            <a:ext cx="4714090" cy="369332"/>
          </a:xfrm>
          <a:prstGeom prst="rect">
            <a:avLst/>
          </a:prstGeom>
          <a:noFill/>
        </p:spPr>
        <p:txBody>
          <a:bodyPr wrap="square" rtlCol="0">
            <a:spAutoFit/>
          </a:bodyPr>
          <a:lstStyle/>
          <a:p>
            <a:r>
              <a:rPr lang="zh-CN" altLang="en-US" b="1" dirty="0" smtClean="0"/>
              <a:t>情感分析的应用场景</a:t>
            </a:r>
            <a:endParaRPr lang="zh-CN" altLang="en-US" b="1" dirty="0"/>
          </a:p>
        </p:txBody>
      </p:sp>
      <p:sp>
        <p:nvSpPr>
          <p:cNvPr id="16" name="文本框 15"/>
          <p:cNvSpPr txBox="1"/>
          <p:nvPr/>
        </p:nvSpPr>
        <p:spPr>
          <a:xfrm>
            <a:off x="881590" y="2256715"/>
            <a:ext cx="7740860" cy="13849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smtClean="0">
                <a:latin typeface="+mn-ea"/>
              </a:rPr>
              <a:t>商业智能：如提取用户对某一件商品的评价中的情感成分来制定营销策略以及价格定位。</a:t>
            </a:r>
            <a:endParaRPr lang="en-US" altLang="zh-CN" sz="1400" dirty="0" smtClean="0">
              <a:latin typeface="+mn-ea"/>
            </a:endParaRPr>
          </a:p>
          <a:p>
            <a:pPr marL="285750" indent="-285750">
              <a:lnSpc>
                <a:spcPct val="150000"/>
              </a:lnSpc>
              <a:buFont typeface="Arial" panose="020B0604020202020204" pitchFamily="34" charset="0"/>
              <a:buChar char="•"/>
            </a:pPr>
            <a:r>
              <a:rPr lang="zh-CN" altLang="en-US" sz="1400" dirty="0" smtClean="0">
                <a:latin typeface="+mn-ea"/>
              </a:rPr>
              <a:t>政治科学：分析舆论导向，制定宣传策略，评估群体意见倾向等。</a:t>
            </a:r>
            <a:endParaRPr lang="en-US" altLang="zh-CN" sz="1400" dirty="0" smtClean="0">
              <a:latin typeface="+mn-ea"/>
            </a:endParaRPr>
          </a:p>
          <a:p>
            <a:pPr marL="285750" indent="-285750">
              <a:lnSpc>
                <a:spcPct val="150000"/>
              </a:lnSpc>
              <a:buFont typeface="Arial" panose="020B0604020202020204" pitchFamily="34" charset="0"/>
              <a:buChar char="•"/>
            </a:pPr>
            <a:r>
              <a:rPr lang="zh-CN" altLang="en-US" sz="1400" dirty="0" smtClean="0">
                <a:latin typeface="+mn-ea"/>
              </a:rPr>
              <a:t>社会学：在社交网络上信息传播与扩散跟文本信息的情绪</a:t>
            </a:r>
            <a:r>
              <a:rPr lang="zh-CN" altLang="en-US" sz="1400" dirty="0">
                <a:latin typeface="+mn-ea"/>
              </a:rPr>
              <a:t>、</a:t>
            </a:r>
            <a:r>
              <a:rPr lang="zh-CN" altLang="en-US" sz="1400" dirty="0" smtClean="0">
                <a:latin typeface="+mn-ea"/>
              </a:rPr>
              <a:t>主题等密切相关。</a:t>
            </a:r>
            <a:endParaRPr lang="en-US" altLang="zh-CN" sz="1400" dirty="0" smtClean="0">
              <a:latin typeface="+mn-ea"/>
            </a:endParaRPr>
          </a:p>
          <a:p>
            <a:pPr marL="285750" indent="-285750">
              <a:lnSpc>
                <a:spcPct val="150000"/>
              </a:lnSpc>
              <a:buFont typeface="Arial" panose="020B0604020202020204" pitchFamily="34" charset="0"/>
              <a:buChar char="•"/>
            </a:pPr>
            <a:r>
              <a:rPr lang="zh-CN" altLang="en-US" sz="1400" dirty="0" smtClean="0">
                <a:latin typeface="+mn-ea"/>
              </a:rPr>
              <a:t>心理学：自然语言文本信息提取获取的数据在心理学实验研究中有着巨大的作用。</a:t>
            </a:r>
            <a:endParaRPr lang="en-US" altLang="zh-CN" sz="1400" dirty="0" smtClean="0">
              <a:latin typeface="+mn-ea"/>
            </a:endParaRPr>
          </a:p>
        </p:txBody>
      </p:sp>
    </p:spTree>
    <p:extLst>
      <p:ext uri="{BB962C8B-B14F-4D97-AF65-F5344CB8AC3E}">
        <p14:creationId xmlns:p14="http://schemas.microsoft.com/office/powerpoint/2010/main" val="2005182146"/>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6850" y="40069"/>
            <a:ext cx="3870455" cy="400110"/>
          </a:xfrm>
          <a:prstGeom prst="rect">
            <a:avLst/>
          </a:prstGeom>
          <a:noFill/>
        </p:spPr>
        <p:txBody>
          <a:bodyPr wrap="square" rtlCol="0">
            <a:spAutoFit/>
          </a:bodyPr>
          <a:lstStyle/>
          <a:p>
            <a:r>
              <a:rPr lang="zh-CN" altLang="en-US" sz="2000" dirty="0" smtClean="0">
                <a:solidFill>
                  <a:schemeClr val="tx1">
                    <a:lumMod val="85000"/>
                    <a:lumOff val="15000"/>
                  </a:schemeClr>
                </a:solidFill>
                <a:latin typeface="Impact" pitchFamily="34" charset="0"/>
                <a:ea typeface="+mj-ea"/>
              </a:rPr>
              <a:t>情感分析基础</a:t>
            </a:r>
            <a:endParaRPr lang="zh-CN" altLang="en-US" sz="2000" dirty="0">
              <a:solidFill>
                <a:schemeClr val="tx1">
                  <a:lumMod val="85000"/>
                  <a:lumOff val="15000"/>
                </a:schemeClr>
              </a:solidFill>
              <a:latin typeface="Impact" pitchFamily="34" charset="0"/>
              <a:ea typeface="+mj-ea"/>
            </a:endParaRP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smtClean="0">
                <a:solidFill>
                  <a:schemeClr val="tx1">
                    <a:lumMod val="50000"/>
                    <a:lumOff val="50000"/>
                  </a:schemeClr>
                </a:solidFill>
              </a:rPr>
              <a:t>Introduction To Sentiment Analysis</a:t>
            </a:r>
            <a:endParaRPr lang="zh-CN" altLang="en-US" sz="1000" dirty="0">
              <a:solidFill>
                <a:schemeClr val="tx1">
                  <a:lumMod val="50000"/>
                  <a:lumOff val="50000"/>
                </a:schemeClr>
              </a:solidFill>
            </a:endParaRPr>
          </a:p>
        </p:txBody>
      </p:sp>
      <p:sp>
        <p:nvSpPr>
          <p:cNvPr id="4" name="文本框 3"/>
          <p:cNvSpPr txBox="1"/>
          <p:nvPr/>
        </p:nvSpPr>
        <p:spPr>
          <a:xfrm>
            <a:off x="442975" y="996575"/>
            <a:ext cx="4714090" cy="369332"/>
          </a:xfrm>
          <a:prstGeom prst="rect">
            <a:avLst/>
          </a:prstGeom>
          <a:noFill/>
        </p:spPr>
        <p:txBody>
          <a:bodyPr wrap="square" rtlCol="0">
            <a:spAutoFit/>
          </a:bodyPr>
          <a:lstStyle/>
          <a:p>
            <a:r>
              <a:rPr lang="zh-CN" altLang="en-US" b="1" dirty="0" smtClean="0"/>
              <a:t>情感分析中使用的技术</a:t>
            </a:r>
            <a:endParaRPr lang="zh-CN" altLang="en-US" b="1" dirty="0"/>
          </a:p>
        </p:txBody>
      </p:sp>
      <p:sp>
        <p:nvSpPr>
          <p:cNvPr id="2" name="文本框 1"/>
          <p:cNvSpPr txBox="1"/>
          <p:nvPr/>
        </p:nvSpPr>
        <p:spPr>
          <a:xfrm>
            <a:off x="881590" y="2211710"/>
            <a:ext cx="7605845" cy="1346522"/>
          </a:xfrm>
          <a:prstGeom prst="rect">
            <a:avLst/>
          </a:prstGeom>
          <a:noFill/>
        </p:spPr>
        <p:txBody>
          <a:bodyPr wrap="square" rtlCol="0">
            <a:spAutoFit/>
          </a:bodyPr>
          <a:lstStyle/>
          <a:p>
            <a:pPr>
              <a:lnSpc>
                <a:spcPct val="150000"/>
              </a:lnSpc>
            </a:pPr>
            <a:r>
              <a:rPr lang="zh-CN" altLang="en-US" sz="1400" dirty="0">
                <a:solidFill>
                  <a:srgbClr val="1A7BAE"/>
                </a:solidFill>
              </a:rPr>
              <a:t>基于语义规则的情感分析技术</a:t>
            </a:r>
            <a:r>
              <a:rPr lang="zh-CN" altLang="en-US" sz="1400" dirty="0"/>
              <a:t>：我们将一句话中的带有感情的形容词和副词提取出来构成一个情感词典，这些词语可以代表用户的某种倾向性。基于语义规则的分析技术是计算评价词和情感词典中已经标注倾向性词语的距离，从而达到情感分类的目的。其最经典的算法是 </a:t>
            </a:r>
            <a:r>
              <a:rPr lang="en-US" altLang="zh-CN" sz="1400" dirty="0"/>
              <a:t>SO-PMI </a:t>
            </a:r>
            <a:r>
              <a:rPr lang="zh-CN" altLang="en-US" sz="1400" dirty="0"/>
              <a:t>算法。</a:t>
            </a:r>
          </a:p>
        </p:txBody>
      </p:sp>
    </p:spTree>
    <p:extLst>
      <p:ext uri="{BB962C8B-B14F-4D97-AF65-F5344CB8AC3E}">
        <p14:creationId xmlns:p14="http://schemas.microsoft.com/office/powerpoint/2010/main" val="2103818257"/>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6850" y="40069"/>
            <a:ext cx="3870455" cy="400110"/>
          </a:xfrm>
          <a:prstGeom prst="rect">
            <a:avLst/>
          </a:prstGeom>
          <a:noFill/>
        </p:spPr>
        <p:txBody>
          <a:bodyPr wrap="square" rtlCol="0">
            <a:spAutoFit/>
          </a:bodyPr>
          <a:lstStyle/>
          <a:p>
            <a:r>
              <a:rPr lang="zh-CN" altLang="en-US" sz="2000" dirty="0" smtClean="0">
                <a:solidFill>
                  <a:schemeClr val="tx1">
                    <a:lumMod val="85000"/>
                    <a:lumOff val="15000"/>
                  </a:schemeClr>
                </a:solidFill>
                <a:latin typeface="Impact" pitchFamily="34" charset="0"/>
                <a:ea typeface="+mj-ea"/>
              </a:rPr>
              <a:t>情感分析基础</a:t>
            </a:r>
            <a:endParaRPr lang="zh-CN" altLang="en-US" sz="2000" dirty="0">
              <a:solidFill>
                <a:schemeClr val="tx1">
                  <a:lumMod val="85000"/>
                  <a:lumOff val="15000"/>
                </a:schemeClr>
              </a:solidFill>
              <a:latin typeface="Impact" pitchFamily="34" charset="0"/>
              <a:ea typeface="+mj-ea"/>
            </a:endParaRP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smtClean="0">
                <a:solidFill>
                  <a:schemeClr val="tx1">
                    <a:lumMod val="50000"/>
                    <a:lumOff val="50000"/>
                  </a:schemeClr>
                </a:solidFill>
              </a:rPr>
              <a:t>Introduction To Sentiment Analysis</a:t>
            </a:r>
            <a:endParaRPr lang="zh-CN" altLang="en-US" sz="1000" dirty="0">
              <a:solidFill>
                <a:schemeClr val="tx1">
                  <a:lumMod val="50000"/>
                  <a:lumOff val="50000"/>
                </a:schemeClr>
              </a:solidFill>
            </a:endParaRPr>
          </a:p>
        </p:txBody>
      </p:sp>
      <p:sp>
        <p:nvSpPr>
          <p:cNvPr id="4" name="文本框 3"/>
          <p:cNvSpPr txBox="1"/>
          <p:nvPr/>
        </p:nvSpPr>
        <p:spPr>
          <a:xfrm>
            <a:off x="442975" y="996575"/>
            <a:ext cx="4714090" cy="369332"/>
          </a:xfrm>
          <a:prstGeom prst="rect">
            <a:avLst/>
          </a:prstGeom>
          <a:noFill/>
        </p:spPr>
        <p:txBody>
          <a:bodyPr wrap="square" rtlCol="0">
            <a:spAutoFit/>
          </a:bodyPr>
          <a:lstStyle/>
          <a:p>
            <a:r>
              <a:rPr lang="zh-CN" altLang="en-US" b="1" dirty="0" smtClean="0"/>
              <a:t>情感分析中使用的技术</a:t>
            </a:r>
            <a:endParaRPr lang="zh-CN" altLang="en-US" b="1" dirty="0"/>
          </a:p>
        </p:txBody>
      </p:sp>
      <p:sp>
        <p:nvSpPr>
          <p:cNvPr id="3" name="文本框 2"/>
          <p:cNvSpPr txBox="1"/>
          <p:nvPr/>
        </p:nvSpPr>
        <p:spPr>
          <a:xfrm>
            <a:off x="1376645" y="2031690"/>
            <a:ext cx="5535615" cy="1992853"/>
          </a:xfrm>
          <a:prstGeom prst="rect">
            <a:avLst/>
          </a:prstGeom>
          <a:noFill/>
        </p:spPr>
        <p:txBody>
          <a:bodyPr wrap="square" rtlCol="0">
            <a:spAutoFit/>
          </a:bodyPr>
          <a:lstStyle/>
          <a:p>
            <a:pPr>
              <a:lnSpc>
                <a:spcPct val="150000"/>
              </a:lnSpc>
            </a:pPr>
            <a:r>
              <a:rPr lang="zh-CN" altLang="en-US" sz="1400" dirty="0">
                <a:solidFill>
                  <a:srgbClr val="1A7BAE"/>
                </a:solidFill>
              </a:rPr>
              <a:t>基于监督学习的情感分析方法</a:t>
            </a:r>
            <a:r>
              <a:rPr lang="zh-CN" altLang="en-US" sz="1400" dirty="0"/>
              <a:t>：基于监督学习的方法是首先通过人工标注文本的情感极性，然后将此作为训练集，通过机器学习的方法对目标文本进行情感分类。常用方法：朴素贝叶斯，支持向量机</a:t>
            </a:r>
            <a:r>
              <a:rPr lang="zh-CN" altLang="en-US" sz="1400" dirty="0" smtClean="0"/>
              <a:t>。</a:t>
            </a:r>
            <a:endParaRPr lang="en-US" altLang="zh-CN" sz="1400" dirty="0" smtClean="0"/>
          </a:p>
          <a:p>
            <a:pPr>
              <a:lnSpc>
                <a:spcPct val="150000"/>
              </a:lnSpc>
            </a:pPr>
            <a:r>
              <a:rPr lang="zh-CN" altLang="en-US" sz="1400" dirty="0">
                <a:solidFill>
                  <a:srgbClr val="1A7BAE"/>
                </a:solidFill>
              </a:rPr>
              <a:t>基于话题模型的情感分析技术</a:t>
            </a:r>
            <a:r>
              <a:rPr lang="zh-CN" altLang="en-US" sz="1400" dirty="0"/>
              <a:t>：有两个话题模型，</a:t>
            </a:r>
            <a:r>
              <a:rPr lang="en-US" altLang="zh-CN" sz="1400" dirty="0"/>
              <a:t>PLSA (Probabilistic Latent Semantic Analysis)</a:t>
            </a:r>
            <a:r>
              <a:rPr lang="zh-CN" altLang="en-US" sz="1400" dirty="0"/>
              <a:t>和 </a:t>
            </a:r>
            <a:r>
              <a:rPr lang="en-US" altLang="zh-CN" sz="1400" dirty="0"/>
              <a:t>LDA (Latent </a:t>
            </a:r>
            <a:r>
              <a:rPr lang="en-US" altLang="zh-CN" sz="1400" dirty="0" err="1"/>
              <a:t>Dirichlet</a:t>
            </a:r>
            <a:r>
              <a:rPr lang="en-US" altLang="zh-CN" sz="1400" dirty="0"/>
              <a:t> Allocation) </a:t>
            </a:r>
            <a:r>
              <a:rPr lang="zh-CN" altLang="en-US" sz="1400" dirty="0" smtClean="0"/>
              <a:t>模型。</a:t>
            </a:r>
            <a:endParaRPr lang="zh-CN" altLang="en-US" sz="1400" dirty="0"/>
          </a:p>
        </p:txBody>
      </p:sp>
    </p:spTree>
    <p:extLst>
      <p:ext uri="{BB962C8B-B14F-4D97-AF65-F5344CB8AC3E}">
        <p14:creationId xmlns:p14="http://schemas.microsoft.com/office/powerpoint/2010/main" val="3005857544"/>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6850" y="40069"/>
            <a:ext cx="3870455" cy="400110"/>
          </a:xfrm>
          <a:prstGeom prst="rect">
            <a:avLst/>
          </a:prstGeom>
          <a:noFill/>
        </p:spPr>
        <p:txBody>
          <a:bodyPr wrap="square" rtlCol="0">
            <a:spAutoFit/>
          </a:bodyPr>
          <a:lstStyle/>
          <a:p>
            <a:r>
              <a:rPr lang="zh-CN" altLang="en-US" sz="2000" dirty="0" smtClean="0">
                <a:solidFill>
                  <a:schemeClr val="tx1">
                    <a:lumMod val="85000"/>
                    <a:lumOff val="15000"/>
                  </a:schemeClr>
                </a:solidFill>
                <a:latin typeface="Impact" pitchFamily="34" charset="0"/>
                <a:ea typeface="+mj-ea"/>
              </a:rPr>
              <a:t>情感分析基础</a:t>
            </a:r>
            <a:endParaRPr lang="zh-CN" altLang="en-US" sz="2000" dirty="0">
              <a:solidFill>
                <a:schemeClr val="tx1">
                  <a:lumMod val="85000"/>
                  <a:lumOff val="15000"/>
                </a:schemeClr>
              </a:solidFill>
              <a:latin typeface="Impact" pitchFamily="34" charset="0"/>
              <a:ea typeface="+mj-ea"/>
            </a:endParaRP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smtClean="0">
                <a:solidFill>
                  <a:schemeClr val="tx1">
                    <a:lumMod val="50000"/>
                    <a:lumOff val="50000"/>
                  </a:schemeClr>
                </a:solidFill>
              </a:rPr>
              <a:t>Introduction To Sentiment Analysis</a:t>
            </a:r>
            <a:endParaRPr lang="zh-CN" altLang="en-US" sz="1000" dirty="0">
              <a:solidFill>
                <a:schemeClr val="tx1">
                  <a:lumMod val="50000"/>
                  <a:lumOff val="50000"/>
                </a:schemeClr>
              </a:solidFill>
            </a:endParaRPr>
          </a:p>
        </p:txBody>
      </p:sp>
      <p:sp>
        <p:nvSpPr>
          <p:cNvPr id="4" name="文本框 3"/>
          <p:cNvSpPr txBox="1"/>
          <p:nvPr/>
        </p:nvSpPr>
        <p:spPr>
          <a:xfrm>
            <a:off x="442975" y="996575"/>
            <a:ext cx="4714090" cy="369332"/>
          </a:xfrm>
          <a:prstGeom prst="rect">
            <a:avLst/>
          </a:prstGeom>
          <a:noFill/>
        </p:spPr>
        <p:txBody>
          <a:bodyPr wrap="square" rtlCol="0">
            <a:spAutoFit/>
          </a:bodyPr>
          <a:lstStyle/>
          <a:p>
            <a:r>
              <a:rPr lang="zh-CN" altLang="en-US" b="1" dirty="0" smtClean="0"/>
              <a:t>情感分析的一些工具及数据集</a:t>
            </a:r>
            <a:endParaRPr lang="zh-CN" altLang="en-US" b="1" dirty="0"/>
          </a:p>
        </p:txBody>
      </p:sp>
      <p:sp>
        <p:nvSpPr>
          <p:cNvPr id="2" name="文本框 1"/>
          <p:cNvSpPr txBox="1"/>
          <p:nvPr/>
        </p:nvSpPr>
        <p:spPr>
          <a:xfrm>
            <a:off x="791580" y="1716655"/>
            <a:ext cx="7380820" cy="321626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400" dirty="0">
                <a:solidFill>
                  <a:srgbClr val="1A7BAE"/>
                </a:solidFill>
              </a:rPr>
              <a:t>General </a:t>
            </a:r>
            <a:r>
              <a:rPr lang="en-US" altLang="zh-CN" sz="1400" dirty="0" smtClean="0">
                <a:solidFill>
                  <a:srgbClr val="1A7BAE"/>
                </a:solidFill>
              </a:rPr>
              <a:t>Inquirer</a:t>
            </a:r>
            <a:r>
              <a:rPr lang="zh-CN" altLang="en-US" sz="1400" dirty="0" smtClean="0"/>
              <a:t>：情感词库和情感分析</a:t>
            </a:r>
            <a:r>
              <a:rPr lang="zh-CN" altLang="en-US" sz="1400" dirty="0"/>
              <a:t>工具，该词库目前具有情绪效价、 </a:t>
            </a:r>
            <a:r>
              <a:rPr lang="en-US" altLang="zh-CN" sz="1400" dirty="0"/>
              <a:t>PAD</a:t>
            </a:r>
            <a:r>
              <a:rPr lang="zh-CN" altLang="en-US" sz="1400" dirty="0"/>
              <a:t>三维度分类、有关自我的词等</a:t>
            </a:r>
            <a:r>
              <a:rPr lang="en-US" altLang="zh-CN" sz="1400" dirty="0"/>
              <a:t>180</a:t>
            </a:r>
            <a:r>
              <a:rPr lang="zh-CN" altLang="en-US" sz="1400" dirty="0"/>
              <a:t>个</a:t>
            </a:r>
            <a:r>
              <a:rPr lang="zh-CN" altLang="en-US" sz="1400" dirty="0" smtClean="0"/>
              <a:t>分类，常用来统计文本中的不同类别的单词数。</a:t>
            </a:r>
            <a:endParaRPr lang="en-US" altLang="zh-CN" sz="1400" dirty="0" smtClean="0"/>
          </a:p>
          <a:p>
            <a:pPr marL="285750" indent="-285750">
              <a:lnSpc>
                <a:spcPct val="150000"/>
              </a:lnSpc>
              <a:buFont typeface="Arial" panose="020B0604020202020204" pitchFamily="34" charset="0"/>
              <a:buChar char="•"/>
            </a:pPr>
            <a:r>
              <a:rPr lang="en-US" altLang="zh-CN" sz="1400" dirty="0" smtClean="0">
                <a:solidFill>
                  <a:srgbClr val="1A7BAE"/>
                </a:solidFill>
              </a:rPr>
              <a:t>WordNet</a:t>
            </a:r>
            <a:r>
              <a:rPr lang="zh-CN" altLang="en-US" sz="1400" dirty="0"/>
              <a:t>：一个在线的词汇数据库</a:t>
            </a:r>
            <a:r>
              <a:rPr lang="zh-CN" altLang="en-US" sz="1400" dirty="0" smtClean="0"/>
              <a:t>，仿照</a:t>
            </a:r>
            <a:r>
              <a:rPr lang="zh-CN" altLang="en-US" sz="1400" dirty="0"/>
              <a:t>心理语言学对人的词汇记忆的研究，根据词汇之间的语义关系构成词网，以同义词集合作为基本的构建</a:t>
            </a:r>
            <a:r>
              <a:rPr lang="zh-CN" altLang="en-US" sz="1400" dirty="0" smtClean="0"/>
              <a:t>单位。</a:t>
            </a:r>
            <a:endParaRPr lang="en-US" altLang="zh-CN" sz="1400" dirty="0" smtClean="0"/>
          </a:p>
          <a:p>
            <a:pPr marL="285750" indent="-285750">
              <a:lnSpc>
                <a:spcPct val="150000"/>
              </a:lnSpc>
              <a:buFont typeface="Arial" panose="020B0604020202020204" pitchFamily="34" charset="0"/>
              <a:buChar char="•"/>
            </a:pPr>
            <a:r>
              <a:rPr lang="en-US" altLang="zh-CN" sz="1400" dirty="0">
                <a:solidFill>
                  <a:srgbClr val="1A7BAE"/>
                </a:solidFill>
              </a:rPr>
              <a:t>Linguistic Inquiry and Word </a:t>
            </a:r>
            <a:r>
              <a:rPr lang="en-US" altLang="zh-CN" sz="1400" dirty="0" smtClean="0">
                <a:solidFill>
                  <a:srgbClr val="1A7BAE"/>
                </a:solidFill>
              </a:rPr>
              <a:t>Count</a:t>
            </a:r>
            <a:r>
              <a:rPr lang="zh-CN" altLang="en-US" sz="1400" dirty="0" smtClean="0">
                <a:solidFill>
                  <a:srgbClr val="1A7BAE"/>
                </a:solidFill>
              </a:rPr>
              <a:t>（</a:t>
            </a:r>
            <a:r>
              <a:rPr lang="en-US" altLang="zh-CN" sz="1400" dirty="0" smtClean="0">
                <a:solidFill>
                  <a:srgbClr val="1A7BAE"/>
                </a:solidFill>
              </a:rPr>
              <a:t>LIWC</a:t>
            </a:r>
            <a:r>
              <a:rPr lang="zh-CN" altLang="en-US" sz="1400" dirty="0" smtClean="0">
                <a:solidFill>
                  <a:srgbClr val="1A7BAE"/>
                </a:solidFill>
              </a:rPr>
              <a:t>）</a:t>
            </a:r>
            <a:r>
              <a:rPr lang="en-US" altLang="zh-CN" sz="1400" dirty="0" smtClean="0"/>
              <a:t>:</a:t>
            </a:r>
            <a:r>
              <a:rPr lang="zh-CN" altLang="en-US" sz="1400" dirty="0"/>
              <a:t>基于心理学的文本情感分析软件，采用的词汇来源于各种字典、词典、问卷等，分类涉及各种词性、情绪、社会及环境等多个</a:t>
            </a:r>
            <a:r>
              <a:rPr lang="zh-CN" altLang="en-US" sz="1400" dirty="0" smtClean="0"/>
              <a:t>方面。</a:t>
            </a:r>
            <a:endParaRPr lang="en-US" altLang="zh-CN" sz="1400" dirty="0" smtClean="0"/>
          </a:p>
          <a:p>
            <a:pPr marL="285750" indent="-285750">
              <a:lnSpc>
                <a:spcPct val="150000"/>
              </a:lnSpc>
              <a:buFont typeface="Arial" panose="020B0604020202020204" pitchFamily="34" charset="0"/>
              <a:buChar char="•"/>
            </a:pPr>
            <a:r>
              <a:rPr lang="en-US" altLang="zh-CN" sz="1400" dirty="0" err="1" smtClean="0">
                <a:solidFill>
                  <a:srgbClr val="1A7BAE"/>
                </a:solidFill>
              </a:rPr>
              <a:t>OpinionFinder</a:t>
            </a:r>
            <a:r>
              <a:rPr lang="zh-CN" altLang="en-US" sz="1400" dirty="0" smtClean="0">
                <a:solidFill>
                  <a:srgbClr val="1A7BAE"/>
                </a:solidFill>
              </a:rPr>
              <a:t>：</a:t>
            </a:r>
            <a:r>
              <a:rPr lang="zh-CN" altLang="en-US" sz="1400" dirty="0"/>
              <a:t>使用较为广泛的分析软件，</a:t>
            </a:r>
            <a:r>
              <a:rPr lang="zh-CN" altLang="en-US" sz="1400" dirty="0" smtClean="0"/>
              <a:t>能够</a:t>
            </a:r>
            <a:r>
              <a:rPr lang="zh-CN" altLang="en-US" sz="1400" dirty="0"/>
              <a:t>自动识别文本中的情绪、观点、猜想和其它主观性内容，其目的是识别主观语句并标识出这些句子中的各种主观成分，包括表达者、正负性情绪词汇</a:t>
            </a:r>
            <a:r>
              <a:rPr lang="zh-CN" altLang="en-US" sz="1400" dirty="0" smtClean="0"/>
              <a:t>等。</a:t>
            </a:r>
            <a:endParaRPr lang="en-US" altLang="zh-CN" sz="1400" dirty="0"/>
          </a:p>
          <a:p>
            <a:pPr marL="285750" indent="-285750">
              <a:buFont typeface="Arial" panose="020B0604020202020204" pitchFamily="34" charset="0"/>
              <a:buChar char="•"/>
            </a:pPr>
            <a:endParaRPr lang="zh-CN" altLang="en-US" sz="1400" dirty="0"/>
          </a:p>
        </p:txBody>
      </p:sp>
    </p:spTree>
    <p:extLst>
      <p:ext uri="{BB962C8B-B14F-4D97-AF65-F5344CB8AC3E}">
        <p14:creationId xmlns:p14="http://schemas.microsoft.com/office/powerpoint/2010/main" val="578652163"/>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6850" y="40069"/>
            <a:ext cx="3870455" cy="400110"/>
          </a:xfrm>
          <a:prstGeom prst="rect">
            <a:avLst/>
          </a:prstGeom>
          <a:noFill/>
        </p:spPr>
        <p:txBody>
          <a:bodyPr wrap="square" rtlCol="0">
            <a:spAutoFit/>
          </a:bodyPr>
          <a:lstStyle/>
          <a:p>
            <a:r>
              <a:rPr lang="zh-CN" altLang="en-US" sz="2000" dirty="0" smtClean="0">
                <a:solidFill>
                  <a:schemeClr val="tx1">
                    <a:lumMod val="85000"/>
                    <a:lumOff val="15000"/>
                  </a:schemeClr>
                </a:solidFill>
                <a:latin typeface="Impact" pitchFamily="34" charset="0"/>
                <a:ea typeface="+mj-ea"/>
              </a:rPr>
              <a:t>情感分析基础</a:t>
            </a:r>
            <a:endParaRPr lang="zh-CN" altLang="en-US" sz="2000" dirty="0">
              <a:solidFill>
                <a:schemeClr val="tx1">
                  <a:lumMod val="85000"/>
                  <a:lumOff val="15000"/>
                </a:schemeClr>
              </a:solidFill>
              <a:latin typeface="Impact" pitchFamily="34" charset="0"/>
              <a:ea typeface="+mj-ea"/>
            </a:endParaRP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smtClean="0">
                <a:solidFill>
                  <a:schemeClr val="tx1">
                    <a:lumMod val="50000"/>
                    <a:lumOff val="50000"/>
                  </a:schemeClr>
                </a:solidFill>
              </a:rPr>
              <a:t>Introduction To Sentiment Analysis</a:t>
            </a:r>
            <a:endParaRPr lang="zh-CN" altLang="en-US" sz="1000" dirty="0">
              <a:solidFill>
                <a:schemeClr val="tx1">
                  <a:lumMod val="50000"/>
                  <a:lumOff val="50000"/>
                </a:schemeClr>
              </a:solidFill>
            </a:endParaRPr>
          </a:p>
        </p:txBody>
      </p:sp>
      <p:sp>
        <p:nvSpPr>
          <p:cNvPr id="4" name="文本框 3"/>
          <p:cNvSpPr txBox="1"/>
          <p:nvPr/>
        </p:nvSpPr>
        <p:spPr>
          <a:xfrm>
            <a:off x="442975" y="996575"/>
            <a:ext cx="4714090" cy="369332"/>
          </a:xfrm>
          <a:prstGeom prst="rect">
            <a:avLst/>
          </a:prstGeom>
          <a:noFill/>
        </p:spPr>
        <p:txBody>
          <a:bodyPr wrap="square" rtlCol="0">
            <a:spAutoFit/>
          </a:bodyPr>
          <a:lstStyle/>
          <a:p>
            <a:r>
              <a:rPr lang="zh-CN" altLang="en-US" b="1" dirty="0" smtClean="0"/>
              <a:t>情感分析的一些工具及数据集</a:t>
            </a:r>
            <a:endParaRPr lang="zh-CN" altLang="en-US" b="1" dirty="0"/>
          </a:p>
        </p:txBody>
      </p:sp>
      <p:sp>
        <p:nvSpPr>
          <p:cNvPr id="2" name="文本框 1"/>
          <p:cNvSpPr txBox="1"/>
          <p:nvPr/>
        </p:nvSpPr>
        <p:spPr>
          <a:xfrm>
            <a:off x="746575" y="2076695"/>
            <a:ext cx="7875875" cy="20313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400" dirty="0">
                <a:solidFill>
                  <a:srgbClr val="1A7BAE"/>
                </a:solidFill>
              </a:rPr>
              <a:t>Pang &amp; Lee </a:t>
            </a:r>
            <a:r>
              <a:rPr lang="en-US" altLang="zh-CN" sz="1400" dirty="0" smtClean="0">
                <a:solidFill>
                  <a:srgbClr val="1A7BAE"/>
                </a:solidFill>
              </a:rPr>
              <a:t>datasets</a:t>
            </a:r>
            <a:r>
              <a:rPr lang="zh-CN" altLang="en-US" sz="1400" dirty="0" smtClean="0"/>
              <a:t>：电影评论极性数据集、情绪跨度数据集、主观性数据集</a:t>
            </a:r>
            <a:endParaRPr lang="en-US" altLang="zh-CN" sz="1400" dirty="0" smtClean="0"/>
          </a:p>
          <a:p>
            <a:pPr marL="285750" indent="-285750">
              <a:lnSpc>
                <a:spcPct val="150000"/>
              </a:lnSpc>
              <a:buFont typeface="Arial" panose="020B0604020202020204" pitchFamily="34" charset="0"/>
              <a:buChar char="•"/>
            </a:pPr>
            <a:r>
              <a:rPr lang="en-US" altLang="zh-CN" sz="1400" dirty="0">
                <a:solidFill>
                  <a:srgbClr val="1A7BAE"/>
                </a:solidFill>
              </a:rPr>
              <a:t>Blitzer et al </a:t>
            </a:r>
            <a:r>
              <a:rPr lang="en-US" altLang="zh-CN" sz="1400" dirty="0" smtClean="0">
                <a:solidFill>
                  <a:srgbClr val="1A7BAE"/>
                </a:solidFill>
              </a:rPr>
              <a:t>Multi-domain sentiment dataset</a:t>
            </a:r>
            <a:r>
              <a:rPr lang="zh-CN" altLang="en-US" sz="1400" dirty="0" smtClean="0"/>
              <a:t>：来自亚马逊网站上多个类别（领域）产品的评论，也分成了正面</a:t>
            </a:r>
            <a:r>
              <a:rPr lang="en-US" altLang="zh-CN" sz="1400" dirty="0" smtClean="0"/>
              <a:t>/</a:t>
            </a:r>
            <a:r>
              <a:rPr lang="zh-CN" altLang="en-US" sz="1400" dirty="0" smtClean="0"/>
              <a:t>负面两种类型。</a:t>
            </a:r>
            <a:endParaRPr lang="en-US" altLang="zh-CN" sz="1400" dirty="0" smtClean="0"/>
          </a:p>
          <a:p>
            <a:pPr marL="285750" indent="-285750">
              <a:lnSpc>
                <a:spcPct val="150000"/>
              </a:lnSpc>
              <a:buFont typeface="Arial" panose="020B0604020202020204" pitchFamily="34" charset="0"/>
              <a:buChar char="•"/>
            </a:pPr>
            <a:r>
              <a:rPr lang="en-US" altLang="zh-CN" sz="1400" dirty="0">
                <a:solidFill>
                  <a:srgbClr val="1A7BAE"/>
                </a:solidFill>
              </a:rPr>
              <a:t>MPQA Opinion </a:t>
            </a:r>
            <a:r>
              <a:rPr lang="en-US" altLang="zh-CN" sz="1400" dirty="0" smtClean="0">
                <a:solidFill>
                  <a:srgbClr val="1A7BAE"/>
                </a:solidFill>
              </a:rPr>
              <a:t>Corpus</a:t>
            </a:r>
            <a:r>
              <a:rPr lang="zh-CN" altLang="en-US" sz="1400" dirty="0" smtClean="0"/>
              <a:t>：</a:t>
            </a:r>
            <a:r>
              <a:rPr lang="en-US" altLang="zh-CN" sz="1400" dirty="0"/>
              <a:t>Multi-Perspective Question </a:t>
            </a:r>
            <a:r>
              <a:rPr lang="en-US" altLang="zh-CN" sz="1400" dirty="0" smtClean="0"/>
              <a:t>Answering</a:t>
            </a:r>
            <a:r>
              <a:rPr lang="zh-CN" altLang="en-US" sz="1400" dirty="0" smtClean="0"/>
              <a:t>，来自新闻文本和其他文档，人工标注了文本意见和情绪状态。</a:t>
            </a:r>
            <a:endParaRPr lang="en-US" altLang="zh-CN" sz="1400" dirty="0" smtClean="0"/>
          </a:p>
          <a:p>
            <a:pPr marL="285750" indent="-285750">
              <a:lnSpc>
                <a:spcPct val="150000"/>
              </a:lnSpc>
              <a:buFont typeface="Arial" panose="020B0604020202020204" pitchFamily="34" charset="0"/>
              <a:buChar char="•"/>
            </a:pPr>
            <a:r>
              <a:rPr lang="en-US" altLang="zh-CN" sz="1400" dirty="0">
                <a:solidFill>
                  <a:srgbClr val="1A7BAE"/>
                </a:solidFill>
              </a:rPr>
              <a:t>Thomas, Pang, &amp; Lee, </a:t>
            </a:r>
            <a:r>
              <a:rPr lang="en-US" altLang="zh-CN" sz="1400" dirty="0" smtClean="0">
                <a:solidFill>
                  <a:srgbClr val="1A7BAE"/>
                </a:solidFill>
              </a:rPr>
              <a:t>2006</a:t>
            </a:r>
            <a:r>
              <a:rPr lang="zh-CN" altLang="en-US" sz="1400" dirty="0" smtClean="0"/>
              <a:t>：议会演讲文本数据，常用于政治领域的</a:t>
            </a:r>
            <a:r>
              <a:rPr lang="en-US" altLang="zh-CN" sz="1400" dirty="0" smtClean="0"/>
              <a:t>SA</a:t>
            </a:r>
            <a:r>
              <a:rPr lang="zh-CN" altLang="en-US" sz="1400" dirty="0" smtClean="0"/>
              <a:t>。</a:t>
            </a:r>
            <a:endParaRPr lang="en-US" altLang="zh-CN" sz="1400" dirty="0" smtClean="0"/>
          </a:p>
        </p:txBody>
      </p:sp>
    </p:spTree>
    <p:extLst>
      <p:ext uri="{BB962C8B-B14F-4D97-AF65-F5344CB8AC3E}">
        <p14:creationId xmlns:p14="http://schemas.microsoft.com/office/powerpoint/2010/main" val="265934611"/>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6" name="矩形 5"/>
          <p:cNvSpPr/>
          <p:nvPr/>
        </p:nvSpPr>
        <p:spPr>
          <a:xfrm>
            <a:off x="1" y="2166704"/>
            <a:ext cx="9144000" cy="45005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26495" y="-1433695"/>
            <a:ext cx="3531736" cy="8094524"/>
          </a:xfrm>
          <a:prstGeom prst="rect">
            <a:avLst/>
          </a:prstGeom>
          <a:noFill/>
          <a:effectLst>
            <a:outerShdw blurRad="165100" dist="76200" dir="1200000" algn="tl" rotWithShape="0">
              <a:prstClr val="black">
                <a:alpha val="10000"/>
              </a:prstClr>
            </a:outerShdw>
          </a:effectLst>
        </p:spPr>
        <p:txBody>
          <a:bodyPr wrap="none" rtlCol="0">
            <a:spAutoFit/>
          </a:bodyPr>
          <a:lstStyle/>
          <a:p>
            <a:r>
              <a:rPr lang="en-US" altLang="zh-CN" sz="52000" dirty="0" smtClean="0">
                <a:solidFill>
                  <a:schemeClr val="bg1"/>
                </a:solidFill>
                <a:latin typeface="+mj-lt"/>
              </a:rPr>
              <a:t>2</a:t>
            </a:r>
            <a:endParaRPr lang="zh-CN" altLang="en-US" sz="52000" dirty="0">
              <a:solidFill>
                <a:schemeClr val="bg1"/>
              </a:solidFill>
              <a:latin typeface="+mj-lt"/>
            </a:endParaRPr>
          </a:p>
        </p:txBody>
      </p:sp>
      <p:sp>
        <p:nvSpPr>
          <p:cNvPr id="5" name="矩形 4"/>
          <p:cNvSpPr/>
          <p:nvPr/>
        </p:nvSpPr>
        <p:spPr>
          <a:xfrm>
            <a:off x="3579089" y="2155090"/>
            <a:ext cx="5178376" cy="461665"/>
          </a:xfrm>
          <a:prstGeom prst="rect">
            <a:avLst/>
          </a:prstGeom>
        </p:spPr>
        <p:txBody>
          <a:bodyPr wrap="square">
            <a:spAutoFit/>
          </a:bodyPr>
          <a:lstStyle/>
          <a:p>
            <a:pPr algn="r"/>
            <a:r>
              <a:rPr lang="zh-CN" altLang="en-US" sz="2400" dirty="0">
                <a:solidFill>
                  <a:schemeClr val="bg1"/>
                </a:solidFill>
              </a:rPr>
              <a:t>用于描述</a:t>
            </a:r>
            <a:r>
              <a:rPr lang="en-US" altLang="zh-CN" sz="2400" dirty="0">
                <a:solidFill>
                  <a:schemeClr val="bg1"/>
                </a:solidFill>
              </a:rPr>
              <a:t>SN</a:t>
            </a:r>
            <a:r>
              <a:rPr lang="zh-CN" altLang="en-US" sz="2400" dirty="0">
                <a:solidFill>
                  <a:schemeClr val="bg1"/>
                </a:solidFill>
              </a:rPr>
              <a:t>结构和演化的一种模型</a:t>
            </a:r>
          </a:p>
        </p:txBody>
      </p:sp>
      <p:sp>
        <p:nvSpPr>
          <p:cNvPr id="3" name="矩形 2"/>
          <p:cNvSpPr/>
          <p:nvPr/>
        </p:nvSpPr>
        <p:spPr>
          <a:xfrm>
            <a:off x="6312629" y="1397264"/>
            <a:ext cx="2444836" cy="769441"/>
          </a:xfrm>
          <a:prstGeom prst="rect">
            <a:avLst/>
          </a:prstGeom>
        </p:spPr>
        <p:txBody>
          <a:bodyPr wrap="none">
            <a:spAutoFit/>
          </a:bodyPr>
          <a:lstStyle/>
          <a:p>
            <a:pPr lvl="0" algn="r"/>
            <a:r>
              <a:rPr lang="en-US" altLang="zh-CN" sz="4400">
                <a:solidFill>
                  <a:schemeClr val="bg1"/>
                </a:solidFill>
                <a:latin typeface="Impact"/>
              </a:rPr>
              <a:t>PART </a:t>
            </a:r>
            <a:r>
              <a:rPr lang="en-US" altLang="zh-CN" sz="4400" smtClean="0">
                <a:solidFill>
                  <a:schemeClr val="bg1"/>
                </a:solidFill>
                <a:latin typeface="Impact"/>
              </a:rPr>
              <a:t>TWO</a:t>
            </a:r>
            <a:endParaRPr lang="zh-CN" altLang="en-US" sz="4400">
              <a:solidFill>
                <a:schemeClr val="bg1"/>
              </a:solidFill>
              <a:latin typeface="Impact"/>
            </a:endParaRPr>
          </a:p>
        </p:txBody>
      </p:sp>
      <p:sp>
        <p:nvSpPr>
          <p:cNvPr id="25" name="矩形 24"/>
          <p:cNvSpPr/>
          <p:nvPr/>
        </p:nvSpPr>
        <p:spPr>
          <a:xfrm>
            <a:off x="3536885" y="2691666"/>
            <a:ext cx="5220580" cy="316369"/>
          </a:xfrm>
          <a:prstGeom prst="rect">
            <a:avLst/>
          </a:prstGeom>
        </p:spPr>
        <p:txBody>
          <a:bodyPr wrap="square">
            <a:spAutoFit/>
          </a:bodyPr>
          <a:lstStyle/>
          <a:p>
            <a:pPr algn="r">
              <a:lnSpc>
                <a:spcPct val="150000"/>
              </a:lnSpc>
            </a:pPr>
            <a:r>
              <a:rPr lang="en-US" altLang="zh-CN" sz="1100" dirty="0">
                <a:solidFill>
                  <a:schemeClr val="bg1"/>
                </a:solidFill>
                <a:latin typeface="+mn-ea"/>
              </a:rPr>
              <a:t>Structure and Evolution of Online Social Networks</a:t>
            </a:r>
            <a:endParaRPr lang="zh-CN" altLang="en-US" sz="1100" dirty="0">
              <a:solidFill>
                <a:schemeClr val="bg1"/>
              </a:solidFill>
              <a:latin typeface="+mn-ea"/>
            </a:endParaRPr>
          </a:p>
        </p:txBody>
      </p:sp>
    </p:spTree>
    <p:extLst>
      <p:ext uri="{BB962C8B-B14F-4D97-AF65-F5344CB8AC3E}">
        <p14:creationId xmlns:p14="http://schemas.microsoft.com/office/powerpoint/2010/main" val="1966888761"/>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3870455" cy="369332"/>
          </a:xfrm>
          <a:prstGeom prst="rect">
            <a:avLst/>
          </a:prstGeom>
          <a:noFill/>
        </p:spPr>
        <p:txBody>
          <a:bodyPr wrap="square" rtlCol="0">
            <a:spAutoFit/>
          </a:bodyPr>
          <a:lstStyle/>
          <a:p>
            <a:r>
              <a:rPr lang="zh-CN" altLang="en-US" dirty="0">
                <a:solidFill>
                  <a:schemeClr val="tx1">
                    <a:lumMod val="85000"/>
                    <a:lumOff val="15000"/>
                  </a:schemeClr>
                </a:solidFill>
                <a:latin typeface="Impact" pitchFamily="34" charset="0"/>
                <a:ea typeface="+mj-ea"/>
              </a:rPr>
              <a:t>用于描述</a:t>
            </a:r>
            <a:r>
              <a:rPr lang="en-US" altLang="zh-CN" dirty="0">
                <a:solidFill>
                  <a:schemeClr val="tx1">
                    <a:lumMod val="85000"/>
                    <a:lumOff val="15000"/>
                  </a:schemeClr>
                </a:solidFill>
                <a:latin typeface="Impact" pitchFamily="34" charset="0"/>
                <a:ea typeface="+mj-ea"/>
              </a:rPr>
              <a:t>SN</a:t>
            </a:r>
            <a:r>
              <a:rPr lang="zh-CN" altLang="en-US" dirty="0">
                <a:solidFill>
                  <a:schemeClr val="tx1">
                    <a:lumMod val="85000"/>
                    <a:lumOff val="15000"/>
                  </a:schemeClr>
                </a:solidFill>
                <a:latin typeface="Impact" pitchFamily="34" charset="0"/>
                <a:ea typeface="+mj-ea"/>
              </a:rPr>
              <a:t>结构和演化的一种模型</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Structure and Evolution of Online Social Networks</a:t>
            </a:r>
          </a:p>
        </p:txBody>
      </p:sp>
      <p:sp>
        <p:nvSpPr>
          <p:cNvPr id="2" name="文本框 1"/>
          <p:cNvSpPr txBox="1"/>
          <p:nvPr/>
        </p:nvSpPr>
        <p:spPr>
          <a:xfrm>
            <a:off x="611559" y="816555"/>
            <a:ext cx="5445606" cy="400110"/>
          </a:xfrm>
          <a:prstGeom prst="rect">
            <a:avLst/>
          </a:prstGeom>
          <a:noFill/>
        </p:spPr>
        <p:txBody>
          <a:bodyPr wrap="square" rtlCol="0">
            <a:spAutoFit/>
          </a:bodyPr>
          <a:lstStyle/>
          <a:p>
            <a:r>
              <a:rPr lang="en-US" altLang="zh-CN" sz="1000" dirty="0" smtClean="0">
                <a:solidFill>
                  <a:srgbClr val="002060"/>
                </a:solidFill>
              </a:rPr>
              <a:t>Kumar </a:t>
            </a:r>
            <a:r>
              <a:rPr lang="en-US" altLang="zh-CN" sz="1000" dirty="0">
                <a:solidFill>
                  <a:srgbClr val="002060"/>
                </a:solidFill>
              </a:rPr>
              <a:t>R, Novak J, Tomkins A. Structure and evolution of online social networks[M]//Link mining: models, algorithms, and applications. Springer New York, 2010: 337-357.</a:t>
            </a:r>
            <a:endParaRPr lang="zh-CN" altLang="en-US" sz="1000" dirty="0">
              <a:solidFill>
                <a:srgbClr val="002060"/>
              </a:solidFill>
            </a:endParaRPr>
          </a:p>
        </p:txBody>
      </p:sp>
      <mc:AlternateContent xmlns:mc="http://schemas.openxmlformats.org/markup-compatibility/2006" xmlns:a14="http://schemas.microsoft.com/office/drawing/2010/main">
        <mc:Choice Requires="a14">
          <p:sp>
            <p:nvSpPr>
              <p:cNvPr id="3" name="文本框 2"/>
              <p:cNvSpPr txBox="1"/>
              <p:nvPr/>
            </p:nvSpPr>
            <p:spPr>
              <a:xfrm>
                <a:off x="881590" y="1839053"/>
                <a:ext cx="7290810" cy="235449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smtClean="0"/>
                  <a:t>研究对象：</a:t>
                </a:r>
                <a:r>
                  <a:rPr lang="en-US" altLang="zh-CN" sz="1400" dirty="0"/>
                  <a:t> </a:t>
                </a:r>
                <a:r>
                  <a:rPr lang="en-US" altLang="zh-CN" sz="1400" dirty="0" err="1" smtClean="0"/>
                  <a:t>flickr</a:t>
                </a:r>
                <a:r>
                  <a:rPr lang="en-US" altLang="zh-CN" sz="1400" dirty="0" smtClean="0"/>
                  <a:t>(www.flickr.com</a:t>
                </a:r>
                <a:r>
                  <a:rPr lang="en-US" altLang="zh-CN" sz="1400" dirty="0"/>
                  <a:t>),</a:t>
                </a:r>
                <a:r>
                  <a:rPr lang="zh-CN" altLang="en-US" sz="1400" dirty="0" smtClean="0"/>
                  <a:t> </a:t>
                </a:r>
                <a:r>
                  <a:rPr lang="en-US" altLang="zh-CN" sz="1400" dirty="0"/>
                  <a:t>Yahoo</a:t>
                </a:r>
                <a:r>
                  <a:rPr lang="zh-CN" altLang="en-US" sz="1400" dirty="0"/>
                  <a:t>！</a:t>
                </a:r>
                <a:r>
                  <a:rPr lang="en-US" altLang="zh-CN" sz="1400" dirty="0"/>
                  <a:t>360(360.yahoo.com</a:t>
                </a:r>
                <a:r>
                  <a:rPr lang="en-US" altLang="zh-CN" sz="1400" dirty="0" smtClean="0"/>
                  <a:t>)</a:t>
                </a:r>
              </a:p>
              <a:p>
                <a:pPr marL="285750" indent="-285750">
                  <a:lnSpc>
                    <a:spcPct val="150000"/>
                  </a:lnSpc>
                  <a:buFont typeface="Arial" panose="020B0604020202020204" pitchFamily="34" charset="0"/>
                  <a:buChar char="•"/>
                </a:pPr>
                <a:r>
                  <a:rPr lang="zh-CN" altLang="en-US" sz="1400" dirty="0"/>
                  <a:t>数据</a:t>
                </a:r>
                <a:r>
                  <a:rPr lang="zh-CN" altLang="en-US" sz="1400" dirty="0" smtClean="0"/>
                  <a:t>集：数据集中信息包括所有</a:t>
                </a:r>
                <a:r>
                  <a:rPr lang="en-US" altLang="zh-CN" sz="1400" dirty="0" smtClean="0"/>
                  <a:t>Flickr</a:t>
                </a:r>
                <a:r>
                  <a:rPr lang="zh-CN" altLang="en-US" sz="1400" dirty="0" smtClean="0"/>
                  <a:t>和</a:t>
                </a:r>
                <a:r>
                  <a:rPr lang="en-US" altLang="zh-CN" sz="1400" dirty="0" smtClean="0"/>
                  <a:t>yahoo!360</a:t>
                </a:r>
                <a:r>
                  <a:rPr lang="zh-CN" altLang="en-US" sz="1400" dirty="0" smtClean="0"/>
                  <a:t>的用户加入该社交网络的时间，他的好友列表以及成为好友的时间信息。同时为了避免噪声的存在，只选取了从该平台发布到实验日期为止的信息作为对网络演化的研究数据。</a:t>
                </a:r>
                <a:endParaRPr lang="en-US" altLang="zh-CN" sz="1400" dirty="0" smtClean="0"/>
              </a:p>
              <a:p>
                <a:pPr marL="285750" indent="-285750">
                  <a:lnSpc>
                    <a:spcPct val="150000"/>
                  </a:lnSpc>
                  <a:buFont typeface="Arial" panose="020B0604020202020204" pitchFamily="34" charset="0"/>
                  <a:buChar char="•"/>
                </a:pPr>
                <a:r>
                  <a:rPr lang="zh-CN" altLang="en-US" sz="1400" dirty="0" smtClean="0"/>
                  <a:t>表示方式：使用有向的时间图</a:t>
                </a:r>
                <a14:m>
                  <m:oMath xmlns:m="http://schemas.openxmlformats.org/officeDocument/2006/math">
                    <m:r>
                      <a:rPr lang="en-US" altLang="zh-CN" sz="1400" b="0" i="1" smtClean="0">
                        <a:latin typeface="Cambria Math" panose="02040503050406030204" pitchFamily="18" charset="0"/>
                      </a:rPr>
                      <m:t>𝐺</m:t>
                    </m:r>
                    <m:r>
                      <a:rPr lang="en-US" altLang="zh-CN" sz="1400" b="0" i="1" smtClean="0">
                        <a:latin typeface="Cambria Math" panose="02040503050406030204" pitchFamily="18" charset="0"/>
                      </a:rPr>
                      <m:t>=</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𝑉</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𝐸</m:t>
                        </m:r>
                      </m:e>
                    </m:d>
                  </m:oMath>
                </a14:m>
                <a:r>
                  <a:rPr lang="en-US" altLang="zh-CN" sz="1400" dirty="0" smtClean="0"/>
                  <a:t>,</a:t>
                </a:r>
                <a:r>
                  <a:rPr lang="zh-CN" altLang="en-US" sz="1400" dirty="0" smtClean="0"/>
                  <a:t>对于每一个节点</a:t>
                </a:r>
                <a14:m>
                  <m:oMath xmlns:m="http://schemas.openxmlformats.org/officeDocument/2006/math">
                    <m:r>
                      <a:rPr lang="en-US" altLang="zh-CN" sz="1400" b="0" i="1" smtClean="0">
                        <a:latin typeface="Cambria Math" panose="02040503050406030204" pitchFamily="18" charset="0"/>
                      </a:rPr>
                      <m:t>𝑣</m:t>
                    </m:r>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𝑉</m:t>
                    </m:r>
                  </m:oMath>
                </a14:m>
                <a:r>
                  <a:rPr lang="zh-CN" altLang="en-US" sz="1400" dirty="0" smtClean="0"/>
                  <a:t>和边</a:t>
                </a:r>
                <a14:m>
                  <m:oMath xmlns:m="http://schemas.openxmlformats.org/officeDocument/2006/math">
                    <m:r>
                      <a:rPr lang="en-US" altLang="zh-CN" sz="1400" b="0" i="1" smtClean="0">
                        <a:latin typeface="Cambria Math" panose="02040503050406030204" pitchFamily="18" charset="0"/>
                      </a:rPr>
                      <m:t>&lt;</m:t>
                    </m:r>
                    <m:r>
                      <a:rPr lang="en-US" altLang="zh-CN" sz="1400" b="0" i="1" smtClean="0">
                        <a:latin typeface="Cambria Math" panose="02040503050406030204" pitchFamily="18" charset="0"/>
                      </a:rPr>
                      <m:t>𝑢</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𝑣</m:t>
                    </m:r>
                    <m:r>
                      <a:rPr lang="en-US" altLang="zh-CN" sz="1400" b="0" i="1" smtClean="0">
                        <a:latin typeface="Cambria Math" panose="02040503050406030204" pitchFamily="18" charset="0"/>
                      </a:rPr>
                      <m:t>&gt;∈</m:t>
                    </m:r>
                    <m:r>
                      <a:rPr lang="en-US" altLang="zh-CN" sz="1400" b="0" i="1" smtClean="0">
                        <a:latin typeface="Cambria Math" panose="02040503050406030204" pitchFamily="18" charset="0"/>
                        <a:ea typeface="Cambria Math" panose="02040503050406030204" pitchFamily="18" charset="0"/>
                      </a:rPr>
                      <m:t>𝐸</m:t>
                    </m:r>
                  </m:oMath>
                </a14:m>
                <a:r>
                  <a:rPr lang="zh-CN" altLang="en-US" sz="1400" dirty="0" smtClean="0"/>
                  <a:t>都有一个时间戳</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𝑣</m:t>
                        </m:r>
                      </m:e>
                      <m:sub>
                        <m:r>
                          <a:rPr lang="en-US" altLang="zh-CN" sz="1400" b="0" i="1" smtClean="0">
                            <a:latin typeface="Cambria Math" panose="02040503050406030204" pitchFamily="18" charset="0"/>
                          </a:rPr>
                          <m:t>𝑡</m:t>
                        </m:r>
                      </m:sub>
                    </m:sSub>
                  </m:oMath>
                </a14:m>
                <a:r>
                  <a:rPr lang="zh-CN" altLang="en-US" sz="1400" b="0" dirty="0" smtClean="0"/>
                  <a:t>和</a:t>
                </a:r>
                <a14:m>
                  <m:oMath xmlns:m="http://schemas.openxmlformats.org/officeDocument/2006/math">
                    <m:r>
                      <a:rPr lang="en-US" altLang="zh-CN" sz="1400" b="0" i="1" dirty="0" smtClean="0">
                        <a:latin typeface="Cambria Math" panose="02040503050406030204" pitchFamily="18" charset="0"/>
                      </a:rPr>
                      <m:t>&lt;</m:t>
                    </m:r>
                    <m:r>
                      <a:rPr lang="en-US" altLang="zh-CN" sz="1400" b="0" i="1" dirty="0" smtClean="0">
                        <a:latin typeface="Cambria Math" panose="02040503050406030204" pitchFamily="18" charset="0"/>
                      </a:rPr>
                      <m:t>𝑢</m:t>
                    </m:r>
                    <m:r>
                      <a:rPr lang="en-US" altLang="zh-CN" sz="1400" b="0" i="1" dirty="0" smtClean="0">
                        <a:latin typeface="Cambria Math" panose="02040503050406030204" pitchFamily="18" charset="0"/>
                      </a:rPr>
                      <m:t>,</m:t>
                    </m:r>
                    <m:r>
                      <a:rPr lang="en-US" altLang="zh-CN" sz="1400" b="0" i="1" dirty="0" smtClean="0">
                        <a:latin typeface="Cambria Math" panose="02040503050406030204" pitchFamily="18" charset="0"/>
                      </a:rPr>
                      <m:t>𝑣</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&gt;</m:t>
                        </m:r>
                      </m:e>
                      <m:sub>
                        <m:r>
                          <a:rPr lang="en-US" altLang="zh-CN" sz="1400" b="0" i="1" dirty="0" smtClean="0">
                            <a:latin typeface="Cambria Math" panose="02040503050406030204" pitchFamily="18" charset="0"/>
                          </a:rPr>
                          <m:t>𝑡</m:t>
                        </m:r>
                      </m:sub>
                    </m:sSub>
                  </m:oMath>
                </a14:m>
                <a:r>
                  <a:rPr lang="zh-CN" altLang="en-US" sz="1400" b="0" dirty="0" smtClean="0"/>
                  <a:t>来表示该节点或该边加入网络的时间，同时对于任意时刻</a:t>
                </a:r>
                <a:r>
                  <a:rPr lang="en-US" altLang="zh-CN" sz="1400" b="0" dirty="0" smtClean="0"/>
                  <a:t>t</a:t>
                </a:r>
                <a:r>
                  <a:rPr lang="zh-CN" altLang="en-US" sz="1400" b="0" dirty="0" smtClean="0"/>
                  <a:t>都有一个自然图</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𝐺</m:t>
                        </m:r>
                      </m:e>
                      <m:sub>
                        <m:r>
                          <a:rPr lang="en-US" altLang="zh-CN" sz="1400" b="0" i="1" smtClean="0">
                            <a:latin typeface="Cambria Math" panose="02040503050406030204" pitchFamily="18" charset="0"/>
                          </a:rPr>
                          <m:t>𝑡</m:t>
                        </m:r>
                      </m:sub>
                    </m:sSub>
                  </m:oMath>
                </a14:m>
                <a:r>
                  <a:rPr lang="zh-CN" altLang="en-US" sz="1400" b="0" dirty="0" smtClean="0"/>
                  <a:t>包含到时刻</a:t>
                </a:r>
                <a:r>
                  <a:rPr lang="en-US" altLang="zh-CN" sz="1400" b="0" dirty="0" smtClean="0"/>
                  <a:t>t</a:t>
                </a:r>
                <a:r>
                  <a:rPr lang="zh-CN" altLang="en-US" sz="1400" dirty="0" smtClean="0"/>
                  <a:t>为止加入网络的节点和边。</a:t>
                </a:r>
                <a:endParaRPr lang="en-US" altLang="zh-CN" sz="1400" b="0" dirty="0" smtClean="0"/>
              </a:p>
            </p:txBody>
          </p:sp>
        </mc:Choice>
        <mc:Fallback xmlns="">
          <p:sp>
            <p:nvSpPr>
              <p:cNvPr id="3" name="文本框 2"/>
              <p:cNvSpPr txBox="1">
                <a:spLocks noRot="1" noChangeAspect="1" noMove="1" noResize="1" noEditPoints="1" noAdjustHandles="1" noChangeArrowheads="1" noChangeShapeType="1" noTextEdit="1"/>
              </p:cNvSpPr>
              <p:nvPr/>
            </p:nvSpPr>
            <p:spPr>
              <a:xfrm>
                <a:off x="881590" y="1839053"/>
                <a:ext cx="7290810" cy="2354491"/>
              </a:xfrm>
              <a:prstGeom prst="rect">
                <a:avLst/>
              </a:prstGeom>
              <a:blipFill>
                <a:blip r:embed="rId2"/>
                <a:stretch>
                  <a:fillRect l="-1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48713044"/>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3870455" cy="369332"/>
          </a:xfrm>
          <a:prstGeom prst="rect">
            <a:avLst/>
          </a:prstGeom>
          <a:noFill/>
        </p:spPr>
        <p:txBody>
          <a:bodyPr wrap="square" rtlCol="0">
            <a:spAutoFit/>
          </a:bodyPr>
          <a:lstStyle/>
          <a:p>
            <a:r>
              <a:rPr lang="zh-CN" altLang="en-US" dirty="0">
                <a:solidFill>
                  <a:schemeClr val="tx1">
                    <a:lumMod val="85000"/>
                    <a:lumOff val="15000"/>
                  </a:schemeClr>
                </a:solidFill>
                <a:latin typeface="Impact" pitchFamily="34" charset="0"/>
                <a:ea typeface="+mj-ea"/>
              </a:rPr>
              <a:t>用于描述</a:t>
            </a:r>
            <a:r>
              <a:rPr lang="en-US" altLang="zh-CN" dirty="0">
                <a:solidFill>
                  <a:schemeClr val="tx1">
                    <a:lumMod val="85000"/>
                    <a:lumOff val="15000"/>
                  </a:schemeClr>
                </a:solidFill>
                <a:latin typeface="Impact" pitchFamily="34" charset="0"/>
                <a:ea typeface="+mj-ea"/>
              </a:rPr>
              <a:t>SN</a:t>
            </a:r>
            <a:r>
              <a:rPr lang="zh-CN" altLang="en-US" dirty="0">
                <a:solidFill>
                  <a:schemeClr val="tx1">
                    <a:lumMod val="85000"/>
                    <a:lumOff val="15000"/>
                  </a:schemeClr>
                </a:solidFill>
                <a:latin typeface="Impact" pitchFamily="34" charset="0"/>
                <a:ea typeface="+mj-ea"/>
              </a:rPr>
              <a:t>结构和演化的一种模型</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Structure and Evolution of Online Social Networks</a:t>
            </a:r>
          </a:p>
        </p:txBody>
      </p:sp>
      <p:sp>
        <p:nvSpPr>
          <p:cNvPr id="2" name="文本框 1"/>
          <p:cNvSpPr txBox="1"/>
          <p:nvPr/>
        </p:nvSpPr>
        <p:spPr>
          <a:xfrm>
            <a:off x="836585" y="1896675"/>
            <a:ext cx="7650850" cy="2354491"/>
          </a:xfrm>
          <a:prstGeom prst="rect">
            <a:avLst/>
          </a:prstGeom>
          <a:noFill/>
        </p:spPr>
        <p:txBody>
          <a:bodyPr wrap="square" rtlCol="0">
            <a:spAutoFit/>
          </a:bodyPr>
          <a:lstStyle/>
          <a:p>
            <a:pPr>
              <a:lnSpc>
                <a:spcPct val="150000"/>
              </a:lnSpc>
            </a:pPr>
            <a:r>
              <a:rPr lang="zh-CN" altLang="en-US" sz="1400" dirty="0" smtClean="0"/>
              <a:t>根据用户行为将用户分为三个用户组</a:t>
            </a:r>
            <a:r>
              <a:rPr lang="en-US" altLang="zh-CN" sz="1400" dirty="0" smtClean="0"/>
              <a:t>:</a:t>
            </a:r>
          </a:p>
          <a:p>
            <a:pPr>
              <a:lnSpc>
                <a:spcPct val="150000"/>
              </a:lnSpc>
            </a:pPr>
            <a:r>
              <a:rPr lang="en-US" altLang="zh-CN" sz="1400" dirty="0" smtClean="0">
                <a:solidFill>
                  <a:srgbClr val="92D050"/>
                </a:solidFill>
              </a:rPr>
              <a:t>Singletons</a:t>
            </a:r>
            <a:r>
              <a:rPr lang="en-US" altLang="zh-CN" sz="1400" dirty="0" smtClean="0"/>
              <a:t>:</a:t>
            </a:r>
            <a:r>
              <a:rPr lang="zh-CN" altLang="en-US" sz="1400" dirty="0"/>
              <a:t> </a:t>
            </a:r>
            <a:r>
              <a:rPr lang="zh-CN" altLang="en-US" sz="1400" dirty="0" smtClean="0"/>
              <a:t>度为</a:t>
            </a:r>
            <a:r>
              <a:rPr lang="en-US" altLang="zh-CN" sz="1400" dirty="0" smtClean="0"/>
              <a:t>0</a:t>
            </a:r>
            <a:r>
              <a:rPr lang="zh-CN" altLang="en-US" sz="1400" dirty="0" smtClean="0"/>
              <a:t>的用户，即加入了网络但是没有与其他用户产生连接。</a:t>
            </a:r>
            <a:endParaRPr lang="en-US" altLang="zh-CN" sz="1400" dirty="0" smtClean="0"/>
          </a:p>
          <a:p>
            <a:pPr>
              <a:lnSpc>
                <a:spcPct val="150000"/>
              </a:lnSpc>
            </a:pPr>
            <a:r>
              <a:rPr lang="en-US" altLang="zh-CN" sz="1400" dirty="0" smtClean="0">
                <a:solidFill>
                  <a:srgbClr val="92D050"/>
                </a:solidFill>
              </a:rPr>
              <a:t>Giant component</a:t>
            </a:r>
            <a:r>
              <a:rPr lang="zh-CN" altLang="en-US" sz="1400" dirty="0" smtClean="0"/>
              <a:t>：积极与社交网络中的其他用户进行连接的用户，社交网络中的大部分用户处于这个用户组。</a:t>
            </a:r>
            <a:endParaRPr lang="en-US" altLang="zh-CN" sz="1400" dirty="0" smtClean="0"/>
          </a:p>
          <a:p>
            <a:pPr>
              <a:lnSpc>
                <a:spcPct val="150000"/>
              </a:lnSpc>
            </a:pPr>
            <a:r>
              <a:rPr lang="en-US" altLang="zh-CN" sz="1400" dirty="0" smtClean="0">
                <a:solidFill>
                  <a:srgbClr val="92D050"/>
                </a:solidFill>
              </a:rPr>
              <a:t>Middle region</a:t>
            </a:r>
            <a:r>
              <a:rPr lang="zh-CN" altLang="en-US" sz="1400" dirty="0" smtClean="0"/>
              <a:t>：剩余的用户组成了</a:t>
            </a:r>
            <a:r>
              <a:rPr lang="en-US" altLang="zh-CN" sz="1400" dirty="0" smtClean="0"/>
              <a:t>Middle region</a:t>
            </a:r>
            <a:r>
              <a:rPr lang="zh-CN" altLang="en-US" sz="1400" dirty="0" smtClean="0"/>
              <a:t>， 这些用户处于孤立的社区或小群体之中，他们与群体内的用户产生连接但不与整个网络其他用户进行交互</a:t>
            </a:r>
            <a:endParaRPr lang="en-US" altLang="zh-CN" sz="1400" dirty="0" smtClean="0"/>
          </a:p>
          <a:p>
            <a:pPr>
              <a:lnSpc>
                <a:spcPct val="150000"/>
              </a:lnSpc>
            </a:pPr>
            <a:endParaRPr lang="zh-CN" altLang="en-US" sz="1400" dirty="0"/>
          </a:p>
        </p:txBody>
      </p:sp>
    </p:spTree>
    <p:extLst>
      <p:ext uri="{BB962C8B-B14F-4D97-AF65-F5344CB8AC3E}">
        <p14:creationId xmlns:p14="http://schemas.microsoft.com/office/powerpoint/2010/main" val="1833353441"/>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3870455" cy="369332"/>
          </a:xfrm>
          <a:prstGeom prst="rect">
            <a:avLst/>
          </a:prstGeom>
          <a:noFill/>
        </p:spPr>
        <p:txBody>
          <a:bodyPr wrap="square" rtlCol="0">
            <a:spAutoFit/>
          </a:bodyPr>
          <a:lstStyle/>
          <a:p>
            <a:r>
              <a:rPr lang="zh-CN" altLang="en-US" dirty="0">
                <a:solidFill>
                  <a:schemeClr val="tx1">
                    <a:lumMod val="85000"/>
                    <a:lumOff val="15000"/>
                  </a:schemeClr>
                </a:solidFill>
                <a:latin typeface="Impact" pitchFamily="34" charset="0"/>
                <a:ea typeface="+mj-ea"/>
              </a:rPr>
              <a:t>用于描述</a:t>
            </a:r>
            <a:r>
              <a:rPr lang="en-US" altLang="zh-CN" dirty="0">
                <a:solidFill>
                  <a:schemeClr val="tx1">
                    <a:lumMod val="85000"/>
                    <a:lumOff val="15000"/>
                  </a:schemeClr>
                </a:solidFill>
                <a:latin typeface="Impact" pitchFamily="34" charset="0"/>
                <a:ea typeface="+mj-ea"/>
              </a:rPr>
              <a:t>SN</a:t>
            </a:r>
            <a:r>
              <a:rPr lang="zh-CN" altLang="en-US" dirty="0">
                <a:solidFill>
                  <a:schemeClr val="tx1">
                    <a:lumMod val="85000"/>
                    <a:lumOff val="15000"/>
                  </a:schemeClr>
                </a:solidFill>
                <a:latin typeface="Impact" pitchFamily="34" charset="0"/>
                <a:ea typeface="+mj-ea"/>
              </a:rPr>
              <a:t>结构和演化的一种模型</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Structure and Evolution of Online Social Networks</a:t>
            </a:r>
          </a:p>
        </p:txBody>
      </p:sp>
      <p:sp>
        <p:nvSpPr>
          <p:cNvPr id="2" name="文本框 1"/>
          <p:cNvSpPr txBox="1"/>
          <p:nvPr/>
        </p:nvSpPr>
        <p:spPr>
          <a:xfrm>
            <a:off x="926595" y="1221600"/>
            <a:ext cx="7335815" cy="307777"/>
          </a:xfrm>
          <a:prstGeom prst="rect">
            <a:avLst/>
          </a:prstGeom>
          <a:noFill/>
        </p:spPr>
        <p:txBody>
          <a:bodyPr wrap="square" rtlCol="0">
            <a:spAutoFit/>
          </a:bodyPr>
          <a:lstStyle/>
          <a:p>
            <a:r>
              <a:rPr lang="en-US" altLang="zh-CN" sz="1400" dirty="0" smtClean="0"/>
              <a:t>Q1</a:t>
            </a:r>
            <a:r>
              <a:rPr lang="zh-CN" altLang="en-US" sz="1400" dirty="0" smtClean="0"/>
              <a:t>：在社交网络中朋友关系是互惠的吗？</a:t>
            </a:r>
            <a:endParaRPr lang="en-US" altLang="zh-CN" sz="1400" dirty="0" smtClean="0"/>
          </a:p>
        </p:txBody>
      </p:sp>
      <p:sp>
        <p:nvSpPr>
          <p:cNvPr id="4" name="文本框 3"/>
          <p:cNvSpPr txBox="1"/>
          <p:nvPr/>
        </p:nvSpPr>
        <p:spPr>
          <a:xfrm>
            <a:off x="1016605" y="1766595"/>
            <a:ext cx="6795755" cy="307777"/>
          </a:xfrm>
          <a:prstGeom prst="rect">
            <a:avLst/>
          </a:prstGeom>
          <a:noFill/>
        </p:spPr>
        <p:txBody>
          <a:bodyPr wrap="square" rtlCol="0">
            <a:spAutoFit/>
          </a:bodyPr>
          <a:lstStyle/>
          <a:p>
            <a:r>
              <a:rPr lang="zh-CN" altLang="en-US" sz="1400" dirty="0" smtClean="0"/>
              <a:t>对</a:t>
            </a:r>
            <a:r>
              <a:rPr lang="en-US" altLang="zh-CN" sz="1400" dirty="0" smtClean="0"/>
              <a:t>Flickr</a:t>
            </a:r>
            <a:r>
              <a:rPr lang="zh-CN" altLang="en-US" sz="1400" dirty="0" smtClean="0"/>
              <a:t>上的节点间相互连接建立时间进行分析，结果如图：</a:t>
            </a:r>
            <a:endParaRPr lang="zh-CN" altLang="en-US" sz="1400" dirty="0"/>
          </a:p>
        </p:txBody>
      </p:sp>
      <p:pic>
        <p:nvPicPr>
          <p:cNvPr id="5" name="图片 4"/>
          <p:cNvPicPr>
            <a:picLocks noChangeAspect="1"/>
          </p:cNvPicPr>
          <p:nvPr/>
        </p:nvPicPr>
        <p:blipFill>
          <a:blip r:embed="rId2"/>
          <a:stretch>
            <a:fillRect/>
          </a:stretch>
        </p:blipFill>
        <p:spPr>
          <a:xfrm>
            <a:off x="1241630" y="2166705"/>
            <a:ext cx="3870000" cy="2483267"/>
          </a:xfrm>
          <a:prstGeom prst="rect">
            <a:avLst/>
          </a:prstGeom>
        </p:spPr>
      </p:pic>
      <p:sp>
        <p:nvSpPr>
          <p:cNvPr id="6" name="文本框 5"/>
          <p:cNvSpPr txBox="1"/>
          <p:nvPr/>
        </p:nvSpPr>
        <p:spPr>
          <a:xfrm>
            <a:off x="5472100" y="2796775"/>
            <a:ext cx="2655295" cy="954107"/>
          </a:xfrm>
          <a:prstGeom prst="rect">
            <a:avLst/>
          </a:prstGeom>
          <a:noFill/>
        </p:spPr>
        <p:txBody>
          <a:bodyPr wrap="square" rtlCol="0">
            <a:spAutoFit/>
          </a:bodyPr>
          <a:lstStyle/>
          <a:p>
            <a:r>
              <a:rPr lang="zh-CN" altLang="en-US" sz="1400" dirty="0" smtClean="0"/>
              <a:t>表明大部分节点间的相互关系都是快速建立起来的，因此对于网络的表示方式可以由有向图改为无向图。</a:t>
            </a:r>
            <a:endParaRPr lang="zh-CN" altLang="en-US" sz="1400" dirty="0"/>
          </a:p>
        </p:txBody>
      </p:sp>
      <p:sp>
        <p:nvSpPr>
          <p:cNvPr id="8" name="文本框 7"/>
          <p:cNvSpPr txBox="1"/>
          <p:nvPr/>
        </p:nvSpPr>
        <p:spPr>
          <a:xfrm>
            <a:off x="476520" y="816555"/>
            <a:ext cx="3915460" cy="369332"/>
          </a:xfrm>
          <a:prstGeom prst="rect">
            <a:avLst/>
          </a:prstGeom>
          <a:noFill/>
        </p:spPr>
        <p:txBody>
          <a:bodyPr wrap="square" rtlCol="0">
            <a:spAutoFit/>
          </a:bodyPr>
          <a:lstStyle/>
          <a:p>
            <a:r>
              <a:rPr lang="zh-CN" altLang="en-US" dirty="0" smtClean="0">
                <a:solidFill>
                  <a:srgbClr val="00B050"/>
                </a:solidFill>
              </a:rPr>
              <a:t>对实验数据的分析</a:t>
            </a:r>
            <a:endParaRPr lang="zh-CN" altLang="en-US" dirty="0">
              <a:solidFill>
                <a:srgbClr val="00B050"/>
              </a:solidFill>
            </a:endParaRPr>
          </a:p>
        </p:txBody>
      </p:sp>
    </p:spTree>
    <p:extLst>
      <p:ext uri="{BB962C8B-B14F-4D97-AF65-F5344CB8AC3E}">
        <p14:creationId xmlns:p14="http://schemas.microsoft.com/office/powerpoint/2010/main" val="1523104495"/>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3870455" cy="369332"/>
          </a:xfrm>
          <a:prstGeom prst="rect">
            <a:avLst/>
          </a:prstGeom>
          <a:noFill/>
        </p:spPr>
        <p:txBody>
          <a:bodyPr wrap="square" rtlCol="0">
            <a:spAutoFit/>
          </a:bodyPr>
          <a:lstStyle/>
          <a:p>
            <a:r>
              <a:rPr lang="zh-CN" altLang="en-US" dirty="0">
                <a:solidFill>
                  <a:schemeClr val="tx1">
                    <a:lumMod val="85000"/>
                    <a:lumOff val="15000"/>
                  </a:schemeClr>
                </a:solidFill>
                <a:latin typeface="Impact" pitchFamily="34" charset="0"/>
                <a:ea typeface="+mj-ea"/>
              </a:rPr>
              <a:t>用于描述</a:t>
            </a:r>
            <a:r>
              <a:rPr lang="en-US" altLang="zh-CN" dirty="0">
                <a:solidFill>
                  <a:schemeClr val="tx1">
                    <a:lumMod val="85000"/>
                    <a:lumOff val="15000"/>
                  </a:schemeClr>
                </a:solidFill>
                <a:latin typeface="Impact" pitchFamily="34" charset="0"/>
                <a:ea typeface="+mj-ea"/>
              </a:rPr>
              <a:t>SN</a:t>
            </a:r>
            <a:r>
              <a:rPr lang="zh-CN" altLang="en-US" dirty="0">
                <a:solidFill>
                  <a:schemeClr val="tx1">
                    <a:lumMod val="85000"/>
                    <a:lumOff val="15000"/>
                  </a:schemeClr>
                </a:solidFill>
                <a:latin typeface="Impact" pitchFamily="34" charset="0"/>
                <a:ea typeface="+mj-ea"/>
              </a:rPr>
              <a:t>结构和演化的一种模型</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Structure and Evolution of Online Social Networks</a:t>
            </a:r>
          </a:p>
        </p:txBody>
      </p:sp>
      <p:sp>
        <p:nvSpPr>
          <p:cNvPr id="4" name="文本框 3"/>
          <p:cNvSpPr txBox="1"/>
          <p:nvPr/>
        </p:nvSpPr>
        <p:spPr>
          <a:xfrm>
            <a:off x="926595" y="1221600"/>
            <a:ext cx="7335815" cy="307777"/>
          </a:xfrm>
          <a:prstGeom prst="rect">
            <a:avLst/>
          </a:prstGeom>
          <a:noFill/>
        </p:spPr>
        <p:txBody>
          <a:bodyPr wrap="square" rtlCol="0">
            <a:spAutoFit/>
          </a:bodyPr>
          <a:lstStyle/>
          <a:p>
            <a:r>
              <a:rPr lang="en-US" altLang="zh-CN" sz="1400" dirty="0" smtClean="0"/>
              <a:t>Q2</a:t>
            </a:r>
            <a:r>
              <a:rPr lang="zh-CN" altLang="en-US" sz="1400" dirty="0" smtClean="0"/>
              <a:t>：社交网络中的密度变化如何？</a:t>
            </a:r>
            <a:endParaRPr lang="en-US" altLang="zh-CN" sz="1400" dirty="0" smtClean="0"/>
          </a:p>
        </p:txBody>
      </p:sp>
      <p:pic>
        <p:nvPicPr>
          <p:cNvPr id="8" name="图片 7"/>
          <p:cNvPicPr>
            <a:picLocks noChangeAspect="1"/>
          </p:cNvPicPr>
          <p:nvPr/>
        </p:nvPicPr>
        <p:blipFill>
          <a:blip r:embed="rId2"/>
          <a:stretch>
            <a:fillRect/>
          </a:stretch>
        </p:blipFill>
        <p:spPr>
          <a:xfrm>
            <a:off x="1196625" y="1548689"/>
            <a:ext cx="3015335" cy="2005030"/>
          </a:xfrm>
          <a:prstGeom prst="rect">
            <a:avLst/>
          </a:prstGeom>
        </p:spPr>
      </p:pic>
      <p:pic>
        <p:nvPicPr>
          <p:cNvPr id="9" name="图片 8"/>
          <p:cNvPicPr>
            <a:picLocks noChangeAspect="1"/>
          </p:cNvPicPr>
          <p:nvPr/>
        </p:nvPicPr>
        <p:blipFill>
          <a:blip r:embed="rId3"/>
          <a:stretch>
            <a:fillRect/>
          </a:stretch>
        </p:blipFill>
        <p:spPr>
          <a:xfrm>
            <a:off x="5427095" y="1548688"/>
            <a:ext cx="3036384" cy="2005031"/>
          </a:xfrm>
          <a:prstGeom prst="rect">
            <a:avLst/>
          </a:prstGeom>
        </p:spPr>
      </p:pic>
      <p:sp>
        <p:nvSpPr>
          <p:cNvPr id="10" name="文本框 9"/>
          <p:cNvSpPr txBox="1"/>
          <p:nvPr/>
        </p:nvSpPr>
        <p:spPr>
          <a:xfrm>
            <a:off x="3491880" y="3786885"/>
            <a:ext cx="2700300" cy="945105"/>
          </a:xfrm>
          <a:prstGeom prst="rect">
            <a:avLst/>
          </a:prstGeom>
          <a:noFill/>
        </p:spPr>
        <p:txBody>
          <a:bodyPr wrap="square" rtlCol="0">
            <a:spAutoFit/>
          </a:bodyPr>
          <a:lstStyle/>
          <a:p>
            <a:r>
              <a:rPr lang="zh-CN" altLang="en-US" sz="1400" dirty="0" smtClean="0"/>
              <a:t>可以看出明显存在三个阶段：</a:t>
            </a:r>
            <a:endParaRPr lang="en-US" altLang="zh-CN" sz="1400" dirty="0" smtClean="0"/>
          </a:p>
          <a:p>
            <a:pPr marL="285750" indent="-285750">
              <a:buFont typeface="Arial" panose="020B0604020202020204" pitchFamily="34" charset="0"/>
              <a:buChar char="•"/>
            </a:pPr>
            <a:r>
              <a:rPr lang="zh-CN" altLang="en-US" sz="1400" dirty="0" smtClean="0"/>
              <a:t>快速上升期</a:t>
            </a:r>
            <a:endParaRPr lang="en-US" altLang="zh-CN" sz="1400" dirty="0" smtClean="0"/>
          </a:p>
          <a:p>
            <a:pPr marL="285750" indent="-285750">
              <a:buFont typeface="Arial" panose="020B0604020202020204" pitchFamily="34" charset="0"/>
              <a:buChar char="•"/>
            </a:pPr>
            <a:r>
              <a:rPr lang="zh-CN" altLang="en-US" sz="1400" dirty="0"/>
              <a:t>一</a:t>
            </a:r>
            <a:r>
              <a:rPr lang="zh-CN" altLang="en-US" sz="1400" dirty="0" smtClean="0"/>
              <a:t>个台阶式下降</a:t>
            </a:r>
            <a:endParaRPr lang="en-US" altLang="zh-CN" sz="1400" dirty="0" smtClean="0"/>
          </a:p>
          <a:p>
            <a:pPr marL="285750" indent="-285750">
              <a:buFont typeface="Arial" panose="020B0604020202020204" pitchFamily="34" charset="0"/>
              <a:buChar char="•"/>
            </a:pPr>
            <a:r>
              <a:rPr lang="zh-CN" altLang="en-US" sz="1400" dirty="0"/>
              <a:t>保持</a:t>
            </a:r>
            <a:r>
              <a:rPr lang="zh-CN" altLang="en-US" sz="1400" dirty="0" smtClean="0"/>
              <a:t>缓慢但稳定的上升</a:t>
            </a:r>
            <a:endParaRPr lang="en-US" altLang="zh-CN" sz="1400" dirty="0" smtClean="0"/>
          </a:p>
        </p:txBody>
      </p:sp>
    </p:spTree>
    <p:extLst>
      <p:ext uri="{BB962C8B-B14F-4D97-AF65-F5344CB8AC3E}">
        <p14:creationId xmlns:p14="http://schemas.microsoft.com/office/powerpoint/2010/main" val="12947253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3870455" cy="369332"/>
          </a:xfrm>
          <a:prstGeom prst="rect">
            <a:avLst/>
          </a:prstGeom>
          <a:noFill/>
        </p:spPr>
        <p:txBody>
          <a:bodyPr wrap="square" rtlCol="0">
            <a:spAutoFit/>
          </a:bodyPr>
          <a:lstStyle/>
          <a:p>
            <a:r>
              <a:rPr lang="zh-CN" altLang="en-US" dirty="0">
                <a:solidFill>
                  <a:schemeClr val="tx1">
                    <a:lumMod val="85000"/>
                    <a:lumOff val="15000"/>
                  </a:schemeClr>
                </a:solidFill>
                <a:latin typeface="Impact" pitchFamily="34" charset="0"/>
                <a:ea typeface="+mj-ea"/>
              </a:rPr>
              <a:t>用于描述</a:t>
            </a:r>
            <a:r>
              <a:rPr lang="en-US" altLang="zh-CN" dirty="0">
                <a:solidFill>
                  <a:schemeClr val="tx1">
                    <a:lumMod val="85000"/>
                    <a:lumOff val="15000"/>
                  </a:schemeClr>
                </a:solidFill>
                <a:latin typeface="Impact" pitchFamily="34" charset="0"/>
                <a:ea typeface="+mj-ea"/>
              </a:rPr>
              <a:t>SN</a:t>
            </a:r>
            <a:r>
              <a:rPr lang="zh-CN" altLang="en-US" dirty="0">
                <a:solidFill>
                  <a:schemeClr val="tx1">
                    <a:lumMod val="85000"/>
                    <a:lumOff val="15000"/>
                  </a:schemeClr>
                </a:solidFill>
                <a:latin typeface="Impact" pitchFamily="34" charset="0"/>
                <a:ea typeface="+mj-ea"/>
              </a:rPr>
              <a:t>结构和演化的一种模型</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Structure and Evolution of Online Social Networks</a:t>
            </a:r>
          </a:p>
        </p:txBody>
      </p:sp>
      <p:sp>
        <p:nvSpPr>
          <p:cNvPr id="4" name="文本框 3"/>
          <p:cNvSpPr txBox="1"/>
          <p:nvPr/>
        </p:nvSpPr>
        <p:spPr>
          <a:xfrm>
            <a:off x="926595" y="1221600"/>
            <a:ext cx="7335815" cy="307777"/>
          </a:xfrm>
          <a:prstGeom prst="rect">
            <a:avLst/>
          </a:prstGeom>
          <a:noFill/>
        </p:spPr>
        <p:txBody>
          <a:bodyPr wrap="square" rtlCol="0">
            <a:spAutoFit/>
          </a:bodyPr>
          <a:lstStyle/>
          <a:p>
            <a:r>
              <a:rPr lang="en-US" altLang="zh-CN" sz="1400" dirty="0" smtClean="0"/>
              <a:t>Q3</a:t>
            </a:r>
            <a:r>
              <a:rPr lang="zh-CN" altLang="en-US" sz="1400" dirty="0" smtClean="0"/>
              <a:t>：社交网络中的不同用户组的动态变化如何？</a:t>
            </a:r>
            <a:endParaRPr lang="en-US" altLang="zh-CN" sz="1400" dirty="0" smtClean="0"/>
          </a:p>
        </p:txBody>
      </p:sp>
      <p:pic>
        <p:nvPicPr>
          <p:cNvPr id="3" name="图片 2"/>
          <p:cNvPicPr>
            <a:picLocks noChangeAspect="1"/>
          </p:cNvPicPr>
          <p:nvPr/>
        </p:nvPicPr>
        <p:blipFill>
          <a:blip r:embed="rId2"/>
          <a:stretch>
            <a:fillRect/>
          </a:stretch>
        </p:blipFill>
        <p:spPr>
          <a:xfrm>
            <a:off x="386535" y="1838804"/>
            <a:ext cx="3870000" cy="2586200"/>
          </a:xfrm>
          <a:prstGeom prst="rect">
            <a:avLst/>
          </a:prstGeom>
        </p:spPr>
      </p:pic>
      <p:pic>
        <p:nvPicPr>
          <p:cNvPr id="5" name="图片 4"/>
          <p:cNvPicPr>
            <a:picLocks noChangeAspect="1"/>
          </p:cNvPicPr>
          <p:nvPr/>
        </p:nvPicPr>
        <p:blipFill>
          <a:blip r:embed="rId3"/>
          <a:stretch>
            <a:fillRect/>
          </a:stretch>
        </p:blipFill>
        <p:spPr>
          <a:xfrm>
            <a:off x="4346975" y="1851670"/>
            <a:ext cx="3870000" cy="2573334"/>
          </a:xfrm>
          <a:prstGeom prst="rect">
            <a:avLst/>
          </a:prstGeom>
        </p:spPr>
      </p:pic>
      <p:sp>
        <p:nvSpPr>
          <p:cNvPr id="6" name="文本框 5"/>
          <p:cNvSpPr txBox="1"/>
          <p:nvPr/>
        </p:nvSpPr>
        <p:spPr>
          <a:xfrm>
            <a:off x="2681360" y="1520202"/>
            <a:ext cx="3240790" cy="318602"/>
          </a:xfrm>
          <a:prstGeom prst="rect">
            <a:avLst/>
          </a:prstGeom>
          <a:noFill/>
        </p:spPr>
        <p:txBody>
          <a:bodyPr wrap="square" rtlCol="0">
            <a:spAutoFit/>
          </a:bodyPr>
          <a:lstStyle/>
          <a:p>
            <a:r>
              <a:rPr lang="zh-CN" altLang="en-US" sz="1400" dirty="0" smtClean="0"/>
              <a:t>不同度数的节点数在网络中所占的比例</a:t>
            </a:r>
            <a:endParaRPr lang="zh-CN" altLang="en-US" sz="1400" dirty="0"/>
          </a:p>
        </p:txBody>
      </p:sp>
    </p:spTree>
    <p:extLst>
      <p:ext uri="{BB962C8B-B14F-4D97-AF65-F5344CB8AC3E}">
        <p14:creationId xmlns:p14="http://schemas.microsoft.com/office/powerpoint/2010/main" val="30812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3870455" cy="369332"/>
          </a:xfrm>
          <a:prstGeom prst="rect">
            <a:avLst/>
          </a:prstGeom>
          <a:noFill/>
        </p:spPr>
        <p:txBody>
          <a:bodyPr wrap="square" rtlCol="0">
            <a:spAutoFit/>
          </a:bodyPr>
          <a:lstStyle/>
          <a:p>
            <a:r>
              <a:rPr lang="zh-CN" altLang="en-US" dirty="0">
                <a:solidFill>
                  <a:schemeClr val="tx1">
                    <a:lumMod val="85000"/>
                    <a:lumOff val="15000"/>
                  </a:schemeClr>
                </a:solidFill>
                <a:latin typeface="Impact" pitchFamily="34" charset="0"/>
                <a:ea typeface="+mj-ea"/>
              </a:rPr>
              <a:t>用于描述</a:t>
            </a:r>
            <a:r>
              <a:rPr lang="en-US" altLang="zh-CN" dirty="0">
                <a:solidFill>
                  <a:schemeClr val="tx1">
                    <a:lumMod val="85000"/>
                    <a:lumOff val="15000"/>
                  </a:schemeClr>
                </a:solidFill>
                <a:latin typeface="Impact" pitchFamily="34" charset="0"/>
                <a:ea typeface="+mj-ea"/>
              </a:rPr>
              <a:t>SN</a:t>
            </a:r>
            <a:r>
              <a:rPr lang="zh-CN" altLang="en-US" dirty="0">
                <a:solidFill>
                  <a:schemeClr val="tx1">
                    <a:lumMod val="85000"/>
                    <a:lumOff val="15000"/>
                  </a:schemeClr>
                </a:solidFill>
                <a:latin typeface="Impact" pitchFamily="34" charset="0"/>
                <a:ea typeface="+mj-ea"/>
              </a:rPr>
              <a:t>结构和演化的一种模型</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Structure and Evolution of Online Social Networks</a:t>
            </a:r>
          </a:p>
        </p:txBody>
      </p:sp>
      <p:sp>
        <p:nvSpPr>
          <p:cNvPr id="3" name="文本框 2"/>
          <p:cNvSpPr txBox="1"/>
          <p:nvPr/>
        </p:nvSpPr>
        <p:spPr>
          <a:xfrm>
            <a:off x="1196625" y="1215495"/>
            <a:ext cx="7110790" cy="954107"/>
          </a:xfrm>
          <a:prstGeom prst="rect">
            <a:avLst/>
          </a:prstGeom>
          <a:noFill/>
        </p:spPr>
        <p:txBody>
          <a:bodyPr wrap="square" rtlCol="0">
            <a:spAutoFit/>
          </a:bodyPr>
          <a:lstStyle/>
          <a:p>
            <a:r>
              <a:rPr lang="zh-CN" altLang="en-US" sz="1400" dirty="0" smtClean="0"/>
              <a:t>在上图中：</a:t>
            </a:r>
            <a:endParaRPr lang="en-US" altLang="zh-CN" sz="1400" dirty="0" smtClean="0"/>
          </a:p>
          <a:p>
            <a:r>
              <a:rPr lang="zh-CN" altLang="en-US" sz="1400" dirty="0" smtClean="0"/>
              <a:t>最上方度数最高的色带代表了</a:t>
            </a:r>
            <a:r>
              <a:rPr lang="en-US" altLang="zh-CN" sz="1400" dirty="0" smtClean="0"/>
              <a:t>giant component</a:t>
            </a:r>
          </a:p>
          <a:p>
            <a:r>
              <a:rPr lang="zh-CN" altLang="en-US" sz="1400" dirty="0"/>
              <a:t>最</a:t>
            </a:r>
            <a:r>
              <a:rPr lang="zh-CN" altLang="en-US" sz="1400" dirty="0" smtClean="0"/>
              <a:t>下方度数为</a:t>
            </a:r>
            <a:r>
              <a:rPr lang="en-US" altLang="zh-CN" sz="1400" dirty="0" smtClean="0"/>
              <a:t>1</a:t>
            </a:r>
            <a:r>
              <a:rPr lang="zh-CN" altLang="en-US" sz="1400" dirty="0" smtClean="0"/>
              <a:t>的色带即为</a:t>
            </a:r>
            <a:r>
              <a:rPr lang="en-US" altLang="zh-CN" sz="1400" dirty="0" smtClean="0"/>
              <a:t>singletons</a:t>
            </a:r>
          </a:p>
          <a:p>
            <a:r>
              <a:rPr lang="zh-CN" altLang="en-US" sz="1400" dirty="0" smtClean="0"/>
              <a:t>中间部分就组成了</a:t>
            </a:r>
            <a:r>
              <a:rPr lang="en-US" altLang="zh-CN" sz="1400" dirty="0" smtClean="0"/>
              <a:t>Middle region</a:t>
            </a:r>
          </a:p>
        </p:txBody>
      </p:sp>
      <p:sp>
        <p:nvSpPr>
          <p:cNvPr id="4" name="文本框 3"/>
          <p:cNvSpPr txBox="1"/>
          <p:nvPr/>
        </p:nvSpPr>
        <p:spPr>
          <a:xfrm>
            <a:off x="1556665" y="2706765"/>
            <a:ext cx="5400600" cy="1169551"/>
          </a:xfrm>
          <a:prstGeom prst="rect">
            <a:avLst/>
          </a:prstGeom>
          <a:noFill/>
        </p:spPr>
        <p:txBody>
          <a:bodyPr wrap="square" rtlCol="0">
            <a:spAutoFit/>
          </a:bodyPr>
          <a:lstStyle/>
          <a:p>
            <a:r>
              <a:rPr lang="zh-CN" altLang="en-US" sz="1400" dirty="0" smtClean="0"/>
              <a:t>在整个网络演化过程中，</a:t>
            </a:r>
            <a:r>
              <a:rPr lang="en-US" altLang="zh-CN" sz="1400" dirty="0" smtClean="0"/>
              <a:t>middle region</a:t>
            </a:r>
            <a:r>
              <a:rPr lang="zh-CN" altLang="en-US" sz="1400" dirty="0" smtClean="0"/>
              <a:t>的各个色带在所占的比例基本没有发生改变。</a:t>
            </a:r>
            <a:endParaRPr lang="en-US" altLang="zh-CN" sz="1400" dirty="0" smtClean="0"/>
          </a:p>
          <a:p>
            <a:r>
              <a:rPr lang="zh-CN" altLang="en-US" sz="1400" dirty="0" smtClean="0"/>
              <a:t>而</a:t>
            </a:r>
            <a:r>
              <a:rPr lang="en-US" altLang="zh-CN" sz="1400" dirty="0" smtClean="0"/>
              <a:t>singletons</a:t>
            </a:r>
            <a:r>
              <a:rPr lang="zh-CN" altLang="en-US" sz="1400" dirty="0" smtClean="0"/>
              <a:t>和</a:t>
            </a:r>
            <a:r>
              <a:rPr lang="en-US" altLang="zh-CN" sz="1400" dirty="0" smtClean="0"/>
              <a:t>giant component</a:t>
            </a:r>
            <a:r>
              <a:rPr lang="zh-CN" altLang="en-US" sz="1400" dirty="0" smtClean="0"/>
              <a:t>所占的比例在整个网络达到稳态后也保持不变，无论网络整体大小如何变化。</a:t>
            </a:r>
            <a:endParaRPr lang="en-US" altLang="zh-CN" sz="1400" dirty="0" smtClean="0"/>
          </a:p>
          <a:p>
            <a:r>
              <a:rPr lang="zh-CN" altLang="en-US" sz="1400" dirty="0" smtClean="0"/>
              <a:t>从分布图也可以看出节点数与度数的分布符合</a:t>
            </a:r>
            <a:r>
              <a:rPr lang="en-US" altLang="zh-CN" sz="1400" dirty="0" smtClean="0"/>
              <a:t>power-law</a:t>
            </a:r>
            <a:r>
              <a:rPr lang="zh-CN" altLang="en-US" sz="1400" dirty="0" smtClean="0"/>
              <a:t>。</a:t>
            </a:r>
            <a:endParaRPr lang="en-US" altLang="zh-CN" sz="1400" dirty="0" smtClean="0"/>
          </a:p>
        </p:txBody>
      </p:sp>
    </p:spTree>
    <p:extLst>
      <p:ext uri="{BB962C8B-B14F-4D97-AF65-F5344CB8AC3E}">
        <p14:creationId xmlns:p14="http://schemas.microsoft.com/office/powerpoint/2010/main" val="3868402079"/>
      </p:ext>
    </p:extLst>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3870455" cy="369332"/>
          </a:xfrm>
          <a:prstGeom prst="rect">
            <a:avLst/>
          </a:prstGeom>
          <a:noFill/>
        </p:spPr>
        <p:txBody>
          <a:bodyPr wrap="square" rtlCol="0">
            <a:spAutoFit/>
          </a:bodyPr>
          <a:lstStyle/>
          <a:p>
            <a:r>
              <a:rPr lang="zh-CN" altLang="en-US" dirty="0">
                <a:solidFill>
                  <a:schemeClr val="tx1">
                    <a:lumMod val="85000"/>
                    <a:lumOff val="15000"/>
                  </a:schemeClr>
                </a:solidFill>
                <a:latin typeface="Impact" pitchFamily="34" charset="0"/>
                <a:ea typeface="+mj-ea"/>
              </a:rPr>
              <a:t>用于描述</a:t>
            </a:r>
            <a:r>
              <a:rPr lang="en-US" altLang="zh-CN" dirty="0">
                <a:solidFill>
                  <a:schemeClr val="tx1">
                    <a:lumMod val="85000"/>
                    <a:lumOff val="15000"/>
                  </a:schemeClr>
                </a:solidFill>
                <a:latin typeface="Impact" pitchFamily="34" charset="0"/>
                <a:ea typeface="+mj-ea"/>
              </a:rPr>
              <a:t>SN</a:t>
            </a:r>
            <a:r>
              <a:rPr lang="zh-CN" altLang="en-US" dirty="0">
                <a:solidFill>
                  <a:schemeClr val="tx1">
                    <a:lumMod val="85000"/>
                    <a:lumOff val="15000"/>
                  </a:schemeClr>
                </a:solidFill>
                <a:latin typeface="Impact" pitchFamily="34" charset="0"/>
                <a:ea typeface="+mj-ea"/>
              </a:rPr>
              <a:t>结构和演化的一种模型</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Structure and Evolution of Online Social Networks</a:t>
            </a:r>
          </a:p>
        </p:txBody>
      </p:sp>
      <p:sp>
        <p:nvSpPr>
          <p:cNvPr id="4" name="文本框 3"/>
          <p:cNvSpPr txBox="1"/>
          <p:nvPr/>
        </p:nvSpPr>
        <p:spPr>
          <a:xfrm>
            <a:off x="926595" y="1221600"/>
            <a:ext cx="7335815" cy="307777"/>
          </a:xfrm>
          <a:prstGeom prst="rect">
            <a:avLst/>
          </a:prstGeom>
          <a:noFill/>
        </p:spPr>
        <p:txBody>
          <a:bodyPr wrap="square" rtlCol="0">
            <a:spAutoFit/>
          </a:bodyPr>
          <a:lstStyle/>
          <a:p>
            <a:r>
              <a:rPr lang="en-US" altLang="zh-CN" sz="1400" dirty="0" smtClean="0"/>
              <a:t>Q4</a:t>
            </a:r>
            <a:r>
              <a:rPr lang="zh-CN" altLang="en-US" sz="1400" dirty="0" smtClean="0"/>
              <a:t>：网络中不同大小的群体是如何合并的？</a:t>
            </a:r>
            <a:endParaRPr lang="en-US" altLang="zh-CN" sz="1400" dirty="0" smtClean="0"/>
          </a:p>
        </p:txBody>
      </p:sp>
      <p:sp>
        <p:nvSpPr>
          <p:cNvPr id="2" name="文本框 1"/>
          <p:cNvSpPr txBox="1"/>
          <p:nvPr/>
        </p:nvSpPr>
        <p:spPr>
          <a:xfrm>
            <a:off x="836585" y="2031690"/>
            <a:ext cx="7425825" cy="369332"/>
          </a:xfrm>
          <a:prstGeom prst="rect">
            <a:avLst/>
          </a:prstGeom>
          <a:noFill/>
        </p:spPr>
        <p:txBody>
          <a:bodyPr wrap="square" rtlCol="0">
            <a:spAutoFit/>
          </a:bodyPr>
          <a:lstStyle/>
          <a:p>
            <a:endParaRPr lang="zh-CN" altLang="en-US" dirty="0"/>
          </a:p>
        </p:txBody>
      </p:sp>
      <p:pic>
        <p:nvPicPr>
          <p:cNvPr id="3" name="图片 2"/>
          <p:cNvPicPr>
            <a:picLocks noChangeAspect="1"/>
          </p:cNvPicPr>
          <p:nvPr/>
        </p:nvPicPr>
        <p:blipFill>
          <a:blip r:embed="rId2"/>
          <a:stretch>
            <a:fillRect/>
          </a:stretch>
        </p:blipFill>
        <p:spPr>
          <a:xfrm>
            <a:off x="791580" y="1671650"/>
            <a:ext cx="4452203" cy="2965753"/>
          </a:xfrm>
          <a:prstGeom prst="rect">
            <a:avLst/>
          </a:prstGeom>
        </p:spPr>
      </p:pic>
      <p:sp>
        <p:nvSpPr>
          <p:cNvPr id="5" name="文本框 4"/>
          <p:cNvSpPr txBox="1"/>
          <p:nvPr/>
        </p:nvSpPr>
        <p:spPr>
          <a:xfrm>
            <a:off x="5427095" y="1806665"/>
            <a:ext cx="3465385" cy="2893100"/>
          </a:xfrm>
          <a:prstGeom prst="rect">
            <a:avLst/>
          </a:prstGeom>
          <a:noFill/>
        </p:spPr>
        <p:txBody>
          <a:bodyPr wrap="square" rtlCol="0">
            <a:spAutoFit/>
          </a:bodyPr>
          <a:lstStyle/>
          <a:p>
            <a:r>
              <a:rPr lang="zh-CN" altLang="en-US" sz="1400" dirty="0" smtClean="0"/>
              <a:t>右表中的</a:t>
            </a:r>
            <a:r>
              <a:rPr lang="en-US" altLang="zh-CN" sz="1400" dirty="0" err="1" smtClean="0"/>
              <a:t>i</a:t>
            </a:r>
            <a:r>
              <a:rPr lang="zh-CN" altLang="en-US" sz="1400" dirty="0" smtClean="0"/>
              <a:t>行</a:t>
            </a:r>
            <a:r>
              <a:rPr lang="en-US" altLang="zh-CN" sz="1400" dirty="0" smtClean="0"/>
              <a:t>j</a:t>
            </a:r>
            <a:r>
              <a:rPr lang="zh-CN" altLang="en-US" sz="1400" dirty="0" smtClean="0"/>
              <a:t>列中的数值表示在网络演化过程中大小为</a:t>
            </a:r>
            <a:r>
              <a:rPr lang="en-US" altLang="zh-CN" sz="1400" dirty="0" err="1" smtClean="0"/>
              <a:t>i</a:t>
            </a:r>
            <a:r>
              <a:rPr lang="zh-CN" altLang="en-US" sz="1400" dirty="0" smtClean="0"/>
              <a:t>和</a:t>
            </a:r>
            <a:r>
              <a:rPr lang="en-US" altLang="zh-CN" sz="1400" dirty="0" smtClean="0"/>
              <a:t>j</a:t>
            </a:r>
            <a:r>
              <a:rPr lang="zh-CN" altLang="en-US" sz="1400" dirty="0" smtClean="0"/>
              <a:t>的</a:t>
            </a:r>
            <a:r>
              <a:rPr lang="en-US" altLang="zh-CN" sz="1400" dirty="0" smtClean="0"/>
              <a:t>group</a:t>
            </a:r>
            <a:r>
              <a:rPr lang="zh-CN" altLang="en-US" sz="1400" dirty="0" smtClean="0"/>
              <a:t>进行合并的次数。</a:t>
            </a:r>
            <a:endParaRPr lang="en-US" altLang="zh-CN" sz="1400" dirty="0" smtClean="0"/>
          </a:p>
          <a:p>
            <a:r>
              <a:rPr lang="zh-CN" altLang="en-US" sz="1400" dirty="0" smtClean="0"/>
              <a:t>从</a:t>
            </a:r>
            <a:r>
              <a:rPr lang="zh-CN" altLang="en-US" sz="1400" dirty="0"/>
              <a:t>表</a:t>
            </a:r>
            <a:r>
              <a:rPr lang="zh-CN" altLang="en-US" sz="1400" dirty="0" smtClean="0"/>
              <a:t>中可以看出大数都集中在第一列和最后一行。可以得出，在网络演化过程中主要发生两种合并过程：</a:t>
            </a:r>
            <a:endParaRPr lang="en-US" altLang="zh-CN" sz="1400" dirty="0" smtClean="0"/>
          </a:p>
          <a:p>
            <a:pPr marL="285750" indent="-285750">
              <a:buFont typeface="Arial" panose="020B0604020202020204" pitchFamily="34" charset="0"/>
              <a:buChar char="•"/>
            </a:pPr>
            <a:r>
              <a:rPr lang="en-US" altLang="zh-CN" sz="1400" dirty="0" smtClean="0">
                <a:solidFill>
                  <a:srgbClr val="00B050"/>
                </a:solidFill>
              </a:rPr>
              <a:t>Singletons</a:t>
            </a:r>
            <a:r>
              <a:rPr lang="zh-CN" altLang="en-US" sz="1400" dirty="0" smtClean="0">
                <a:solidFill>
                  <a:srgbClr val="00B050"/>
                </a:solidFill>
              </a:rPr>
              <a:t>被</a:t>
            </a:r>
            <a:r>
              <a:rPr lang="en-US" altLang="zh-CN" sz="1400" dirty="0" smtClean="0">
                <a:solidFill>
                  <a:srgbClr val="00B050"/>
                </a:solidFill>
              </a:rPr>
              <a:t>non-giant component</a:t>
            </a:r>
            <a:r>
              <a:rPr lang="zh-CN" altLang="en-US" sz="1400" dirty="0" smtClean="0">
                <a:solidFill>
                  <a:srgbClr val="00B050"/>
                </a:solidFill>
              </a:rPr>
              <a:t>和</a:t>
            </a:r>
            <a:r>
              <a:rPr lang="en-US" altLang="zh-CN" sz="1400" dirty="0" smtClean="0">
                <a:solidFill>
                  <a:srgbClr val="00B050"/>
                </a:solidFill>
              </a:rPr>
              <a:t>giant component</a:t>
            </a:r>
            <a:r>
              <a:rPr lang="zh-CN" altLang="en-US" sz="1400" dirty="0" smtClean="0">
                <a:solidFill>
                  <a:srgbClr val="00B050"/>
                </a:solidFill>
              </a:rPr>
              <a:t>合并</a:t>
            </a:r>
            <a:endParaRPr lang="en-US" altLang="zh-CN" sz="1400" dirty="0" smtClean="0">
              <a:solidFill>
                <a:srgbClr val="00B050"/>
              </a:solidFill>
            </a:endParaRPr>
          </a:p>
          <a:p>
            <a:pPr marL="285750" indent="-285750">
              <a:buFont typeface="Arial" panose="020B0604020202020204" pitchFamily="34" charset="0"/>
              <a:buChar char="•"/>
            </a:pPr>
            <a:r>
              <a:rPr lang="en-US" altLang="zh-CN" sz="1400" dirty="0" smtClean="0">
                <a:solidFill>
                  <a:srgbClr val="00B050"/>
                </a:solidFill>
              </a:rPr>
              <a:t>Singletons </a:t>
            </a:r>
            <a:r>
              <a:rPr lang="zh-CN" altLang="en-US" sz="1400" dirty="0" smtClean="0">
                <a:solidFill>
                  <a:srgbClr val="00B050"/>
                </a:solidFill>
              </a:rPr>
              <a:t>和 </a:t>
            </a:r>
            <a:r>
              <a:rPr lang="en-US" altLang="zh-CN" sz="1400" dirty="0" smtClean="0">
                <a:solidFill>
                  <a:srgbClr val="00B050"/>
                </a:solidFill>
              </a:rPr>
              <a:t>non-giant component </a:t>
            </a:r>
            <a:r>
              <a:rPr lang="zh-CN" altLang="en-US" sz="1400" dirty="0" smtClean="0">
                <a:solidFill>
                  <a:srgbClr val="00B050"/>
                </a:solidFill>
              </a:rPr>
              <a:t>被</a:t>
            </a:r>
            <a:r>
              <a:rPr lang="en-US" altLang="zh-CN" sz="1400" dirty="0" smtClean="0">
                <a:solidFill>
                  <a:srgbClr val="00B050"/>
                </a:solidFill>
              </a:rPr>
              <a:t>giant component </a:t>
            </a:r>
            <a:r>
              <a:rPr lang="zh-CN" altLang="en-US" sz="1400" dirty="0" smtClean="0">
                <a:solidFill>
                  <a:srgbClr val="00B050"/>
                </a:solidFill>
              </a:rPr>
              <a:t>合并</a:t>
            </a:r>
            <a:endParaRPr lang="en-US" altLang="zh-CN" sz="1400" dirty="0" smtClean="0">
              <a:solidFill>
                <a:srgbClr val="00B050"/>
              </a:solidFill>
            </a:endParaRPr>
          </a:p>
          <a:p>
            <a:endParaRPr lang="en-US" altLang="zh-CN" sz="1400" dirty="0"/>
          </a:p>
          <a:p>
            <a:r>
              <a:rPr lang="zh-CN" altLang="en-US" sz="1400" dirty="0" smtClean="0"/>
              <a:t>说明在演化过程中，预期的</a:t>
            </a:r>
            <a:r>
              <a:rPr lang="en-US" altLang="zh-CN" sz="1400" dirty="0" smtClean="0"/>
              <a:t>non-giant component</a:t>
            </a:r>
            <a:r>
              <a:rPr lang="zh-CN" altLang="en-US" sz="1400" dirty="0" smtClean="0"/>
              <a:t>合并成</a:t>
            </a:r>
            <a:r>
              <a:rPr lang="en-US" altLang="zh-CN" sz="1400" dirty="0" smtClean="0"/>
              <a:t>giant component</a:t>
            </a:r>
            <a:r>
              <a:rPr lang="zh-CN" altLang="en-US" sz="1400" dirty="0" smtClean="0"/>
              <a:t>的过程其实非常少见</a:t>
            </a:r>
            <a:endParaRPr lang="zh-CN" altLang="en-US" sz="1400" dirty="0"/>
          </a:p>
        </p:txBody>
      </p:sp>
    </p:spTree>
    <p:extLst>
      <p:ext uri="{BB962C8B-B14F-4D97-AF65-F5344CB8AC3E}">
        <p14:creationId xmlns:p14="http://schemas.microsoft.com/office/powerpoint/2010/main" val="41913866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3870455" cy="369332"/>
          </a:xfrm>
          <a:prstGeom prst="rect">
            <a:avLst/>
          </a:prstGeom>
          <a:noFill/>
        </p:spPr>
        <p:txBody>
          <a:bodyPr wrap="square" rtlCol="0">
            <a:spAutoFit/>
          </a:bodyPr>
          <a:lstStyle/>
          <a:p>
            <a:r>
              <a:rPr lang="zh-CN" altLang="en-US" dirty="0">
                <a:solidFill>
                  <a:schemeClr val="tx1">
                    <a:lumMod val="85000"/>
                    <a:lumOff val="15000"/>
                  </a:schemeClr>
                </a:solidFill>
                <a:latin typeface="Impact" pitchFamily="34" charset="0"/>
                <a:ea typeface="+mj-ea"/>
              </a:rPr>
              <a:t>用于描述</a:t>
            </a:r>
            <a:r>
              <a:rPr lang="en-US" altLang="zh-CN" dirty="0">
                <a:solidFill>
                  <a:schemeClr val="tx1">
                    <a:lumMod val="85000"/>
                    <a:lumOff val="15000"/>
                  </a:schemeClr>
                </a:solidFill>
                <a:latin typeface="Impact" pitchFamily="34" charset="0"/>
                <a:ea typeface="+mj-ea"/>
              </a:rPr>
              <a:t>SN</a:t>
            </a:r>
            <a:r>
              <a:rPr lang="zh-CN" altLang="en-US" dirty="0">
                <a:solidFill>
                  <a:schemeClr val="tx1">
                    <a:lumMod val="85000"/>
                    <a:lumOff val="15000"/>
                  </a:schemeClr>
                </a:solidFill>
                <a:latin typeface="Impact" pitchFamily="34" charset="0"/>
                <a:ea typeface="+mj-ea"/>
              </a:rPr>
              <a:t>结构和演化的一种模型</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Structure and Evolution of Online Social Networks</a:t>
            </a:r>
          </a:p>
        </p:txBody>
      </p:sp>
      <p:sp>
        <p:nvSpPr>
          <p:cNvPr id="5" name="文本框 4"/>
          <p:cNvSpPr txBox="1"/>
          <p:nvPr/>
        </p:nvSpPr>
        <p:spPr>
          <a:xfrm>
            <a:off x="611560" y="1010514"/>
            <a:ext cx="5040560" cy="523220"/>
          </a:xfrm>
          <a:prstGeom prst="rect">
            <a:avLst/>
          </a:prstGeom>
          <a:noFill/>
        </p:spPr>
        <p:txBody>
          <a:bodyPr wrap="square" rtlCol="0">
            <a:spAutoFit/>
          </a:bodyPr>
          <a:lstStyle/>
          <a:p>
            <a:r>
              <a:rPr lang="zh-CN" altLang="en-US" sz="1400" dirty="0" smtClean="0"/>
              <a:t>实际上，</a:t>
            </a:r>
            <a:r>
              <a:rPr lang="en-US" altLang="zh-CN" sz="1400" dirty="0" smtClean="0"/>
              <a:t>singletons</a:t>
            </a:r>
            <a:r>
              <a:rPr lang="zh-CN" altLang="en-US" sz="1400" dirty="0" smtClean="0"/>
              <a:t>跟</a:t>
            </a:r>
            <a:r>
              <a:rPr lang="en-US" altLang="zh-CN" sz="1400" dirty="0" smtClean="0"/>
              <a:t>non-giant component</a:t>
            </a:r>
            <a:r>
              <a:rPr lang="zh-CN" altLang="en-US" sz="1400" dirty="0" smtClean="0"/>
              <a:t>合并的行为使得</a:t>
            </a:r>
            <a:r>
              <a:rPr lang="en-US" altLang="zh-CN" sz="1400" dirty="0" smtClean="0"/>
              <a:t>middle region</a:t>
            </a:r>
            <a:r>
              <a:rPr lang="zh-CN" altLang="en-US" sz="1400" dirty="0" smtClean="0"/>
              <a:t>成为了星型结构。</a:t>
            </a:r>
            <a:endParaRPr lang="zh-CN" altLang="en-US" sz="1400" dirty="0"/>
          </a:p>
        </p:txBody>
      </p:sp>
      <mc:AlternateContent xmlns:mc="http://schemas.openxmlformats.org/markup-compatibility/2006" xmlns:a14="http://schemas.microsoft.com/office/drawing/2010/main">
        <mc:Choice Requires="a14">
          <p:sp>
            <p:nvSpPr>
              <p:cNvPr id="6" name="文本框 5"/>
              <p:cNvSpPr txBox="1"/>
              <p:nvPr/>
            </p:nvSpPr>
            <p:spPr>
              <a:xfrm>
                <a:off x="971600" y="1896675"/>
                <a:ext cx="6705745" cy="1865832"/>
              </a:xfrm>
              <a:prstGeom prst="rect">
                <a:avLst/>
              </a:prstGeom>
              <a:noFill/>
            </p:spPr>
            <p:txBody>
              <a:bodyPr wrap="square" rtlCol="0">
                <a:spAutoFit/>
              </a:bodyPr>
              <a:lstStyle/>
              <a:p>
                <a:pPr>
                  <a:lnSpc>
                    <a:spcPct val="150000"/>
                  </a:lnSpc>
                </a:pPr>
                <a:r>
                  <a:rPr lang="zh-CN" altLang="en-US" sz="1400" dirty="0" smtClean="0"/>
                  <a:t>星型结构定义如下：设</a:t>
                </a:r>
                <a14:m>
                  <m:oMath xmlns:m="http://schemas.openxmlformats.org/officeDocument/2006/math">
                    <m:r>
                      <a:rPr lang="en-US" altLang="zh-CN" sz="1400" b="0" i="1" smtClean="0">
                        <a:latin typeface="Cambria Math" panose="02040503050406030204" pitchFamily="18" charset="0"/>
                      </a:rPr>
                      <m:t>𝑈</m:t>
                    </m:r>
                  </m:oMath>
                </a14:m>
                <a:r>
                  <a:rPr lang="zh-CN" altLang="en-US" sz="1400" dirty="0" smtClean="0"/>
                  <a:t>为群体中所有节点的集合，</a:t>
                </a:r>
                <a:endParaRPr lang="en-US" altLang="zh-CN" sz="1400" dirty="0" smtClean="0"/>
              </a:p>
              <a:p>
                <a:pPr marL="285750" indent="-285750">
                  <a:lnSpc>
                    <a:spcPct val="150000"/>
                  </a:lnSpc>
                  <a:buFont typeface="Arial" panose="020B0604020202020204" pitchFamily="34" charset="0"/>
                  <a:buChar char="•"/>
                </a:pPr>
                <a:r>
                  <a:rPr lang="zh-CN" altLang="en-US" sz="1400" dirty="0" smtClean="0"/>
                  <a:t>如果</a:t>
                </a:r>
                <a14:m>
                  <m:oMath xmlns:m="http://schemas.openxmlformats.org/officeDocument/2006/math">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𝑈</m:t>
                        </m:r>
                      </m:e>
                    </m:d>
                    <m:r>
                      <a:rPr lang="en-US" altLang="zh-CN" sz="1400" b="0" i="1" smtClean="0">
                        <a:latin typeface="Cambria Math" panose="02040503050406030204" pitchFamily="18" charset="0"/>
                      </a:rPr>
                      <m:t>=2</m:t>
                    </m:r>
                  </m:oMath>
                </a14:m>
                <a:r>
                  <a:rPr lang="zh-CN" altLang="en-US" sz="1400" dirty="0" smtClean="0"/>
                  <a:t>那么</a:t>
                </a:r>
                <a14:m>
                  <m:oMath xmlns:m="http://schemas.openxmlformats.org/officeDocument/2006/math">
                    <m:r>
                      <a:rPr lang="en-US" altLang="zh-CN" sz="1400" b="0" i="1" dirty="0" smtClean="0">
                        <a:latin typeface="Cambria Math" panose="02040503050406030204" pitchFamily="18" charset="0"/>
                      </a:rPr>
                      <m:t>𝑈</m:t>
                    </m:r>
                  </m:oMath>
                </a14:m>
                <a:r>
                  <a:rPr lang="zh-CN" altLang="en-US" sz="1400" dirty="0" smtClean="0"/>
                  <a:t>为星型结构。</a:t>
                </a:r>
                <a:endParaRPr lang="en-US" altLang="zh-CN" sz="1400" dirty="0" smtClean="0"/>
              </a:p>
              <a:p>
                <a:pPr marL="285750" indent="-285750">
                  <a:lnSpc>
                    <a:spcPct val="150000"/>
                  </a:lnSpc>
                  <a:buFont typeface="Arial" panose="020B0604020202020204" pitchFamily="34" charset="0"/>
                  <a:buChar char="•"/>
                </a:pPr>
                <a:r>
                  <a:rPr lang="zh-CN" altLang="en-US" sz="1400" dirty="0" smtClean="0"/>
                  <a:t>如果</a:t>
                </a:r>
                <a14:m>
                  <m:oMath xmlns:m="http://schemas.openxmlformats.org/officeDocument/2006/math">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𝑈</m:t>
                    </m:r>
                    <m:r>
                      <a:rPr lang="en-US" altLang="zh-CN" sz="1400" b="0" i="1" smtClean="0">
                        <a:latin typeface="Cambria Math" panose="02040503050406030204" pitchFamily="18" charset="0"/>
                      </a:rPr>
                      <m:t>|≠2</m:t>
                    </m:r>
                  </m:oMath>
                </a14:m>
                <a:r>
                  <a:rPr lang="en-US" altLang="zh-CN" sz="1400" dirty="0" smtClean="0"/>
                  <a:t>,</a:t>
                </a:r>
                <a14:m>
                  <m:oMath xmlns:m="http://schemas.openxmlformats.org/officeDocument/2006/math">
                    <m:r>
                      <a:rPr lang="zh-CN" altLang="en-US" sz="1400" i="1" dirty="0" smtClean="0">
                        <a:latin typeface="Cambria Math" panose="02040503050406030204" pitchFamily="18" charset="0"/>
                      </a:rPr>
                      <m:t>𝐶</m:t>
                    </m:r>
                    <m:r>
                      <a:rPr lang="zh-CN" altLang="en-US" sz="1400" i="0" dirty="0">
                        <a:latin typeface="Cambria Math" panose="02040503050406030204" pitchFamily="18" charset="0"/>
                      </a:rPr>
                      <m:t>⊆</m:t>
                    </m:r>
                    <m:r>
                      <a:rPr lang="zh-CN" altLang="en-US" sz="1400" i="1" dirty="0">
                        <a:latin typeface="Cambria Math" panose="02040503050406030204" pitchFamily="18" charset="0"/>
                      </a:rPr>
                      <m:t>𝑈</m:t>
                    </m:r>
                  </m:oMath>
                </a14:m>
                <a:r>
                  <a:rPr lang="zh-CN" altLang="en-US" sz="1400" dirty="0" smtClean="0"/>
                  <a:t>为</a:t>
                </a:r>
                <a14:m>
                  <m:oMath xmlns:m="http://schemas.openxmlformats.org/officeDocument/2006/math">
                    <m:r>
                      <a:rPr lang="en-US" altLang="zh-CN" sz="1400" b="0" i="1" dirty="0" smtClean="0">
                        <a:latin typeface="Cambria Math" panose="02040503050406030204" pitchFamily="18" charset="0"/>
                      </a:rPr>
                      <m:t>𝑈</m:t>
                    </m:r>
                  </m:oMath>
                </a14:m>
                <a:r>
                  <a:rPr lang="zh-CN" altLang="en-US" sz="1400" dirty="0" smtClean="0"/>
                  <a:t>中所有度大于</a:t>
                </a:r>
                <a14:m>
                  <m:oMath xmlns:m="http://schemas.openxmlformats.org/officeDocument/2006/math">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𝑈</m:t>
                        </m:r>
                      </m:e>
                    </m:d>
                    <m:r>
                      <a:rPr lang="en-US" altLang="zh-CN" sz="1400" b="0" i="1" smtClean="0">
                        <a:latin typeface="Cambria Math" panose="02040503050406030204" pitchFamily="18" charset="0"/>
                      </a:rPr>
                      <m:t>/2</m:t>
                    </m:r>
                  </m:oMath>
                </a14:m>
                <a:r>
                  <a:rPr lang="zh-CN" altLang="en-US" sz="1400" dirty="0" smtClean="0"/>
                  <a:t>的节点集合，</a:t>
                </a:r>
                <a14:m>
                  <m:oMath xmlns:m="http://schemas.openxmlformats.org/officeDocument/2006/math">
                    <m:r>
                      <a:rPr lang="en-US" altLang="zh-CN" sz="1400" b="0" i="1" smtClean="0">
                        <a:latin typeface="Cambria Math" panose="02040503050406030204" pitchFamily="18" charset="0"/>
                      </a:rPr>
                      <m:t>𝑇</m:t>
                    </m:r>
                    <m:r>
                      <a:rPr lang="zh-CN" altLang="en-US" sz="1400" dirty="0">
                        <a:latin typeface="Cambria Math" panose="02040503050406030204" pitchFamily="18" charset="0"/>
                      </a:rPr>
                      <m:t>⊆</m:t>
                    </m:r>
                    <m:r>
                      <a:rPr lang="zh-CN" altLang="en-US" sz="1400" i="1" dirty="0">
                        <a:latin typeface="Cambria Math" panose="02040503050406030204" pitchFamily="18" charset="0"/>
                      </a:rPr>
                      <m:t>𝑈</m:t>
                    </m:r>
                  </m:oMath>
                </a14:m>
                <a:r>
                  <a:rPr lang="zh-CN" altLang="en-US" sz="1400" dirty="0" smtClean="0"/>
                  <a:t>为</a:t>
                </a:r>
                <a14:m>
                  <m:oMath xmlns:m="http://schemas.openxmlformats.org/officeDocument/2006/math">
                    <m:r>
                      <a:rPr lang="en-US" altLang="zh-CN" sz="1400" b="0" i="1" dirty="0" smtClean="0">
                        <a:latin typeface="Cambria Math" panose="02040503050406030204" pitchFamily="18" charset="0"/>
                      </a:rPr>
                      <m:t>𝑈</m:t>
                    </m:r>
                  </m:oMath>
                </a14:m>
                <a:r>
                  <a:rPr lang="zh-CN" altLang="en-US" sz="1400" dirty="0" smtClean="0"/>
                  <a:t>中所有度为</a:t>
                </a:r>
                <a:r>
                  <a:rPr lang="en-US" altLang="zh-CN" sz="1400" dirty="0" smtClean="0"/>
                  <a:t>1</a:t>
                </a:r>
                <a:r>
                  <a:rPr lang="zh-CN" altLang="en-US" sz="1400" dirty="0" smtClean="0"/>
                  <a:t>的节点的集合。对于一个参数</a:t>
                </a:r>
                <a14:m>
                  <m:oMath xmlns:m="http://schemas.openxmlformats.org/officeDocument/2006/math">
                    <m:r>
                      <a:rPr lang="en-US" altLang="zh-CN" sz="1400" b="0" i="1" smtClean="0">
                        <a:latin typeface="Cambria Math" panose="02040503050406030204" pitchFamily="18" charset="0"/>
                      </a:rPr>
                      <m:t>𝑘</m:t>
                    </m:r>
                    <m:r>
                      <a:rPr lang="en-US" altLang="zh-CN" sz="1400" b="0" i="1" smtClean="0">
                        <a:latin typeface="Cambria Math" panose="02040503050406030204" pitchFamily="18" charset="0"/>
                        <a:ea typeface="Cambria Math" panose="02040503050406030204" pitchFamily="18" charset="0"/>
                      </a:rPr>
                      <m:t>∈(0, 1)</m:t>
                    </m:r>
                  </m:oMath>
                </a14:m>
                <a:r>
                  <a:rPr lang="en-US" altLang="zh-CN" sz="1400" dirty="0" smtClean="0"/>
                  <a:t>,</a:t>
                </a:r>
                <a:r>
                  <a:rPr lang="zh-CN" altLang="en-US" sz="1400" dirty="0" smtClean="0"/>
                  <a:t> 如果</a:t>
                </a:r>
                <a14:m>
                  <m:oMath xmlns:m="http://schemas.openxmlformats.org/officeDocument/2006/math">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𝐶</m:t>
                        </m:r>
                      </m:e>
                    </m:d>
                    <m:r>
                      <a:rPr lang="en-US" altLang="zh-CN" sz="1400" b="0" i="1" smtClean="0">
                        <a:latin typeface="Cambria Math" panose="02040503050406030204" pitchFamily="18" charset="0"/>
                        <a:ea typeface="Cambria Math" panose="02040503050406030204" pitchFamily="18" charset="0"/>
                      </a:rPr>
                      <m:t>∈{1,2}</m:t>
                    </m:r>
                  </m:oMath>
                </a14:m>
                <a:r>
                  <a:rPr lang="zh-CN" altLang="en-US" sz="1400" dirty="0" smtClean="0"/>
                  <a:t>且</a:t>
                </a:r>
                <a14:m>
                  <m:oMath xmlns:m="http://schemas.openxmlformats.org/officeDocument/2006/math">
                    <m:f>
                      <m:fPr>
                        <m:ctrlPr>
                          <a:rPr lang="en-US" altLang="zh-CN" sz="1400" b="0" i="1" dirty="0" smtClean="0">
                            <a:latin typeface="Cambria Math" panose="02040503050406030204" pitchFamily="18" charset="0"/>
                          </a:rPr>
                        </m:ctrlPr>
                      </m:fPr>
                      <m:num>
                        <m:d>
                          <m:dPr>
                            <m:begChr m:val="|"/>
                            <m:endChr m:val="|"/>
                            <m:ctrlPr>
                              <a:rPr lang="en-US" altLang="zh-CN" sz="1400" b="0" i="1" dirty="0" smtClean="0">
                                <a:latin typeface="Cambria Math" panose="02040503050406030204" pitchFamily="18" charset="0"/>
                              </a:rPr>
                            </m:ctrlPr>
                          </m:dPr>
                          <m:e>
                            <m:r>
                              <a:rPr lang="en-US" altLang="zh-CN" sz="1400" b="0" i="1" dirty="0" smtClean="0">
                                <a:latin typeface="Cambria Math" panose="02040503050406030204" pitchFamily="18" charset="0"/>
                              </a:rPr>
                              <m:t>𝑇</m:t>
                            </m:r>
                          </m:e>
                        </m:d>
                      </m:num>
                      <m:den>
                        <m:d>
                          <m:dPr>
                            <m:begChr m:val="|"/>
                            <m:endChr m:val="|"/>
                            <m:ctrlPr>
                              <a:rPr lang="en-US" altLang="zh-CN" sz="1400" b="0" i="1" dirty="0" smtClean="0">
                                <a:latin typeface="Cambria Math" panose="02040503050406030204" pitchFamily="18" charset="0"/>
                              </a:rPr>
                            </m:ctrlPr>
                          </m:dPr>
                          <m:e>
                            <m:r>
                              <a:rPr lang="en-US" altLang="zh-CN" sz="1400" b="0" i="1" dirty="0" smtClean="0">
                                <a:latin typeface="Cambria Math" panose="02040503050406030204" pitchFamily="18" charset="0"/>
                              </a:rPr>
                              <m:t>𝑈</m:t>
                            </m:r>
                            <m:r>
                              <a:rPr lang="en-US" altLang="zh-CN" sz="1400" b="0" i="1" dirty="0" smtClean="0">
                                <a:latin typeface="Cambria Math" panose="02040503050406030204" pitchFamily="18" charset="0"/>
                              </a:rPr>
                              <m:t>\</m:t>
                            </m:r>
                            <m:r>
                              <m:rPr>
                                <m:sty m:val="p"/>
                              </m:rPr>
                              <a:rPr lang="en-US" altLang="zh-CN" sz="1400" b="0" i="1" dirty="0" smtClean="0">
                                <a:latin typeface="Cambria Math" panose="02040503050406030204" pitchFamily="18" charset="0"/>
                              </a:rPr>
                              <m:t>C</m:t>
                            </m:r>
                          </m:e>
                        </m:d>
                      </m:den>
                    </m:f>
                    <m:r>
                      <a:rPr lang="en-US" altLang="zh-CN" sz="1400" b="0" i="1" dirty="0" smtClean="0">
                        <a:latin typeface="Cambria Math" panose="02040503050406030204" pitchFamily="18" charset="0"/>
                      </a:rPr>
                      <m:t>&gt;</m:t>
                    </m:r>
                    <m:r>
                      <a:rPr lang="en-US" altLang="zh-CN" sz="1400" b="0" i="1" dirty="0" smtClean="0">
                        <a:latin typeface="Cambria Math" panose="02040503050406030204" pitchFamily="18" charset="0"/>
                      </a:rPr>
                      <m:t>𝑘</m:t>
                    </m:r>
                  </m:oMath>
                </a14:m>
                <a:r>
                  <a:rPr lang="zh-CN" altLang="en-US" sz="1400" dirty="0" smtClean="0"/>
                  <a:t>成立则</a:t>
                </a:r>
                <a:r>
                  <a:rPr lang="zh-CN" altLang="en-US" sz="1400" dirty="0"/>
                  <a:t>我们定义</a:t>
                </a:r>
                <a14:m>
                  <m:oMath xmlns:m="http://schemas.openxmlformats.org/officeDocument/2006/math">
                    <m:r>
                      <a:rPr lang="en-US" altLang="zh-CN" sz="1400" i="1">
                        <a:latin typeface="Cambria Math" panose="02040503050406030204" pitchFamily="18" charset="0"/>
                      </a:rPr>
                      <m:t>𝑈</m:t>
                    </m:r>
                  </m:oMath>
                </a14:m>
                <a:r>
                  <a:rPr lang="zh-CN" altLang="en-US" sz="1400" dirty="0"/>
                  <a:t>是一个星型</a:t>
                </a:r>
                <a:r>
                  <a:rPr lang="zh-CN" altLang="en-US" sz="1400" dirty="0" smtClean="0"/>
                  <a:t>结构。</a:t>
                </a:r>
                <a:endParaRPr lang="zh-CN" altLang="en-US" sz="1400" dirty="0"/>
              </a:p>
            </p:txBody>
          </p:sp>
        </mc:Choice>
        <mc:Fallback xmlns="">
          <p:sp>
            <p:nvSpPr>
              <p:cNvPr id="6" name="文本框 5"/>
              <p:cNvSpPr txBox="1">
                <a:spLocks noRot="1" noChangeAspect="1" noMove="1" noResize="1" noEditPoints="1" noAdjustHandles="1" noChangeArrowheads="1" noChangeShapeType="1" noTextEdit="1"/>
              </p:cNvSpPr>
              <p:nvPr/>
            </p:nvSpPr>
            <p:spPr>
              <a:xfrm>
                <a:off x="971600" y="1896675"/>
                <a:ext cx="6705745" cy="1865832"/>
              </a:xfrm>
              <a:prstGeom prst="rect">
                <a:avLst/>
              </a:prstGeom>
              <a:blipFill>
                <a:blip r:embed="rId2"/>
                <a:stretch>
                  <a:fillRect l="-273" b="-26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13702071"/>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3870455" cy="369332"/>
          </a:xfrm>
          <a:prstGeom prst="rect">
            <a:avLst/>
          </a:prstGeom>
          <a:noFill/>
        </p:spPr>
        <p:txBody>
          <a:bodyPr wrap="square" rtlCol="0">
            <a:spAutoFit/>
          </a:bodyPr>
          <a:lstStyle/>
          <a:p>
            <a:r>
              <a:rPr lang="zh-CN" altLang="en-US" dirty="0">
                <a:solidFill>
                  <a:schemeClr val="tx1">
                    <a:lumMod val="85000"/>
                    <a:lumOff val="15000"/>
                  </a:schemeClr>
                </a:solidFill>
                <a:latin typeface="Impact" pitchFamily="34" charset="0"/>
                <a:ea typeface="+mj-ea"/>
              </a:rPr>
              <a:t>用于描述</a:t>
            </a:r>
            <a:r>
              <a:rPr lang="en-US" altLang="zh-CN" dirty="0">
                <a:solidFill>
                  <a:schemeClr val="tx1">
                    <a:lumMod val="85000"/>
                    <a:lumOff val="15000"/>
                  </a:schemeClr>
                </a:solidFill>
                <a:latin typeface="Impact" pitchFamily="34" charset="0"/>
                <a:ea typeface="+mj-ea"/>
              </a:rPr>
              <a:t>SN</a:t>
            </a:r>
            <a:r>
              <a:rPr lang="zh-CN" altLang="en-US" dirty="0">
                <a:solidFill>
                  <a:schemeClr val="tx1">
                    <a:lumMod val="85000"/>
                    <a:lumOff val="15000"/>
                  </a:schemeClr>
                </a:solidFill>
                <a:latin typeface="Impact" pitchFamily="34" charset="0"/>
                <a:ea typeface="+mj-ea"/>
              </a:rPr>
              <a:t>结构和演化的一种模型</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Structure and Evolution of Online Social Networks</a:t>
            </a:r>
          </a:p>
        </p:txBody>
      </p:sp>
      <p:sp>
        <p:nvSpPr>
          <p:cNvPr id="2" name="文本框 1"/>
          <p:cNvSpPr txBox="1"/>
          <p:nvPr/>
        </p:nvSpPr>
        <p:spPr>
          <a:xfrm>
            <a:off x="566555" y="996575"/>
            <a:ext cx="4185465" cy="523220"/>
          </a:xfrm>
          <a:prstGeom prst="rect">
            <a:avLst/>
          </a:prstGeom>
          <a:noFill/>
        </p:spPr>
        <p:txBody>
          <a:bodyPr wrap="square" rtlCol="0">
            <a:spAutoFit/>
          </a:bodyPr>
          <a:lstStyle/>
          <a:p>
            <a:r>
              <a:rPr lang="zh-CN" altLang="en-US" sz="1400" dirty="0" smtClean="0"/>
              <a:t>对于</a:t>
            </a:r>
            <a:r>
              <a:rPr lang="en-US" altLang="zh-CN" sz="1400" dirty="0" smtClean="0"/>
              <a:t>giant component</a:t>
            </a:r>
            <a:r>
              <a:rPr lang="zh-CN" altLang="en-US" sz="1400" dirty="0" smtClean="0"/>
              <a:t>我们想要了解它的结构特性</a:t>
            </a:r>
            <a:endParaRPr lang="en-US" altLang="zh-CN" sz="1400" dirty="0" smtClean="0"/>
          </a:p>
          <a:p>
            <a:r>
              <a:rPr lang="en-US" altLang="zh-CN" sz="1400" dirty="0" smtClean="0"/>
              <a:t>Q5: </a:t>
            </a:r>
            <a:r>
              <a:rPr lang="zh-CN" altLang="en-US" sz="1400" dirty="0" smtClean="0"/>
              <a:t>社交网络中的直径如何随时间变化？</a:t>
            </a:r>
            <a:endParaRPr lang="en-US" altLang="zh-CN" sz="1400" dirty="0" smtClean="0"/>
          </a:p>
        </p:txBody>
      </p:sp>
      <p:sp>
        <p:nvSpPr>
          <p:cNvPr id="3" name="文本框 2"/>
          <p:cNvSpPr txBox="1"/>
          <p:nvPr/>
        </p:nvSpPr>
        <p:spPr>
          <a:xfrm>
            <a:off x="791580" y="1761659"/>
            <a:ext cx="7650850" cy="307777"/>
          </a:xfrm>
          <a:prstGeom prst="rect">
            <a:avLst/>
          </a:prstGeom>
          <a:noFill/>
        </p:spPr>
        <p:txBody>
          <a:bodyPr wrap="square" rtlCol="0">
            <a:spAutoFit/>
          </a:bodyPr>
          <a:lstStyle/>
          <a:p>
            <a:r>
              <a:rPr lang="zh-CN" altLang="en-US" sz="1400" dirty="0" smtClean="0"/>
              <a:t>实际上，直径的变化也是分为三个阶段分别跟网络密度变化的三个阶段相对应</a:t>
            </a:r>
            <a:endParaRPr lang="zh-CN" altLang="en-US" sz="1400" dirty="0"/>
          </a:p>
        </p:txBody>
      </p:sp>
      <p:pic>
        <p:nvPicPr>
          <p:cNvPr id="4" name="图片 3"/>
          <p:cNvPicPr>
            <a:picLocks noChangeAspect="1"/>
          </p:cNvPicPr>
          <p:nvPr/>
        </p:nvPicPr>
        <p:blipFill>
          <a:blip r:embed="rId2"/>
          <a:stretch>
            <a:fillRect/>
          </a:stretch>
        </p:blipFill>
        <p:spPr>
          <a:xfrm>
            <a:off x="559030" y="2312720"/>
            <a:ext cx="3870000" cy="2650534"/>
          </a:xfrm>
          <a:prstGeom prst="rect">
            <a:avLst/>
          </a:prstGeom>
        </p:spPr>
      </p:pic>
      <p:pic>
        <p:nvPicPr>
          <p:cNvPr id="5" name="图片 4"/>
          <p:cNvPicPr>
            <a:picLocks noChangeAspect="1"/>
          </p:cNvPicPr>
          <p:nvPr/>
        </p:nvPicPr>
        <p:blipFill>
          <a:blip r:embed="rId3"/>
          <a:stretch>
            <a:fillRect/>
          </a:stretch>
        </p:blipFill>
        <p:spPr>
          <a:xfrm>
            <a:off x="4842030" y="2311300"/>
            <a:ext cx="3870000" cy="2560467"/>
          </a:xfrm>
          <a:prstGeom prst="rect">
            <a:avLst/>
          </a:prstGeom>
        </p:spPr>
      </p:pic>
    </p:spTree>
    <p:extLst>
      <p:ext uri="{BB962C8B-B14F-4D97-AF65-F5344CB8AC3E}">
        <p14:creationId xmlns:p14="http://schemas.microsoft.com/office/powerpoint/2010/main" val="19432555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3870455" cy="369332"/>
          </a:xfrm>
          <a:prstGeom prst="rect">
            <a:avLst/>
          </a:prstGeom>
          <a:noFill/>
        </p:spPr>
        <p:txBody>
          <a:bodyPr wrap="square" rtlCol="0">
            <a:spAutoFit/>
          </a:bodyPr>
          <a:lstStyle/>
          <a:p>
            <a:r>
              <a:rPr lang="zh-CN" altLang="en-US" dirty="0">
                <a:solidFill>
                  <a:schemeClr val="tx1">
                    <a:lumMod val="85000"/>
                    <a:lumOff val="15000"/>
                  </a:schemeClr>
                </a:solidFill>
                <a:latin typeface="Impact" pitchFamily="34" charset="0"/>
                <a:ea typeface="+mj-ea"/>
              </a:rPr>
              <a:t>用于描述</a:t>
            </a:r>
            <a:r>
              <a:rPr lang="en-US" altLang="zh-CN" dirty="0">
                <a:solidFill>
                  <a:schemeClr val="tx1">
                    <a:lumMod val="85000"/>
                    <a:lumOff val="15000"/>
                  </a:schemeClr>
                </a:solidFill>
                <a:latin typeface="Impact" pitchFamily="34" charset="0"/>
                <a:ea typeface="+mj-ea"/>
              </a:rPr>
              <a:t>SN</a:t>
            </a:r>
            <a:r>
              <a:rPr lang="zh-CN" altLang="en-US" dirty="0">
                <a:solidFill>
                  <a:schemeClr val="tx1">
                    <a:lumMod val="85000"/>
                    <a:lumOff val="15000"/>
                  </a:schemeClr>
                </a:solidFill>
                <a:latin typeface="Impact" pitchFamily="34" charset="0"/>
                <a:ea typeface="+mj-ea"/>
              </a:rPr>
              <a:t>结构和演化的一种模型</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Structure and Evolution of Online Social Networks</a:t>
            </a:r>
          </a:p>
        </p:txBody>
      </p:sp>
      <p:sp>
        <p:nvSpPr>
          <p:cNvPr id="2" name="文本框 1"/>
          <p:cNvSpPr txBox="1"/>
          <p:nvPr/>
        </p:nvSpPr>
        <p:spPr>
          <a:xfrm>
            <a:off x="1421650" y="1626645"/>
            <a:ext cx="5940660" cy="2316019"/>
          </a:xfrm>
          <a:prstGeom prst="rect">
            <a:avLst/>
          </a:prstGeom>
          <a:noFill/>
        </p:spPr>
        <p:txBody>
          <a:bodyPr wrap="square" rtlCol="0">
            <a:spAutoFit/>
          </a:bodyPr>
          <a:lstStyle/>
          <a:p>
            <a:pPr>
              <a:lnSpc>
                <a:spcPct val="150000"/>
              </a:lnSpc>
            </a:pPr>
            <a:r>
              <a:rPr lang="zh-CN" altLang="en-US" sz="1400" dirty="0" smtClean="0"/>
              <a:t>由于大量存在的度为</a:t>
            </a:r>
            <a:r>
              <a:rPr lang="en-US" altLang="zh-CN" sz="1400" dirty="0" smtClean="0"/>
              <a:t>1</a:t>
            </a:r>
            <a:r>
              <a:rPr lang="zh-CN" altLang="en-US" sz="1400" dirty="0" smtClean="0"/>
              <a:t>的</a:t>
            </a:r>
            <a:r>
              <a:rPr lang="en-US" altLang="zh-CN" sz="1400" dirty="0" smtClean="0"/>
              <a:t>singletons</a:t>
            </a:r>
            <a:r>
              <a:rPr lang="zh-CN" altLang="en-US" sz="1400" dirty="0" smtClean="0"/>
              <a:t>会增加网络的直径，当我们将</a:t>
            </a:r>
            <a:r>
              <a:rPr lang="en-US" altLang="zh-CN" sz="1400" dirty="0" smtClean="0"/>
              <a:t>singletons</a:t>
            </a:r>
            <a:r>
              <a:rPr lang="zh-CN" altLang="en-US" sz="1400" dirty="0" smtClean="0"/>
              <a:t>节点去除后再次计算直径，结果表明在网络的中心存在一个小的高度紧密连接的核。</a:t>
            </a:r>
            <a:endParaRPr lang="en-US" altLang="zh-CN" sz="1400" dirty="0" smtClean="0"/>
          </a:p>
          <a:p>
            <a:pPr>
              <a:lnSpc>
                <a:spcPct val="150000"/>
              </a:lnSpc>
            </a:pPr>
            <a:r>
              <a:rPr lang="zh-CN" altLang="en-US" sz="1400" dirty="0" smtClean="0"/>
              <a:t>在将所有被</a:t>
            </a:r>
            <a:r>
              <a:rPr lang="en-US" altLang="zh-CN" sz="1400" dirty="0" smtClean="0"/>
              <a:t>giant-component</a:t>
            </a:r>
            <a:r>
              <a:rPr lang="zh-CN" altLang="en-US" sz="1400" dirty="0" smtClean="0"/>
              <a:t>合并的</a:t>
            </a:r>
            <a:r>
              <a:rPr lang="en-US" altLang="zh-CN" sz="1400" dirty="0" smtClean="0"/>
              <a:t>middle region</a:t>
            </a:r>
            <a:r>
              <a:rPr lang="zh-CN" altLang="en-US" sz="1400" dirty="0" smtClean="0"/>
              <a:t>的星型结构中的</a:t>
            </a:r>
            <a:r>
              <a:rPr lang="en-US" altLang="zh-CN" sz="1400" dirty="0" smtClean="0"/>
              <a:t>singleton</a:t>
            </a:r>
            <a:r>
              <a:rPr lang="zh-CN" altLang="en-US" sz="1400" dirty="0" smtClean="0"/>
              <a:t>和新加入的度为</a:t>
            </a:r>
            <a:r>
              <a:rPr lang="en-US" altLang="zh-CN" sz="1400" dirty="0" smtClean="0"/>
              <a:t>1</a:t>
            </a:r>
            <a:r>
              <a:rPr lang="zh-CN" altLang="en-US" sz="1400" dirty="0" smtClean="0"/>
              <a:t>的节点去除后发现，整个网络的直径并无明显变化。说明合并后的星型结构只是相当于</a:t>
            </a:r>
            <a:r>
              <a:rPr lang="en-US" altLang="zh-CN" sz="1400" dirty="0" smtClean="0"/>
              <a:t>giant component</a:t>
            </a:r>
            <a:r>
              <a:rPr lang="zh-CN" altLang="en-US" sz="1400" dirty="0" smtClean="0"/>
              <a:t>的最外层，跟内层高度紧密连接的核心并无关系。</a:t>
            </a:r>
            <a:endParaRPr lang="zh-CN" altLang="en-US" sz="1400" dirty="0"/>
          </a:p>
        </p:txBody>
      </p:sp>
    </p:spTree>
    <p:extLst>
      <p:ext uri="{BB962C8B-B14F-4D97-AF65-F5344CB8AC3E}">
        <p14:creationId xmlns:p14="http://schemas.microsoft.com/office/powerpoint/2010/main" val="2191395980"/>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3870455" cy="369332"/>
          </a:xfrm>
          <a:prstGeom prst="rect">
            <a:avLst/>
          </a:prstGeom>
          <a:noFill/>
        </p:spPr>
        <p:txBody>
          <a:bodyPr wrap="square" rtlCol="0">
            <a:spAutoFit/>
          </a:bodyPr>
          <a:lstStyle/>
          <a:p>
            <a:r>
              <a:rPr lang="zh-CN" altLang="en-US" dirty="0">
                <a:solidFill>
                  <a:schemeClr val="tx1">
                    <a:lumMod val="85000"/>
                    <a:lumOff val="15000"/>
                  </a:schemeClr>
                </a:solidFill>
                <a:latin typeface="Impact" pitchFamily="34" charset="0"/>
                <a:ea typeface="+mj-ea"/>
              </a:rPr>
              <a:t>用于描述</a:t>
            </a:r>
            <a:r>
              <a:rPr lang="en-US" altLang="zh-CN" dirty="0">
                <a:solidFill>
                  <a:schemeClr val="tx1">
                    <a:lumMod val="85000"/>
                    <a:lumOff val="15000"/>
                  </a:schemeClr>
                </a:solidFill>
                <a:latin typeface="Impact" pitchFamily="34" charset="0"/>
                <a:ea typeface="+mj-ea"/>
              </a:rPr>
              <a:t>SN</a:t>
            </a:r>
            <a:r>
              <a:rPr lang="zh-CN" altLang="en-US" dirty="0">
                <a:solidFill>
                  <a:schemeClr val="tx1">
                    <a:lumMod val="85000"/>
                    <a:lumOff val="15000"/>
                  </a:schemeClr>
                </a:solidFill>
                <a:latin typeface="Impact" pitchFamily="34" charset="0"/>
                <a:ea typeface="+mj-ea"/>
              </a:rPr>
              <a:t>结构和演化的一种模型</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Structure and Evolution of Online Social Networks</a:t>
            </a:r>
          </a:p>
        </p:txBody>
      </p:sp>
      <p:sp>
        <p:nvSpPr>
          <p:cNvPr id="3" name="文本框 2"/>
          <p:cNvSpPr txBox="1"/>
          <p:nvPr/>
        </p:nvSpPr>
        <p:spPr>
          <a:xfrm>
            <a:off x="791580" y="1009339"/>
            <a:ext cx="3510390" cy="369332"/>
          </a:xfrm>
          <a:prstGeom prst="rect">
            <a:avLst/>
          </a:prstGeom>
          <a:noFill/>
        </p:spPr>
        <p:txBody>
          <a:bodyPr wrap="square" rtlCol="0">
            <a:spAutoFit/>
          </a:bodyPr>
          <a:lstStyle/>
          <a:p>
            <a:r>
              <a:rPr lang="zh-CN" altLang="en-US" dirty="0" smtClean="0">
                <a:solidFill>
                  <a:srgbClr val="00B050"/>
                </a:solidFill>
              </a:rPr>
              <a:t>模型的描述</a:t>
            </a:r>
            <a:endParaRPr lang="zh-CN" altLang="en-US" dirty="0">
              <a:solidFill>
                <a:srgbClr val="00B050"/>
              </a:solidFill>
            </a:endParaRPr>
          </a:p>
        </p:txBody>
      </p:sp>
      <p:sp>
        <p:nvSpPr>
          <p:cNvPr id="4" name="文本框 3"/>
          <p:cNvSpPr txBox="1"/>
          <p:nvPr/>
        </p:nvSpPr>
        <p:spPr>
          <a:xfrm>
            <a:off x="746575" y="1716655"/>
            <a:ext cx="6795755" cy="2031325"/>
          </a:xfrm>
          <a:prstGeom prst="rect">
            <a:avLst/>
          </a:prstGeom>
          <a:noFill/>
        </p:spPr>
        <p:txBody>
          <a:bodyPr wrap="square" rtlCol="0">
            <a:spAutoFit/>
          </a:bodyPr>
          <a:lstStyle/>
          <a:p>
            <a:pPr>
              <a:lnSpc>
                <a:spcPct val="150000"/>
              </a:lnSpc>
            </a:pPr>
            <a:r>
              <a:rPr lang="zh-CN" altLang="en-US" sz="1400" dirty="0" smtClean="0"/>
              <a:t>将网络中的节点分为三类：</a:t>
            </a:r>
            <a:endParaRPr lang="en-US" altLang="zh-CN" sz="1400" dirty="0" smtClean="0"/>
          </a:p>
          <a:p>
            <a:pPr marL="285750" indent="-285750">
              <a:lnSpc>
                <a:spcPct val="150000"/>
              </a:lnSpc>
              <a:buFont typeface="Arial" panose="020B0604020202020204" pitchFamily="34" charset="0"/>
              <a:buChar char="•"/>
            </a:pPr>
            <a:r>
              <a:rPr lang="en-US" altLang="zh-CN" sz="1400" dirty="0" smtClean="0">
                <a:solidFill>
                  <a:srgbClr val="95BC49"/>
                </a:solidFill>
              </a:rPr>
              <a:t>Passive users</a:t>
            </a:r>
            <a:r>
              <a:rPr lang="zh-CN" altLang="en-US" sz="1400" dirty="0" smtClean="0"/>
              <a:t>：出于好奇心或者朋友的坚持而加入网络，但从不于其他用户进行交互连接。</a:t>
            </a:r>
            <a:endParaRPr lang="en-US" altLang="zh-CN" sz="1400" dirty="0" smtClean="0"/>
          </a:p>
          <a:p>
            <a:pPr marL="285750" indent="-285750">
              <a:lnSpc>
                <a:spcPct val="150000"/>
              </a:lnSpc>
              <a:buFont typeface="Arial" panose="020B0604020202020204" pitchFamily="34" charset="0"/>
              <a:buChar char="•"/>
            </a:pPr>
            <a:r>
              <a:rPr lang="en-US" altLang="zh-CN" sz="1400" dirty="0" smtClean="0">
                <a:solidFill>
                  <a:srgbClr val="95BC49"/>
                </a:solidFill>
              </a:rPr>
              <a:t>Inviters</a:t>
            </a:r>
            <a:r>
              <a:rPr lang="zh-CN" altLang="en-US" sz="1400" dirty="0" smtClean="0"/>
              <a:t>：倾向于将线下的社交圈迁移到在线端，并积极鼓动朋友加入社交网络。</a:t>
            </a:r>
            <a:endParaRPr lang="en-US" altLang="zh-CN" sz="1400" dirty="0" smtClean="0"/>
          </a:p>
          <a:p>
            <a:pPr marL="285750" indent="-285750">
              <a:lnSpc>
                <a:spcPct val="150000"/>
              </a:lnSpc>
              <a:buFont typeface="Arial" panose="020B0604020202020204" pitchFamily="34" charset="0"/>
              <a:buChar char="•"/>
            </a:pPr>
            <a:r>
              <a:rPr lang="en-US" altLang="zh-CN" sz="1400" dirty="0" smtClean="0">
                <a:solidFill>
                  <a:srgbClr val="95BC49"/>
                </a:solidFill>
              </a:rPr>
              <a:t>Linkers</a:t>
            </a:r>
            <a:r>
              <a:rPr lang="zh-CN" altLang="en-US" sz="1400" dirty="0" smtClean="0"/>
              <a:t>：全身心投入到社交网络中的用户，注重于社交网络的扩展和与他人的连接。</a:t>
            </a:r>
            <a:endParaRPr lang="zh-CN" altLang="en-US" sz="1400" dirty="0"/>
          </a:p>
        </p:txBody>
      </p:sp>
    </p:spTree>
    <p:extLst>
      <p:ext uri="{BB962C8B-B14F-4D97-AF65-F5344CB8AC3E}">
        <p14:creationId xmlns:p14="http://schemas.microsoft.com/office/powerpoint/2010/main" val="3039886940"/>
      </p:ext>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3870455" cy="369332"/>
          </a:xfrm>
          <a:prstGeom prst="rect">
            <a:avLst/>
          </a:prstGeom>
          <a:noFill/>
        </p:spPr>
        <p:txBody>
          <a:bodyPr wrap="square" rtlCol="0">
            <a:spAutoFit/>
          </a:bodyPr>
          <a:lstStyle/>
          <a:p>
            <a:r>
              <a:rPr lang="zh-CN" altLang="en-US" dirty="0">
                <a:solidFill>
                  <a:schemeClr val="tx1">
                    <a:lumMod val="85000"/>
                    <a:lumOff val="15000"/>
                  </a:schemeClr>
                </a:solidFill>
                <a:latin typeface="Impact" pitchFamily="34" charset="0"/>
                <a:ea typeface="+mj-ea"/>
              </a:rPr>
              <a:t>用于描述</a:t>
            </a:r>
            <a:r>
              <a:rPr lang="en-US" altLang="zh-CN" dirty="0">
                <a:solidFill>
                  <a:schemeClr val="tx1">
                    <a:lumMod val="85000"/>
                    <a:lumOff val="15000"/>
                  </a:schemeClr>
                </a:solidFill>
                <a:latin typeface="Impact" pitchFamily="34" charset="0"/>
                <a:ea typeface="+mj-ea"/>
              </a:rPr>
              <a:t>SN</a:t>
            </a:r>
            <a:r>
              <a:rPr lang="zh-CN" altLang="en-US" dirty="0">
                <a:solidFill>
                  <a:schemeClr val="tx1">
                    <a:lumMod val="85000"/>
                    <a:lumOff val="15000"/>
                  </a:schemeClr>
                </a:solidFill>
                <a:latin typeface="Impact" pitchFamily="34" charset="0"/>
                <a:ea typeface="+mj-ea"/>
              </a:rPr>
              <a:t>结构和演化的一种模型</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Structure and Evolution of Online Social Networks</a:t>
            </a:r>
          </a:p>
        </p:txBody>
      </p:sp>
      <p:sp>
        <p:nvSpPr>
          <p:cNvPr id="2" name="文本框 1"/>
          <p:cNvSpPr txBox="1"/>
          <p:nvPr/>
        </p:nvSpPr>
        <p:spPr>
          <a:xfrm>
            <a:off x="1196625" y="1626645"/>
            <a:ext cx="6615735" cy="738664"/>
          </a:xfrm>
          <a:prstGeom prst="rect">
            <a:avLst/>
          </a:prstGeom>
          <a:noFill/>
        </p:spPr>
        <p:txBody>
          <a:bodyPr wrap="square" rtlCol="0">
            <a:spAutoFit/>
          </a:bodyPr>
          <a:lstStyle/>
          <a:p>
            <a:r>
              <a:rPr lang="zh-CN" altLang="en-US" sz="1400" dirty="0" smtClean="0"/>
              <a:t>在每一时刻</a:t>
            </a:r>
            <a:r>
              <a:rPr lang="en-US" altLang="zh-CN" sz="1400" dirty="0" smtClean="0"/>
              <a:t>t</a:t>
            </a:r>
            <a:r>
              <a:rPr lang="zh-CN" altLang="en-US" sz="1400" dirty="0" smtClean="0"/>
              <a:t>，有新的节点加入，根据概率</a:t>
            </a:r>
            <a:r>
              <a:rPr lang="en-US" altLang="zh-CN" sz="1400" dirty="0" smtClean="0"/>
              <a:t>p</a:t>
            </a:r>
            <a:r>
              <a:rPr lang="zh-CN" altLang="en-US" sz="1400" dirty="0" smtClean="0"/>
              <a:t>确定节点是</a:t>
            </a:r>
            <a:r>
              <a:rPr lang="en-US" altLang="zh-CN" sz="1400" dirty="0" err="1" smtClean="0"/>
              <a:t>Passive,Inviter,Linker</a:t>
            </a:r>
            <a:r>
              <a:rPr lang="zh-CN" altLang="en-US" sz="1400" dirty="0" smtClean="0"/>
              <a:t>中的某一种，同时有一些新的边生成。通过带偏置优先连接规则确定边的源端和终端节点，即：</a:t>
            </a:r>
            <a:endParaRPr lang="zh-CN" altLang="en-US" sz="1400" dirty="0"/>
          </a:p>
        </p:txBody>
      </p:sp>
      <p:pic>
        <p:nvPicPr>
          <p:cNvPr id="3" name="图片 2"/>
          <p:cNvPicPr>
            <a:picLocks noChangeAspect="1"/>
          </p:cNvPicPr>
          <p:nvPr/>
        </p:nvPicPr>
        <p:blipFill>
          <a:blip r:embed="rId2"/>
          <a:stretch>
            <a:fillRect/>
          </a:stretch>
        </p:blipFill>
        <p:spPr>
          <a:xfrm>
            <a:off x="2231740" y="2352609"/>
            <a:ext cx="3819525" cy="981075"/>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1196625" y="3426845"/>
                <a:ext cx="6612340" cy="1610697"/>
              </a:xfrm>
              <a:prstGeom prst="rect">
                <a:avLst/>
              </a:prstGeom>
              <a:noFill/>
            </p:spPr>
            <p:txBody>
              <a:bodyPr wrap="square" rtlCol="0">
                <a:spAutoFit/>
              </a:bodyPr>
              <a:lstStyle/>
              <a:p>
                <a:r>
                  <a:rPr lang="zh-CN" altLang="en-US" sz="1400" dirty="0" smtClean="0"/>
                  <a:t>其中</a:t>
                </a:r>
                <a:r>
                  <a:rPr lang="en-US" altLang="zh-CN" sz="1400" dirty="0" smtClean="0"/>
                  <a:t>β</a:t>
                </a:r>
                <a:r>
                  <a:rPr lang="zh-CN" altLang="en-US" sz="1400" dirty="0" smtClean="0"/>
                  <a:t>是偏置参数，</a:t>
                </a:r>
                <a:r>
                  <a:rPr lang="en-US" altLang="zh-CN" sz="1400" dirty="0" smtClean="0"/>
                  <a:t>d(u)</a:t>
                </a:r>
                <a:r>
                  <a:rPr lang="zh-CN" altLang="en-US" sz="1400" dirty="0" smtClean="0"/>
                  <a:t>是节点</a:t>
                </a:r>
                <a:r>
                  <a:rPr lang="en-US" altLang="zh-CN" sz="1400" dirty="0" smtClean="0"/>
                  <a:t>u</a:t>
                </a:r>
                <a:r>
                  <a:rPr lang="zh-CN" altLang="en-US" sz="1400" dirty="0" smtClean="0"/>
                  <a:t>的度，</a:t>
                </a:r>
                <a14:m>
                  <m:oMath xmlns:m="http://schemas.openxmlformats.org/officeDocument/2006/math">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𝐷</m:t>
                        </m:r>
                      </m:e>
                      <m:sup>
                        <m:r>
                          <m:rPr>
                            <m:sty m:val="p"/>
                          </m:rPr>
                          <a:rPr lang="en-US" altLang="zh-CN" sz="1400" i="1">
                            <a:latin typeface="Cambria Math" panose="02040503050406030204" pitchFamily="18" charset="0"/>
                          </a:rPr>
                          <m:t>β</m:t>
                        </m:r>
                      </m:sup>
                    </m:sSup>
                  </m:oMath>
                </a14:m>
                <a:r>
                  <a:rPr lang="zh-CN" altLang="en-US" sz="1400" dirty="0" smtClean="0"/>
                  <a:t>表示以</a:t>
                </a:r>
                <a:r>
                  <a:rPr lang="en-US" altLang="zh-CN" sz="1400" dirty="0" smtClean="0"/>
                  <a:t>β</a:t>
                </a:r>
                <a:r>
                  <a:rPr lang="zh-CN" altLang="en-US" sz="1400" dirty="0" smtClean="0"/>
                  <a:t>为参数的概率分布，</a:t>
                </a:r>
                <a:r>
                  <a:rPr lang="en-US" altLang="zh-CN" sz="1400" dirty="0" smtClean="0"/>
                  <a:t>L,I</a:t>
                </a:r>
                <a:r>
                  <a:rPr lang="zh-CN" altLang="en-US" sz="1400" dirty="0" smtClean="0"/>
                  <a:t>分别表示</a:t>
                </a:r>
                <a:r>
                  <a:rPr lang="en-US" altLang="zh-CN" sz="1400" dirty="0" smtClean="0"/>
                  <a:t>linker</a:t>
                </a:r>
                <a:r>
                  <a:rPr lang="zh-CN" altLang="en-US" sz="1400" dirty="0" smtClean="0"/>
                  <a:t>跟</a:t>
                </a:r>
                <a:r>
                  <a:rPr lang="en-US" altLang="zh-CN" sz="1400" dirty="0" smtClean="0"/>
                  <a:t>inviter</a:t>
                </a:r>
                <a:r>
                  <a:rPr lang="zh-CN" altLang="en-US" sz="1400" dirty="0" smtClean="0"/>
                  <a:t>的节点集合。</a:t>
                </a:r>
                <a:endParaRPr lang="en-US" altLang="zh-CN" sz="1400" dirty="0" smtClean="0"/>
              </a:p>
              <a:p>
                <a:r>
                  <a:rPr lang="zh-CN" altLang="en-US" sz="1400" dirty="0" smtClean="0"/>
                  <a:t>当有新的边生成时，边的源端从依</a:t>
                </a:r>
                <a14:m>
                  <m:oMath xmlns:m="http://schemas.openxmlformats.org/officeDocument/2006/math">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𝐷</m:t>
                        </m:r>
                      </m:e>
                      <m:sup>
                        <m:r>
                          <a:rPr lang="en-US" altLang="zh-CN" sz="1400" i="1">
                            <a:latin typeface="Cambria Math" panose="02040503050406030204" pitchFamily="18" charset="0"/>
                          </a:rPr>
                          <m:t>0</m:t>
                        </m:r>
                      </m:sup>
                    </m:sSup>
                  </m:oMath>
                </a14:m>
                <a:r>
                  <a:rPr lang="zh-CN" altLang="en-US" sz="1400" b="0" dirty="0" smtClean="0"/>
                  <a:t>概率分布选择一个节点</a:t>
                </a:r>
                <a:r>
                  <a:rPr lang="en-US" altLang="zh-CN" sz="1400" b="0" dirty="0" smtClean="0"/>
                  <a:t>u</a:t>
                </a:r>
                <a:r>
                  <a:rPr lang="zh-CN" altLang="en-US" sz="1400" b="0" dirty="0" smtClean="0"/>
                  <a:t>，如果</a:t>
                </a:r>
                <a:r>
                  <a:rPr lang="en-US" altLang="zh-CN" sz="1400" dirty="0" smtClean="0"/>
                  <a:t>u</a:t>
                </a:r>
                <a:r>
                  <a:rPr lang="zh-CN" altLang="en-US" sz="1400" dirty="0" smtClean="0"/>
                  <a:t>是属于</a:t>
                </a:r>
                <a:r>
                  <a:rPr lang="en-US" altLang="zh-CN" sz="1400" dirty="0" smtClean="0"/>
                  <a:t>inviter</a:t>
                </a:r>
                <a:r>
                  <a:rPr lang="zh-CN" altLang="en-US" sz="1400" dirty="0" smtClean="0"/>
                  <a:t>，那么边的终端就是新加入的</a:t>
                </a:r>
                <a:r>
                  <a:rPr lang="en-US" altLang="zh-CN" sz="1400" dirty="0" smtClean="0"/>
                  <a:t>passive</a:t>
                </a:r>
                <a:r>
                  <a:rPr lang="zh-CN" altLang="en-US" sz="1400" dirty="0" smtClean="0"/>
                  <a:t>节点；如果</a:t>
                </a:r>
                <a:r>
                  <a:rPr lang="en-US" altLang="zh-CN" sz="1400" dirty="0" smtClean="0"/>
                  <a:t>u</a:t>
                </a:r>
                <a:r>
                  <a:rPr lang="zh-CN" altLang="en-US" sz="1400" dirty="0" smtClean="0"/>
                  <a:t>是</a:t>
                </a:r>
                <a:r>
                  <a:rPr lang="en-US" altLang="zh-CN" sz="1400" dirty="0" smtClean="0"/>
                  <a:t>linker</a:t>
                </a:r>
                <a:r>
                  <a:rPr lang="zh-CN" altLang="en-US" sz="1400" dirty="0" smtClean="0"/>
                  <a:t>那么终端就依概率</a:t>
                </a:r>
                <a14:m>
                  <m:oMath xmlns:m="http://schemas.openxmlformats.org/officeDocument/2006/math">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𝐷</m:t>
                        </m:r>
                      </m:e>
                      <m:sup>
                        <m:r>
                          <m:rPr>
                            <m:sty m:val="p"/>
                          </m:rPr>
                          <a:rPr lang="en-US" altLang="zh-CN" sz="1400" i="1">
                            <a:latin typeface="Cambria Math" panose="02040503050406030204" pitchFamily="18" charset="0"/>
                          </a:rPr>
                          <m:t>γ</m:t>
                        </m:r>
                      </m:sup>
                    </m:sSup>
                  </m:oMath>
                </a14:m>
                <a:r>
                  <a:rPr lang="zh-CN" altLang="en-US" sz="1400" dirty="0" smtClean="0"/>
                  <a:t>从已存在的</a:t>
                </a:r>
                <a:r>
                  <a:rPr lang="en-US" altLang="zh-CN" sz="1400" dirty="0" smtClean="0"/>
                  <a:t>Inviter</a:t>
                </a:r>
                <a:r>
                  <a:rPr lang="zh-CN" altLang="en-US" sz="1400" dirty="0" smtClean="0"/>
                  <a:t>和</a:t>
                </a:r>
                <a:r>
                  <a:rPr lang="en-US" altLang="zh-CN" sz="1400" dirty="0" smtClean="0"/>
                  <a:t>linker</a:t>
                </a:r>
                <a:r>
                  <a:rPr lang="zh-CN" altLang="en-US" sz="1400" dirty="0" smtClean="0"/>
                  <a:t>节点中选取节点作为终端。</a:t>
                </a:r>
                <a:endParaRPr lang="en-US" altLang="zh-CN" sz="1400" dirty="0" smtClean="0"/>
              </a:p>
              <a:p>
                <a:endParaRPr lang="en-US" altLang="zh-CN" sz="1400" dirty="0"/>
              </a:p>
              <a:p>
                <a:r>
                  <a:rPr lang="zh-CN" altLang="en-US" sz="1400" dirty="0" smtClean="0"/>
                  <a:t>确定模型后通过选取参数对前述实验数据分析的模拟取得了很好的拟合度。</a:t>
                </a:r>
                <a:endParaRPr lang="en-US" altLang="zh-CN" sz="1400" b="0" dirty="0" smtClean="0"/>
              </a:p>
            </p:txBody>
          </p:sp>
        </mc:Choice>
        <mc:Fallback xmlns="">
          <p:sp>
            <p:nvSpPr>
              <p:cNvPr id="4" name="文本框 3"/>
              <p:cNvSpPr txBox="1">
                <a:spLocks noRot="1" noChangeAspect="1" noMove="1" noResize="1" noEditPoints="1" noAdjustHandles="1" noChangeArrowheads="1" noChangeShapeType="1" noTextEdit="1"/>
              </p:cNvSpPr>
              <p:nvPr/>
            </p:nvSpPr>
            <p:spPr>
              <a:xfrm>
                <a:off x="1196625" y="3426845"/>
                <a:ext cx="6612340" cy="1610697"/>
              </a:xfrm>
              <a:prstGeom prst="rect">
                <a:avLst/>
              </a:prstGeom>
              <a:blipFill>
                <a:blip r:embed="rId3"/>
                <a:stretch>
                  <a:fillRect l="-276" r="-2949" b="-34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55056710"/>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A907"/>
        </a:solidFill>
        <a:effectLst/>
      </p:bgPr>
    </p:bg>
    <p:spTree>
      <p:nvGrpSpPr>
        <p:cNvPr id="1" name=""/>
        <p:cNvGrpSpPr/>
        <p:nvPr/>
      </p:nvGrpSpPr>
      <p:grpSpPr>
        <a:xfrm>
          <a:off x="0" y="0"/>
          <a:ext cx="0" cy="0"/>
          <a:chOff x="0" y="0"/>
          <a:chExt cx="0" cy="0"/>
        </a:xfrm>
      </p:grpSpPr>
      <p:sp>
        <p:nvSpPr>
          <p:cNvPr id="6" name="矩形 5"/>
          <p:cNvSpPr/>
          <p:nvPr/>
        </p:nvSpPr>
        <p:spPr>
          <a:xfrm>
            <a:off x="1" y="2166704"/>
            <a:ext cx="9144000" cy="45005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26495" y="-1433695"/>
            <a:ext cx="3720890" cy="8094524"/>
          </a:xfrm>
          <a:prstGeom prst="rect">
            <a:avLst/>
          </a:prstGeom>
          <a:noFill/>
          <a:effectLst>
            <a:outerShdw blurRad="165100" dist="76200" dir="1200000" algn="tl" rotWithShape="0">
              <a:prstClr val="black">
                <a:alpha val="10000"/>
              </a:prstClr>
            </a:outerShdw>
          </a:effectLst>
        </p:spPr>
        <p:txBody>
          <a:bodyPr wrap="none" rtlCol="0">
            <a:spAutoFit/>
          </a:bodyPr>
          <a:lstStyle/>
          <a:p>
            <a:r>
              <a:rPr lang="en-US" altLang="zh-CN" sz="52000" smtClean="0">
                <a:solidFill>
                  <a:schemeClr val="bg1"/>
                </a:solidFill>
                <a:latin typeface="+mj-lt"/>
              </a:rPr>
              <a:t>3</a:t>
            </a:r>
            <a:endParaRPr lang="zh-CN" altLang="en-US" sz="52000">
              <a:solidFill>
                <a:schemeClr val="bg1"/>
              </a:solidFill>
              <a:latin typeface="+mj-lt"/>
            </a:endParaRPr>
          </a:p>
        </p:txBody>
      </p:sp>
      <p:sp>
        <p:nvSpPr>
          <p:cNvPr id="5" name="矩形 4"/>
          <p:cNvSpPr/>
          <p:nvPr/>
        </p:nvSpPr>
        <p:spPr>
          <a:xfrm>
            <a:off x="3579089" y="2155090"/>
            <a:ext cx="5178376" cy="461665"/>
          </a:xfrm>
          <a:prstGeom prst="rect">
            <a:avLst/>
          </a:prstGeom>
        </p:spPr>
        <p:txBody>
          <a:bodyPr wrap="square">
            <a:spAutoFit/>
          </a:bodyPr>
          <a:lstStyle/>
          <a:p>
            <a:pPr algn="r"/>
            <a:r>
              <a:rPr lang="zh-CN" altLang="en-US" sz="2400" dirty="0">
                <a:solidFill>
                  <a:schemeClr val="bg1"/>
                </a:solidFill>
              </a:rPr>
              <a:t>一个社交网络实例形成的经验性分析</a:t>
            </a:r>
          </a:p>
        </p:txBody>
      </p:sp>
      <p:sp>
        <p:nvSpPr>
          <p:cNvPr id="3" name="矩形 2"/>
          <p:cNvSpPr/>
          <p:nvPr/>
        </p:nvSpPr>
        <p:spPr>
          <a:xfrm>
            <a:off x="6007610" y="1397264"/>
            <a:ext cx="2749855" cy="769441"/>
          </a:xfrm>
          <a:prstGeom prst="rect">
            <a:avLst/>
          </a:prstGeom>
        </p:spPr>
        <p:txBody>
          <a:bodyPr wrap="none">
            <a:spAutoFit/>
          </a:bodyPr>
          <a:lstStyle/>
          <a:p>
            <a:pPr lvl="0" algn="r"/>
            <a:r>
              <a:rPr lang="en-US" altLang="zh-CN" sz="4400">
                <a:solidFill>
                  <a:schemeClr val="bg1"/>
                </a:solidFill>
                <a:latin typeface="Impact"/>
              </a:rPr>
              <a:t>PART </a:t>
            </a:r>
            <a:r>
              <a:rPr lang="en-US" altLang="zh-CN" sz="4400" smtClean="0">
                <a:solidFill>
                  <a:schemeClr val="bg1"/>
                </a:solidFill>
                <a:latin typeface="Impact"/>
              </a:rPr>
              <a:t>THREE</a:t>
            </a:r>
            <a:endParaRPr lang="zh-CN" altLang="en-US" sz="4400">
              <a:solidFill>
                <a:schemeClr val="bg1"/>
              </a:solidFill>
              <a:latin typeface="Impact"/>
            </a:endParaRPr>
          </a:p>
        </p:txBody>
      </p:sp>
      <p:sp>
        <p:nvSpPr>
          <p:cNvPr id="25" name="矩形 24"/>
          <p:cNvSpPr/>
          <p:nvPr/>
        </p:nvSpPr>
        <p:spPr>
          <a:xfrm>
            <a:off x="3536885" y="2691666"/>
            <a:ext cx="5220580" cy="316369"/>
          </a:xfrm>
          <a:prstGeom prst="rect">
            <a:avLst/>
          </a:prstGeom>
        </p:spPr>
        <p:txBody>
          <a:bodyPr wrap="square">
            <a:spAutoFit/>
          </a:bodyPr>
          <a:lstStyle/>
          <a:p>
            <a:pPr algn="r">
              <a:lnSpc>
                <a:spcPct val="150000"/>
              </a:lnSpc>
            </a:pPr>
            <a:r>
              <a:rPr lang="en-US" altLang="zh-CN" sz="1100" dirty="0">
                <a:solidFill>
                  <a:schemeClr val="bg1"/>
                </a:solidFill>
                <a:latin typeface="+mn-ea"/>
              </a:rPr>
              <a:t>Empirical Analysis of an Evolving Social Network</a:t>
            </a:r>
            <a:endParaRPr lang="zh-CN" altLang="en-US" sz="1100" dirty="0">
              <a:solidFill>
                <a:schemeClr val="bg1"/>
              </a:solidFill>
              <a:latin typeface="+mn-ea"/>
            </a:endParaRPr>
          </a:p>
        </p:txBody>
      </p:sp>
    </p:spTree>
    <p:extLst>
      <p:ext uri="{BB962C8B-B14F-4D97-AF65-F5344CB8AC3E}">
        <p14:creationId xmlns:p14="http://schemas.microsoft.com/office/powerpoint/2010/main" val="4223966995"/>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4365510" cy="400110"/>
          </a:xfrm>
          <a:prstGeom prst="rect">
            <a:avLst/>
          </a:prstGeom>
          <a:noFill/>
        </p:spPr>
        <p:txBody>
          <a:bodyPr wrap="square" rtlCol="0">
            <a:spAutoFit/>
          </a:bodyPr>
          <a:lstStyle/>
          <a:p>
            <a:r>
              <a:rPr lang="zh-CN" altLang="en-US" sz="2000" b="1" dirty="0">
                <a:solidFill>
                  <a:schemeClr val="tx1">
                    <a:lumMod val="85000"/>
                    <a:lumOff val="15000"/>
                  </a:schemeClr>
                </a:solidFill>
                <a:latin typeface="Impact" pitchFamily="34" charset="0"/>
                <a:ea typeface="+mj-ea"/>
              </a:rPr>
              <a:t>一个社交网络实例形成的经验性分析</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Empirical Analysis of an Evolving Social Network</a:t>
            </a:r>
          </a:p>
        </p:txBody>
      </p:sp>
      <p:sp>
        <p:nvSpPr>
          <p:cNvPr id="4" name="矩形 3"/>
          <p:cNvSpPr/>
          <p:nvPr/>
        </p:nvSpPr>
        <p:spPr>
          <a:xfrm>
            <a:off x="476520" y="906565"/>
            <a:ext cx="4572000" cy="400110"/>
          </a:xfrm>
          <a:prstGeom prst="rect">
            <a:avLst/>
          </a:prstGeom>
        </p:spPr>
        <p:txBody>
          <a:bodyPr>
            <a:spAutoFit/>
          </a:bodyPr>
          <a:lstStyle/>
          <a:p>
            <a:r>
              <a:rPr lang="en-US" altLang="zh-CN" sz="1000" dirty="0" err="1">
                <a:solidFill>
                  <a:schemeClr val="accent4">
                    <a:lumMod val="50000"/>
                  </a:schemeClr>
                </a:solidFill>
              </a:rPr>
              <a:t>Kossinets</a:t>
            </a:r>
            <a:r>
              <a:rPr lang="en-US" altLang="zh-CN" sz="1000" dirty="0">
                <a:solidFill>
                  <a:schemeClr val="accent4">
                    <a:lumMod val="50000"/>
                  </a:schemeClr>
                </a:solidFill>
              </a:rPr>
              <a:t> G, Watts D J. Empirical analysis of an evolving social network[J]. science, 2006, 311(5757): 88-90.</a:t>
            </a:r>
            <a:endParaRPr lang="zh-CN" altLang="en-US" sz="1000" dirty="0">
              <a:solidFill>
                <a:schemeClr val="accent4">
                  <a:lumMod val="50000"/>
                </a:schemeClr>
              </a:solidFill>
            </a:endParaRPr>
          </a:p>
        </p:txBody>
      </p:sp>
      <p:sp>
        <p:nvSpPr>
          <p:cNvPr id="6" name="文本框 5"/>
          <p:cNvSpPr txBox="1"/>
          <p:nvPr/>
        </p:nvSpPr>
        <p:spPr>
          <a:xfrm>
            <a:off x="971600" y="2076695"/>
            <a:ext cx="6930770" cy="20313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smtClean="0"/>
              <a:t>研究对象：一个学年内的高校校内社交网络</a:t>
            </a:r>
            <a:endParaRPr lang="en-US" altLang="zh-CN" sz="1400" dirty="0" smtClean="0"/>
          </a:p>
          <a:p>
            <a:pPr marL="285750" indent="-285750">
              <a:lnSpc>
                <a:spcPct val="150000"/>
              </a:lnSpc>
              <a:buFont typeface="Arial" panose="020B0604020202020204" pitchFamily="34" charset="0"/>
              <a:buChar char="•"/>
            </a:pPr>
            <a:r>
              <a:rPr lang="zh-CN" altLang="en-US" sz="1400" dirty="0" smtClean="0"/>
              <a:t>数据来源：三种不同但相关的数据结构，包括校内人员的电子邮件时间戳、发件人、收件人列表；人员的各种属性（身份、年龄、性别、部门关系以及在学校的年数）；各个课堂的参与情况，包括讲师和学生。</a:t>
            </a:r>
            <a:endParaRPr lang="en-US" altLang="zh-CN" sz="1400" dirty="0" smtClean="0"/>
          </a:p>
          <a:p>
            <a:pPr marL="285750" indent="-285750">
              <a:lnSpc>
                <a:spcPct val="150000"/>
              </a:lnSpc>
              <a:buFont typeface="Arial" panose="020B0604020202020204" pitchFamily="34" charset="0"/>
              <a:buChar char="•"/>
            </a:pPr>
            <a:r>
              <a:rPr lang="zh-CN" altLang="en-US" sz="1400" dirty="0"/>
              <a:t>关键</a:t>
            </a:r>
            <a:r>
              <a:rPr lang="zh-CN" altLang="en-US" sz="1400" dirty="0" smtClean="0"/>
              <a:t>点：在高校环境中，同一课堂的参与提供了关键的面对面交互的机会，相当于课堂是高校人员交互的焦点。</a:t>
            </a:r>
            <a:endParaRPr lang="zh-CN" altLang="en-US" sz="1400" dirty="0"/>
          </a:p>
        </p:txBody>
      </p:sp>
    </p:spTree>
    <p:extLst>
      <p:ext uri="{BB962C8B-B14F-4D97-AF65-F5344CB8AC3E}">
        <p14:creationId xmlns:p14="http://schemas.microsoft.com/office/powerpoint/2010/main" val="1005451943"/>
      </p:ext>
    </p:extLst>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4365510" cy="400110"/>
          </a:xfrm>
          <a:prstGeom prst="rect">
            <a:avLst/>
          </a:prstGeom>
          <a:noFill/>
        </p:spPr>
        <p:txBody>
          <a:bodyPr wrap="square" rtlCol="0">
            <a:spAutoFit/>
          </a:bodyPr>
          <a:lstStyle/>
          <a:p>
            <a:r>
              <a:rPr lang="zh-CN" altLang="en-US" sz="2000" b="1" dirty="0">
                <a:solidFill>
                  <a:schemeClr val="tx1">
                    <a:lumMod val="85000"/>
                    <a:lumOff val="15000"/>
                  </a:schemeClr>
                </a:solidFill>
                <a:latin typeface="Impact" pitchFamily="34" charset="0"/>
                <a:ea typeface="+mj-ea"/>
              </a:rPr>
              <a:t>一个社交网络实例形成的经验性分析</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Empirical Analysis of an Evolving Social Network</a:t>
            </a:r>
          </a:p>
        </p:txBody>
      </p:sp>
      <mc:AlternateContent xmlns:mc="http://schemas.openxmlformats.org/markup-compatibility/2006" xmlns:a14="http://schemas.microsoft.com/office/drawing/2010/main">
        <mc:Choice Requires="a14">
          <p:sp>
            <p:nvSpPr>
              <p:cNvPr id="2" name="文本框 1"/>
              <p:cNvSpPr txBox="1"/>
              <p:nvPr/>
            </p:nvSpPr>
            <p:spPr>
              <a:xfrm>
                <a:off x="1151620" y="1626645"/>
                <a:ext cx="6930770" cy="146290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smtClean="0"/>
                  <a:t>使用双方在时间窗口</a:t>
                </a:r>
                <a:r>
                  <a:rPr lang="en-US" altLang="zh-CN" sz="1400" dirty="0" smtClean="0"/>
                  <a:t>t</a:t>
                </a:r>
                <a:r>
                  <a:rPr lang="zh-CN" altLang="en-US" sz="1400" dirty="0" smtClean="0"/>
                  <a:t>内交换电子邮件的速率来表示连接强度</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𝑤</m:t>
                        </m:r>
                      </m:e>
                      <m:sub>
                        <m:r>
                          <a:rPr lang="en-US" altLang="zh-CN" sz="1400" b="0" i="1" smtClean="0">
                            <a:latin typeface="Cambria Math" panose="02040503050406030204" pitchFamily="18" charset="0"/>
                          </a:rPr>
                          <m:t>𝑖𝑗</m:t>
                        </m:r>
                      </m:sub>
                    </m:sSub>
                  </m:oMath>
                </a14:m>
                <a:endParaRPr lang="en-US" altLang="zh-CN" sz="1400" dirty="0" smtClean="0"/>
              </a:p>
              <a:p>
                <a:pPr marL="285750" indent="-285750">
                  <a:lnSpc>
                    <a:spcPct val="150000"/>
                  </a:lnSpc>
                  <a:buFont typeface="Arial" panose="020B0604020202020204" pitchFamily="34" charset="0"/>
                  <a:buChar char="•"/>
                </a:pPr>
                <a:r>
                  <a:rPr lang="zh-CN" altLang="en-US" sz="1400" dirty="0" smtClean="0"/>
                  <a:t>在任意时刻的网络中包含所有在过去</a:t>
                </a:r>
                <a:r>
                  <a:rPr lang="zh-CN" altLang="en-US" sz="1400" dirty="0"/>
                  <a:t>时</a:t>
                </a:r>
                <a:r>
                  <a:rPr lang="zh-CN" altLang="en-US" sz="1400" dirty="0" smtClean="0"/>
                  <a:t>间</a:t>
                </a:r>
                <a:r>
                  <a:rPr lang="en-US" altLang="zh-CN" sz="1400" dirty="0" smtClean="0"/>
                  <a:t>t</a:t>
                </a:r>
                <a:r>
                  <a:rPr lang="zh-CN" altLang="en-US" sz="1400" dirty="0" smtClean="0"/>
                  <a:t>内交换过信息的一对节点和连接</a:t>
                </a:r>
                <a:endParaRPr lang="en-US" altLang="zh-CN" sz="1400" dirty="0" smtClean="0"/>
              </a:p>
              <a:p>
                <a:pPr marL="285750" indent="-285750">
                  <a:lnSpc>
                    <a:spcPct val="150000"/>
                  </a:lnSpc>
                  <a:buFont typeface="Arial" panose="020B0604020202020204" pitchFamily="34" charset="0"/>
                  <a:buChar char="•"/>
                </a:pPr>
                <a:r>
                  <a:rPr lang="zh-CN" altLang="en-US" sz="1400" dirty="0" smtClean="0"/>
                  <a:t>使用</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𝑑</m:t>
                        </m:r>
                      </m:e>
                      <m:sub>
                        <m:r>
                          <a:rPr lang="en-US" altLang="zh-CN" sz="1400" b="0" i="1" smtClean="0">
                            <a:latin typeface="Cambria Math" panose="02040503050406030204" pitchFamily="18" charset="0"/>
                          </a:rPr>
                          <m:t>𝑖𝑗</m:t>
                        </m:r>
                      </m:sub>
                    </m:sSub>
                  </m:oMath>
                </a14:m>
                <a:r>
                  <a:rPr lang="zh-CN" altLang="en-US" sz="1400" b="0" dirty="0" smtClean="0"/>
                  <a:t>表示一对节点间的最短路径</a:t>
                </a:r>
                <a:endParaRPr lang="en-US" altLang="zh-CN" sz="1400" b="0" dirty="0" smtClean="0"/>
              </a:p>
              <a:p>
                <a:pPr marL="285750" indent="-285750">
                  <a:lnSpc>
                    <a:spcPct val="150000"/>
                  </a:lnSpc>
                  <a:buFont typeface="Arial" panose="020B0604020202020204" pitchFamily="34" charset="0"/>
                  <a:buChar char="•"/>
                </a:pPr>
                <a:r>
                  <a:rPr lang="zh-CN" altLang="en-US" sz="1400" dirty="0" smtClean="0"/>
                  <a:t>使用</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𝑠</m:t>
                        </m:r>
                      </m:e>
                      <m:sub>
                        <m:r>
                          <a:rPr lang="en-US" altLang="zh-CN" sz="1400" b="0" i="1" smtClean="0">
                            <a:latin typeface="Cambria Math" panose="02040503050406030204" pitchFamily="18" charset="0"/>
                          </a:rPr>
                          <m:t>𝑖𝑗</m:t>
                        </m:r>
                      </m:sub>
                    </m:sSub>
                  </m:oMath>
                </a14:m>
                <a:r>
                  <a:rPr lang="zh-CN" altLang="en-US" sz="1400" b="0" dirty="0" smtClean="0"/>
                  <a:t>表示共同的联系的数量</a:t>
                </a:r>
                <a:endParaRPr lang="en-US" altLang="zh-CN" sz="1400" b="0" dirty="0" smtClean="0"/>
              </a:p>
            </p:txBody>
          </p:sp>
        </mc:Choice>
        <mc:Fallback xmlns="">
          <p:sp>
            <p:nvSpPr>
              <p:cNvPr id="2" name="文本框 1"/>
              <p:cNvSpPr txBox="1">
                <a:spLocks noRot="1" noChangeAspect="1" noMove="1" noResize="1" noEditPoints="1" noAdjustHandles="1" noChangeArrowheads="1" noChangeShapeType="1" noTextEdit="1"/>
              </p:cNvSpPr>
              <p:nvPr/>
            </p:nvSpPr>
            <p:spPr>
              <a:xfrm>
                <a:off x="1151620" y="1626645"/>
                <a:ext cx="6930770" cy="1462901"/>
              </a:xfrm>
              <a:prstGeom prst="rect">
                <a:avLst/>
              </a:prstGeom>
              <a:blipFill>
                <a:blip r:embed="rId2"/>
                <a:stretch>
                  <a:fillRect l="-176"/>
                </a:stretch>
              </a:blipFill>
            </p:spPr>
            <p:txBody>
              <a:bodyPr/>
              <a:lstStyle/>
              <a:p>
                <a:r>
                  <a:rPr lang="zh-CN" altLang="en-US">
                    <a:noFill/>
                  </a:rPr>
                  <a:t> </a:t>
                </a:r>
              </a:p>
            </p:txBody>
          </p:sp>
        </mc:Fallback>
      </mc:AlternateContent>
      <p:sp>
        <p:nvSpPr>
          <p:cNvPr id="3" name="文本框 2"/>
          <p:cNvSpPr txBox="1"/>
          <p:nvPr/>
        </p:nvSpPr>
        <p:spPr>
          <a:xfrm>
            <a:off x="701570" y="1041580"/>
            <a:ext cx="3240360" cy="369332"/>
          </a:xfrm>
          <a:prstGeom prst="rect">
            <a:avLst/>
          </a:prstGeom>
          <a:noFill/>
        </p:spPr>
        <p:txBody>
          <a:bodyPr wrap="square" rtlCol="0">
            <a:spAutoFit/>
          </a:bodyPr>
          <a:lstStyle/>
          <a:p>
            <a:r>
              <a:rPr lang="zh-CN" altLang="en-US" dirty="0" smtClean="0">
                <a:solidFill>
                  <a:srgbClr val="FFC000"/>
                </a:solidFill>
              </a:rPr>
              <a:t>一些标记说明</a:t>
            </a:r>
            <a:endParaRPr lang="zh-CN" altLang="en-US" dirty="0">
              <a:solidFill>
                <a:srgbClr val="FFC000"/>
              </a:solidFill>
            </a:endParaRPr>
          </a:p>
        </p:txBody>
      </p:sp>
      <p:sp>
        <p:nvSpPr>
          <p:cNvPr id="4" name="矩形 3"/>
          <p:cNvSpPr/>
          <p:nvPr/>
        </p:nvSpPr>
        <p:spPr>
          <a:xfrm>
            <a:off x="752090" y="3120613"/>
            <a:ext cx="1569660" cy="369332"/>
          </a:xfrm>
          <a:prstGeom prst="rect">
            <a:avLst/>
          </a:prstGeom>
        </p:spPr>
        <p:txBody>
          <a:bodyPr wrap="none">
            <a:spAutoFit/>
          </a:bodyPr>
          <a:lstStyle/>
          <a:p>
            <a:r>
              <a:rPr lang="zh-CN" altLang="en-US" dirty="0" smtClean="0">
                <a:solidFill>
                  <a:srgbClr val="FFC000"/>
                </a:solidFill>
              </a:rPr>
              <a:t>主要衡量标准</a:t>
            </a:r>
            <a:endParaRPr lang="en-US" altLang="zh-CN" dirty="0" smtClean="0">
              <a:solidFill>
                <a:srgbClr val="FFC000"/>
              </a:solidFill>
            </a:endParaRPr>
          </a:p>
        </p:txBody>
      </p:sp>
      <mc:AlternateContent xmlns:mc="http://schemas.openxmlformats.org/markup-compatibility/2006" xmlns:a14="http://schemas.microsoft.com/office/drawing/2010/main">
        <mc:Choice Requires="a14">
          <p:sp>
            <p:nvSpPr>
              <p:cNvPr id="5" name="文本框 4"/>
              <p:cNvSpPr txBox="1"/>
              <p:nvPr/>
            </p:nvSpPr>
            <p:spPr>
              <a:xfrm>
                <a:off x="1151620" y="3626174"/>
                <a:ext cx="6390710" cy="971420"/>
              </a:xfrm>
              <a:prstGeom prst="rect">
                <a:avLst/>
              </a:prstGeom>
              <a:noFill/>
            </p:spPr>
            <p:txBody>
              <a:bodyPr wrap="square" rtlCol="0">
                <a:spAutoFit/>
              </a:bodyPr>
              <a:lstStyle/>
              <a:p>
                <a:r>
                  <a:rPr lang="en-US" altLang="zh-CN" sz="1400" dirty="0" smtClean="0">
                    <a:solidFill>
                      <a:schemeClr val="accent6">
                        <a:lumMod val="75000"/>
                      </a:schemeClr>
                    </a:solidFill>
                  </a:rPr>
                  <a:t>cyclic closure bias</a:t>
                </a:r>
                <a:r>
                  <a:rPr lang="zh-CN" altLang="en-US" sz="1400" dirty="0" smtClean="0">
                    <a:solidFill>
                      <a:schemeClr val="accent6">
                        <a:lumMod val="75000"/>
                      </a:schemeClr>
                    </a:solidFill>
                  </a:rPr>
                  <a:t>：</a:t>
                </a:r>
                <a:r>
                  <a:rPr lang="zh-CN" altLang="en-US" sz="1400" dirty="0" smtClean="0"/>
                  <a:t>对于</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𝑑</m:t>
                        </m:r>
                      </m:e>
                      <m:sub>
                        <m:r>
                          <a:rPr lang="en-US" altLang="zh-CN" sz="1400" b="0" i="1" smtClean="0">
                            <a:latin typeface="Cambria Math" panose="02040503050406030204" pitchFamily="18" charset="0"/>
                          </a:rPr>
                          <m:t>𝑖𝑗</m:t>
                        </m:r>
                      </m:sub>
                    </m:sSub>
                  </m:oMath>
                </a14:m>
                <a:r>
                  <a:rPr lang="zh-CN" altLang="en-US" sz="1400" b="0" dirty="0" smtClean="0"/>
                  <a:t>的</a:t>
                </a:r>
                <a:r>
                  <a:rPr lang="en-US" altLang="zh-CN" sz="1400" b="0" dirty="0" smtClean="0"/>
                  <a:t>cyclic closure bias</a:t>
                </a:r>
                <a:r>
                  <a:rPr lang="zh-CN" altLang="en-US" sz="1400" b="0" dirty="0" smtClean="0"/>
                  <a:t>就是指两个距离为</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𝑑</m:t>
                        </m:r>
                      </m:e>
                      <m:sub>
                        <m:r>
                          <a:rPr lang="en-US" altLang="zh-CN" sz="1400" b="0" i="1" smtClean="0">
                            <a:latin typeface="Cambria Math" panose="02040503050406030204" pitchFamily="18" charset="0"/>
                          </a:rPr>
                          <m:t>𝑖𝑗</m:t>
                        </m:r>
                      </m:sub>
                    </m:sSub>
                  </m:oMath>
                </a14:m>
                <a:r>
                  <a:rPr lang="zh-CN" altLang="en-US" sz="1400" b="0" dirty="0" smtClean="0"/>
                  <a:t>的为关联的节点产生关联的概率。</a:t>
                </a:r>
                <a:endParaRPr lang="en-US" altLang="zh-CN" sz="1400" b="0" dirty="0" smtClean="0"/>
              </a:p>
              <a:p>
                <a:r>
                  <a:rPr lang="en-US" altLang="zh-CN" sz="1400" dirty="0">
                    <a:solidFill>
                      <a:schemeClr val="accent6">
                        <a:lumMod val="75000"/>
                      </a:schemeClr>
                    </a:solidFill>
                  </a:rPr>
                  <a:t>focal closure </a:t>
                </a:r>
                <a:r>
                  <a:rPr lang="en-US" altLang="zh-CN" sz="1400" dirty="0" smtClean="0">
                    <a:solidFill>
                      <a:schemeClr val="accent6">
                        <a:lumMod val="75000"/>
                      </a:schemeClr>
                    </a:solidFill>
                  </a:rPr>
                  <a:t>biases</a:t>
                </a:r>
                <a:r>
                  <a:rPr lang="zh-CN" altLang="en-US" sz="1400" dirty="0" smtClean="0">
                    <a:solidFill>
                      <a:schemeClr val="accent6">
                        <a:lumMod val="75000"/>
                      </a:schemeClr>
                    </a:solidFill>
                  </a:rPr>
                  <a:t>：</a:t>
                </a:r>
                <a:r>
                  <a:rPr lang="zh-CN" altLang="en-US" sz="1400" dirty="0" smtClean="0"/>
                  <a:t>对于一对没有连接的节点，</a:t>
                </a:r>
                <a:r>
                  <a:rPr lang="en-US" altLang="zh-CN" sz="1400" dirty="0" smtClean="0"/>
                  <a:t>focal closure bias</a:t>
                </a:r>
                <a:r>
                  <a:rPr lang="zh-CN" altLang="en-US" sz="1400" dirty="0" smtClean="0"/>
                  <a:t>表示节点间在存在共同交互焦点（课堂）的情况产生连接的概率</a:t>
                </a:r>
                <a:endParaRPr lang="en-US" altLang="zh-CN" sz="1400" dirty="0"/>
              </a:p>
            </p:txBody>
          </p:sp>
        </mc:Choice>
        <mc:Fallback xmlns="">
          <p:sp>
            <p:nvSpPr>
              <p:cNvPr id="5" name="文本框 4"/>
              <p:cNvSpPr txBox="1">
                <a:spLocks noRot="1" noChangeAspect="1" noMove="1" noResize="1" noEditPoints="1" noAdjustHandles="1" noChangeArrowheads="1" noChangeShapeType="1" noTextEdit="1"/>
              </p:cNvSpPr>
              <p:nvPr/>
            </p:nvSpPr>
            <p:spPr>
              <a:xfrm>
                <a:off x="1151620" y="3626174"/>
                <a:ext cx="6390710" cy="971420"/>
              </a:xfrm>
              <a:prstGeom prst="rect">
                <a:avLst/>
              </a:prstGeom>
              <a:blipFill>
                <a:blip r:embed="rId3"/>
                <a:stretch>
                  <a:fillRect l="-286" t="-1258" b="-566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48902701"/>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4365510" cy="400110"/>
          </a:xfrm>
          <a:prstGeom prst="rect">
            <a:avLst/>
          </a:prstGeom>
          <a:noFill/>
        </p:spPr>
        <p:txBody>
          <a:bodyPr wrap="square" rtlCol="0">
            <a:spAutoFit/>
          </a:bodyPr>
          <a:lstStyle/>
          <a:p>
            <a:r>
              <a:rPr lang="zh-CN" altLang="en-US" sz="2000" b="1" dirty="0">
                <a:solidFill>
                  <a:schemeClr val="tx1">
                    <a:lumMod val="85000"/>
                    <a:lumOff val="15000"/>
                  </a:schemeClr>
                </a:solidFill>
                <a:latin typeface="Impact" pitchFamily="34" charset="0"/>
                <a:ea typeface="+mj-ea"/>
              </a:rPr>
              <a:t>一个社交网络实例形成的经验性分析</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Empirical Analysis of an Evolving Social Network</a:t>
            </a:r>
          </a:p>
        </p:txBody>
      </p:sp>
      <p:sp>
        <p:nvSpPr>
          <p:cNvPr id="2" name="文本框 1"/>
          <p:cNvSpPr txBox="1"/>
          <p:nvPr/>
        </p:nvSpPr>
        <p:spPr>
          <a:xfrm>
            <a:off x="521550" y="1041580"/>
            <a:ext cx="1845205" cy="369332"/>
          </a:xfrm>
          <a:prstGeom prst="rect">
            <a:avLst/>
          </a:prstGeom>
          <a:noFill/>
        </p:spPr>
        <p:txBody>
          <a:bodyPr wrap="square" rtlCol="0">
            <a:spAutoFit/>
          </a:bodyPr>
          <a:lstStyle/>
          <a:p>
            <a:r>
              <a:rPr lang="zh-CN" altLang="en-US" dirty="0" smtClean="0">
                <a:solidFill>
                  <a:srgbClr val="FFC000"/>
                </a:solidFill>
              </a:rPr>
              <a:t>实验结果及结论</a:t>
            </a:r>
            <a:endParaRPr lang="zh-CN" altLang="en-US" dirty="0">
              <a:solidFill>
                <a:srgbClr val="FFC000"/>
              </a:solidFill>
            </a:endParaRPr>
          </a:p>
        </p:txBody>
      </p:sp>
      <p:pic>
        <p:nvPicPr>
          <p:cNvPr id="3" name="图片 2"/>
          <p:cNvPicPr>
            <a:picLocks noChangeAspect="1"/>
          </p:cNvPicPr>
          <p:nvPr/>
        </p:nvPicPr>
        <p:blipFill>
          <a:blip r:embed="rId2"/>
          <a:stretch>
            <a:fillRect/>
          </a:stretch>
        </p:blipFill>
        <p:spPr>
          <a:xfrm>
            <a:off x="476520" y="1626645"/>
            <a:ext cx="3405600" cy="2541167"/>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4481990" y="906565"/>
                <a:ext cx="4275475" cy="3647152"/>
              </a:xfrm>
              <a:prstGeom prst="rect">
                <a:avLst/>
              </a:prstGeom>
              <a:noFill/>
            </p:spPr>
            <p:txBody>
              <a:bodyPr wrap="square" rtlCol="0">
                <a:spAutoFit/>
              </a:bodyPr>
              <a:lstStyle/>
              <a:p>
                <a:pPr>
                  <a:lnSpc>
                    <a:spcPct val="150000"/>
                  </a:lnSpc>
                </a:pPr>
                <a:r>
                  <a:rPr lang="zh-CN" altLang="en-US" sz="1400" dirty="0" smtClean="0"/>
                  <a:t>在右图中，</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𝑃</m:t>
                        </m:r>
                      </m:e>
                      <m:sub>
                        <m:r>
                          <a:rPr lang="en-US" altLang="zh-CN" sz="1400" b="0" i="1" smtClean="0">
                            <a:latin typeface="Cambria Math" panose="02040503050406030204" pitchFamily="18" charset="0"/>
                          </a:rPr>
                          <m:t>𝑛𝑒𝑤</m:t>
                        </m:r>
                      </m:sub>
                    </m:sSub>
                  </m:oMath>
                </a14:m>
                <a:r>
                  <a:rPr lang="zh-CN" altLang="en-US" sz="1400" b="0" dirty="0" smtClean="0"/>
                  <a:t>表示节点间新产生连接的概率</a:t>
                </a:r>
                <a:r>
                  <a:rPr lang="zh-CN" altLang="en-US" sz="1400" dirty="0" smtClean="0"/>
                  <a:t>。</a:t>
                </a:r>
                <a:endParaRPr lang="en-US" altLang="zh-CN" sz="1400" dirty="0" smtClean="0"/>
              </a:p>
              <a:p>
                <a:pPr>
                  <a:lnSpc>
                    <a:spcPct val="150000"/>
                  </a:lnSpc>
                </a:pPr>
                <a:endParaRPr lang="en-US" altLang="zh-CN" sz="1400" b="0" dirty="0"/>
              </a:p>
              <a:p>
                <a:pPr>
                  <a:lnSpc>
                    <a:spcPct val="150000"/>
                  </a:lnSpc>
                </a:pPr>
                <a:r>
                  <a:rPr lang="en-US" altLang="zh-CN" sz="1400" dirty="0" smtClean="0"/>
                  <a:t>A</a:t>
                </a:r>
                <a:r>
                  <a:rPr lang="zh-CN" altLang="en-US" sz="1400" dirty="0" smtClean="0"/>
                  <a:t>图：圆形表示有共同的课程，三角形表示没有共同的课程。从图中可以看出，当节点有共同的关注点时，产生联系的概率比没有时大得多。</a:t>
                </a:r>
                <a:endParaRPr lang="en-US" altLang="zh-CN" sz="1400" dirty="0" smtClean="0"/>
              </a:p>
              <a:p>
                <a:pPr>
                  <a:lnSpc>
                    <a:spcPct val="150000"/>
                  </a:lnSpc>
                </a:pPr>
                <a:r>
                  <a:rPr lang="en-US" altLang="zh-CN" sz="1400" b="0" dirty="0" smtClean="0"/>
                  <a:t>B</a:t>
                </a:r>
                <a:r>
                  <a:rPr lang="zh-CN" altLang="en-US" sz="1400" b="0" dirty="0" smtClean="0"/>
                  <a:t>图：圆形表示有共同的课程，三角形表示没有共同的课程。</a:t>
                </a:r>
                <a:r>
                  <a:rPr lang="en-US" altLang="zh-CN" sz="1400" b="0" dirty="0" smtClean="0"/>
                  <a:t>B</a:t>
                </a:r>
                <a:r>
                  <a:rPr lang="zh-CN" altLang="en-US" sz="1400" b="0" dirty="0" smtClean="0"/>
                  <a:t>图表明在有共同的熟人（共同连接的节点）的情况下，熟人的数量可以抵消共同关注点的效用</a:t>
                </a:r>
                <a:r>
                  <a:rPr lang="zh-CN" altLang="en-US" sz="1400" dirty="0" smtClean="0"/>
                  <a:t>。</a:t>
                </a:r>
                <a:endParaRPr lang="en-US" altLang="zh-CN" sz="1400" dirty="0" smtClean="0"/>
              </a:p>
              <a:p>
                <a:pPr>
                  <a:lnSpc>
                    <a:spcPct val="150000"/>
                  </a:lnSpc>
                </a:pPr>
                <a:r>
                  <a:rPr lang="en-US" altLang="zh-CN" sz="1400" b="0" dirty="0" smtClean="0"/>
                  <a:t>C</a:t>
                </a:r>
                <a:r>
                  <a:rPr lang="zh-CN" altLang="en-US" sz="1400" b="0" dirty="0" smtClean="0"/>
                  <a:t>图：圆形表示有共同的熟人，三角形表示没有共同的熟人。</a:t>
                </a:r>
                <a:r>
                  <a:rPr lang="en-US" altLang="zh-CN" sz="1400" b="0" dirty="0" smtClean="0"/>
                  <a:t>C</a:t>
                </a:r>
                <a:r>
                  <a:rPr lang="zh-CN" altLang="en-US" sz="1400" b="0" dirty="0" smtClean="0"/>
                  <a:t>图说明共同的熟人在新连接形成过程中产生的作用要大于共同的关注点。</a:t>
                </a:r>
                <a:endParaRPr lang="en-US" altLang="zh-CN" sz="1400" b="0" dirty="0" smtClean="0"/>
              </a:p>
            </p:txBody>
          </p:sp>
        </mc:Choice>
        <mc:Fallback xmlns="">
          <p:sp>
            <p:nvSpPr>
              <p:cNvPr id="4" name="文本框 3"/>
              <p:cNvSpPr txBox="1">
                <a:spLocks noRot="1" noChangeAspect="1" noMove="1" noResize="1" noEditPoints="1" noAdjustHandles="1" noChangeArrowheads="1" noChangeShapeType="1" noTextEdit="1"/>
              </p:cNvSpPr>
              <p:nvPr/>
            </p:nvSpPr>
            <p:spPr>
              <a:xfrm>
                <a:off x="4481990" y="906565"/>
                <a:ext cx="4275475" cy="3647152"/>
              </a:xfrm>
              <a:prstGeom prst="rect">
                <a:avLst/>
              </a:prstGeom>
              <a:blipFill>
                <a:blip r:embed="rId3"/>
                <a:stretch>
                  <a:fillRect l="-427" r="-44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75702017"/>
      </p:ext>
    </p:extLst>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4365510" cy="400110"/>
          </a:xfrm>
          <a:prstGeom prst="rect">
            <a:avLst/>
          </a:prstGeom>
          <a:noFill/>
        </p:spPr>
        <p:txBody>
          <a:bodyPr wrap="square" rtlCol="0">
            <a:spAutoFit/>
          </a:bodyPr>
          <a:lstStyle/>
          <a:p>
            <a:r>
              <a:rPr lang="zh-CN" altLang="en-US" sz="2000" b="1" dirty="0">
                <a:solidFill>
                  <a:schemeClr val="tx1">
                    <a:lumMod val="85000"/>
                    <a:lumOff val="15000"/>
                  </a:schemeClr>
                </a:solidFill>
                <a:latin typeface="Impact" pitchFamily="34" charset="0"/>
                <a:ea typeface="+mj-ea"/>
              </a:rPr>
              <a:t>一个社交网络实例形成的经验性分析</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Empirical Analysis of an Evolving Social Network</a:t>
            </a:r>
          </a:p>
        </p:txBody>
      </p:sp>
      <p:pic>
        <p:nvPicPr>
          <p:cNvPr id="2" name="图片 1"/>
          <p:cNvPicPr>
            <a:picLocks noChangeAspect="1"/>
          </p:cNvPicPr>
          <p:nvPr/>
        </p:nvPicPr>
        <p:blipFill>
          <a:blip r:embed="rId2"/>
          <a:stretch>
            <a:fillRect/>
          </a:stretch>
        </p:blipFill>
        <p:spPr>
          <a:xfrm>
            <a:off x="476520" y="1671650"/>
            <a:ext cx="3405600" cy="2650534"/>
          </a:xfrm>
          <a:prstGeom prst="rect">
            <a:avLst/>
          </a:prstGeom>
        </p:spPr>
      </p:pic>
      <p:sp>
        <p:nvSpPr>
          <p:cNvPr id="3" name="文本框 2"/>
          <p:cNvSpPr txBox="1"/>
          <p:nvPr/>
        </p:nvSpPr>
        <p:spPr>
          <a:xfrm>
            <a:off x="4236765" y="1536635"/>
            <a:ext cx="4320480" cy="2677656"/>
          </a:xfrm>
          <a:prstGeom prst="rect">
            <a:avLst/>
          </a:prstGeom>
          <a:noFill/>
        </p:spPr>
        <p:txBody>
          <a:bodyPr wrap="square" rtlCol="0">
            <a:spAutoFit/>
          </a:bodyPr>
          <a:lstStyle/>
          <a:p>
            <a:pPr>
              <a:lnSpc>
                <a:spcPct val="150000"/>
              </a:lnSpc>
            </a:pPr>
            <a:r>
              <a:rPr lang="zh-CN" altLang="en-US" sz="1400" dirty="0" smtClean="0"/>
              <a:t>图中</a:t>
            </a:r>
            <a:r>
              <a:rPr lang="en-US" altLang="zh-CN" sz="1400" dirty="0" smtClean="0"/>
              <a:t>&lt;k&gt;</a:t>
            </a:r>
            <a:r>
              <a:rPr lang="zh-CN" altLang="en-US" sz="1400" dirty="0" smtClean="0"/>
              <a:t>是节点平均的度，</a:t>
            </a:r>
            <a:r>
              <a:rPr lang="en-US" altLang="zh-CN" sz="1400" dirty="0" smtClean="0"/>
              <a:t>S</a:t>
            </a:r>
            <a:r>
              <a:rPr lang="zh-CN" altLang="en-US" sz="1400" dirty="0" smtClean="0"/>
              <a:t>表示</a:t>
            </a:r>
            <a:r>
              <a:rPr lang="en-US" altLang="zh-CN" sz="1400" dirty="0" smtClean="0"/>
              <a:t>giant component</a:t>
            </a:r>
            <a:r>
              <a:rPr lang="zh-CN" altLang="en-US" sz="1400" dirty="0" smtClean="0"/>
              <a:t>在整个网络中所占比例，</a:t>
            </a:r>
            <a:r>
              <a:rPr lang="en-US" altLang="zh-CN" sz="1400" dirty="0" smtClean="0"/>
              <a:t>L</a:t>
            </a:r>
            <a:r>
              <a:rPr lang="zh-CN" altLang="en-US" sz="1400" dirty="0" smtClean="0"/>
              <a:t>表示最短平均路径的均值，</a:t>
            </a:r>
            <a:r>
              <a:rPr lang="en-US" altLang="zh-CN" sz="1400" dirty="0" smtClean="0"/>
              <a:t>C</a:t>
            </a:r>
            <a:r>
              <a:rPr lang="zh-CN" altLang="en-US" sz="1400" dirty="0" smtClean="0"/>
              <a:t>表示聚集系数。</a:t>
            </a:r>
            <a:endParaRPr lang="en-US" altLang="zh-CN" sz="1400" dirty="0" smtClean="0"/>
          </a:p>
          <a:p>
            <a:pPr>
              <a:lnSpc>
                <a:spcPct val="150000"/>
              </a:lnSpc>
            </a:pPr>
            <a:r>
              <a:rPr lang="zh-CN" altLang="en-US" sz="1400" dirty="0"/>
              <a:t>图</a:t>
            </a:r>
            <a:r>
              <a:rPr lang="zh-CN" altLang="en-US" sz="1400" dirty="0" smtClean="0"/>
              <a:t>中可以看出不同的统计数据对时间的敏感性不同，如</a:t>
            </a:r>
            <a:r>
              <a:rPr lang="en-US" altLang="zh-CN" sz="1400" dirty="0" smtClean="0"/>
              <a:t>&lt;k&gt;</a:t>
            </a:r>
            <a:r>
              <a:rPr lang="zh-CN" altLang="en-US" sz="1400" dirty="0" smtClean="0"/>
              <a:t>对时间的敏感性远大于聚集系数</a:t>
            </a:r>
            <a:r>
              <a:rPr lang="en-US" altLang="zh-CN" sz="1400" dirty="0" smtClean="0"/>
              <a:t>C</a:t>
            </a:r>
            <a:r>
              <a:rPr lang="zh-CN" altLang="en-US" sz="1400" dirty="0" smtClean="0"/>
              <a:t>，这也表明局部网络特性比全局特性要更稳定。同时滑动窗口大小选取得当可以避免在外源性变化附近选取数据，如图中的学期末阶段。</a:t>
            </a:r>
            <a:endParaRPr lang="zh-CN" altLang="en-US" sz="1400" dirty="0"/>
          </a:p>
        </p:txBody>
      </p:sp>
      <p:sp>
        <p:nvSpPr>
          <p:cNvPr id="4" name="文本框 3"/>
          <p:cNvSpPr txBox="1"/>
          <p:nvPr/>
        </p:nvSpPr>
        <p:spPr>
          <a:xfrm>
            <a:off x="836585" y="963764"/>
            <a:ext cx="945105" cy="707886"/>
          </a:xfrm>
          <a:prstGeom prst="rect">
            <a:avLst/>
          </a:prstGeom>
          <a:noFill/>
        </p:spPr>
        <p:txBody>
          <a:bodyPr wrap="square" rtlCol="0">
            <a:spAutoFit/>
          </a:bodyPr>
          <a:lstStyle/>
          <a:p>
            <a:r>
              <a:rPr lang="zh-CN" altLang="en-US" sz="1000" dirty="0" smtClean="0"/>
              <a:t>滑动窗口大小</a:t>
            </a:r>
            <a:endParaRPr lang="en-US" altLang="zh-CN" sz="1000" dirty="0" smtClean="0"/>
          </a:p>
          <a:p>
            <a:r>
              <a:rPr lang="zh-CN" altLang="en-US" sz="1000" dirty="0" smtClean="0"/>
              <a:t>虚线：</a:t>
            </a:r>
            <a:r>
              <a:rPr lang="en-US" altLang="zh-CN" sz="1000" dirty="0" smtClean="0"/>
              <a:t>30</a:t>
            </a:r>
            <a:r>
              <a:rPr lang="zh-CN" altLang="en-US" sz="1000" dirty="0" smtClean="0"/>
              <a:t>天</a:t>
            </a:r>
            <a:endParaRPr lang="en-US" altLang="zh-CN" sz="1000" dirty="0" smtClean="0"/>
          </a:p>
          <a:p>
            <a:r>
              <a:rPr lang="zh-CN" altLang="en-US" sz="1000" dirty="0" smtClean="0"/>
              <a:t>实线：</a:t>
            </a:r>
            <a:r>
              <a:rPr lang="en-US" altLang="zh-CN" sz="1000" dirty="0" smtClean="0"/>
              <a:t>60</a:t>
            </a:r>
            <a:r>
              <a:rPr lang="zh-CN" altLang="en-US" sz="1000" dirty="0" smtClean="0"/>
              <a:t>天</a:t>
            </a:r>
            <a:endParaRPr lang="en-US" altLang="zh-CN" sz="1000" dirty="0" smtClean="0"/>
          </a:p>
          <a:p>
            <a:r>
              <a:rPr lang="zh-CN" altLang="en-US" sz="1000" dirty="0" smtClean="0"/>
              <a:t>点线：</a:t>
            </a:r>
            <a:r>
              <a:rPr lang="en-US" altLang="zh-CN" sz="1000" dirty="0" smtClean="0"/>
              <a:t>90</a:t>
            </a:r>
            <a:r>
              <a:rPr lang="zh-CN" altLang="en-US" sz="1000" dirty="0" smtClean="0"/>
              <a:t>天</a:t>
            </a:r>
            <a:endParaRPr lang="zh-CN" altLang="en-US" sz="1000" dirty="0"/>
          </a:p>
        </p:txBody>
      </p:sp>
    </p:spTree>
    <p:extLst>
      <p:ext uri="{BB962C8B-B14F-4D97-AF65-F5344CB8AC3E}">
        <p14:creationId xmlns:p14="http://schemas.microsoft.com/office/powerpoint/2010/main" val="1611837460"/>
      </p:ext>
    </p:extLst>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4365510" cy="400110"/>
          </a:xfrm>
          <a:prstGeom prst="rect">
            <a:avLst/>
          </a:prstGeom>
          <a:noFill/>
        </p:spPr>
        <p:txBody>
          <a:bodyPr wrap="square" rtlCol="0">
            <a:spAutoFit/>
          </a:bodyPr>
          <a:lstStyle/>
          <a:p>
            <a:r>
              <a:rPr lang="zh-CN" altLang="en-US" sz="2000" b="1" dirty="0">
                <a:solidFill>
                  <a:schemeClr val="tx1">
                    <a:lumMod val="85000"/>
                    <a:lumOff val="15000"/>
                  </a:schemeClr>
                </a:solidFill>
                <a:latin typeface="Impact" pitchFamily="34" charset="0"/>
                <a:ea typeface="+mj-ea"/>
              </a:rPr>
              <a:t>一个社交网络实例形成的经验性分析</a:t>
            </a: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a:solidFill>
                  <a:schemeClr val="tx1">
                    <a:lumMod val="50000"/>
                    <a:lumOff val="50000"/>
                  </a:schemeClr>
                </a:solidFill>
              </a:rPr>
              <a:t>Empirical Analysis of an Evolving Social Network</a:t>
            </a:r>
          </a:p>
        </p:txBody>
      </p:sp>
      <p:pic>
        <p:nvPicPr>
          <p:cNvPr id="8" name="图片 7"/>
          <p:cNvPicPr>
            <a:picLocks noChangeAspect="1"/>
          </p:cNvPicPr>
          <p:nvPr/>
        </p:nvPicPr>
        <p:blipFill>
          <a:blip r:embed="rId2"/>
          <a:stretch>
            <a:fillRect/>
          </a:stretch>
        </p:blipFill>
        <p:spPr>
          <a:xfrm>
            <a:off x="1421650" y="1010514"/>
            <a:ext cx="5580620" cy="3638222"/>
          </a:xfrm>
          <a:prstGeom prst="rect">
            <a:avLst/>
          </a:prstGeom>
        </p:spPr>
      </p:pic>
    </p:spTree>
    <p:extLst>
      <p:ext uri="{BB962C8B-B14F-4D97-AF65-F5344CB8AC3E}">
        <p14:creationId xmlns:p14="http://schemas.microsoft.com/office/powerpoint/2010/main" val="3543494504"/>
      </p:ext>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BF3420"/>
        </a:solidFill>
        <a:effectLst/>
      </p:bgPr>
    </p:bg>
    <p:spTree>
      <p:nvGrpSpPr>
        <p:cNvPr id="1" name=""/>
        <p:cNvGrpSpPr/>
        <p:nvPr/>
      </p:nvGrpSpPr>
      <p:grpSpPr>
        <a:xfrm>
          <a:off x="0" y="0"/>
          <a:ext cx="0" cy="0"/>
          <a:chOff x="0" y="0"/>
          <a:chExt cx="0" cy="0"/>
        </a:xfrm>
      </p:grpSpPr>
      <p:sp>
        <p:nvSpPr>
          <p:cNvPr id="6" name="矩形 5"/>
          <p:cNvSpPr/>
          <p:nvPr/>
        </p:nvSpPr>
        <p:spPr>
          <a:xfrm>
            <a:off x="1" y="2166704"/>
            <a:ext cx="9144000" cy="45005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26495" y="-1433695"/>
            <a:ext cx="3515706" cy="8094524"/>
          </a:xfrm>
          <a:prstGeom prst="rect">
            <a:avLst/>
          </a:prstGeom>
          <a:noFill/>
          <a:effectLst>
            <a:outerShdw blurRad="165100" dist="76200" dir="1200000" algn="tl" rotWithShape="0">
              <a:prstClr val="black">
                <a:alpha val="10000"/>
              </a:prstClr>
            </a:outerShdw>
          </a:effectLst>
        </p:spPr>
        <p:txBody>
          <a:bodyPr wrap="none" rtlCol="0">
            <a:spAutoFit/>
          </a:bodyPr>
          <a:lstStyle/>
          <a:p>
            <a:r>
              <a:rPr lang="en-US" altLang="zh-CN" sz="52000" smtClean="0">
                <a:solidFill>
                  <a:schemeClr val="bg1"/>
                </a:solidFill>
                <a:latin typeface="+mj-lt"/>
              </a:rPr>
              <a:t>4</a:t>
            </a:r>
            <a:endParaRPr lang="zh-CN" altLang="en-US" sz="52000">
              <a:solidFill>
                <a:schemeClr val="bg1"/>
              </a:solidFill>
              <a:latin typeface="+mj-lt"/>
            </a:endParaRPr>
          </a:p>
        </p:txBody>
      </p:sp>
      <p:sp>
        <p:nvSpPr>
          <p:cNvPr id="5" name="矩形 4"/>
          <p:cNvSpPr/>
          <p:nvPr/>
        </p:nvSpPr>
        <p:spPr>
          <a:xfrm>
            <a:off x="3579089" y="2155090"/>
            <a:ext cx="5178376" cy="461665"/>
          </a:xfrm>
          <a:prstGeom prst="rect">
            <a:avLst/>
          </a:prstGeom>
        </p:spPr>
        <p:txBody>
          <a:bodyPr wrap="square">
            <a:spAutoFit/>
          </a:bodyPr>
          <a:lstStyle/>
          <a:p>
            <a:pPr algn="r"/>
            <a:r>
              <a:rPr lang="zh-CN" altLang="en-US" sz="2400" dirty="0" smtClean="0">
                <a:solidFill>
                  <a:schemeClr val="bg1"/>
                </a:solidFill>
              </a:rPr>
              <a:t>总结</a:t>
            </a:r>
            <a:endParaRPr lang="zh-CN" altLang="en-US" sz="2400" dirty="0">
              <a:solidFill>
                <a:schemeClr val="bg1"/>
              </a:solidFill>
            </a:endParaRPr>
          </a:p>
        </p:txBody>
      </p:sp>
      <p:sp>
        <p:nvSpPr>
          <p:cNvPr id="3" name="矩形 2"/>
          <p:cNvSpPr/>
          <p:nvPr/>
        </p:nvSpPr>
        <p:spPr>
          <a:xfrm>
            <a:off x="6007610" y="1397264"/>
            <a:ext cx="2749855" cy="769441"/>
          </a:xfrm>
          <a:prstGeom prst="rect">
            <a:avLst/>
          </a:prstGeom>
        </p:spPr>
        <p:txBody>
          <a:bodyPr wrap="none">
            <a:spAutoFit/>
          </a:bodyPr>
          <a:lstStyle/>
          <a:p>
            <a:pPr lvl="0" algn="r"/>
            <a:r>
              <a:rPr lang="en-US" altLang="zh-CN" sz="4400">
                <a:solidFill>
                  <a:schemeClr val="bg1"/>
                </a:solidFill>
                <a:latin typeface="Impact"/>
              </a:rPr>
              <a:t>PART </a:t>
            </a:r>
            <a:r>
              <a:rPr lang="en-US" altLang="zh-CN" sz="4400" smtClean="0">
                <a:solidFill>
                  <a:schemeClr val="bg1"/>
                </a:solidFill>
                <a:latin typeface="Impact"/>
              </a:rPr>
              <a:t>THREE</a:t>
            </a:r>
            <a:endParaRPr lang="zh-CN" altLang="en-US" sz="4400">
              <a:solidFill>
                <a:schemeClr val="bg1"/>
              </a:solidFill>
              <a:latin typeface="Impact"/>
            </a:endParaRPr>
          </a:p>
        </p:txBody>
      </p:sp>
      <p:sp>
        <p:nvSpPr>
          <p:cNvPr id="25" name="矩形 24"/>
          <p:cNvSpPr/>
          <p:nvPr/>
        </p:nvSpPr>
        <p:spPr>
          <a:xfrm>
            <a:off x="3536885" y="2691666"/>
            <a:ext cx="5220580" cy="316369"/>
          </a:xfrm>
          <a:prstGeom prst="rect">
            <a:avLst/>
          </a:prstGeom>
        </p:spPr>
        <p:txBody>
          <a:bodyPr wrap="square">
            <a:spAutoFit/>
          </a:bodyPr>
          <a:lstStyle/>
          <a:p>
            <a:pPr algn="r">
              <a:lnSpc>
                <a:spcPct val="150000"/>
              </a:lnSpc>
            </a:pPr>
            <a:r>
              <a:rPr lang="en-US" altLang="zh-CN" sz="1100" dirty="0" smtClean="0">
                <a:solidFill>
                  <a:schemeClr val="bg1"/>
                </a:solidFill>
                <a:latin typeface="+mn-ea"/>
              </a:rPr>
              <a:t>Summary</a:t>
            </a:r>
            <a:endParaRPr lang="zh-CN" altLang="en-US" sz="1100" dirty="0">
              <a:solidFill>
                <a:schemeClr val="bg1"/>
              </a:solidFill>
              <a:latin typeface="+mn-ea"/>
            </a:endParaRPr>
          </a:p>
        </p:txBody>
      </p:sp>
    </p:spTree>
    <p:extLst>
      <p:ext uri="{BB962C8B-B14F-4D97-AF65-F5344CB8AC3E}">
        <p14:creationId xmlns:p14="http://schemas.microsoft.com/office/powerpoint/2010/main" val="2681729627"/>
      </p:ext>
    </p:extLst>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6520" y="96475"/>
            <a:ext cx="3870455" cy="400110"/>
          </a:xfrm>
          <a:prstGeom prst="rect">
            <a:avLst/>
          </a:prstGeom>
          <a:noFill/>
        </p:spPr>
        <p:txBody>
          <a:bodyPr wrap="square" rtlCol="0">
            <a:spAutoFit/>
          </a:bodyPr>
          <a:lstStyle/>
          <a:p>
            <a:r>
              <a:rPr lang="zh-CN" altLang="en-US" sz="2000" dirty="0" smtClean="0">
                <a:solidFill>
                  <a:schemeClr val="tx1">
                    <a:lumMod val="85000"/>
                    <a:lumOff val="15000"/>
                  </a:schemeClr>
                </a:solidFill>
                <a:latin typeface="Impact" pitchFamily="34" charset="0"/>
                <a:ea typeface="+mj-ea"/>
              </a:rPr>
              <a:t>总结</a:t>
            </a:r>
            <a:endParaRPr lang="zh-CN" altLang="en-US" sz="2000" dirty="0">
              <a:solidFill>
                <a:schemeClr val="tx1">
                  <a:lumMod val="85000"/>
                  <a:lumOff val="15000"/>
                </a:schemeClr>
              </a:solidFill>
              <a:latin typeface="Impact" pitchFamily="34" charset="0"/>
              <a:ea typeface="+mj-ea"/>
            </a:endParaRPr>
          </a:p>
        </p:txBody>
      </p:sp>
      <p:sp>
        <p:nvSpPr>
          <p:cNvPr id="12" name="矩形 11"/>
          <p:cNvSpPr/>
          <p:nvPr/>
        </p:nvSpPr>
        <p:spPr>
          <a:xfrm>
            <a:off x="476520" y="430384"/>
            <a:ext cx="3870455" cy="246221"/>
          </a:xfrm>
          <a:prstGeom prst="rect">
            <a:avLst/>
          </a:prstGeom>
        </p:spPr>
        <p:txBody>
          <a:bodyPr wrap="square">
            <a:spAutoFit/>
          </a:bodyPr>
          <a:lstStyle/>
          <a:p>
            <a:r>
              <a:rPr lang="en-US" altLang="zh-CN" sz="1000" dirty="0" smtClean="0">
                <a:solidFill>
                  <a:schemeClr val="tx1">
                    <a:lumMod val="50000"/>
                    <a:lumOff val="50000"/>
                  </a:schemeClr>
                </a:solidFill>
              </a:rPr>
              <a:t>Summary</a:t>
            </a:r>
            <a:endParaRPr lang="zh-CN" altLang="en-US" sz="1000" dirty="0">
              <a:solidFill>
                <a:schemeClr val="tx1">
                  <a:lumMod val="50000"/>
                  <a:lumOff val="50000"/>
                </a:schemeClr>
              </a:solidFill>
            </a:endParaRPr>
          </a:p>
        </p:txBody>
      </p:sp>
      <p:sp>
        <p:nvSpPr>
          <p:cNvPr id="2" name="文本框 1"/>
          <p:cNvSpPr txBox="1"/>
          <p:nvPr/>
        </p:nvSpPr>
        <p:spPr>
          <a:xfrm>
            <a:off x="2141730" y="1401620"/>
            <a:ext cx="5130570" cy="2962349"/>
          </a:xfrm>
          <a:prstGeom prst="rect">
            <a:avLst/>
          </a:prstGeom>
          <a:noFill/>
        </p:spPr>
        <p:txBody>
          <a:bodyPr wrap="square" rtlCol="0">
            <a:spAutoFit/>
          </a:bodyPr>
          <a:lstStyle/>
          <a:p>
            <a:pPr>
              <a:lnSpc>
                <a:spcPct val="150000"/>
              </a:lnSpc>
            </a:pPr>
            <a:r>
              <a:rPr lang="zh-CN" altLang="en-US" sz="1400" dirty="0" smtClean="0"/>
              <a:t>这段时间学习了情感分析的基础知识，了解了一些新的知识，同时也对社交网络的形成机制和动态演化有了一定的了解，期间去南京参加了一次学术会议，对我来说确实是开了开眼界，了解了一些</a:t>
            </a:r>
            <a:r>
              <a:rPr lang="en-US" altLang="zh-CN" sz="1400" dirty="0" smtClean="0"/>
              <a:t>NLP</a:t>
            </a:r>
            <a:r>
              <a:rPr lang="zh-CN" altLang="en-US" sz="1400" dirty="0" smtClean="0"/>
              <a:t>最前沿的工作和知识，也非常谢谢王老师能给我这个机会。</a:t>
            </a:r>
            <a:endParaRPr lang="en-US" altLang="zh-CN" sz="1400" dirty="0" smtClean="0"/>
          </a:p>
          <a:p>
            <a:pPr>
              <a:lnSpc>
                <a:spcPct val="150000"/>
              </a:lnSpc>
            </a:pPr>
            <a:r>
              <a:rPr lang="zh-CN" altLang="en-US" sz="1400" dirty="0" smtClean="0"/>
              <a:t>这个报告拖了很久，因为对于在网上找到的太长的相关文章一直没能够坚持看下去，放下一段时间后又要重头开始看，看来看去也没有能看完一篇长文章。这个问题是在接下来的时间内尽快解决的。</a:t>
            </a:r>
            <a:endParaRPr lang="zh-CN" altLang="en-US" sz="1400" dirty="0"/>
          </a:p>
        </p:txBody>
      </p:sp>
    </p:spTree>
    <p:extLst>
      <p:ext uri="{BB962C8B-B14F-4D97-AF65-F5344CB8AC3E}">
        <p14:creationId xmlns:p14="http://schemas.microsoft.com/office/powerpoint/2010/main" val="1206762169"/>
      </p:ext>
    </p:extLst>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2443344" y="2301720"/>
            <a:ext cx="4256964" cy="69124"/>
            <a:chOff x="566555" y="877035"/>
            <a:chExt cx="2340260" cy="164545"/>
          </a:xfrm>
        </p:grpSpPr>
        <p:sp>
          <p:nvSpPr>
            <p:cNvPr id="20" name="矩形 19"/>
            <p:cNvSpPr/>
            <p:nvPr/>
          </p:nvSpPr>
          <p:spPr>
            <a:xfrm>
              <a:off x="566555" y="877035"/>
              <a:ext cx="585065" cy="164545"/>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151620" y="877035"/>
              <a:ext cx="585065" cy="164545"/>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1736685" y="877035"/>
              <a:ext cx="585065" cy="164545"/>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2321750" y="877035"/>
              <a:ext cx="585065" cy="164545"/>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TextBox 27"/>
          <p:cNvSpPr txBox="1"/>
          <p:nvPr/>
        </p:nvSpPr>
        <p:spPr>
          <a:xfrm>
            <a:off x="1623999" y="1755256"/>
            <a:ext cx="5895655" cy="523220"/>
          </a:xfrm>
          <a:prstGeom prst="rect">
            <a:avLst/>
          </a:prstGeom>
          <a:noFill/>
          <a:effectLst/>
        </p:spPr>
        <p:txBody>
          <a:bodyPr wrap="square" rtlCol="0">
            <a:spAutoFit/>
          </a:bodyPr>
          <a:lstStyle/>
          <a:p>
            <a:pPr algn="ctr"/>
            <a:r>
              <a:rPr lang="en-US" altLang="zh-CN" sz="2800" smtClean="0">
                <a:solidFill>
                  <a:srgbClr val="1A7BAE"/>
                </a:solidFill>
              </a:rPr>
              <a:t>THANKS</a:t>
            </a:r>
            <a:r>
              <a:rPr lang="en-US" altLang="zh-CN" sz="2800" smtClean="0">
                <a:solidFill>
                  <a:srgbClr val="BF3420"/>
                </a:solidFill>
              </a:rPr>
              <a:t> </a:t>
            </a:r>
            <a:r>
              <a:rPr lang="en-US" altLang="zh-CN" sz="2800" smtClean="0">
                <a:solidFill>
                  <a:srgbClr val="95BC49"/>
                </a:solidFill>
              </a:rPr>
              <a:t>FOR</a:t>
            </a:r>
            <a:r>
              <a:rPr lang="zh-CN" altLang="en-US" sz="2800" smtClean="0">
                <a:solidFill>
                  <a:srgbClr val="1A7BAE"/>
                </a:solidFill>
              </a:rPr>
              <a:t> </a:t>
            </a:r>
            <a:r>
              <a:rPr lang="en-US" altLang="zh-CN" sz="2800" smtClean="0">
                <a:solidFill>
                  <a:srgbClr val="FDA907"/>
                </a:solidFill>
              </a:rPr>
              <a:t>YOUR</a:t>
            </a:r>
            <a:r>
              <a:rPr lang="en-US" altLang="zh-CN" sz="2800" smtClean="0">
                <a:solidFill>
                  <a:srgbClr val="1A7BAE"/>
                </a:solidFill>
              </a:rPr>
              <a:t> </a:t>
            </a:r>
            <a:r>
              <a:rPr lang="en-US" altLang="zh-CN" sz="2800" smtClean="0">
                <a:solidFill>
                  <a:srgbClr val="BF3420"/>
                </a:solidFill>
              </a:rPr>
              <a:t>WATCHING</a:t>
            </a:r>
          </a:p>
        </p:txBody>
      </p:sp>
      <p:sp>
        <p:nvSpPr>
          <p:cNvPr id="29" name="矩形 28"/>
          <p:cNvSpPr/>
          <p:nvPr/>
        </p:nvSpPr>
        <p:spPr>
          <a:xfrm>
            <a:off x="2029043" y="2406325"/>
            <a:ext cx="5085566" cy="525465"/>
          </a:xfrm>
          <a:prstGeom prst="rect">
            <a:avLst/>
          </a:prstGeom>
        </p:spPr>
        <p:txBody>
          <a:bodyPr wrap="square">
            <a:spAutoFit/>
          </a:bodyPr>
          <a:lstStyle/>
          <a:p>
            <a:pPr algn="ctr">
              <a:lnSpc>
                <a:spcPct val="150000"/>
              </a:lnSpc>
            </a:pPr>
            <a:r>
              <a:rPr lang="zh-CN" altLang="en-US" sz="1000" dirty="0" smtClean="0">
                <a:solidFill>
                  <a:schemeClr val="tx1">
                    <a:lumMod val="50000"/>
                    <a:lumOff val="50000"/>
                  </a:schemeClr>
                </a:solidFill>
              </a:rPr>
              <a:t>徐聪 </a:t>
            </a:r>
            <a:endParaRPr lang="en-US" altLang="zh-CN" sz="1000" dirty="0" smtClean="0">
              <a:solidFill>
                <a:schemeClr val="tx1">
                  <a:lumMod val="50000"/>
                  <a:lumOff val="50000"/>
                </a:schemeClr>
              </a:solidFill>
            </a:endParaRPr>
          </a:p>
          <a:p>
            <a:pPr algn="ctr">
              <a:lnSpc>
                <a:spcPct val="150000"/>
              </a:lnSpc>
            </a:pPr>
            <a:r>
              <a:rPr lang="en-US" altLang="zh-CN" sz="1000" dirty="0" smtClean="0">
                <a:solidFill>
                  <a:schemeClr val="tx1">
                    <a:lumMod val="50000"/>
                    <a:lumOff val="50000"/>
                  </a:schemeClr>
                </a:solidFill>
              </a:rPr>
              <a:t>2017.10.23. </a:t>
            </a:r>
          </a:p>
        </p:txBody>
      </p:sp>
    </p:spTree>
    <p:extLst>
      <p:ext uri="{BB962C8B-B14F-4D97-AF65-F5344CB8AC3E}">
        <p14:creationId xmlns:p14="http://schemas.microsoft.com/office/powerpoint/2010/main" val="3046022437"/>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字体2">
      <a:majorFont>
        <a:latin typeface="Impact"/>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A7BAE"/>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3150</TotalTime>
  <Words>2354</Words>
  <Application>Microsoft Office PowerPoint</Application>
  <PresentationFormat>全屏显示(16:9)</PresentationFormat>
  <Paragraphs>187</Paragraphs>
  <Slides>32</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32</vt:i4>
      </vt:variant>
    </vt:vector>
  </HeadingPairs>
  <TitlesOfParts>
    <vt:vector size="39" baseType="lpstr">
      <vt:lpstr>宋体</vt:lpstr>
      <vt:lpstr>微软雅黑</vt:lpstr>
      <vt:lpstr>Arial</vt:lpstr>
      <vt:lpstr>Calibri</vt:lpstr>
      <vt:lpstr>Cambria Math</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cong x</cp:lastModifiedBy>
  <cp:revision>633</cp:revision>
  <dcterms:modified xsi:type="dcterms:W3CDTF">2017-10-23T14:43:11Z</dcterms:modified>
</cp:coreProperties>
</file>